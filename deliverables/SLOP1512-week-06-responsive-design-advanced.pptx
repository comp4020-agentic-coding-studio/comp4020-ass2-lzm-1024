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662e20725a84a75" /><Relationship Type="http://schemas.openxmlformats.org/officeDocument/2006/relationships/extended-properties" Target="/docProps/app.xml" Id="R4dbfac482be54296" /><Relationship Type="http://schemas.openxmlformats.org/officeDocument/2006/relationships/officeDocument" Target="/ppt/presentation.xml" Id="R705b3b7d83d0403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b46c6b577fe412b"/>
  </p:sldMasterIdLst>
  <p:notesMasterIdLst>
    <p:notesMasterId xmlns:r="http://schemas.openxmlformats.org/officeDocument/2006/relationships" r:id="R3e59b983877348c2"/>
  </p:notesMasterIdLst>
  <p:sldIdLst>
    <p:sldId xmlns:r="http://schemas.openxmlformats.org/officeDocument/2006/relationships" id="256" r:id="Rcd2589af08fb4653"/>
    <p:sldId xmlns:r="http://schemas.openxmlformats.org/officeDocument/2006/relationships" id="257" r:id="R9ed48da3108b4411"/>
    <p:sldId xmlns:r="http://schemas.openxmlformats.org/officeDocument/2006/relationships" id="258" r:id="Rf911f2dfa9cc4c45"/>
    <p:sldId xmlns:r="http://schemas.openxmlformats.org/officeDocument/2006/relationships" id="259" r:id="Ra7b78051a70148d3"/>
    <p:sldId xmlns:r="http://schemas.openxmlformats.org/officeDocument/2006/relationships" id="260" r:id="R3ab3561c30c14903"/>
    <p:sldId xmlns:r="http://schemas.openxmlformats.org/officeDocument/2006/relationships" id="261" r:id="R160cf740c83a419f"/>
    <p:sldId xmlns:r="http://schemas.openxmlformats.org/officeDocument/2006/relationships" id="262" r:id="Ra7974317bdf341d9"/>
    <p:sldId xmlns:r="http://schemas.openxmlformats.org/officeDocument/2006/relationships" id="263" r:id="R2c6a70d7a23541aa"/>
    <p:sldId xmlns:r="http://schemas.openxmlformats.org/officeDocument/2006/relationships" id="264" r:id="R288b264107014a99"/>
    <p:sldId xmlns:r="http://schemas.openxmlformats.org/officeDocument/2006/relationships" id="265" r:id="R76d05d1982f8478e"/>
    <p:sldId xmlns:r="http://schemas.openxmlformats.org/officeDocument/2006/relationships" id="266" r:id="Rf6dcf46cd22345c2"/>
    <p:sldId xmlns:r="http://schemas.openxmlformats.org/officeDocument/2006/relationships" id="267" r:id="Raf34b0c2d40943c5"/>
    <p:sldId xmlns:r="http://schemas.openxmlformats.org/officeDocument/2006/relationships" id="268" r:id="R94c4061350a24566"/>
    <p:sldId xmlns:r="http://schemas.openxmlformats.org/officeDocument/2006/relationships" id="269" r:id="Rb2ee22c88d7740a2"/>
    <p:sldId xmlns:r="http://schemas.openxmlformats.org/officeDocument/2006/relationships" id="270" r:id="R7c62888f93964dd2"/>
    <p:sldId xmlns:r="http://schemas.openxmlformats.org/officeDocument/2006/relationships" id="271" r:id="Re1fc3980264f41ab"/>
    <p:sldId xmlns:r="http://schemas.openxmlformats.org/officeDocument/2006/relationships" id="272" r:id="R642a5dd022214395"/>
    <p:sldId xmlns:r="http://schemas.openxmlformats.org/officeDocument/2006/relationships" id="273" r:id="Rbd6b22a98ec94b0f"/>
    <p:sldId xmlns:r="http://schemas.openxmlformats.org/officeDocument/2006/relationships" id="274" r:id="R03d1f5af0efa45b1"/>
    <p:sldId xmlns:r="http://schemas.openxmlformats.org/officeDocument/2006/relationships" id="275" r:id="R54eaa31d6c174559"/>
    <p:sldId xmlns:r="http://schemas.openxmlformats.org/officeDocument/2006/relationships" id="276" r:id="Raaf054430685477c"/>
    <p:sldId xmlns:r="http://schemas.openxmlformats.org/officeDocument/2006/relationships" id="277" r:id="Ra134324a933d4749"/>
    <p:sldId xmlns:r="http://schemas.openxmlformats.org/officeDocument/2006/relationships" id="278" r:id="R93221375842242e3"/>
    <p:sldId xmlns:r="http://schemas.openxmlformats.org/officeDocument/2006/relationships" id="279" r:id="Rb7474f87e67c468f"/>
    <p:sldId xmlns:r="http://schemas.openxmlformats.org/officeDocument/2006/relationships" id="280" r:id="R06d2f05fb6a84e25"/>
    <p:sldId xmlns:r="http://schemas.openxmlformats.org/officeDocument/2006/relationships" id="281" r:id="R5cf4000e4fde42df"/>
    <p:sldId xmlns:r="http://schemas.openxmlformats.org/officeDocument/2006/relationships" id="282" r:id="Ree3e2265e9fa4c6d"/>
    <p:sldId xmlns:r="http://schemas.openxmlformats.org/officeDocument/2006/relationships" id="283" r:id="Rc45a0a8235bd4bc5"/>
    <p:sldId xmlns:r="http://schemas.openxmlformats.org/officeDocument/2006/relationships" id="284" r:id="R5a872b54091e499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0b516cbb03a44f9" /><Relationship Type="http://schemas.openxmlformats.org/officeDocument/2006/relationships/slideMaster" Target="/ppt/slideMasters/slideMaster1.xml" Id="R4b46c6b577fe412b" /><Relationship Type="http://schemas.openxmlformats.org/officeDocument/2006/relationships/notesMaster" Target="/ppt/notesMasters/notesMaster1.xml" Id="R3e59b983877348c2" /><Relationship Type="http://schemas.openxmlformats.org/officeDocument/2006/relationships/presProps" Target="/ppt/presProps.xml" Id="R55c7e90cfc424efe" /><Relationship Type="http://schemas.openxmlformats.org/officeDocument/2006/relationships/tableStyles" Target="/ppt/tableStyles.xml" Id="R949582c7edde4783" /><Relationship Type="http://schemas.openxmlformats.org/officeDocument/2006/relationships/slide" Target="/ppt/slides/slide1.xml" Id="Rcd2589af08fb4653" /><Relationship Type="http://schemas.openxmlformats.org/officeDocument/2006/relationships/slide" Target="/ppt/slides/slide2.xml" Id="R9ed48da3108b4411" /><Relationship Type="http://schemas.openxmlformats.org/officeDocument/2006/relationships/slide" Target="/ppt/slides/slide3.xml" Id="Rf911f2dfa9cc4c45" /><Relationship Type="http://schemas.openxmlformats.org/officeDocument/2006/relationships/slide" Target="/ppt/slides/slide4.xml" Id="Ra7b78051a70148d3" /><Relationship Type="http://schemas.openxmlformats.org/officeDocument/2006/relationships/slide" Target="/ppt/slides/slide5.xml" Id="R3ab3561c30c14903" /><Relationship Type="http://schemas.openxmlformats.org/officeDocument/2006/relationships/slide" Target="/ppt/slides/slide6.xml" Id="R160cf740c83a419f" /><Relationship Type="http://schemas.openxmlformats.org/officeDocument/2006/relationships/slide" Target="/ppt/slides/slide7.xml" Id="Ra7974317bdf341d9" /><Relationship Type="http://schemas.openxmlformats.org/officeDocument/2006/relationships/slide" Target="/ppt/slides/slide8.xml" Id="R2c6a70d7a23541aa" /><Relationship Type="http://schemas.openxmlformats.org/officeDocument/2006/relationships/slide" Target="/ppt/slides/slide9.xml" Id="R288b264107014a99" /><Relationship Type="http://schemas.openxmlformats.org/officeDocument/2006/relationships/slide" Target="/ppt/slides/slide10.xml" Id="R76d05d1982f8478e" /><Relationship Type="http://schemas.openxmlformats.org/officeDocument/2006/relationships/slide" Target="/ppt/slides/slide11.xml" Id="Rf6dcf46cd22345c2" /><Relationship Type="http://schemas.openxmlformats.org/officeDocument/2006/relationships/slide" Target="/ppt/slides/slide12.xml" Id="Raf34b0c2d40943c5" /><Relationship Type="http://schemas.openxmlformats.org/officeDocument/2006/relationships/slide" Target="/ppt/slides/slide13.xml" Id="R94c4061350a24566" /><Relationship Type="http://schemas.openxmlformats.org/officeDocument/2006/relationships/slide" Target="/ppt/slides/slide14.xml" Id="Rb2ee22c88d7740a2" /><Relationship Type="http://schemas.openxmlformats.org/officeDocument/2006/relationships/slide" Target="/ppt/slides/slide15.xml" Id="R7c62888f93964dd2" /><Relationship Type="http://schemas.openxmlformats.org/officeDocument/2006/relationships/slide" Target="/ppt/slides/slide16.xml" Id="Re1fc3980264f41ab" /><Relationship Type="http://schemas.openxmlformats.org/officeDocument/2006/relationships/slide" Target="/ppt/slides/slide17.xml" Id="R642a5dd022214395" /><Relationship Type="http://schemas.openxmlformats.org/officeDocument/2006/relationships/slide" Target="/ppt/slides/slide18.xml" Id="Rbd6b22a98ec94b0f" /><Relationship Type="http://schemas.openxmlformats.org/officeDocument/2006/relationships/slide" Target="/ppt/slides/slide19.xml" Id="R03d1f5af0efa45b1" /><Relationship Type="http://schemas.openxmlformats.org/officeDocument/2006/relationships/slide" Target="/ppt/slides/slide20.xml" Id="R54eaa31d6c174559" /><Relationship Type="http://schemas.openxmlformats.org/officeDocument/2006/relationships/slide" Target="/ppt/slides/slide21.xml" Id="Raaf054430685477c" /><Relationship Type="http://schemas.openxmlformats.org/officeDocument/2006/relationships/slide" Target="/ppt/slides/slide22.xml" Id="Ra134324a933d4749" /><Relationship Type="http://schemas.openxmlformats.org/officeDocument/2006/relationships/slide" Target="/ppt/slides/slide23.xml" Id="R93221375842242e3" /><Relationship Type="http://schemas.openxmlformats.org/officeDocument/2006/relationships/slide" Target="/ppt/slides/slide24.xml" Id="Rb7474f87e67c468f" /><Relationship Type="http://schemas.openxmlformats.org/officeDocument/2006/relationships/slide" Target="/ppt/slides/slide25.xml" Id="R06d2f05fb6a84e25" /><Relationship Type="http://schemas.openxmlformats.org/officeDocument/2006/relationships/slide" Target="/ppt/slides/slide26.xml" Id="R5cf4000e4fde42df" /><Relationship Type="http://schemas.openxmlformats.org/officeDocument/2006/relationships/slide" Target="/ppt/slides/slide27.xml" Id="Ree3e2265e9fa4c6d" /><Relationship Type="http://schemas.openxmlformats.org/officeDocument/2006/relationships/slide" Target="/ppt/slides/slide28.xml" Id="Rc45a0a8235bd4bc5" /><Relationship Type="http://schemas.openxmlformats.org/officeDocument/2006/relationships/slide" Target="/ppt/slides/slide29.xml" Id="R5a872b54091e499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608cf6f239d411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dfa614852e74f49" /><Relationship Type="http://schemas.openxmlformats.org/officeDocument/2006/relationships/notesMaster" Target="/ppt/notesMasters/notesMaster1.xml" Id="Rbbeec8499129460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58d597068624a7d" /><Relationship Type="http://schemas.openxmlformats.org/officeDocument/2006/relationships/notesMaster" Target="/ppt/notesMasters/notesMaster1.xml" Id="R193b2f82e7f94e5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3c73e0f93a441a3" /><Relationship Type="http://schemas.openxmlformats.org/officeDocument/2006/relationships/notesMaster" Target="/ppt/notesMasters/notesMaster1.xml" Id="R9dbbaf7301594a4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95f695a88134ffb" /><Relationship Type="http://schemas.openxmlformats.org/officeDocument/2006/relationships/notesMaster" Target="/ppt/notesMasters/notesMaster1.xml" Id="Rc639de6c5fa0442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c2b369ad9144159" /><Relationship Type="http://schemas.openxmlformats.org/officeDocument/2006/relationships/notesMaster" Target="/ppt/notesMasters/notesMaster1.xml" Id="R3960c3901a1e4a9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57836e9275b4b51" /><Relationship Type="http://schemas.openxmlformats.org/officeDocument/2006/relationships/notesMaster" Target="/ppt/notesMasters/notesMaster1.xml" Id="Re17de99366a84a6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75ea57a96ae43a7" /><Relationship Type="http://schemas.openxmlformats.org/officeDocument/2006/relationships/notesMaster" Target="/ppt/notesMasters/notesMaster1.xml" Id="R4f067e4d4c074c1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28fce5df9da4893" /><Relationship Type="http://schemas.openxmlformats.org/officeDocument/2006/relationships/notesMaster" Target="/ppt/notesMasters/notesMaster1.xml" Id="Rd9d3b0aa503a41e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0c49a8a4c7c4045" /><Relationship Type="http://schemas.openxmlformats.org/officeDocument/2006/relationships/notesMaster" Target="/ppt/notesMasters/notesMaster1.xml" Id="Rc7a1b2e281844cb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7f1dee3eae54bea" /><Relationship Type="http://schemas.openxmlformats.org/officeDocument/2006/relationships/notesMaster" Target="/ppt/notesMasters/notesMaster1.xml" Id="Rb966912689d74d4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c6befbad81d4509" /><Relationship Type="http://schemas.openxmlformats.org/officeDocument/2006/relationships/notesMaster" Target="/ppt/notesMasters/notesMaster1.xml" Id="R0a355915ce11421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7723c6eadcc4909" /><Relationship Type="http://schemas.openxmlformats.org/officeDocument/2006/relationships/notesMaster" Target="/ppt/notesMasters/notesMaster1.xml" Id="R2ee0b9c6a955414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36ea92f40764e8f" /><Relationship Type="http://schemas.openxmlformats.org/officeDocument/2006/relationships/notesMaster" Target="/ppt/notesMasters/notesMaster1.xml" Id="R747536c13f9b46ca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fff72dc4e3db4747" /><Relationship Type="http://schemas.openxmlformats.org/officeDocument/2006/relationships/notesMaster" Target="/ppt/notesMasters/notesMaster1.xml" Id="Rd9ab818620124031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f860bd3807aa4edc" /><Relationship Type="http://schemas.openxmlformats.org/officeDocument/2006/relationships/notesMaster" Target="/ppt/notesMasters/notesMaster1.xml" Id="R6cf85ddc64d645a7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ae6712345e5847e8" /><Relationship Type="http://schemas.openxmlformats.org/officeDocument/2006/relationships/notesMaster" Target="/ppt/notesMasters/notesMaster1.xml" Id="Rf019231a44834798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e4329f65b341488f" /><Relationship Type="http://schemas.openxmlformats.org/officeDocument/2006/relationships/notesMaster" Target="/ppt/notesMasters/notesMaster1.xml" Id="Rf577a1b240424abd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d43d8f887dda4415" /><Relationship Type="http://schemas.openxmlformats.org/officeDocument/2006/relationships/notesMaster" Target="/ppt/notesMasters/notesMaster1.xml" Id="R5660cfc0e67a404e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f6d1115bdb354115" /><Relationship Type="http://schemas.openxmlformats.org/officeDocument/2006/relationships/notesMaster" Target="/ppt/notesMasters/notesMaster1.xml" Id="R889ec133d58940c3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e5013916af714ecb" /><Relationship Type="http://schemas.openxmlformats.org/officeDocument/2006/relationships/notesMaster" Target="/ppt/notesMasters/notesMaster1.xml" Id="Rcece4a923e5b4965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25cfc1b2ca5c4e38" /><Relationship Type="http://schemas.openxmlformats.org/officeDocument/2006/relationships/notesMaster" Target="/ppt/notesMasters/notesMaster1.xml" Id="R8f2cdd9b34cd498c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e327099c6e8b4995" /><Relationship Type="http://schemas.openxmlformats.org/officeDocument/2006/relationships/notesMaster" Target="/ppt/notesMasters/notesMaster1.xml" Id="R2d47e6bf89ce480d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150e9f6e7f8b4bc7" /><Relationship Type="http://schemas.openxmlformats.org/officeDocument/2006/relationships/notesMaster" Target="/ppt/notesMasters/notesMaster1.xml" Id="R1e7bb67ee08e4ec1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0b033b2ed3c2434a" /><Relationship Type="http://schemas.openxmlformats.org/officeDocument/2006/relationships/notesMaster" Target="/ppt/notesMasters/notesMaster1.xml" Id="Rfa258f7c870c407b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632ef62bb5984b29" /><Relationship Type="http://schemas.openxmlformats.org/officeDocument/2006/relationships/notesMaster" Target="/ppt/notesMasters/notesMaster1.xml" Id="R0185ac24e67546f7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ffc28d3c819c4c35" /><Relationship Type="http://schemas.openxmlformats.org/officeDocument/2006/relationships/notesMaster" Target="/ppt/notesMasters/notesMaster1.xml" Id="Rc2274fca54474068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8942f296849c42ff" /><Relationship Type="http://schemas.openxmlformats.org/officeDocument/2006/relationships/notesMaster" Target="/ppt/notesMasters/notesMaster1.xml" Id="R907a46114dd54e0c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fa73b5e78bb240cf" /><Relationship Type="http://schemas.openxmlformats.org/officeDocument/2006/relationships/notesMaster" Target="/ppt/notesMasters/notesMaster1.xml" Id="Rec51e65ded5b458d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b05759e1155a421d" /><Relationship Type="http://schemas.openxmlformats.org/officeDocument/2006/relationships/notesMaster" Target="/ppt/notesMasters/notesMaster1.xml" Id="R80ab59f275544a3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Wikimedia Commons: File:Touch on Clamshell Devices.jpg — Intel Free Press, CC BY 2.0, https://commons.wikimedia.org/wiki/File:Touch_on_Clamshell_Devices.jpg, accessed 13 Sep 2026</a:t>
            </a:r>
          </a:p>
          <a:p xmlns:a="http://schemas.openxmlformats.org/drawingml/2006/main">
            <a:r>
              <a:t>Course teaching content is original.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learning outcomes for SLOP1512 Week 6, aligned to the module's brief on mobile-first design without hiding information.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Historical framing: Ethan Marcotte, “Responsive Web Design,” A List Apart, 2010. Flickr (Rawpixel Ltd), CC BY 2.0, https://www.flickr.com/photos/147875007@N03/45789232581, accessed 13 Sep 2026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Flickr (Johan Larsson), CC BY 2.0, https://www.flickr.com/photos/38305415@N00/4859806074, accessed 13 Sep 2026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Foundational requirement: every responsive page needs this tag in &lt;head&gt;, or media queries never trigger correctly on mobile browsers.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Worked example: a card grid that goes from 1 to 2 to 3 columns as viewport width grows, using rem-based min-width breakpoints.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explanation of the two competing breakpoint strategies and why this course standardises on mobile-first / min-width.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guidance: content-driven breakpoints rather than device-driven ones, since device widths are not a stable target.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explanation connecting fluid width, max-width, and the side-gutter pattern used throughout this repo's own layout components.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explanation of the classic fluid-image reset rule and why height:auto is required alongside max-width:100%.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srcset/sizes is the correct mechanism for responsive images; a single large image resized by CSS still costs the full download on a small screen.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Flickr (Marc_Smith), CC BY 2.0, https://www.flickr.com/photos/49503165485@N01/6802864183, accessed 13 Sep 2026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technical explanation of the auto-fit/minmax() grid pattern as a media-query-free alternative for uniform card grids.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Container queries (widely supported in modern browsers since 2023) are the modern complement to media queries for component-level responsiveness.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clamp() is the current best-practice replacement for a long list of font-size overrides at every breakpoint.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Flickr (adactio), CC BY 2.0, https://www.flickr.com/photos/74105777@N00/26460018011, accessed 13 Sep 2026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Directly answers the Week 6 module brief: “add space and structure for larger screens without hiding essential information.” Original teaching content.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Flickr (ender7.wiggin), CC BY-SA 2.0, https://www.flickr.com/photos/53440030@N07/27552206052, accessed 13 Sep 2026</a:t>
            </a:r>
          </a:p>
          <a:p xmlns:a="http://schemas.openxmlformats.org/drawingml/2006/main">
            <a:r>
              <a:t>Flickr (quinn.anya), CC BY-SA 2.0, https://www.flickr.com/photos/53326337@N00/5307148868, accessed 13 Sep 2026</a:t>
            </a:r>
          </a:p>
          <a:p xmlns:a="http://schemas.openxmlformats.org/drawingml/2006/main">
            <a:r>
              <a:t>WCAG 2.2 Success Criterion 2.5.5/2.5.8 (Target Size), W3C.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Flickr (Rosa Menkman), CC BY 2.0, https://www.flickr.com/photos/68716054@N00/5486667090, accessed 13 Sep 2026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Flickr (henribergius), CC BY-SA 2.0, https://www.flickr.com/photos/15087210@N00/4554791832, accessed 13 Sep 2026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diagnostic checklist compiled from common mobile-first implementation failures.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Flickr (ncole458), CC BY 2.0, https://www.flickr.com/photos/10891659@N02/5718141686, accessed 13 Sep 2026</a:t>
            </a:r>
          </a:p>
          <a:p xmlns:a="http://schemas.openxmlformats.org/drawingml/2006/main">
            <a:r>
              <a:t>Case study is an original composite example built for teaching purposes.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Wikimedia Commons: File:JfPersonal computersfvf.JPG — Public domain, https://commons.wikimedia.org/wiki/File:JfPersonal_computersfvf.JPG, accessed 13 Sep 2026</a:t>
            </a:r>
          </a:p>
          <a:p xmlns:a="http://schemas.openxmlformats.org/drawingml/2006/main">
            <a:r>
              <a:t>Case study is an original composite example built for teaching purposes.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practical checklist for verifying a responsive layout before submission.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studio task, connects directly to the Week 6 module brief and feeds toward Assignment 3 (interaction and forms) and Assignment 4 (content systems).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review rubric for responsive-design submissions in this course.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synthesis slide connecting Week 6 to Weeks 2, 4, 8 and Assignment 3, per the course's actual module sequence.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External resources: MDN responsive images and container queries documentation; W3C WAI Understanding Target Size. Accessed 13 September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Bridges directly into Week 7's module brief per src/data/slop1512.ts.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eb72626c52142f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e0b4b76281c4b8a" /><Relationship Type="http://schemas.openxmlformats.org/officeDocument/2006/relationships/slideLayout" Target="/ppt/slideLayouts/slideLayout1.xml" Id="R75141a95e9b8497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5141a95e9b8497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29d7146b624b33" /><Relationship Type="http://schemas.openxmlformats.org/officeDocument/2006/relationships/image" Target="/ppt/media/image.jpeg" Id="R5270a3d2a60f43c9" /><Relationship Type="http://schemas.openxmlformats.org/officeDocument/2006/relationships/notesSlide" Target="/ppt/notesSlides/notesSlide1.xml" Id="Re8c8acddfc3d49c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8d8dcb10d44f99" /><Relationship Type="http://schemas.openxmlformats.org/officeDocument/2006/relationships/notesSlide" Target="/ppt/notesSlides/notesSlide2.xml" Id="Ree09f36be54442a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16df82481f4444" /><Relationship Type="http://schemas.openxmlformats.org/officeDocument/2006/relationships/image" Target="/ppt/media/image2.jpeg" Id="R2d296b8f34ce4fd6" /><Relationship Type="http://schemas.openxmlformats.org/officeDocument/2006/relationships/notesSlide" Target="/ppt/notesSlides/notesSlide3.xml" Id="R2a60ca73c4364f5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3cec15e69343dd" /><Relationship Type="http://schemas.openxmlformats.org/officeDocument/2006/relationships/image" Target="/ppt/media/image3.jpeg" Id="R24eea19b22ce4e8f" /><Relationship Type="http://schemas.openxmlformats.org/officeDocument/2006/relationships/notesSlide" Target="/ppt/notesSlides/notesSlide4.xml" Id="R07f3b5c4ff55424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12521448cf4112" /><Relationship Type="http://schemas.openxmlformats.org/officeDocument/2006/relationships/notesSlide" Target="/ppt/notesSlides/notesSlide5.xml" Id="Ra66b9df42f2445e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8c6246bb964e85" /><Relationship Type="http://schemas.openxmlformats.org/officeDocument/2006/relationships/notesSlide" Target="/ppt/notesSlides/notesSlide6.xml" Id="Rc0006bc6ce684a5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e314987b2a4c4a" /><Relationship Type="http://schemas.openxmlformats.org/officeDocument/2006/relationships/notesSlide" Target="/ppt/notesSlides/notesSlide7.xml" Id="Re460c68a9fe9413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2c5d1f1d1c47d2" /><Relationship Type="http://schemas.openxmlformats.org/officeDocument/2006/relationships/notesSlide" Target="/ppt/notesSlides/notesSlide8.xml" Id="R241493e4cff14c5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de9b073cba4850" /><Relationship Type="http://schemas.openxmlformats.org/officeDocument/2006/relationships/notesSlide" Target="/ppt/notesSlides/notesSlide9.xml" Id="R303529956a424ba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a170a17cdf45a4" /><Relationship Type="http://schemas.openxmlformats.org/officeDocument/2006/relationships/notesSlide" Target="/ppt/notesSlides/notesSlide10.xml" Id="R18f6fd4f57504b0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deb44ace4c4efd" /><Relationship Type="http://schemas.openxmlformats.org/officeDocument/2006/relationships/notesSlide" Target="/ppt/notesSlides/notesSlide11.xml" Id="R6c6efe1278124e9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6af12c0fee4807" /><Relationship Type="http://schemas.openxmlformats.org/officeDocument/2006/relationships/image" Target="/ppt/media/image4.jpeg" Id="R462c81372cf24848" /><Relationship Type="http://schemas.openxmlformats.org/officeDocument/2006/relationships/notesSlide" Target="/ppt/notesSlides/notesSlide12.xml" Id="Re061a601bb394e2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d6c962b1ec4b5c" /><Relationship Type="http://schemas.openxmlformats.org/officeDocument/2006/relationships/notesSlide" Target="/ppt/notesSlides/notesSlide13.xml" Id="R556579aafda74ac5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027a03fe794bfc" /><Relationship Type="http://schemas.openxmlformats.org/officeDocument/2006/relationships/notesSlide" Target="/ppt/notesSlides/notesSlide14.xml" Id="R71e9542c0af14f41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fc5e8749c04935" /><Relationship Type="http://schemas.openxmlformats.org/officeDocument/2006/relationships/notesSlide" Target="/ppt/notesSlides/notesSlide15.xml" Id="R60f93dd867214c8c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a75a5c3c3944cc" /><Relationship Type="http://schemas.openxmlformats.org/officeDocument/2006/relationships/image" Target="/ppt/media/image5.jpeg" Id="R392d9a495da0445e" /><Relationship Type="http://schemas.openxmlformats.org/officeDocument/2006/relationships/notesSlide" Target="/ppt/notesSlides/notesSlide16.xml" Id="Rce3f5e4d50604891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fa3a64a2fb42e8" /><Relationship Type="http://schemas.openxmlformats.org/officeDocument/2006/relationships/notesSlide" Target="/ppt/notesSlides/notesSlide17.xml" Id="Ra89c3833ed3b40f4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8bb3a85e014b20" /><Relationship Type="http://schemas.openxmlformats.org/officeDocument/2006/relationships/image" Target="/ppt/media/image6.jpeg" Id="Re3dc1bdeb6084a20" /><Relationship Type="http://schemas.openxmlformats.org/officeDocument/2006/relationships/image" Target="/ppt/media/image7.jpeg" Id="R96c2964727df433f" /><Relationship Type="http://schemas.openxmlformats.org/officeDocument/2006/relationships/notesSlide" Target="/ppt/notesSlides/notesSlide18.xml" Id="Rd848ddf76c224b70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7241af103c438e" /><Relationship Type="http://schemas.openxmlformats.org/officeDocument/2006/relationships/image" Target="/ppt/media/image8.jpeg" Id="R7651d417419543ea" /><Relationship Type="http://schemas.openxmlformats.org/officeDocument/2006/relationships/notesSlide" Target="/ppt/notesSlides/notesSlide19.xml" Id="Rb390a988dabe4e4b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e2db2e22a44f2f" /><Relationship Type="http://schemas.openxmlformats.org/officeDocument/2006/relationships/image" Target="/ppt/media/image9.jpeg" Id="Re5d7c8b9b7974292" /><Relationship Type="http://schemas.openxmlformats.org/officeDocument/2006/relationships/notesSlide" Target="/ppt/notesSlides/notesSlide20.xml" Id="Rf9086256a091480a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7541cfe0c848cb" /><Relationship Type="http://schemas.openxmlformats.org/officeDocument/2006/relationships/notesSlide" Target="/ppt/notesSlides/notesSlide21.xml" Id="R4baa435be3c44007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be42839e3d4cab" /><Relationship Type="http://schemas.openxmlformats.org/officeDocument/2006/relationships/image" Target="/ppt/media/image10.jpeg" Id="R6e9f66287f1c4c25" /><Relationship Type="http://schemas.openxmlformats.org/officeDocument/2006/relationships/notesSlide" Target="/ppt/notesSlides/notesSlide22.xml" Id="R353c4f328e284ac1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8e96bc66644e6b" /><Relationship Type="http://schemas.openxmlformats.org/officeDocument/2006/relationships/image" Target="/ppt/media/image11.jpeg" Id="Rd0ef2f897075454a" /><Relationship Type="http://schemas.openxmlformats.org/officeDocument/2006/relationships/notesSlide" Target="/ppt/notesSlides/notesSlide23.xml" Id="R546a0fe141ac4b21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f32502ee1d4ced" /><Relationship Type="http://schemas.openxmlformats.org/officeDocument/2006/relationships/notesSlide" Target="/ppt/notesSlides/notesSlide24.xml" Id="R3c56330a17f64419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97cc37e88c4428" /><Relationship Type="http://schemas.openxmlformats.org/officeDocument/2006/relationships/notesSlide" Target="/ppt/notesSlides/notesSlide25.xml" Id="R6fe47b97aaea4b28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646e4311554de7" /><Relationship Type="http://schemas.openxmlformats.org/officeDocument/2006/relationships/notesSlide" Target="/ppt/notesSlides/notesSlide26.xml" Id="Rebf56a4567054ba5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5eb45a69b643e5" /><Relationship Type="http://schemas.openxmlformats.org/officeDocument/2006/relationships/notesSlide" Target="/ppt/notesSlides/notesSlide27.xml" Id="R8a5e20178af0493e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2942e77e7d4fb5" /><Relationship Type="http://schemas.openxmlformats.org/officeDocument/2006/relationships/notesSlide" Target="/ppt/notesSlides/notesSlide28.xml" Id="R899ad43fb3c24d1b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828f846022426f" /><Relationship Type="http://schemas.openxmlformats.org/officeDocument/2006/relationships/notesSlide" Target="/ppt/notesSlides/notesSlide29.xml" Id="R6480bd74e4814bd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821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70a3d2a60f43c9"/>
          <a:srcRect xmlns:a="http://schemas.openxmlformats.org/drawingml/2006/main" l="22209" t="0" r="2220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77000" y="0"/>
            <a:ext cx="5715000" cy="6858000"/>
          </a:xfrm>
          <a:prstGeom xmlns:a="http://schemas.openxmlformats.org/drawingml/2006/main" prst="roundRect">
            <a:avLst>
              <a:gd name="adj" fmla="val 2000"/>
            </a:avLst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EE1652-3BB4-43E2-8797-FFAB54D13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6858000"/>
          </a:xfrm>
          <a:prstGeom xmlns:a="http://schemas.openxmlformats.org/drawingml/2006/main" prst="roundRect">
            <a:avLst>
              <a:gd name="adj" fmla="val 1667"/>
            </a:avLst>
          </a:prstGeom>
          <a:solidFill xmlns:a="http://schemas.openxmlformats.org/drawingml/2006/main">
            <a:srgbClr val="1821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C31124-BC5D-47B1-9D59-30ABB70C7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"/>
            <a:ext cx="70485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B65F90-44C6-456D-8D04-5331DA12D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95350"/>
            <a:ext cx="3048000" cy="2286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38389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1DFC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1DFC0"/>
                </a:solidFill>
                <a:latin typeface="Aptos"/>
                <a:ea typeface="Aptos"/>
                <a:cs typeface="Aptos"/>
              </a:rPr>
              <a:t>SLOP / UNIVERSITY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8741A1-4DA2-492E-83F5-861029683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95450"/>
            <a:ext cx="4000500" cy="266700"/>
          </a:xfrm>
          <a:prstGeom xmlns:a="http://schemas.openxmlformats.org/drawingml/2006/main" prst="roundRect">
            <a:avLst>
              <a:gd name="adj" fmla="val 4285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2642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1DFC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1DFC0"/>
                </a:solidFill>
                <a:latin typeface="Aptos"/>
                <a:ea typeface="Aptos"/>
                <a:cs typeface="Aptos"/>
              </a:rPr>
              <a:t>SLOP1512  /  WEEK 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211334-2FF3-4768-BB73-792B320F1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71700"/>
            <a:ext cx="5619750" cy="857250"/>
          </a:xfrm>
          <a:prstGeom xmlns:a="http://schemas.openxmlformats.org/drawingml/2006/main" prst="roundRect">
            <a:avLst>
              <a:gd name="adj" fmla="val 1333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4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Responsive Design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717CBE-AD01-42AA-8A64-6E4C5F0CD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00400"/>
            <a:ext cx="5524500" cy="1143000"/>
          </a:xfrm>
          <a:prstGeom xmlns:a="http://schemas.openxmlformats.org/drawingml/2006/main" prst="roundRect">
            <a:avLst>
              <a:gd name="adj" fmla="val 1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Design for a small screen first, then add space and structure for larger screens without hiding essential information.</a:t>
            </a:r>
          </a:p>
        </p:txBody>
      </p:sp>
    </p:spTree>
    <p:extLst>
      <p:ext uri="{BB962C8B-B14F-4D97-AF65-F5344CB8AC3E}">
        <p14:creationId xmlns:p14="http://schemas.microsoft.com/office/powerpoint/2010/main" val="116411155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F94E541-9B9D-470C-9EEE-F85DEFAF8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762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096BD9-8DAF-4A20-92FF-0AA8C243E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28575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/ WEEK 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A0A768-5433-4F81-84FE-ACF39CED5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71500"/>
            <a:ext cx="5715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597765-4A34-4E9A-8558-EEF0ABE84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09650"/>
            <a:ext cx="10668000" cy="533400"/>
          </a:xfrm>
          <a:prstGeom xmlns:a="http://schemas.openxmlformats.org/drawingml/2006/main" prst="roundRect">
            <a:avLst>
              <a:gd name="adj" fmla="val 2142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Learning outcomes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7DF289-5608-41DB-AD3B-D62468FA7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00200"/>
            <a:ext cx="10572750" cy="342900"/>
          </a:xfrm>
          <a:prstGeom xmlns:a="http://schemas.openxmlformats.org/drawingml/2006/main" prst="roundRect">
            <a:avLst>
              <a:gd name="adj" fmla="val 3333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4954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By the end of this lecture you can build and test a layout that works from 320px to 1920px.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283A05-25EA-4A50-AFC3-0A9EA5D78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111252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EAC67D-002E-4256-B285-1AF6A5845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4381500" cy="1524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190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Web Design and Interactive Publishing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55F8C6-7A91-4FC1-A540-E653BF239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57450"/>
            <a:ext cx="333375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CAA4C8-1F87-4AB4-A743-13D648219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47950"/>
            <a:ext cx="43815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535613-8B91-4A6A-95A8-EE0C75190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19400"/>
            <a:ext cx="2952750" cy="247650"/>
          </a:xfrm>
          <a:prstGeom xmlns:a="http://schemas.openxmlformats.org/drawingml/2006/main" prst="roundRect">
            <a:avLst>
              <a:gd name="adj" fmla="val 4615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1099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Reason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C84B18-57A7-418B-8FA8-549ED1E62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62300"/>
            <a:ext cx="2952750" cy="1295400"/>
          </a:xfrm>
          <a:prstGeom xmlns:a="http://schemas.openxmlformats.org/drawingml/2006/main" prst="roundRect">
            <a:avLst>
              <a:gd name="adj" fmla="val 882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Explain why mobile-first, min-width breakpoints produce more resilient CSS than desktop-first max-width overrides.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29CE1D-AD27-48A4-9B95-96947586A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457450"/>
            <a:ext cx="333375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89D00F-0396-40BE-A1AB-B89927697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647950"/>
            <a:ext cx="43815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C63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8725B54-264F-4782-A8C0-E5C320332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819400"/>
            <a:ext cx="2952750" cy="247650"/>
          </a:xfrm>
          <a:prstGeom xmlns:a="http://schemas.openxmlformats.org/drawingml/2006/main" prst="roundRect">
            <a:avLst>
              <a:gd name="adj" fmla="val 4615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1099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Build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F9A145B-07E3-422A-8DB4-5EAB8BF72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162300"/>
            <a:ext cx="2952750" cy="1295400"/>
          </a:xfrm>
          <a:prstGeom xmlns:a="http://schemas.openxmlformats.org/drawingml/2006/main" prst="roundRect">
            <a:avLst>
              <a:gd name="adj" fmla="val 882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Write fluid layouts with flexbox and grid, fluid images, and fluid type that adapt without a fixed breakpoint list.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DB327A6-6C6B-42DE-B40E-A8802EEFC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457450"/>
            <a:ext cx="333375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89AA777-B4D7-4A3B-BC43-280EA1491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647950"/>
            <a:ext cx="43815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AF7D944-F456-47C4-8248-D2029AC80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819400"/>
            <a:ext cx="2952750" cy="247650"/>
          </a:xfrm>
          <a:prstGeom xmlns:a="http://schemas.openxmlformats.org/drawingml/2006/main" prst="roundRect">
            <a:avLst>
              <a:gd name="adj" fmla="val 4615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1099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Test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BF5DE78-F341-4006-8300-7832E4045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162300"/>
            <a:ext cx="2952750" cy="1295400"/>
          </a:xfrm>
          <a:prstGeom xmlns:a="http://schemas.openxmlformats.org/drawingml/2006/main" prst="roundRect">
            <a:avLst>
              <a:gd name="adj" fmla="val 882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Verify a layout at multiple real breakpoints and confirm no essential content or navigation is hidden on small screens.</a:t>
            </a:r>
          </a:p>
        </p:txBody>
      </p:sp>
    </p:spTree>
    <p:extLst>
      <p:ext uri="{BB962C8B-B14F-4D97-AF65-F5344CB8AC3E}">
        <p14:creationId xmlns:p14="http://schemas.microsoft.com/office/powerpoint/2010/main" val="214279676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B5B122B-E0B0-42DB-921D-4F665C836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762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AB56C0-4D5D-4634-B966-C99BF9D92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28575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/ WEEK 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663A10-C7EA-4E2C-8D92-0B73326FA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71500"/>
            <a:ext cx="5715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0A4C53-3131-4664-8A8E-A767A7305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09650"/>
            <a:ext cx="10668000" cy="533400"/>
          </a:xfrm>
          <a:prstGeom xmlns:a="http://schemas.openxmlformats.org/drawingml/2006/main" prst="roundRect">
            <a:avLst>
              <a:gd name="adj" fmla="val 2142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Why responsive design exists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453DCB-BEBB-4298-B394-2A3F348AB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00200"/>
            <a:ext cx="10572750" cy="342900"/>
          </a:xfrm>
          <a:prstGeom xmlns:a="http://schemas.openxmlformats.org/drawingml/2006/main" prst="roundRect">
            <a:avLst>
              <a:gd name="adj" fmla="val 3333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4954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One HTML document is now viewed on an unbounded range of screen sizes.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C26FD5-A893-4EA9-8781-BF5A4B83C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111252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28814C-0EAF-4139-9BB4-C5E08ABE7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4381500" cy="1524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190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Web Design and Interactive Publishing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296b8f34ce4fd6"/>
          <a:srcRect xmlns:a="http://schemas.openxmlformats.org/drawingml/2006/main" l="11758" t="0" r="1175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39000" y="2381250"/>
            <a:ext cx="4038600" cy="3676650"/>
          </a:xfrm>
          <a:prstGeom xmlns:a="http://schemas.openxmlformats.org/drawingml/2006/main" prst="roundRect">
            <a:avLst>
              <a:gd name="adj" fmla="val 3109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960530-547F-42C8-A5DE-EA3B1B837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57450"/>
            <a:ext cx="6286500" cy="1047750"/>
          </a:xfrm>
          <a:prstGeom xmlns:a="http://schemas.openxmlformats.org/drawingml/2006/main" prst="roundRect">
            <a:avLst>
              <a:gd name="adj" fmla="val 1090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In 2010, Ethan Marcotte coined “responsive web design” to describe a single codebase that adapts its layout to the viewport, instead of maintaining separate mobile and desktop sites.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1ACC73-A29C-41C8-854D-FCD7C5ACE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0"/>
            <a:ext cx="628650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CB6042-98CC-4FE5-9AB3-DB65E0201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0"/>
            <a:ext cx="43815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252D70-8134-4F9D-849E-E3D5F4D39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71950"/>
            <a:ext cx="5905500" cy="247650"/>
          </a:xfrm>
          <a:prstGeom xmlns:a="http://schemas.openxmlformats.org/drawingml/2006/main" prst="roundRect">
            <a:avLst>
              <a:gd name="adj" fmla="val 4615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1099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Before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B457BE-E13C-4D37-BE99-DA6CBEB71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14850"/>
            <a:ext cx="5905500" cy="1333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Separate m.example.com mobile sites duplicated content and logic, and drifted out of sync with the desktop site over time.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9FC3810-CBA6-41DB-8D47-0A5197F41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0"/>
            <a:ext cx="628650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E412E3B-BCDB-481B-9EDC-96F5A4DB1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43500"/>
            <a:ext cx="43815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C63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39B202D-2183-44A8-BF7B-1943B59A9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14950"/>
            <a:ext cx="5905500" cy="247650"/>
          </a:xfrm>
          <a:prstGeom xmlns:a="http://schemas.openxmlformats.org/drawingml/2006/main" prst="roundRect">
            <a:avLst>
              <a:gd name="adj" fmla="val 4615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1099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After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F51F448-7E3F-434D-8419-61685CD5F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57850"/>
            <a:ext cx="5905500" cy="1333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One document, one URL, one set of content — CSS media queries and fluid layout techniques decide how it is presented per viewport.</a:t>
            </a:r>
          </a:p>
        </p:txBody>
      </p:sp>
    </p:spTree>
    <p:extLst>
      <p:ext uri="{BB962C8B-B14F-4D97-AF65-F5344CB8AC3E}">
        <p14:creationId xmlns:p14="http://schemas.microsoft.com/office/powerpoint/2010/main" val="191876289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1548021-EB6D-4D1A-A131-7BDFF03AE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762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3F16CC-6C26-4DFA-9D8A-FCC66321B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28575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/ WEEK 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076F8D-72CE-4ACA-B56A-726C7683F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71500"/>
            <a:ext cx="5715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367761-A40F-4763-80CF-D209B00F9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09650"/>
            <a:ext cx="10668000" cy="533400"/>
          </a:xfrm>
          <a:prstGeom xmlns:a="http://schemas.openxmlformats.org/drawingml/2006/main" prst="roundRect">
            <a:avLst>
              <a:gd name="adj" fmla="val 2142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Mobile-first as a discipline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D06486-D91B-42AB-81D5-90E67CAFC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00200"/>
            <a:ext cx="10572750" cy="342900"/>
          </a:xfrm>
          <a:prstGeom xmlns:a="http://schemas.openxmlformats.org/drawingml/2006/main" prst="roundRect">
            <a:avLst>
              <a:gd name="adj" fmla="val 3333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4954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Design and write CSS for the most constrained viewport, then progressively add.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874078-BD86-4AAA-94AB-BE8B1B2B0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111252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436F96-05AF-4C26-9BFC-39D6AA367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4381500" cy="1524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190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Web Design and Interactive Publishing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eea19b22ce4e8f"/>
          <a:srcRect xmlns:a="http://schemas.openxmlformats.org/drawingml/2006/main" l="13367" t="0" r="1336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39000" y="2381250"/>
            <a:ext cx="4038600" cy="3676650"/>
          </a:xfrm>
          <a:prstGeom xmlns:a="http://schemas.openxmlformats.org/drawingml/2006/main" prst="roundRect">
            <a:avLst>
              <a:gd name="adj" fmla="val 3109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A052CF-25E5-495C-B93E-EA3E89FAB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57450"/>
            <a:ext cx="6286500" cy="1238250"/>
          </a:xfrm>
          <a:prstGeom xmlns:a="http://schemas.openxmlformats.org/drawingml/2006/main" prst="roundRect">
            <a:avLst>
              <a:gd name="adj" fmla="val 923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Mobile-first is not “make it work on phones too.” It means your default, unqualified CSS targets a narrow single-column viewport, and every media query adds capability for more space — never removes it.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F17F60-2702-4994-A985-BFFC0F9FB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0"/>
            <a:ext cx="628650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8453AB-AC5B-49AC-843D-E9DA5B01D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0"/>
            <a:ext cx="43815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C63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BEE77C-E3DD-475A-B5A9-B615F6A93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71950"/>
            <a:ext cx="5905500" cy="247650"/>
          </a:xfrm>
          <a:prstGeom xmlns:a="http://schemas.openxmlformats.org/drawingml/2006/main" prst="roundRect">
            <a:avLst>
              <a:gd name="adj" fmla="val 4615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1099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Why it matters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B09DA8-50D7-4565-85D2-32EA0F0E3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14850"/>
            <a:ext cx="5905500" cy="1333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Starting narrow forces you to prioritise content: what must appear even at 320px wide, before anything is added back.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3CA7F5-76F8-4F3D-B8DB-AE9F5B12D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0"/>
            <a:ext cx="628650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4999CB6-612E-4186-909C-3485032A4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43500"/>
            <a:ext cx="43815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D577314-8C29-4CD6-9B13-1481A4B62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14950"/>
            <a:ext cx="5905500" cy="247650"/>
          </a:xfrm>
          <a:prstGeom xmlns:a="http://schemas.openxmlformats.org/drawingml/2006/main" prst="roundRect">
            <a:avLst>
              <a:gd name="adj" fmla="val 4615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1099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Consequence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569EF7D-1101-4E78-88F0-0364E1970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57850"/>
            <a:ext cx="5905500" cy="1333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A mobile-first stylesheet is usually smaller and simpler, because base styles do less and overrides only add.</a:t>
            </a:r>
          </a:p>
        </p:txBody>
      </p:sp>
    </p:spTree>
    <p:extLst>
      <p:ext uri="{BB962C8B-B14F-4D97-AF65-F5344CB8AC3E}">
        <p14:creationId xmlns:p14="http://schemas.microsoft.com/office/powerpoint/2010/main" val="2328680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377B020-62A7-4626-94F2-5CBCFE42A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762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2743F0-CF2A-44FC-9206-82DC7E24C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28575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/ WEEK 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520B3D-70FF-4A0D-8412-9A7E90A7D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71500"/>
            <a:ext cx="5715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5226CF-98F7-43CF-9999-C09F433C1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09650"/>
            <a:ext cx="10668000" cy="533400"/>
          </a:xfrm>
          <a:prstGeom xmlns:a="http://schemas.openxmlformats.org/drawingml/2006/main" prst="roundRect">
            <a:avLst>
              <a:gd name="adj" fmla="val 2142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The viewport meta tag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00DC5A-0AF7-4734-AE58-BABCA0C0A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00200"/>
            <a:ext cx="10572750" cy="342900"/>
          </a:xfrm>
          <a:prstGeom xmlns:a="http://schemas.openxmlformats.org/drawingml/2006/main" prst="roundRect">
            <a:avLst>
              <a:gd name="adj" fmla="val 3333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4954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Without it, mobile browsers render a fake 980px-wide desktop page and zoom it out.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B734E9-57B9-4705-BE03-45AA1ED39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111252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109363-D65F-4CA4-A8FB-84127B799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4381500" cy="1524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190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Web Design and Interactive Publishing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261732-A8DC-4B3A-9673-41DAF5D0B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0"/>
            <a:ext cx="106680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1B24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C6F19F-1DB0-45DC-83E7-C47ED32AB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52700"/>
            <a:ext cx="10210800" cy="895350"/>
          </a:xfrm>
          <a:prstGeom xmlns:a="http://schemas.openxmlformats.org/drawingml/2006/main" prst="roundRect">
            <a:avLst>
              <a:gd name="adj" fmla="val 12766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EAF1F4"/>
                </a:solidFill>
                <a:latin typeface="Courier New"/>
                <a:ea typeface="Courier New"/>
                <a:cs typeface="Courier New"/>
              </a:defRPr>
            </a:pPr>
            <a:r>
              <a:rPr sz="1650" b="0">
                <a:solidFill>
                  <a:srgbClr val="EAF1F4"/>
                </a:solidFill>
                <a:latin typeface="Courier New"/>
                <a:ea typeface="Courier New"/>
                <a:cs typeface="Courier New"/>
              </a:rPr>
              <a:t>&lt;meta name="viewport"</a:t>
            </a:r>
          </a:p>
          <a:p xmlns:a="http://schemas.openxmlformats.org/drawingml/2006/main">
            <a:pPr algn="l">
              <a:defRPr sz="1650" b="0">
                <a:solidFill>
                  <a:srgbClr val="EAF1F4"/>
                </a:solidFill>
                <a:latin typeface="Courier New"/>
                <a:ea typeface="Courier New"/>
                <a:cs typeface="Courier New"/>
              </a:defRPr>
            </a:pPr>
            <a:r>
              <a:rPr sz="1650" b="0">
                <a:solidFill>
                  <a:srgbClr val="EAF1F4"/>
                </a:solidFill>
                <a:latin typeface="Courier New"/>
                <a:ea typeface="Courier New"/>
                <a:cs typeface="Courier New"/>
              </a:rPr>
              <a:t>      content="width=device-width, initial-scale=1"&gt;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7AABE9-10D5-476A-AD74-FA0CBA55F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0"/>
            <a:ext cx="5286375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718673-0ABF-4D03-94AB-EF8E91320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0"/>
            <a:ext cx="43815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745370-E9D4-4AEB-ADB4-CE0009B48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71950"/>
            <a:ext cx="4905375" cy="247650"/>
          </a:xfrm>
          <a:prstGeom xmlns:a="http://schemas.openxmlformats.org/drawingml/2006/main" prst="roundRect">
            <a:avLst>
              <a:gd name="adj" fmla="val 4615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1099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width=device-width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64193E-FE9E-4BE5-8FA3-EE314FB04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14850"/>
            <a:ext cx="4905375" cy="1200150"/>
          </a:xfrm>
          <a:prstGeom xmlns:a="http://schemas.openxmlformats.org/drawingml/2006/main" prst="roundRect">
            <a:avLst>
              <a:gd name="adj" fmla="val 952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Sets the layout viewport's width to the device's actual CSS pixel width, instead of an assumed 980px.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BA4B3F-BF00-4D90-8EB8-C6F41D053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3810000"/>
            <a:ext cx="5286375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4B067DF-7812-4C29-AED9-2F0ADA03B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4000500"/>
            <a:ext cx="43815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C63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DC6C3BD-5965-4E38-B0FE-FE32D8E07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4171950"/>
            <a:ext cx="4905375" cy="247650"/>
          </a:xfrm>
          <a:prstGeom xmlns:a="http://schemas.openxmlformats.org/drawingml/2006/main" prst="roundRect">
            <a:avLst>
              <a:gd name="adj" fmla="val 4615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1099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initial-scale=1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D61A45E-6D9A-460F-A71E-5D041B32D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4514850"/>
            <a:ext cx="4905375" cy="1200150"/>
          </a:xfrm>
          <a:prstGeom xmlns:a="http://schemas.openxmlformats.org/drawingml/2006/main" prst="roundRect">
            <a:avLst>
              <a:gd name="adj" fmla="val 952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Sets the initial zoom so one CSS pixel maps to one viewport pixel at load — no automatic zoom-out.</a:t>
            </a:r>
          </a:p>
        </p:txBody>
      </p:sp>
    </p:spTree>
    <p:extLst>
      <p:ext uri="{BB962C8B-B14F-4D97-AF65-F5344CB8AC3E}">
        <p14:creationId xmlns:p14="http://schemas.microsoft.com/office/powerpoint/2010/main" val="206877390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CB3420-D7F5-4385-B465-40636A5B2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762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B992D4-952F-4846-98DE-4267B1E5F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28575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/ WEEK 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0E4CA6-EE64-4EB2-AA46-F013AAD30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71500"/>
            <a:ext cx="5715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194AE2-D711-45E6-9DD4-0095B7C75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09650"/>
            <a:ext cx="10668000" cy="533400"/>
          </a:xfrm>
          <a:prstGeom xmlns:a="http://schemas.openxmlformats.org/drawingml/2006/main" prst="roundRect">
            <a:avLst>
              <a:gd name="adj" fmla="val 2142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Media queries: the syntax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C05F0C-85D0-4427-8633-D580E34AE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00200"/>
            <a:ext cx="10572750" cy="342900"/>
          </a:xfrm>
          <a:prstGeom xmlns:a="http://schemas.openxmlformats.org/drawingml/2006/main" prst="roundRect">
            <a:avLst>
              <a:gd name="adj" fmla="val 3333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4954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A conditional block of CSS that applies only when a feature of the viewport matches.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85F462-C247-4F29-889E-988DC0B52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111252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3D7CA6-4178-4ACB-84ED-4257DB750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4381500" cy="1524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190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Web Design and Interactive Publishing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767015-B18F-4B85-BBF1-521F4E926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0"/>
            <a:ext cx="10668000" cy="2857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1B24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4F7910-0951-4579-878D-1A9FF474C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52700"/>
            <a:ext cx="10210800" cy="2514600"/>
          </a:xfrm>
          <a:prstGeom xmlns:a="http://schemas.openxmlformats.org/drawingml/2006/main" prst="roundRect">
            <a:avLst>
              <a:gd name="adj" fmla="val 4545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AF1F4"/>
                </a:solidFill>
                <a:latin typeface="Courier New"/>
                <a:ea typeface="Courier New"/>
                <a:cs typeface="Courier New"/>
              </a:defRPr>
            </a:pPr>
            <a:r>
              <a:rPr sz="1350" b="0">
                <a:solidFill>
                  <a:srgbClr val="EAF1F4"/>
                </a:solidFill>
                <a:latin typeface="Courier New"/>
                <a:ea typeface="Courier New"/>
                <a:cs typeface="Courier New"/>
              </a:rPr>
              <a:t>/* mobile-first: base styles apply everywhere */</a:t>
            </a:r>
          </a:p>
          <a:p xmlns:a="http://schemas.openxmlformats.org/drawingml/2006/main">
            <a:pPr algn="l">
              <a:defRPr sz="1350" b="0">
                <a:solidFill>
                  <a:srgbClr val="EAF1F4"/>
                </a:solidFill>
                <a:latin typeface="Courier New"/>
                <a:ea typeface="Courier New"/>
                <a:cs typeface="Courier New"/>
              </a:defRPr>
            </a:pPr>
            <a:r>
              <a:rPr sz="1350" b="0">
                <a:solidFill>
                  <a:srgbClr val="EAF1F4"/>
                </a:solidFill>
                <a:latin typeface="Courier New"/>
                <a:ea typeface="Courier New"/>
                <a:cs typeface="Courier New"/>
              </a:rPr>
              <a:t>.card-grid { display: grid; grid-template-columns: 1fr; gap: 1rem; 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EAF1F4"/>
                </a:solidFill>
                <a:latin typeface="Courier New"/>
                <a:ea typeface="Courier New"/>
                <a:cs typeface="Courier New"/>
              </a:defRPr>
            </a:pPr>
            <a:r>
              <a:rPr sz="1350" b="0">
                <a:solidFill>
                  <a:srgbClr val="EAF1F4"/>
                </a:solidFill>
                <a:latin typeface="Courier New"/>
                <a:ea typeface="Courier New"/>
                <a:cs typeface="Courier New"/>
              </a:rPr>
              <a:t>@media (min-width: 48rem) {</a:t>
            </a:r>
          </a:p>
          <a:p xmlns:a="http://schemas.openxmlformats.org/drawingml/2006/main">
            <a:pPr algn="l">
              <a:defRPr sz="1350" b="0">
                <a:solidFill>
                  <a:srgbClr val="EAF1F4"/>
                </a:solidFill>
                <a:latin typeface="Courier New"/>
                <a:ea typeface="Courier New"/>
                <a:cs typeface="Courier New"/>
              </a:defRPr>
            </a:pPr>
            <a:r>
              <a:rPr sz="1350" b="0">
                <a:solidFill>
                  <a:srgbClr val="EAF1F4"/>
                </a:solidFill>
                <a:latin typeface="Courier New"/>
                <a:ea typeface="Courier New"/>
                <a:cs typeface="Courier New"/>
              </a:rPr>
              <a:t>  .card-grid { grid-template-columns: repeat(2, 1fr); }</a:t>
            </a:r>
          </a:p>
          <a:p xmlns:a="http://schemas.openxmlformats.org/drawingml/2006/main">
            <a:pPr algn="l">
              <a:defRPr sz="1350" b="0">
                <a:solidFill>
                  <a:srgbClr val="EAF1F4"/>
                </a:solidFill>
                <a:latin typeface="Courier New"/>
                <a:ea typeface="Courier New"/>
                <a:cs typeface="Courier New"/>
              </a:defRPr>
            </a:pPr>
            <a:r>
              <a:rPr sz="1350" b="0">
                <a:solidFill>
                  <a:srgbClr val="EAF1F4"/>
                </a:solidFill>
                <a:latin typeface="Courier New"/>
                <a:ea typeface="Courier New"/>
                <a:cs typeface="Courier New"/>
              </a:rP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EAF1F4"/>
                </a:solidFill>
                <a:latin typeface="Courier New"/>
                <a:ea typeface="Courier New"/>
                <a:cs typeface="Courier New"/>
              </a:defRPr>
            </a:pPr>
            <a:r>
              <a:rPr sz="1350" b="0">
                <a:solidFill>
                  <a:srgbClr val="EAF1F4"/>
                </a:solidFill>
                <a:latin typeface="Courier New"/>
                <a:ea typeface="Courier New"/>
                <a:cs typeface="Courier New"/>
              </a:rPr>
              <a:t>@media (min-width: 64rem) {</a:t>
            </a:r>
          </a:p>
          <a:p xmlns:a="http://schemas.openxmlformats.org/drawingml/2006/main">
            <a:pPr algn="l">
              <a:defRPr sz="1350" b="0">
                <a:solidFill>
                  <a:srgbClr val="EAF1F4"/>
                </a:solidFill>
                <a:latin typeface="Courier New"/>
                <a:ea typeface="Courier New"/>
                <a:cs typeface="Courier New"/>
              </a:defRPr>
            </a:pPr>
            <a:r>
              <a:rPr sz="1350" b="0">
                <a:solidFill>
                  <a:srgbClr val="EAF1F4"/>
                </a:solidFill>
                <a:latin typeface="Courier New"/>
                <a:ea typeface="Courier New"/>
                <a:cs typeface="Courier New"/>
              </a:rPr>
              <a:t>  .card-grid { grid-template-columns: repeat(3, 1fr); }</a:t>
            </a:r>
          </a:p>
          <a:p xmlns:a="http://schemas.openxmlformats.org/drawingml/2006/main">
            <a:pPr algn="l">
              <a:defRPr sz="1350" b="0">
                <a:solidFill>
                  <a:srgbClr val="EAF1F4"/>
                </a:solidFill>
                <a:latin typeface="Courier New"/>
                <a:ea typeface="Courier New"/>
                <a:cs typeface="Courier New"/>
              </a:defRPr>
            </a:pPr>
            <a:r>
              <a:rPr sz="1350" b="0">
                <a:solidFill>
                  <a:srgbClr val="EAF1F4"/>
                </a:solidFill>
                <a:latin typeface="Courier New"/>
                <a:ea typeface="Courier New"/>
                <a:cs typeface="Courier New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16223654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8727B8E-BAD3-4692-85E5-524F1370C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762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B85F5D-FD86-498D-BE46-C2569EBAC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28575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/ WEEK 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8A02D0-05F3-43F8-AEDC-3CF1752FA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71500"/>
            <a:ext cx="5715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9E787E-E83E-40B8-81B9-AF29BC99A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09650"/>
            <a:ext cx="10668000" cy="533400"/>
          </a:xfrm>
          <a:prstGeom xmlns:a="http://schemas.openxmlformats.org/drawingml/2006/main" prst="roundRect">
            <a:avLst>
              <a:gd name="adj" fmla="val 2142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min-width vs max-width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4DC2E6-5873-4D0A-B3F4-145664011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00200"/>
            <a:ext cx="10572750" cy="342900"/>
          </a:xfrm>
          <a:prstGeom xmlns:a="http://schemas.openxmlformats.org/drawingml/2006/main" prst="roundRect">
            <a:avLst>
              <a:gd name="adj" fmla="val 3333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4954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Mobile-first uses min-width. Desktop-first (retrofitting an old site) uses max-width.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094C53-5F3B-4F51-988F-455BAD8BA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111252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A08E2A-349C-499F-BDF6-DD0CE6361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4381500" cy="1524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190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Web Design and Interactive Publishing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748F8E-1322-457D-87D1-907C21963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57450"/>
            <a:ext cx="5286375" cy="2238375"/>
          </a:xfrm>
          <a:prstGeom xmlns:a="http://schemas.openxmlformats.org/drawingml/2006/main" prst="roundRect">
            <a:avLst>
              <a:gd name="adj" fmla="val 51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ED3BDD-022B-4662-9EAA-62FC94D50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47950"/>
            <a:ext cx="43815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C63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D8050B-D578-48DC-B07E-51D71FC9D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19400"/>
            <a:ext cx="4905375" cy="247650"/>
          </a:xfrm>
          <a:prstGeom xmlns:a="http://schemas.openxmlformats.org/drawingml/2006/main" prst="roundRect">
            <a:avLst>
              <a:gd name="adj" fmla="val 4615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1099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min-width (mobile-first)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84A795-64F9-4128-AFC6-F30F5F95C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62300"/>
            <a:ext cx="4905375" cy="1343025"/>
          </a:xfrm>
          <a:prstGeom xmlns:a="http://schemas.openxmlformats.org/drawingml/2006/main" prst="roundRect">
            <a:avLst>
              <a:gd name="adj" fmla="val 851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@media (min-width: 48rem) { ... } adds styles as the viewport grows. Base styles are the narrow case; nothing needs undoing.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C504AA-9FF7-4512-8BF6-2AA6E76DE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2457450"/>
            <a:ext cx="5286375" cy="2238375"/>
          </a:xfrm>
          <a:prstGeom xmlns:a="http://schemas.openxmlformats.org/drawingml/2006/main" prst="roundRect">
            <a:avLst>
              <a:gd name="adj" fmla="val 51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923275-D08C-40AF-8AC6-A19CB66F9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2647950"/>
            <a:ext cx="43815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A98E50-1EF7-466E-853C-D45B608A3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2819400"/>
            <a:ext cx="4905375" cy="247650"/>
          </a:xfrm>
          <a:prstGeom xmlns:a="http://schemas.openxmlformats.org/drawingml/2006/main" prst="roundRect">
            <a:avLst>
              <a:gd name="adj" fmla="val 4615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1099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max-width (desktop-first)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0AF42D6-F773-4210-A285-123681068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3162300"/>
            <a:ext cx="4905375" cy="1343025"/>
          </a:xfrm>
          <a:prstGeom xmlns:a="http://schemas.openxmlformats.org/drawingml/2006/main" prst="roundRect">
            <a:avLst>
              <a:gd name="adj" fmla="val 851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@media (max-width: 48rem) { ... } overrides desktop styles for narrow viewports — every override fights the cascade against base styles meant for wide screens.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FE209C-2A55-413C-BF2C-1FF457222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0"/>
            <a:ext cx="10287000" cy="381000"/>
          </a:xfrm>
          <a:prstGeom xmlns:a="http://schemas.openxmlformats.org/drawingml/2006/main" prst="roundRect">
            <a:avLst>
              <a:gd name="adj" fmla="val 3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This course uses min-width breakpoints throughout: write for the smallest viewport first, then layer on capability.</a:t>
            </a:r>
          </a:p>
        </p:txBody>
      </p:sp>
    </p:spTree>
    <p:extLst>
      <p:ext uri="{BB962C8B-B14F-4D97-AF65-F5344CB8AC3E}">
        <p14:creationId xmlns:p14="http://schemas.microsoft.com/office/powerpoint/2010/main" val="214520947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F67DF5F-FFD9-4350-BD9E-E04E74E5D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762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6F2044-F074-432E-B4C4-335D76598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28575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/ WEEK 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B0D551-448E-4687-BD55-3D83DA496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71500"/>
            <a:ext cx="5715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9D9B46-B1C0-45E9-86AC-D909C8339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09650"/>
            <a:ext cx="10668000" cy="533400"/>
          </a:xfrm>
          <a:prstGeom xmlns:a="http://schemas.openxmlformats.org/drawingml/2006/main" prst="roundRect">
            <a:avLst>
              <a:gd name="adj" fmla="val 2142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Choosing breakpoints from content, not devices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CD4272-D3BF-4994-9CC6-841375B88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00200"/>
            <a:ext cx="10572750" cy="342900"/>
          </a:xfrm>
          <a:prstGeom xmlns:a="http://schemas.openxmlformats.org/drawingml/2006/main" prst="roundRect">
            <a:avLst>
              <a:gd name="adj" fmla="val 3333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4954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Pick a breakpoint where YOUR layout breaks, not a device's marketing width.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310A56-E314-4BA9-9D7A-0CF906C58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111252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61513C-D273-41A1-AEBE-B6DC9FD08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4381500" cy="1524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190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Web Design and Interactive Publishing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A1E2FD-CEB5-427A-9231-217F19587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57450"/>
            <a:ext cx="10477500" cy="952500"/>
          </a:xfrm>
          <a:prstGeom xmlns:a="http://schemas.openxmlformats.org/drawingml/2006/main" prst="roundRect">
            <a:avLst>
              <a:gd name="adj" fmla="val 12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Device widths change constantly — there is no fixed list of “phone / tablet / desktop” pixel widths to target. Instead, resize your own browser window until the content itself starts to look cramped or the line length gets awkward, and set the breakpoint there.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CFB89C-F644-4B85-90D7-2FB50EA70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0"/>
            <a:ext cx="2095500" cy="247650"/>
          </a:xfrm>
          <a:prstGeom xmlns:a="http://schemas.openxmlformats.org/drawingml/2006/main" prst="roundRect">
            <a:avLst>
              <a:gd name="adj" fmla="val 4615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3382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7831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C7831A"/>
                </a:solidFill>
                <a:latin typeface="Aptos"/>
                <a:ea typeface="Aptos"/>
                <a:cs typeface="Aptos"/>
              </a:rPr>
              <a:t>~30rem (480px)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615572-BD2F-4EC3-B148-5A5350DFD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619500"/>
            <a:ext cx="7905750" cy="419100"/>
          </a:xfrm>
          <a:prstGeom xmlns:a="http://schemas.openxmlformats.org/drawingml/2006/main" prst="roundRect">
            <a:avLst>
              <a:gd name="adj" fmla="val 2727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small phones in landscape, or a stacked card grows a second column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74DF1E-7C0F-4F11-8B6E-ABE0F4819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76700"/>
            <a:ext cx="1076325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4030C6-5E52-4DC5-873F-CD14138ED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10050"/>
            <a:ext cx="2095500" cy="247650"/>
          </a:xfrm>
          <a:prstGeom xmlns:a="http://schemas.openxmlformats.org/drawingml/2006/main" prst="roundRect">
            <a:avLst>
              <a:gd name="adj" fmla="val 4615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3382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7831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C7831A"/>
                </a:solidFill>
                <a:latin typeface="Aptos"/>
                <a:ea typeface="Aptos"/>
                <a:cs typeface="Aptos"/>
              </a:rPr>
              <a:t>~48rem (768px)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DE098FF-33DB-4F9E-A30F-3E731C0EB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210050"/>
            <a:ext cx="7905750" cy="419100"/>
          </a:xfrm>
          <a:prstGeom xmlns:a="http://schemas.openxmlformats.org/drawingml/2006/main" prst="roundRect">
            <a:avLst>
              <a:gd name="adj" fmla="val 2727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common tablet/narrow-window breakpoint for many card and nav layouts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789182-E2DE-4DE2-8EE0-E23A4A845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667250"/>
            <a:ext cx="1076325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55F3181-45B6-4009-93E0-DD4DD7B3B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00600"/>
            <a:ext cx="2095500" cy="247650"/>
          </a:xfrm>
          <a:prstGeom xmlns:a="http://schemas.openxmlformats.org/drawingml/2006/main" prst="roundRect">
            <a:avLst>
              <a:gd name="adj" fmla="val 4615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3382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7831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C7831A"/>
                </a:solidFill>
                <a:latin typeface="Aptos"/>
                <a:ea typeface="Aptos"/>
                <a:cs typeface="Aptos"/>
              </a:rPr>
              <a:t>~64rem (1024px)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6C0C09E-02D3-4121-B0D3-8F421C0B2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800600"/>
            <a:ext cx="7905750" cy="419100"/>
          </a:xfrm>
          <a:prstGeom xmlns:a="http://schemas.openxmlformats.org/drawingml/2006/main" prst="roundRect">
            <a:avLst>
              <a:gd name="adj" fmla="val 2727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a comfortable point to reveal a persistent sidebar or 3+ column grid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74FC764-46A3-4A80-8DB5-8DD4A7EAC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57800"/>
            <a:ext cx="1076325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29402D4-96E5-4BFB-8FF7-778145A6A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91150"/>
            <a:ext cx="2095500" cy="247650"/>
          </a:xfrm>
          <a:prstGeom xmlns:a="http://schemas.openxmlformats.org/drawingml/2006/main" prst="roundRect">
            <a:avLst>
              <a:gd name="adj" fmla="val 4615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3382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7831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C7831A"/>
                </a:solidFill>
                <a:latin typeface="Aptos"/>
                <a:ea typeface="Aptos"/>
                <a:cs typeface="Aptos"/>
              </a:rPr>
              <a:t>~80rem (1280px)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859876D-8AEC-4AE1-A9AB-F8F04BCFC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391150"/>
            <a:ext cx="7905750" cy="419100"/>
          </a:xfrm>
          <a:prstGeom xmlns:a="http://schemas.openxmlformats.org/drawingml/2006/main" prst="roundRect">
            <a:avLst>
              <a:gd name="adj" fmla="val 2727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constrain max content width so lines don't become unreadably long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9A85230-62FC-414B-ACC4-85BF875A2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48350"/>
            <a:ext cx="1076325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2804799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E180E2-F778-4868-A43A-3B40DDC72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762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21DD28-0F8A-47DA-8393-DE460ADC6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28575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/ WEEK 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D88329-F816-4B55-A15B-816A38C3C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71500"/>
            <a:ext cx="5715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BF589C-DCF7-45B9-B643-CCD4CF320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09650"/>
            <a:ext cx="10668000" cy="533400"/>
          </a:xfrm>
          <a:prstGeom xmlns:a="http://schemas.openxmlformats.org/drawingml/2006/main" prst="roundRect">
            <a:avLst>
              <a:gd name="adj" fmla="val 2142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Fluid layout, not fixed widths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3C015B-4C83-4112-AB0F-A56CF4095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00200"/>
            <a:ext cx="10572750" cy="342900"/>
          </a:xfrm>
          <a:prstGeom xmlns:a="http://schemas.openxmlformats.org/drawingml/2006/main" prst="roundRect">
            <a:avLst>
              <a:gd name="adj" fmla="val 3333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4954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Percentages, max-width and relative units let a layout resize instead of clipping or leaving gaps.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28E8E8-3FB0-4103-862B-F8CD6D08E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111252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714DA9-D141-4DA2-B5B2-52997BD8D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4381500" cy="1524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190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Web Design and Interactive Publishing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B4D8B0-BAEE-44A0-BC7F-DADB5D439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0"/>
            <a:ext cx="1066800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1B24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A407FC-4B34-4E50-BB26-6DAA05E20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52700"/>
            <a:ext cx="10210800" cy="1752600"/>
          </a:xfrm>
          <a:prstGeom xmlns:a="http://schemas.openxmlformats.org/drawingml/2006/main" prst="roundRect">
            <a:avLst>
              <a:gd name="adj" fmla="val 6522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EAF1F4"/>
                </a:solidFill>
                <a:latin typeface="Courier New"/>
                <a:ea typeface="Courier New"/>
                <a:cs typeface="Courier New"/>
              </a:defRPr>
            </a:pPr>
            <a:r>
              <a:rPr sz="1425" b="0">
                <a:solidFill>
                  <a:srgbClr val="EAF1F4"/>
                </a:solidFill>
                <a:latin typeface="Courier New"/>
                <a:ea typeface="Courier New"/>
                <a:cs typeface="Courier New"/>
              </a:rPr>
              <a:t>.page {</a:t>
            </a:r>
          </a:p>
          <a:p xmlns:a="http://schemas.openxmlformats.org/drawingml/2006/main">
            <a:pPr algn="l">
              <a:defRPr sz="1425" b="0">
                <a:solidFill>
                  <a:srgbClr val="EAF1F4"/>
                </a:solidFill>
                <a:latin typeface="Courier New"/>
                <a:ea typeface="Courier New"/>
                <a:cs typeface="Courier New"/>
              </a:defRPr>
            </a:pPr>
            <a:r>
              <a:rPr sz="1425" b="0">
                <a:solidFill>
                  <a:srgbClr val="EAF1F4"/>
                </a:solidFill>
                <a:latin typeface="Courier New"/>
                <a:ea typeface="Courier New"/>
                <a:cs typeface="Courier New"/>
              </a:rPr>
              <a:t>  width: 100%;</a:t>
            </a:r>
          </a:p>
          <a:p xmlns:a="http://schemas.openxmlformats.org/drawingml/2006/main">
            <a:pPr algn="l">
              <a:defRPr sz="1425" b="0">
                <a:solidFill>
                  <a:srgbClr val="EAF1F4"/>
                </a:solidFill>
                <a:latin typeface="Courier New"/>
                <a:ea typeface="Courier New"/>
                <a:cs typeface="Courier New"/>
              </a:defRPr>
            </a:pPr>
            <a:r>
              <a:rPr sz="1425" b="0">
                <a:solidFill>
                  <a:srgbClr val="EAF1F4"/>
                </a:solidFill>
                <a:latin typeface="Courier New"/>
                <a:ea typeface="Courier New"/>
                <a:cs typeface="Courier New"/>
              </a:rPr>
              <a:t>  max-width: 60rem;   /* caps line length on wide screens */</a:t>
            </a:r>
          </a:p>
          <a:p xmlns:a="http://schemas.openxmlformats.org/drawingml/2006/main">
            <a:pPr algn="l">
              <a:defRPr sz="1425" b="0">
                <a:solidFill>
                  <a:srgbClr val="EAF1F4"/>
                </a:solidFill>
                <a:latin typeface="Courier New"/>
                <a:ea typeface="Courier New"/>
                <a:cs typeface="Courier New"/>
              </a:defRPr>
            </a:pPr>
            <a:r>
              <a:rPr sz="1425" b="0">
                <a:solidFill>
                  <a:srgbClr val="EAF1F4"/>
                </a:solidFill>
                <a:latin typeface="Courier New"/>
                <a:ea typeface="Courier New"/>
                <a:cs typeface="Courier New"/>
              </a:rPr>
              <a:t>  margin-inline: auto; /* centers within the viewport */</a:t>
            </a:r>
          </a:p>
          <a:p xmlns:a="http://schemas.openxmlformats.org/drawingml/2006/main">
            <a:pPr algn="l">
              <a:defRPr sz="1425" b="0">
                <a:solidFill>
                  <a:srgbClr val="EAF1F4"/>
                </a:solidFill>
                <a:latin typeface="Courier New"/>
                <a:ea typeface="Courier New"/>
                <a:cs typeface="Courier New"/>
              </a:defRPr>
            </a:pPr>
            <a:r>
              <a:rPr sz="1425" b="0">
                <a:solidFill>
                  <a:srgbClr val="EAF1F4"/>
                </a:solidFill>
                <a:latin typeface="Courier New"/>
                <a:ea typeface="Courier New"/>
                <a:cs typeface="Courier New"/>
              </a:rPr>
              <a:t>  padding-inline: 1rem; /* keeps a gutter at any width */</a:t>
            </a:r>
          </a:p>
          <a:p xmlns:a="http://schemas.openxmlformats.org/drawingml/2006/main">
            <a:pPr algn="l">
              <a:defRPr sz="1425" b="0">
                <a:solidFill>
                  <a:srgbClr val="EAF1F4"/>
                </a:solidFill>
                <a:latin typeface="Courier New"/>
                <a:ea typeface="Courier New"/>
                <a:cs typeface="Courier New"/>
              </a:defRPr>
            </a:pPr>
            <a:r>
              <a:rPr sz="1425" b="0">
                <a:solidFill>
                  <a:srgbClr val="EAF1F4"/>
                </a:solidFill>
                <a:latin typeface="Courier New"/>
                <a:ea typeface="Courier New"/>
                <a:cs typeface="Courier New"/>
              </a:rPr>
              <a:t>}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FE2E66-58B4-4BAE-B5C6-83C548D58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62500"/>
            <a:ext cx="10477500" cy="857250"/>
          </a:xfrm>
          <a:prstGeom xmlns:a="http://schemas.openxmlformats.org/drawingml/2006/main" prst="roundRect">
            <a:avLst>
              <a:gd name="adj" fmla="val 1333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A fixed width:1024px container overflows a 375px phone screen and forces horizontal scrolling. width:100% with a max-width cap fills small screens and stays readable on large ones.</a:t>
            </a:r>
          </a:p>
        </p:txBody>
      </p:sp>
    </p:spTree>
    <p:extLst>
      <p:ext uri="{BB962C8B-B14F-4D97-AF65-F5344CB8AC3E}">
        <p14:creationId xmlns:p14="http://schemas.microsoft.com/office/powerpoint/2010/main" val="198629890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A03E95D-4882-4F13-A125-61EE67E5E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762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3E7E7E-2BA7-473A-80E3-BBE88600A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28575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/ WEEK 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A83E76-2CBE-47CA-A08D-E5BF35C02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71500"/>
            <a:ext cx="5715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DA59E0-8F17-4C29-B42E-1ED138536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09650"/>
            <a:ext cx="10668000" cy="533400"/>
          </a:xfrm>
          <a:prstGeom xmlns:a="http://schemas.openxmlformats.org/drawingml/2006/main" prst="roundRect">
            <a:avLst>
              <a:gd name="adj" fmla="val 2142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Flexible images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FD32A8-3BBF-48BC-A3A9-FC6A787B8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00200"/>
            <a:ext cx="10572750" cy="342900"/>
          </a:xfrm>
          <a:prstGeom xmlns:a="http://schemas.openxmlformats.org/drawingml/2006/main" prst="roundRect">
            <a:avLst>
              <a:gd name="adj" fmla="val 3333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4954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An image must shrink with its container or it breaks the layout, not the other way around.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D08811-A1F8-475B-BE0A-6CCC68E39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111252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CB22F1-2CAE-4034-8691-BBF221518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4381500" cy="1524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190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Web Design and Interactive Publishing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74C92B-B7D7-4A82-815E-CF9E56203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0"/>
            <a:ext cx="523875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1B24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D5E18D-1A91-461F-A601-E0B19AD6B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52700"/>
            <a:ext cx="4781550" cy="1276350"/>
          </a:xfrm>
          <a:prstGeom xmlns:a="http://schemas.openxmlformats.org/drawingml/2006/main" prst="roundRect">
            <a:avLst>
              <a:gd name="adj" fmla="val 8955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EAF1F4"/>
                </a:solidFill>
                <a:latin typeface="Courier New"/>
                <a:ea typeface="Courier New"/>
                <a:cs typeface="Courier New"/>
              </a:defRPr>
            </a:pPr>
            <a:r>
              <a:rPr sz="1425" b="0">
                <a:solidFill>
                  <a:srgbClr val="EAF1F4"/>
                </a:solidFill>
                <a:latin typeface="Courier New"/>
                <a:ea typeface="Courier New"/>
                <a:cs typeface="Courier New"/>
              </a:rPr>
              <a:t>img, video, svg {</a:t>
            </a:r>
          </a:p>
          <a:p xmlns:a="http://schemas.openxmlformats.org/drawingml/2006/main">
            <a:pPr algn="l">
              <a:defRPr sz="1425" b="0">
                <a:solidFill>
                  <a:srgbClr val="EAF1F4"/>
                </a:solidFill>
                <a:latin typeface="Courier New"/>
                <a:ea typeface="Courier New"/>
                <a:cs typeface="Courier New"/>
              </a:defRPr>
            </a:pPr>
            <a:r>
              <a:rPr sz="1425" b="0">
                <a:solidFill>
                  <a:srgbClr val="EAF1F4"/>
                </a:solidFill>
                <a:latin typeface="Courier New"/>
                <a:ea typeface="Courier New"/>
                <a:cs typeface="Courier New"/>
              </a:rPr>
              <a:t>  max-width: 100%;</a:t>
            </a:r>
          </a:p>
          <a:p xmlns:a="http://schemas.openxmlformats.org/drawingml/2006/main">
            <a:pPr algn="l">
              <a:defRPr sz="1425" b="0">
                <a:solidFill>
                  <a:srgbClr val="EAF1F4"/>
                </a:solidFill>
                <a:latin typeface="Courier New"/>
                <a:ea typeface="Courier New"/>
                <a:cs typeface="Courier New"/>
              </a:defRPr>
            </a:pPr>
            <a:r>
              <a:rPr sz="1425" b="0">
                <a:solidFill>
                  <a:srgbClr val="EAF1F4"/>
                </a:solidFill>
                <a:latin typeface="Courier New"/>
                <a:ea typeface="Courier New"/>
                <a:cs typeface="Courier New"/>
              </a:rPr>
              <a:t>  height: auto;</a:t>
            </a:r>
          </a:p>
          <a:p xmlns:a="http://schemas.openxmlformats.org/drawingml/2006/main">
            <a:pPr algn="l">
              <a:defRPr sz="1425" b="0">
                <a:solidFill>
                  <a:srgbClr val="EAF1F4"/>
                </a:solidFill>
                <a:latin typeface="Courier New"/>
                <a:ea typeface="Courier New"/>
                <a:cs typeface="Courier New"/>
              </a:defRPr>
            </a:pPr>
            <a:r>
              <a:rPr sz="1425" b="0">
                <a:solidFill>
                  <a:srgbClr val="EAF1F4"/>
                </a:solidFill>
                <a:latin typeface="Courier New"/>
                <a:ea typeface="Courier New"/>
                <a:cs typeface="Courier New"/>
              </a:rPr>
              <a:t>  display: block;</a:t>
            </a:r>
          </a:p>
          <a:p xmlns:a="http://schemas.openxmlformats.org/drawingml/2006/main">
            <a:pPr algn="l">
              <a:defRPr sz="1425" b="0">
                <a:solidFill>
                  <a:srgbClr val="EAF1F4"/>
                </a:solidFill>
                <a:latin typeface="Courier New"/>
                <a:ea typeface="Courier New"/>
                <a:cs typeface="Courier New"/>
              </a:defRPr>
            </a:pPr>
            <a:r>
              <a:rPr sz="1425" b="0">
                <a:solidFill>
                  <a:srgbClr val="EAF1F4"/>
                </a:solidFill>
                <a:latin typeface="Courier New"/>
                <a:ea typeface="Courier New"/>
                <a:cs typeface="Courier New"/>
              </a:rPr>
              <a:t>}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BD8855-FB4E-4B70-9344-C63BCF8E5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381250"/>
            <a:ext cx="533400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8E0979-F94C-407D-9546-DDEDFFDB0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571750"/>
            <a:ext cx="43815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C63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DD96B5-2B62-4A6D-8E53-EA3396F6A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743200"/>
            <a:ext cx="4953000" cy="247650"/>
          </a:xfrm>
          <a:prstGeom xmlns:a="http://schemas.openxmlformats.org/drawingml/2006/main" prst="roundRect">
            <a:avLst>
              <a:gd name="adj" fmla="val 4615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1099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Why height:auto matters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7CAB25-9043-465D-9668-AB51C47BC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086100"/>
            <a:ext cx="4953000" cy="723900"/>
          </a:xfrm>
          <a:prstGeom xmlns:a="http://schemas.openxmlformats.org/drawingml/2006/main" prst="roundRect">
            <a:avLst>
              <a:gd name="adj" fmla="val 1578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max-width:100% alone with a fixed height attribute distorts the aspect ratio. height:auto preserves it as width scales down.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45EBBF-FF51-415C-9AFD-AAF0E89AD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05300"/>
            <a:ext cx="11049000" cy="571500"/>
          </a:xfrm>
          <a:prstGeom xmlns:a="http://schemas.openxmlformats.org/drawingml/2006/main" prst="roundRect">
            <a:avLst>
              <a:gd name="adj" fmla="val 2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This is a baseline reset most CSS resets include — without it, a single oversized image can force horizontal scrolling on the whole page.</a:t>
            </a:r>
          </a:p>
        </p:txBody>
      </p:sp>
    </p:spTree>
    <p:extLst>
      <p:ext uri="{BB962C8B-B14F-4D97-AF65-F5344CB8AC3E}">
        <p14:creationId xmlns:p14="http://schemas.microsoft.com/office/powerpoint/2010/main" val="145594119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0D0B8A0-F3F4-4EBC-9945-19713DF47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762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969FFA-DD57-4CEF-A05D-8B5BA5AC9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28575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/ WEEK 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0CDD16-FC5F-4280-AF43-E85C022AC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71500"/>
            <a:ext cx="5715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9F8D49-2868-424D-B9FE-67EE057CB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09650"/>
            <a:ext cx="10668000" cy="533400"/>
          </a:xfrm>
          <a:prstGeom xmlns:a="http://schemas.openxmlformats.org/drawingml/2006/main" prst="roundRect">
            <a:avLst>
              <a:gd name="adj" fmla="val 2142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Responsive images: srcset and sizes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17DB3D-7D49-43E7-BA0C-04BFC654C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00200"/>
            <a:ext cx="10572750" cy="342900"/>
          </a:xfrm>
          <a:prstGeom xmlns:a="http://schemas.openxmlformats.org/drawingml/2006/main" prst="roundRect">
            <a:avLst>
              <a:gd name="adj" fmla="val 3333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4954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Serve a smaller file to a small viewport instead of shrinking a huge one with CSS.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082358-0796-49C3-A4D2-49E8C9C0A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111252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D3E8D5-CB63-4049-864F-276E1801D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4381500" cy="1524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190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Web Design and Interactive Publishing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27C3BC-2721-491C-8805-3D85C4611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0"/>
            <a:ext cx="10668000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1B24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B3D27D-F775-445A-8B54-3F6D824FE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52700"/>
            <a:ext cx="10210800" cy="1181100"/>
          </a:xfrm>
          <a:prstGeom xmlns:a="http://schemas.openxmlformats.org/drawingml/2006/main" prst="roundRect">
            <a:avLst>
              <a:gd name="adj" fmla="val 967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AF1F4"/>
                </a:solidFill>
                <a:latin typeface="Courier New"/>
                <a:ea typeface="Courier New"/>
                <a:cs typeface="Courier New"/>
              </a:defRPr>
            </a:pPr>
            <a:r>
              <a:rPr sz="1350" b="0">
                <a:solidFill>
                  <a:srgbClr val="EAF1F4"/>
                </a:solidFill>
                <a:latin typeface="Courier New"/>
                <a:ea typeface="Courier New"/>
                <a:cs typeface="Courier New"/>
              </a:rPr>
              <a:t>&lt;img src="card-800.jpg"</a:t>
            </a:r>
          </a:p>
          <a:p xmlns:a="http://schemas.openxmlformats.org/drawingml/2006/main">
            <a:pPr algn="l">
              <a:defRPr sz="1350" b="0">
                <a:solidFill>
                  <a:srgbClr val="EAF1F4"/>
                </a:solidFill>
                <a:latin typeface="Courier New"/>
                <a:ea typeface="Courier New"/>
                <a:cs typeface="Courier New"/>
              </a:defRPr>
            </a:pPr>
            <a:r>
              <a:rPr sz="1350" b="0">
                <a:solidFill>
                  <a:srgbClr val="EAF1F4"/>
                </a:solidFill>
                <a:latin typeface="Courier New"/>
                <a:ea typeface="Courier New"/>
                <a:cs typeface="Courier New"/>
              </a:rPr>
              <a:t>     srcset="card-400.jpg 400w, card-800.jpg 800w, card-1200.jpg 1200w"</a:t>
            </a:r>
          </a:p>
          <a:p xmlns:a="http://schemas.openxmlformats.org/drawingml/2006/main">
            <a:pPr algn="l">
              <a:defRPr sz="1350" b="0">
                <a:solidFill>
                  <a:srgbClr val="EAF1F4"/>
                </a:solidFill>
                <a:latin typeface="Courier New"/>
                <a:ea typeface="Courier New"/>
                <a:cs typeface="Courier New"/>
              </a:defRPr>
            </a:pPr>
            <a:r>
              <a:rPr sz="1350" b="0">
                <a:solidFill>
                  <a:srgbClr val="EAF1F4"/>
                </a:solidFill>
                <a:latin typeface="Courier New"/>
                <a:ea typeface="Courier New"/>
                <a:cs typeface="Courier New"/>
              </a:rPr>
              <a:t>     sizes="(min-width: 48rem) 50vw, 100vw"</a:t>
            </a:r>
          </a:p>
          <a:p xmlns:a="http://schemas.openxmlformats.org/drawingml/2006/main">
            <a:pPr algn="l">
              <a:defRPr sz="1350" b="0">
                <a:solidFill>
                  <a:srgbClr val="EAF1F4"/>
                </a:solidFill>
                <a:latin typeface="Courier New"/>
                <a:ea typeface="Courier New"/>
                <a:cs typeface="Courier New"/>
              </a:defRPr>
            </a:pPr>
            <a:r>
              <a:rPr sz="1350" b="0">
                <a:solidFill>
                  <a:srgbClr val="EAF1F4"/>
                </a:solidFill>
                <a:latin typeface="Courier New"/>
                <a:ea typeface="Courier New"/>
                <a:cs typeface="Courier New"/>
              </a:rPr>
              <a:t>     alt="..." loading="lazy"&gt;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E81EA8-CC62-41CD-8C67-B44A01A93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95750"/>
            <a:ext cx="106680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DB5CE2-3B61-498D-93B4-D70A16C86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86250"/>
            <a:ext cx="43815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C63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E6B0DA-81EB-49D1-A01C-71C903449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57700"/>
            <a:ext cx="10287000" cy="247650"/>
          </a:xfrm>
          <a:prstGeom xmlns:a="http://schemas.openxmlformats.org/drawingml/2006/main" prst="roundRect">
            <a:avLst>
              <a:gd name="adj" fmla="val 4615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1099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What this buys you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73010A4-DE4E-4868-BF7E-25BE590D6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00600"/>
            <a:ext cx="10287000" cy="533400"/>
          </a:xfrm>
          <a:prstGeom xmlns:a="http://schemas.openxmlformats.org/drawingml/2006/main" prst="roundRect">
            <a:avLst>
              <a:gd name="adj" fmla="val 2142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The browser picks the best-matching file for the viewport and pixel density, so a phone downloads a 400px image instead of the same 1200px file a desktop gets — real bandwidth and load-time savings, not just a CSS resize.</a:t>
            </a:r>
          </a:p>
        </p:txBody>
      </p:sp>
    </p:spTree>
    <p:extLst>
      <p:ext uri="{BB962C8B-B14F-4D97-AF65-F5344CB8AC3E}">
        <p14:creationId xmlns:p14="http://schemas.microsoft.com/office/powerpoint/2010/main" val="24254191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8274A3E-4AAA-4349-B74A-1DDD332A3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762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B0B7EC-DA7F-48DE-ABE0-1549CCE45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28575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/ WEEK 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18321D-1A6E-45B3-A357-0427E6FA6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71500"/>
            <a:ext cx="5715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21A1FA-ACDF-45CA-926E-1CF277718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09650"/>
            <a:ext cx="10668000" cy="533400"/>
          </a:xfrm>
          <a:prstGeom xmlns:a="http://schemas.openxmlformats.org/drawingml/2006/main" prst="roundRect">
            <a:avLst>
              <a:gd name="adj" fmla="val 2142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Flexbox for responsive layout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5CCC58-51A5-404B-8B91-58CF263BD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00200"/>
            <a:ext cx="10572750" cy="342900"/>
          </a:xfrm>
          <a:prstGeom xmlns:a="http://schemas.openxmlformats.org/drawingml/2006/main" prst="roundRect">
            <a:avLst>
              <a:gd name="adj" fmla="val 3333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4954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flex-wrap and order let items reflow without a media query for every case.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896AC2-0CC7-4499-8BE4-887FEE5B8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111252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613284-2CA9-4ADC-94CB-F070E8EFF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4381500" cy="1524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190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Web Design and Interactive Publishing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B3A783-218B-4009-BB71-30A73AE9E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0"/>
            <a:ext cx="514350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1B24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360AA3-E4DD-4DD2-8D59-E35898295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52700"/>
            <a:ext cx="4686300" cy="1466850"/>
          </a:xfrm>
          <a:prstGeom xmlns:a="http://schemas.openxmlformats.org/drawingml/2006/main" prst="roundRect">
            <a:avLst>
              <a:gd name="adj" fmla="val 7792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EAF1F4"/>
                </a:solidFill>
                <a:latin typeface="Courier New"/>
                <a:ea typeface="Courier New"/>
                <a:cs typeface="Courier New"/>
              </a:defRPr>
            </a:pPr>
            <a:r>
              <a:rPr sz="1425" b="0">
                <a:solidFill>
                  <a:srgbClr val="EAF1F4"/>
                </a:solidFill>
                <a:latin typeface="Courier New"/>
                <a:ea typeface="Courier New"/>
                <a:cs typeface="Courier New"/>
              </a:rPr>
              <a:t>.nav-list {</a:t>
            </a:r>
          </a:p>
          <a:p xmlns:a="http://schemas.openxmlformats.org/drawingml/2006/main">
            <a:pPr algn="l">
              <a:defRPr sz="1425" b="0">
                <a:solidFill>
                  <a:srgbClr val="EAF1F4"/>
                </a:solidFill>
                <a:latin typeface="Courier New"/>
                <a:ea typeface="Courier New"/>
                <a:cs typeface="Courier New"/>
              </a:defRPr>
            </a:pPr>
            <a:r>
              <a:rPr sz="1425" b="0">
                <a:solidFill>
                  <a:srgbClr val="EAF1F4"/>
                </a:solidFill>
                <a:latin typeface="Courier New"/>
                <a:ea typeface="Courier New"/>
                <a:cs typeface="Courier New"/>
              </a:rPr>
              <a:t>  display: flex;</a:t>
            </a:r>
          </a:p>
          <a:p xmlns:a="http://schemas.openxmlformats.org/drawingml/2006/main">
            <a:pPr algn="l">
              <a:defRPr sz="1425" b="0">
                <a:solidFill>
                  <a:srgbClr val="EAF1F4"/>
                </a:solidFill>
                <a:latin typeface="Courier New"/>
                <a:ea typeface="Courier New"/>
                <a:cs typeface="Courier New"/>
              </a:defRPr>
            </a:pPr>
            <a:r>
              <a:rPr sz="1425" b="0">
                <a:solidFill>
                  <a:srgbClr val="EAF1F4"/>
                </a:solidFill>
                <a:latin typeface="Courier New"/>
                <a:ea typeface="Courier New"/>
                <a:cs typeface="Courier New"/>
              </a:rPr>
              <a:t>  flex-wrap: wrap;</a:t>
            </a:r>
          </a:p>
          <a:p xmlns:a="http://schemas.openxmlformats.org/drawingml/2006/main">
            <a:pPr algn="l">
              <a:defRPr sz="1425" b="0">
                <a:solidFill>
                  <a:srgbClr val="EAF1F4"/>
                </a:solidFill>
                <a:latin typeface="Courier New"/>
                <a:ea typeface="Courier New"/>
                <a:cs typeface="Courier New"/>
              </a:defRPr>
            </a:pPr>
            <a:r>
              <a:rPr sz="1425" b="0">
                <a:solidFill>
                  <a:srgbClr val="EAF1F4"/>
                </a:solidFill>
                <a:latin typeface="Courier New"/>
                <a:ea typeface="Courier New"/>
                <a:cs typeface="Courier New"/>
              </a:rPr>
              <a:t>  gap: 0.5rem 1rem;</a:t>
            </a:r>
          </a:p>
          <a:p xmlns:a="http://schemas.openxmlformats.org/drawingml/2006/main">
            <a:pPr algn="l">
              <a:defRPr sz="1425" b="0">
                <a:solidFill>
                  <a:srgbClr val="EAF1F4"/>
                </a:solidFill>
                <a:latin typeface="Courier New"/>
                <a:ea typeface="Courier New"/>
                <a:cs typeface="Courier New"/>
              </a:defRPr>
            </a:pPr>
            <a:r>
              <a:rPr sz="1425" b="0">
                <a:solidFill>
                  <a:srgbClr val="EAF1F4"/>
                </a:solidFill>
                <a:latin typeface="Courier New"/>
                <a:ea typeface="Courier New"/>
                <a:cs typeface="Courier New"/>
              </a:rPr>
              <a:t>}</a:t>
            </a:r>
          </a:p>
          <a:p xmlns:a="http://schemas.openxmlformats.org/drawingml/2006/main">
            <a:pPr algn="l">
              <a:defRPr sz="1425" b="0">
                <a:solidFill>
                  <a:srgbClr val="EAF1F4"/>
                </a:solidFill>
                <a:latin typeface="Courier New"/>
                <a:ea typeface="Courier New"/>
                <a:cs typeface="Courier New"/>
              </a:defRPr>
            </a:pPr>
            <a:r>
              <a:rPr sz="1425" b="0">
                <a:solidFill>
                  <a:srgbClr val="EAF1F4"/>
                </a:solidFill>
                <a:latin typeface="Courier New"/>
                <a:ea typeface="Courier New"/>
                <a:cs typeface="Courier New"/>
              </a:rPr>
              <a:t>.nav-list a { flex: 1 1 8rem; }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2c81372cf24848"/>
          <a:srcRect xmlns:a="http://schemas.openxmlformats.org/drawingml/2006/main" l="0" t="27381" r="0" b="2738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86500" y="2381250"/>
            <a:ext cx="5334000" cy="1809750"/>
          </a:xfrm>
          <a:prstGeom xmlns:a="http://schemas.openxmlformats.org/drawingml/2006/main" prst="roundRect">
            <a:avLst>
              <a:gd name="adj" fmla="val 6316"/>
            </a:avLst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660CEF-0326-4E3A-9DBA-6A2DFAB2F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81500"/>
            <a:ext cx="110490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5E512A-5A6C-4F38-BE9B-E64D73519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0"/>
            <a:ext cx="43815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C63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C75DBC-D226-4091-AEEE-246A22E30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43450"/>
            <a:ext cx="10668000" cy="247650"/>
          </a:xfrm>
          <a:prstGeom xmlns:a="http://schemas.openxmlformats.org/drawingml/2006/main" prst="roundRect">
            <a:avLst>
              <a:gd name="adj" fmla="val 4615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1099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How this behaves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8EB57E-A210-44CA-BB34-4B8E1B95A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86350"/>
            <a:ext cx="10668000" cy="342900"/>
          </a:xfrm>
          <a:prstGeom xmlns:a="http://schemas.openxmlformats.org/drawingml/2006/main" prst="roundRect">
            <a:avLst>
              <a:gd name="adj" fmla="val 3333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9941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flex-wrap:wrap lets items drop to a new row when space runs out, and flex:1 1 8rem gives each item a flexible basis so items grow to fill remaining space evenly — no explicit breakpoint needed for this behaviour.</a:t>
            </a:r>
          </a:p>
        </p:txBody>
      </p:sp>
    </p:spTree>
    <p:extLst>
      <p:ext uri="{BB962C8B-B14F-4D97-AF65-F5344CB8AC3E}">
        <p14:creationId xmlns:p14="http://schemas.microsoft.com/office/powerpoint/2010/main" val="140639208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B11FFF0-F64A-4C54-8597-8B30B9A73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762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627FC8-A13E-48D6-A8E0-1D0667A43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28575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/ WEEK 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20CB2C-2800-4E03-AEDD-CAA14F525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71500"/>
            <a:ext cx="5715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C60159-6B42-4729-AC29-BA5C4D7AC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09650"/>
            <a:ext cx="10668000" cy="533400"/>
          </a:xfrm>
          <a:prstGeom xmlns:a="http://schemas.openxmlformats.org/drawingml/2006/main" prst="roundRect">
            <a:avLst>
              <a:gd name="adj" fmla="val 2142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CSS Grid: auto-fit and minmax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44C861-AEFA-410B-B5D3-9D9576291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00200"/>
            <a:ext cx="10572750" cy="342900"/>
          </a:xfrm>
          <a:prstGeom xmlns:a="http://schemas.openxmlformats.org/drawingml/2006/main" prst="roundRect">
            <a:avLst>
              <a:gd name="adj" fmla="val 3333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4954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A single declaration that reflows column count based on available width.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6184D6-78E1-485C-8041-9093C0741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111252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5B58C7-1082-4563-B792-0CAD39882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4381500" cy="1524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190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Web Design and Interactive Publishing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CAB1AC-C5FA-4722-ADB3-DEDD9E3C9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0"/>
            <a:ext cx="533400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1B24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B78A60-B5DC-414F-95B1-8957DCEAB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52700"/>
            <a:ext cx="4876800" cy="1657350"/>
          </a:xfrm>
          <a:prstGeom xmlns:a="http://schemas.openxmlformats.org/drawingml/2006/main" prst="roundRect">
            <a:avLst>
              <a:gd name="adj" fmla="val 689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EAF1F4"/>
                </a:solidFill>
                <a:latin typeface="Courier New"/>
                <a:ea typeface="Courier New"/>
                <a:cs typeface="Courier New"/>
              </a:defRPr>
            </a:pPr>
            <a:r>
              <a:rPr sz="1425" b="0">
                <a:solidFill>
                  <a:srgbClr val="EAF1F4"/>
                </a:solidFill>
                <a:latin typeface="Courier New"/>
                <a:ea typeface="Courier New"/>
                <a:cs typeface="Courier New"/>
              </a:rPr>
              <a:t>.card-grid {</a:t>
            </a:r>
          </a:p>
          <a:p xmlns:a="http://schemas.openxmlformats.org/drawingml/2006/main">
            <a:pPr algn="l">
              <a:defRPr sz="1425" b="0">
                <a:solidFill>
                  <a:srgbClr val="EAF1F4"/>
                </a:solidFill>
                <a:latin typeface="Courier New"/>
                <a:ea typeface="Courier New"/>
                <a:cs typeface="Courier New"/>
              </a:defRPr>
            </a:pPr>
            <a:r>
              <a:rPr sz="1425" b="0">
                <a:solidFill>
                  <a:srgbClr val="EAF1F4"/>
                </a:solidFill>
                <a:latin typeface="Courier New"/>
                <a:ea typeface="Courier New"/>
                <a:cs typeface="Courier New"/>
              </a:rPr>
              <a:t>  display: grid;</a:t>
            </a:r>
          </a:p>
          <a:p xmlns:a="http://schemas.openxmlformats.org/drawingml/2006/main">
            <a:pPr algn="l">
              <a:defRPr sz="1425" b="0">
                <a:solidFill>
                  <a:srgbClr val="EAF1F4"/>
                </a:solidFill>
                <a:latin typeface="Courier New"/>
                <a:ea typeface="Courier New"/>
                <a:cs typeface="Courier New"/>
              </a:defRPr>
            </a:pPr>
            <a:r>
              <a:rPr sz="1425" b="0">
                <a:solidFill>
                  <a:srgbClr val="EAF1F4"/>
                </a:solidFill>
                <a:latin typeface="Courier New"/>
                <a:ea typeface="Courier New"/>
                <a:cs typeface="Courier New"/>
              </a:rPr>
              <a:t>  grid-template-columns:</a:t>
            </a:r>
          </a:p>
          <a:p xmlns:a="http://schemas.openxmlformats.org/drawingml/2006/main">
            <a:pPr algn="l">
              <a:defRPr sz="1425" b="0">
                <a:solidFill>
                  <a:srgbClr val="EAF1F4"/>
                </a:solidFill>
                <a:latin typeface="Courier New"/>
                <a:ea typeface="Courier New"/>
                <a:cs typeface="Courier New"/>
              </a:defRPr>
            </a:pPr>
            <a:r>
              <a:rPr sz="1425" b="0">
                <a:solidFill>
                  <a:srgbClr val="EAF1F4"/>
                </a:solidFill>
                <a:latin typeface="Courier New"/>
                <a:ea typeface="Courier New"/>
                <a:cs typeface="Courier New"/>
              </a:rPr>
              <a:t>    repeat(auto-fit, minmax(16rem, 1fr));</a:t>
            </a:r>
          </a:p>
          <a:p xmlns:a="http://schemas.openxmlformats.org/drawingml/2006/main">
            <a:pPr algn="l">
              <a:defRPr sz="1425" b="0">
                <a:solidFill>
                  <a:srgbClr val="EAF1F4"/>
                </a:solidFill>
                <a:latin typeface="Courier New"/>
                <a:ea typeface="Courier New"/>
                <a:cs typeface="Courier New"/>
              </a:defRPr>
            </a:pPr>
            <a:r>
              <a:rPr sz="1425" b="0">
                <a:solidFill>
                  <a:srgbClr val="EAF1F4"/>
                </a:solidFill>
                <a:latin typeface="Courier New"/>
                <a:ea typeface="Courier New"/>
                <a:cs typeface="Courier New"/>
              </a:rPr>
              <a:t>  gap: 1.5rem;</a:t>
            </a:r>
          </a:p>
          <a:p xmlns:a="http://schemas.openxmlformats.org/drawingml/2006/main">
            <a:pPr algn="l">
              <a:defRPr sz="1425" b="0">
                <a:solidFill>
                  <a:srgbClr val="EAF1F4"/>
                </a:solidFill>
                <a:latin typeface="Courier New"/>
                <a:ea typeface="Courier New"/>
                <a:cs typeface="Courier New"/>
              </a:defRPr>
            </a:pPr>
            <a:r>
              <a:rPr sz="1425" b="0">
                <a:solidFill>
                  <a:srgbClr val="EAF1F4"/>
                </a:solidFill>
                <a:latin typeface="Courier New"/>
                <a:ea typeface="Courier New"/>
                <a:cs typeface="Courier New"/>
              </a:rPr>
              <a:t>}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4CF0BD-ECDF-43F2-8404-92D4CDF2E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381250"/>
            <a:ext cx="552450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EABD3E-963B-40A1-A02F-5BAFC5B80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571750"/>
            <a:ext cx="43815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C63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A6ECD9-99B9-43F4-A6B7-09B29A610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743200"/>
            <a:ext cx="5143500" cy="247650"/>
          </a:xfrm>
          <a:prstGeom xmlns:a="http://schemas.openxmlformats.org/drawingml/2006/main" prst="roundRect">
            <a:avLst>
              <a:gd name="adj" fmla="val 4615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1099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Reading this line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EDAE4D-2AC5-4F6A-A4B5-233FC52D2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086100"/>
            <a:ext cx="5143500" cy="1104900"/>
          </a:xfrm>
          <a:prstGeom xmlns:a="http://schemas.openxmlformats.org/drawingml/2006/main" prst="roundRect">
            <a:avLst>
              <a:gd name="adj" fmla="val 10345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auto-fit creates as many 1fr columns as fit; minmax(16rem, 1fr) sets each column's minimum useful width to 16rem and lets it grow to share leftover space evenly.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D5D9C7D-41EE-41CF-B35B-81C4DC963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610100"/>
            <a:ext cx="11049000" cy="666750"/>
          </a:xfrm>
          <a:prstGeom xmlns:a="http://schemas.openxmlformats.org/drawingml/2006/main" prst="roundRect">
            <a:avLst>
              <a:gd name="adj" fmla="val 1714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This single rule replaces three separate media-query breakpoints from the earlier card-grid example — the grid recalculates itself continuously as the viewport resizes.</a:t>
            </a:r>
          </a:p>
        </p:txBody>
      </p:sp>
    </p:spTree>
    <p:extLst>
      <p:ext uri="{BB962C8B-B14F-4D97-AF65-F5344CB8AC3E}">
        <p14:creationId xmlns:p14="http://schemas.microsoft.com/office/powerpoint/2010/main" val="164766783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5BCD33-B227-4C66-93F4-4AC2DF304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762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B8386A-3EC1-4BFA-9DE5-56215BEB9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28575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/ WEEK 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21105E-7EA2-4CA4-9AB4-7A0B854E9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71500"/>
            <a:ext cx="5715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80C073-D777-4325-ACF4-F51B2030A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09650"/>
            <a:ext cx="10668000" cy="533400"/>
          </a:xfrm>
          <a:prstGeom xmlns:a="http://schemas.openxmlformats.org/drawingml/2006/main" prst="roundRect">
            <a:avLst>
              <a:gd name="adj" fmla="val 2142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Container queries: beyond the viewport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8AB065-E881-4E67-BB6D-FDB76B339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00200"/>
            <a:ext cx="10572750" cy="342900"/>
          </a:xfrm>
          <a:prstGeom xmlns:a="http://schemas.openxmlformats.org/drawingml/2006/main" prst="roundRect">
            <a:avLst>
              <a:gd name="adj" fmla="val 3333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4954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A component that responds to the size of its own container, not the whole page.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771406-441E-4829-A04B-4569DF595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111252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2E296E-8CF4-4D1A-AA0C-E61F2ED55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4381500" cy="1524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190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Web Design and Interactive Publishing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EAA4F9-73CD-45C7-97F6-536AED1C4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0"/>
            <a:ext cx="1066800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1B24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8E4A6E-C725-4087-A006-BD0FBC8D9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52700"/>
            <a:ext cx="10210800" cy="1276350"/>
          </a:xfrm>
          <a:prstGeom xmlns:a="http://schemas.openxmlformats.org/drawingml/2006/main" prst="roundRect">
            <a:avLst>
              <a:gd name="adj" fmla="val 8955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EAF1F4"/>
                </a:solidFill>
                <a:latin typeface="Courier New"/>
                <a:ea typeface="Courier New"/>
                <a:cs typeface="Courier New"/>
              </a:defRPr>
            </a:pPr>
            <a:r>
              <a:rPr sz="1425" b="0">
                <a:solidFill>
                  <a:srgbClr val="EAF1F4"/>
                </a:solidFill>
                <a:latin typeface="Courier New"/>
                <a:ea typeface="Courier New"/>
                <a:cs typeface="Courier New"/>
              </a:rPr>
              <a:t>.sidebar { container-type: inline-size; 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EAF1F4"/>
                </a:solidFill>
                <a:latin typeface="Courier New"/>
                <a:ea typeface="Courier New"/>
                <a:cs typeface="Courier New"/>
              </a:defRPr>
            </a:pPr>
            <a:r>
              <a:rPr sz="1425" b="0">
                <a:solidFill>
                  <a:srgbClr val="EAF1F4"/>
                </a:solidFill>
                <a:latin typeface="Courier New"/>
                <a:ea typeface="Courier New"/>
                <a:cs typeface="Courier New"/>
              </a:rPr>
              <a:t>@container (min-width: 20rem) {</a:t>
            </a:r>
          </a:p>
          <a:p xmlns:a="http://schemas.openxmlformats.org/drawingml/2006/main">
            <a:pPr algn="l">
              <a:defRPr sz="1425" b="0">
                <a:solidFill>
                  <a:srgbClr val="EAF1F4"/>
                </a:solidFill>
                <a:latin typeface="Courier New"/>
                <a:ea typeface="Courier New"/>
                <a:cs typeface="Courier New"/>
              </a:defRPr>
            </a:pPr>
            <a:r>
              <a:rPr sz="1425" b="0">
                <a:solidFill>
                  <a:srgbClr val="EAF1F4"/>
                </a:solidFill>
                <a:latin typeface="Courier New"/>
                <a:ea typeface="Courier New"/>
                <a:cs typeface="Courier New"/>
              </a:rPr>
              <a:t>  .card { grid-template-columns: 6rem 1fr; }</a:t>
            </a:r>
          </a:p>
          <a:p xmlns:a="http://schemas.openxmlformats.org/drawingml/2006/main">
            <a:pPr algn="l">
              <a:defRPr sz="1425" b="0">
                <a:solidFill>
                  <a:srgbClr val="EAF1F4"/>
                </a:solidFill>
                <a:latin typeface="Courier New"/>
                <a:ea typeface="Courier New"/>
                <a:cs typeface="Courier New"/>
              </a:defRPr>
            </a:pPr>
            <a:r>
              <a:rPr sz="1425" b="0">
                <a:solidFill>
                  <a:srgbClr val="EAF1F4"/>
                </a:solidFill>
                <a:latin typeface="Courier New"/>
                <a:ea typeface="Courier New"/>
                <a:cs typeface="Courier New"/>
              </a:rPr>
              <a:t>}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F4AE22-CC92-4A5F-A606-FBC5CDC05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0"/>
            <a:ext cx="106680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10D51F-6D27-41D6-B12A-2D38D6DA7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81500"/>
            <a:ext cx="43815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C63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2D48053-E1C3-4791-BF03-AB1BB82F2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52950"/>
            <a:ext cx="10287000" cy="247650"/>
          </a:xfrm>
          <a:prstGeom xmlns:a="http://schemas.openxmlformats.org/drawingml/2006/main" prst="roundRect">
            <a:avLst>
              <a:gd name="adj" fmla="val 4615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1099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Why this matters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1AF216-0162-4E3A-85C7-68D90A85F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95850"/>
            <a:ext cx="10287000" cy="533400"/>
          </a:xfrm>
          <a:prstGeom xmlns:a="http://schemas.openxmlformats.org/drawingml/2006/main" prst="roundRect">
            <a:avLst>
              <a:gd name="adj" fmla="val 2142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A media query only knows the viewport width. A card component placed in a wide main column needs different styling than the same component placed in a narrow sidebar — container queries let the component decide for itself, based on the space it is actually given.</a:t>
            </a:r>
          </a:p>
        </p:txBody>
      </p:sp>
    </p:spTree>
    <p:extLst>
      <p:ext uri="{BB962C8B-B14F-4D97-AF65-F5344CB8AC3E}">
        <p14:creationId xmlns:p14="http://schemas.microsoft.com/office/powerpoint/2010/main" val="118184523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8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DC6FAA9-09A8-467F-9350-B19FBBDB3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762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E547A2-1B31-4E8E-827C-BD474A23C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28575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/ WEEK 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F1C91C-FE3E-4994-B173-AC7527035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71500"/>
            <a:ext cx="5715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4AC3D3-93AD-4D89-B9A2-34D154012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09650"/>
            <a:ext cx="10668000" cy="533400"/>
          </a:xfrm>
          <a:prstGeom xmlns:a="http://schemas.openxmlformats.org/drawingml/2006/main" prst="roundRect">
            <a:avLst>
              <a:gd name="adj" fmla="val 2142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Fluid typography with clamp()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029E83-6EF4-4E89-8AE0-968640B20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00200"/>
            <a:ext cx="10572750" cy="342900"/>
          </a:xfrm>
          <a:prstGeom xmlns:a="http://schemas.openxmlformats.org/drawingml/2006/main" prst="roundRect">
            <a:avLst>
              <a:gd name="adj" fmla="val 3333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4954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Type size scales continuously with viewport width, between a floor and a ceiling.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4F7DBA-4168-414C-A950-7BE1B0E03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111252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39C291-B69F-48E4-98F1-1B4DF3CD2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4381500" cy="1524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190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Web Design and Interactive Publishing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87A6DE-E8C1-435A-9C6A-D347D1823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0"/>
            <a:ext cx="1066800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1B24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FBFFC0-D8AE-44AC-9643-2532F1BDA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52700"/>
            <a:ext cx="10210800" cy="800100"/>
          </a:xfrm>
          <a:prstGeom xmlns:a="http://schemas.openxmlformats.org/drawingml/2006/main" prst="roundRect">
            <a:avLst>
              <a:gd name="adj" fmla="val 14286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9114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EAF1F4"/>
                </a:solidFill>
                <a:latin typeface="Courier New"/>
                <a:ea typeface="Courier New"/>
                <a:cs typeface="Courier New"/>
              </a:defRPr>
            </a:pPr>
            <a:r>
              <a:rPr sz="1575" b="0">
                <a:solidFill>
                  <a:srgbClr val="EAF1F4"/>
                </a:solidFill>
                <a:latin typeface="Courier New"/>
                <a:ea typeface="Courier New"/>
                <a:cs typeface="Courier New"/>
              </a:rPr>
              <a:t>h1 {</a:t>
            </a:r>
          </a:p>
          <a:p xmlns:a="http://schemas.openxmlformats.org/drawingml/2006/main">
            <a:pPr algn="l">
              <a:defRPr sz="1575" b="0">
                <a:solidFill>
                  <a:srgbClr val="EAF1F4"/>
                </a:solidFill>
                <a:latin typeface="Courier New"/>
                <a:ea typeface="Courier New"/>
                <a:cs typeface="Courier New"/>
              </a:defRPr>
            </a:pPr>
            <a:r>
              <a:rPr sz="1575" b="0">
                <a:solidFill>
                  <a:srgbClr val="EAF1F4"/>
                </a:solidFill>
                <a:latin typeface="Courier New"/>
                <a:ea typeface="Courier New"/>
                <a:cs typeface="Courier New"/>
              </a:rPr>
              <a:t>  font-size: clamp(1.75rem, 4vw + 1rem, 3rem);</a:t>
            </a:r>
          </a:p>
          <a:p xmlns:a="http://schemas.openxmlformats.org/drawingml/2006/main">
            <a:pPr algn="l">
              <a:defRPr sz="1575" b="0">
                <a:solidFill>
                  <a:srgbClr val="EAF1F4"/>
                </a:solidFill>
                <a:latin typeface="Courier New"/>
                <a:ea typeface="Courier New"/>
                <a:cs typeface="Courier New"/>
              </a:defRPr>
            </a:pPr>
            <a:r>
              <a:rPr sz="1575" b="0">
                <a:solidFill>
                  <a:srgbClr val="EAF1F4"/>
                </a:solidFill>
                <a:latin typeface="Courier New"/>
                <a:ea typeface="Courier New"/>
                <a:cs typeface="Courier New"/>
              </a:rPr>
              <a:t>}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ED628F-1709-48C7-A39E-74CA2111B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0"/>
            <a:ext cx="5286375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A68C44-2CA4-4A55-9859-3B711D1E8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0"/>
            <a:ext cx="43815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C63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BEAD4B-0021-4E9B-853D-5EA339933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71950"/>
            <a:ext cx="4905375" cy="247650"/>
          </a:xfrm>
          <a:prstGeom xmlns:a="http://schemas.openxmlformats.org/drawingml/2006/main" prst="roundRect">
            <a:avLst>
              <a:gd name="adj" fmla="val 4615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1099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Reading clamp()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431677-4217-4966-AE36-170B1A44E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14850"/>
            <a:ext cx="4905375" cy="1104900"/>
          </a:xfrm>
          <a:prstGeom xmlns:a="http://schemas.openxmlformats.org/drawingml/2006/main" prst="roundRect">
            <a:avLst>
              <a:gd name="adj" fmla="val 10345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clamp(MIN, PREFERRED, MAX): never smaller than 1.75rem, never larger than 3rem, and in between grows fluidly with 4vw + 1rem.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E5C6F01-3B96-4B25-9073-4C9D11E4D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3810000"/>
            <a:ext cx="5286375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B6DEA8E-2473-4A2E-8CAA-A7737A9BF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4000500"/>
            <a:ext cx="43815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4DA68F-6B8F-409B-AD7A-77DFD78A6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4171950"/>
            <a:ext cx="4905375" cy="247650"/>
          </a:xfrm>
          <a:prstGeom xmlns:a="http://schemas.openxmlformats.org/drawingml/2006/main" prst="roundRect">
            <a:avLst>
              <a:gd name="adj" fmla="val 4615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1099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Why not just vw?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192EB40-4799-45D9-A590-78198CA9C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4514850"/>
            <a:ext cx="4905375" cy="1104900"/>
          </a:xfrm>
          <a:prstGeom xmlns:a="http://schemas.openxmlformats.org/drawingml/2006/main" prst="roundRect">
            <a:avLst>
              <a:gd name="adj" fmla="val 10345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font-size:4vw alone has no floor or ceiling — text can become unreadably small on a phone or absurdly large on an ultrawide monitor.</a:t>
            </a:r>
          </a:p>
        </p:txBody>
      </p:sp>
    </p:spTree>
    <p:extLst>
      <p:ext uri="{BB962C8B-B14F-4D97-AF65-F5344CB8AC3E}">
        <p14:creationId xmlns:p14="http://schemas.microsoft.com/office/powerpoint/2010/main" val="69439157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8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083401D-7184-4061-9367-FA1E0CD63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762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2A625A-0376-485D-A70D-F46D8752D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28575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/ WEEK 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F85EC0-7A2E-495F-9E3F-7C2CC6367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71500"/>
            <a:ext cx="5715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EF46B9-C60C-4BDD-9C42-972AF236D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09650"/>
            <a:ext cx="10668000" cy="533400"/>
          </a:xfrm>
          <a:prstGeom xmlns:a="http://schemas.openxmlformats.org/drawingml/2006/main" prst="roundRect">
            <a:avLst>
              <a:gd name="adj" fmla="val 2142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Navigation for small screens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382F38-ADE5-467F-B7E2-7A6383C86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00200"/>
            <a:ext cx="10572750" cy="342900"/>
          </a:xfrm>
          <a:prstGeom xmlns:a="http://schemas.openxmlformats.org/drawingml/2006/main" prst="roundRect">
            <a:avLst>
              <a:gd name="adj" fmla="val 3333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4954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The hamburger icon compresses navigation — but compression is not the same as hiding.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FD9FBE-AA77-464A-9C06-668D83BD9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111252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17D32B-BC4D-40CB-8BAB-CE39D5AF4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4381500" cy="1524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190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Web Design and Interactive Publishing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2d9a495da0445e"/>
          <a:srcRect xmlns:a="http://schemas.openxmlformats.org/drawingml/2006/main" l="8808" t="0" r="880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39000" y="2381250"/>
            <a:ext cx="4038600" cy="3676650"/>
          </a:xfrm>
          <a:prstGeom xmlns:a="http://schemas.openxmlformats.org/drawingml/2006/main" prst="roundRect">
            <a:avLst>
              <a:gd name="adj" fmla="val 3109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A257CD-BBB8-4726-8CB0-1EB1A01D1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57450"/>
            <a:ext cx="6286500" cy="1047750"/>
          </a:xfrm>
          <a:prstGeom xmlns:a="http://schemas.openxmlformats.org/drawingml/2006/main" prst="roundRect">
            <a:avLst>
              <a:gd name="adj" fmla="val 1090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A hamburger button behind an icon-only trigger can save space, but every item inside it must still be reachable, labelled and keyboard-operable — collapsing navigation must never mean removing it.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80EB96-2FAB-4CA3-9B93-CA6AC6554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0"/>
            <a:ext cx="628650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EF5E36-3FA9-4DB9-A7FC-75C7476A8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0"/>
            <a:ext cx="43815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C63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E4CB84-A924-4216-8AC6-52806067A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71950"/>
            <a:ext cx="5905500" cy="247650"/>
          </a:xfrm>
          <a:prstGeom xmlns:a="http://schemas.openxmlformats.org/drawingml/2006/main" prst="roundRect">
            <a:avLst>
              <a:gd name="adj" fmla="val 4615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1099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Minimum requirements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0A4659-D91A-4669-BAD3-AC78243EB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14850"/>
            <a:ext cx="5905500" cy="1333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aria-expanded on the trigger, a visible accessible name (not icon-only with no label), and focus moves into the open menu.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CFD40C7-48A1-4C96-AEEA-8C0B3354C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0"/>
            <a:ext cx="628650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D3A42E6-B757-4DE2-B900-31750A3C9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43500"/>
            <a:ext cx="43815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89293E-1F23-4E3F-90FB-0917B20C0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14950"/>
            <a:ext cx="5905500" cy="247650"/>
          </a:xfrm>
          <a:prstGeom xmlns:a="http://schemas.openxmlformats.org/drawingml/2006/main" prst="roundRect">
            <a:avLst>
              <a:gd name="adj" fmla="val 4615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1099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Common failure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E9D0EC4-2F13-4640-AE62-324DBF659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57850"/>
            <a:ext cx="5905500" cy="1333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A menu that only opens on hover/click with no keyboard equivalent locks out keyboard and switch-device users entirely.</a:t>
            </a:r>
          </a:p>
        </p:txBody>
      </p:sp>
    </p:spTree>
    <p:extLst>
      <p:ext uri="{BB962C8B-B14F-4D97-AF65-F5344CB8AC3E}">
        <p14:creationId xmlns:p14="http://schemas.microsoft.com/office/powerpoint/2010/main" val="1061029878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8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3C9244A-30BA-45F6-A610-FA56A77C7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762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5472B0-0A07-4F7C-B7AE-AD01E788C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28575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/ WEEK 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D12DE6-7C34-4351-AE79-DC3DAA3A8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71500"/>
            <a:ext cx="5715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17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4C0034-D49E-457B-8B1C-943AFCA7F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09650"/>
            <a:ext cx="10668000" cy="533400"/>
          </a:xfrm>
          <a:prstGeom xmlns:a="http://schemas.openxmlformats.org/drawingml/2006/main" prst="roundRect">
            <a:avLst>
              <a:gd name="adj" fmla="val 2142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“Don't hide essential information”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1E757F-B6C4-4042-A629-06804BCE1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00200"/>
            <a:ext cx="10572750" cy="342900"/>
          </a:xfrm>
          <a:prstGeom xmlns:a="http://schemas.openxmlformats.org/drawingml/2006/main" prst="roundRect">
            <a:avLst>
              <a:gd name="adj" fmla="val 3333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4954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This week's brief names the core risk of small-screen design directly.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8BDD94-AC99-4A0B-951B-C96EC47C0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111252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D0AECA-E986-4EB6-8B48-4DE7C69F4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4381500" cy="1524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190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Web Design and Interactive Publishing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F2D5FE-5B51-491E-BEDB-455329089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57450"/>
            <a:ext cx="10477500" cy="952500"/>
          </a:xfrm>
          <a:prstGeom xmlns:a="http://schemas.openxmlformats.org/drawingml/2006/main" prst="roundRect">
            <a:avLst>
              <a:gd name="adj" fmla="val 12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Compressing a layout for a small screen is not the same as deciding what to cut. A price, a phone number, a safety warning, or the primary call-to-action must survive the transition to 320px — only the presentation may change.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21E369-3D4D-4293-8827-3987BA124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0"/>
            <a:ext cx="5286375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55D01D-7688-4DDE-A328-9BE812CD3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10000"/>
            <a:ext cx="43815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C63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4222620-C331-4AD2-A708-587969E3B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81450"/>
            <a:ext cx="4905375" cy="247650"/>
          </a:xfrm>
          <a:prstGeom xmlns:a="http://schemas.openxmlformats.org/drawingml/2006/main" prst="roundRect">
            <a:avLst>
              <a:gd name="adj" fmla="val 4615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1099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The priority+ pattern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56F9DD-2E5C-4C76-91D1-6DE2F717D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24350"/>
            <a:ext cx="4905375" cy="1295400"/>
          </a:xfrm>
          <a:prstGeom xmlns:a="http://schemas.openxmlformats.org/drawingml/2006/main" prst="roundRect">
            <a:avLst>
              <a:gd name="adj" fmla="val 882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Show the most important nav items directly; group the rest behind a labelled “More” control — nothing disappears, low-priority items are just one tap further away.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25BB9CD-A763-41A1-ACDB-4D2C874F1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3619500"/>
            <a:ext cx="5286375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68F0827-29F9-4710-912B-B88690F0B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3810000"/>
            <a:ext cx="43815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D43922B-1CCF-4A28-AC1C-D2B7E1934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3981450"/>
            <a:ext cx="4905375" cy="247650"/>
          </a:xfrm>
          <a:prstGeom xmlns:a="http://schemas.openxmlformats.org/drawingml/2006/main" prst="roundRect">
            <a:avLst>
              <a:gd name="adj" fmla="val 4615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1099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Progressive disclosure vs deletion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1E19662-F459-4D2A-BD42-8BB60A86A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4324350"/>
            <a:ext cx="4905375" cy="1295400"/>
          </a:xfrm>
          <a:prstGeom xmlns:a="http://schemas.openxmlformats.org/drawingml/2006/main" prst="roundRect">
            <a:avLst>
              <a:gd name="adj" fmla="val 882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Collapsing a long description behind a “Read more” toggle is progressive disclosure. Removing that description from the mobile build entirely is deletion — only the first is acceptable.</a:t>
            </a:r>
          </a:p>
        </p:txBody>
      </p:sp>
    </p:spTree>
    <p:extLst>
      <p:ext uri="{BB962C8B-B14F-4D97-AF65-F5344CB8AC3E}">
        <p14:creationId xmlns:p14="http://schemas.microsoft.com/office/powerpoint/2010/main" val="775885111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8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FA39C4A-A564-47CC-B7E7-F9030A3AA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762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E1C79C-CF81-40E6-AE88-A7086723B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28575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/ WEEK 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CC8AE4-61DA-45F4-8865-FCE717F84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71500"/>
            <a:ext cx="5715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18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6C5E93-9417-455F-880E-7983BB06D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09650"/>
            <a:ext cx="10668000" cy="533400"/>
          </a:xfrm>
          <a:prstGeom xmlns:a="http://schemas.openxmlformats.org/drawingml/2006/main" prst="roundRect">
            <a:avLst>
              <a:gd name="adj" fmla="val 2142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Touch targets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4DBEDE-35F2-4352-8859-52BEF5F89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00200"/>
            <a:ext cx="10572750" cy="342900"/>
          </a:xfrm>
          <a:prstGeom xmlns:a="http://schemas.openxmlformats.org/drawingml/2006/main" prst="roundRect">
            <a:avLst>
              <a:gd name="adj" fmla="val 3333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4954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A finger is not a mouse pointer — interactive elements need real physical size.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CCD383-A098-4736-AB65-80F2890B9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111252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23B9B2-DDCB-4555-9BDD-BEC37A0C9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4381500" cy="1524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190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Web Design and Interactive Publishing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dc1bdeb6084a20"/>
          <a:srcRect xmlns:a="http://schemas.openxmlformats.org/drawingml/2006/main" l="0" t="20402" r="0" b="2040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39000" y="2381250"/>
            <a:ext cx="4038600" cy="1790700"/>
          </a:xfrm>
          <a:prstGeom xmlns:a="http://schemas.openxmlformats.org/drawingml/2006/main" prst="roundRect">
            <a:avLst>
              <a:gd name="adj" fmla="val 6383"/>
            </a:avLst>
          </a:prstGeom>
        </p:spPr>
      </p:pic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c2964727df433f"/>
          <a:srcRect xmlns:a="http://schemas.openxmlformats.org/drawingml/2006/main" l="0" t="16762" r="0" b="1676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39000" y="4267200"/>
            <a:ext cx="4038600" cy="1790700"/>
          </a:xfrm>
          <a:prstGeom xmlns:a="http://schemas.openxmlformats.org/drawingml/2006/main" prst="roundRect">
            <a:avLst>
              <a:gd name="adj" fmla="val 6383"/>
            </a:avLst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326E0B-97BB-48E0-B111-FD05F957F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57450"/>
            <a:ext cx="6286500" cy="952500"/>
          </a:xfrm>
          <a:prstGeom xmlns:a="http://schemas.openxmlformats.org/drawingml/2006/main" prst="roundRect">
            <a:avLst>
              <a:gd name="adj" fmla="val 12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WCAG 2.5.5 (Target Size) recommends touch targets of at least 44 × 44 CSS pixels, with adequate spacing between adjacent targets so an imprecise tap doesn't hit the wrong one.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DE1DA4-CCB8-4707-95B4-C7DE1D548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0"/>
            <a:ext cx="628650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C76921-BF4B-4479-8932-7481DD71C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10000"/>
            <a:ext cx="43815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C63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F18031D-2F51-4E78-918B-B25D940AB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81450"/>
            <a:ext cx="5905500" cy="247650"/>
          </a:xfrm>
          <a:prstGeom xmlns:a="http://schemas.openxmlformats.org/drawingml/2006/main" prst="roundRect">
            <a:avLst>
              <a:gd name="adj" fmla="val 4615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1099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In practice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9D34D05-64C3-406E-8B1B-D2C97768B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24350"/>
            <a:ext cx="5905500" cy="1333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Pad a small icon button out to 44px with padding rather than relying on the icon's own visual size — the tappable area, not the glyph, must meet the minimum.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89416D6-8744-434D-99CF-1C6E5AC5C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62500"/>
            <a:ext cx="628650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7D7765F-18C9-4F62-97A8-78131264C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53000"/>
            <a:ext cx="43815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9091B76-2FAE-46A1-9E18-BC6717B81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24450"/>
            <a:ext cx="5905500" cy="247650"/>
          </a:xfrm>
          <a:prstGeom xmlns:a="http://schemas.openxmlformats.org/drawingml/2006/main" prst="roundRect">
            <a:avLst>
              <a:gd name="adj" fmla="val 4615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1099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Spacing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169C92B-811D-4459-AA9C-23A394BF7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67350"/>
            <a:ext cx="5905500" cy="1333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Leave at least 8px of gap between adjacent tap targets in a toolbar or list of icon buttons on a touch device.</a:t>
            </a:r>
          </a:p>
        </p:txBody>
      </p:sp>
    </p:spTree>
    <p:extLst>
      <p:ext uri="{BB962C8B-B14F-4D97-AF65-F5344CB8AC3E}">
        <p14:creationId xmlns:p14="http://schemas.microsoft.com/office/powerpoint/2010/main" val="713857654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8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30A120F-E02B-461A-8AB8-5B367C0FB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762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967A1E-7B4D-40B1-ACF8-F8A511289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28575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/ WEEK 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3E66C0-6137-4407-ABFE-442B6DE31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71500"/>
            <a:ext cx="5715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19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BAB7FE-04EA-4EEB-A5BB-4B7EF3D51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09650"/>
            <a:ext cx="10668000" cy="533400"/>
          </a:xfrm>
          <a:prstGeom xmlns:a="http://schemas.openxmlformats.org/drawingml/2006/main" prst="roundRect">
            <a:avLst>
              <a:gd name="adj" fmla="val 2142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Testing responsively with DevTools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A77566-1E79-42C6-BEA8-0E6F43087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00200"/>
            <a:ext cx="10572750" cy="342900"/>
          </a:xfrm>
          <a:prstGeom xmlns:a="http://schemas.openxmlformats.org/drawingml/2006/main" prst="roundRect">
            <a:avLst>
              <a:gd name="adj" fmla="val 3333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4954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Resize a real browser, don't just imagine the breakpoints.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67BFF7-AEE4-4C03-AEA3-FB646F40F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111252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72E4E3-979A-42C7-91B9-AD734F975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4381500" cy="1524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190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Web Design and Interactive Publishing</a:t>
            </a:r>
          </a:p>
        </p:txBody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51d417419543ea"/>
          <a:srcRect xmlns:a="http://schemas.openxmlformats.org/drawingml/2006/main" l="8862" t="0" r="886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39000" y="2381250"/>
            <a:ext cx="4038600" cy="3676650"/>
          </a:xfrm>
          <a:prstGeom xmlns:a="http://schemas.openxmlformats.org/drawingml/2006/main" prst="roundRect">
            <a:avLst>
              <a:gd name="adj" fmla="val 3109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C1602A-6335-42CC-BD57-E78273BD2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57450"/>
            <a:ext cx="2857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B28E52-F247-4382-B61E-1DAA5B372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76500"/>
            <a:ext cx="285750" cy="2095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33091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A978B3-813F-4C45-B264-6B0896E65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457450"/>
            <a:ext cx="5886450" cy="285750"/>
          </a:xfrm>
          <a:prstGeom xmlns:a="http://schemas.openxmlformats.org/drawingml/2006/main" prst="roundRect">
            <a:avLst>
              <a:gd name="adj" fmla="val 4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5542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8212A"/>
                </a:solidFill>
                <a:latin typeface="Aptos"/>
                <a:ea typeface="Aptos"/>
                <a:cs typeface="Aptos"/>
              </a:rPr>
              <a:t>Open the device toolbar (Ctrl/Cmd+Shift+M) to simulate common viewport widths and touch input.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C87C8C-DF46-4589-AF08-44B355E62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67050"/>
            <a:ext cx="2857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BE6FF0-D7E4-4978-9962-8723DDE07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86100"/>
            <a:ext cx="285750" cy="2095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33091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2191829-EE19-46CD-BC43-345B4A74A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067050"/>
            <a:ext cx="5886450" cy="285750"/>
          </a:xfrm>
          <a:prstGeom xmlns:a="http://schemas.openxmlformats.org/drawingml/2006/main" prst="roundRect">
            <a:avLst>
              <a:gd name="adj" fmla="val 4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4015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8212A"/>
                </a:solidFill>
                <a:latin typeface="Aptos"/>
                <a:ea typeface="Aptos"/>
                <a:cs typeface="Aptos"/>
              </a:rPr>
              <a:t>Drag the responsive viewport handle continuously through 320–1920px to find where content breaks, not just at preset device widths.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CDF9005-B472-4769-8944-71CCA67E0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76650"/>
            <a:ext cx="2857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6A1582B-0B4A-4453-BED2-B3DDC39DA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95700"/>
            <a:ext cx="285750" cy="2095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33091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F3098AD-CA07-46E1-B38B-2C4DFB3D7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676650"/>
            <a:ext cx="5886450" cy="285750"/>
          </a:xfrm>
          <a:prstGeom xmlns:a="http://schemas.openxmlformats.org/drawingml/2006/main" prst="roundRect">
            <a:avLst>
              <a:gd name="adj" fmla="val 4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5542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8212A"/>
                </a:solidFill>
                <a:latin typeface="Aptos"/>
                <a:ea typeface="Aptos"/>
                <a:cs typeface="Aptos"/>
              </a:rPr>
              <a:t>Check the network throttling panel — mobile users are often on slower, higher-latency connections than your desktop dev machine.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7D3A9CF-C76D-493F-AE29-5988F819A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86250"/>
            <a:ext cx="2857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DBACA73-B158-4C9E-A111-C58119CAA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05300"/>
            <a:ext cx="285750" cy="2095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33091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9B5CAAE-0060-4B98-9E37-03F2E97DE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286250"/>
            <a:ext cx="5886450" cy="285750"/>
          </a:xfrm>
          <a:prstGeom xmlns:a="http://schemas.openxmlformats.org/drawingml/2006/main" prst="roundRect">
            <a:avLst>
              <a:gd name="adj" fmla="val 4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3621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8212A"/>
                </a:solidFill>
                <a:latin typeface="Aptos"/>
                <a:ea typeface="Aptos"/>
                <a:cs typeface="Aptos"/>
              </a:rPr>
              <a:t>Repeat every check on at least one real physical phone or tablet: emulation does not reproduce real touch behaviour or font rendering.</a:t>
            </a:r>
          </a:p>
        </p:txBody>
      </p:sp>
    </p:spTree>
    <p:extLst>
      <p:ext uri="{BB962C8B-B14F-4D97-AF65-F5344CB8AC3E}">
        <p14:creationId xmlns:p14="http://schemas.microsoft.com/office/powerpoint/2010/main" val="356238626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8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CEDA1E2-93F7-4940-94DD-876849340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762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8CCE16-FA69-4C3B-8234-A361050F4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28575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/ WEEK 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4CBA78-5FE6-4040-8378-22B0A1AD4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71500"/>
            <a:ext cx="5715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20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CA9424-27B6-4124-AD38-570FD24D6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09650"/>
            <a:ext cx="10668000" cy="533400"/>
          </a:xfrm>
          <a:prstGeom xmlns:a="http://schemas.openxmlformats.org/drawingml/2006/main" prst="roundRect">
            <a:avLst>
              <a:gd name="adj" fmla="val 2142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Testing on real devices and tablets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DB37C3-B5C2-4F74-A0CF-6537EAD91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00200"/>
            <a:ext cx="10572750" cy="342900"/>
          </a:xfrm>
          <a:prstGeom xmlns:a="http://schemas.openxmlformats.org/drawingml/2006/main" prst="roundRect">
            <a:avLst>
              <a:gd name="adj" fmla="val 3333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4954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Emulation approximates; a tablet in portrait and landscape is a distinct real case.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66F507-82B3-49F8-B6D2-91D6FA3AC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111252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E75C3C-170A-4A21-BD82-3997412C7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4381500" cy="1524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190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Web Design and Interactive Publishing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d7c8b9b7974292"/>
          <a:srcRect xmlns:a="http://schemas.openxmlformats.org/drawingml/2006/main" l="8808" t="0" r="880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39000" y="2381250"/>
            <a:ext cx="4038600" cy="3676650"/>
          </a:xfrm>
          <a:prstGeom xmlns:a="http://schemas.openxmlformats.org/drawingml/2006/main" prst="roundRect">
            <a:avLst>
              <a:gd name="adj" fmla="val 3109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85A194-55FD-4F35-B09E-FA784D600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57450"/>
            <a:ext cx="6286500" cy="952500"/>
          </a:xfrm>
          <a:prstGeom xmlns:a="http://schemas.openxmlformats.org/drawingml/2006/main" prst="roundRect">
            <a:avLst>
              <a:gd name="adj" fmla="val 12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A tablet is not “a small desktop” or “a big phone” — it is its own case, and it commonly rotates between portrait and landscape mid-session, changing its effective breakpoint without a page reload.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15E30A-0DD7-4970-9BB9-9861BB5BA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0"/>
            <a:ext cx="628650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5E696D-97C4-4A0C-A7D2-FA9F8AB71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10000"/>
            <a:ext cx="43815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C63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1F3323-9357-4CF9-AF90-E16D32180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81450"/>
            <a:ext cx="5905500" cy="247650"/>
          </a:xfrm>
          <a:prstGeom xmlns:a="http://schemas.openxmlformats.org/drawingml/2006/main" prst="roundRect">
            <a:avLst>
              <a:gd name="adj" fmla="val 4615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1099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What to check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339D151-4CF5-457A-A021-92C1BCB73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24350"/>
            <a:ext cx="5905500" cy="1333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Does the layout re-flow correctly when the same device rotates? Media queries respond to width live — verify the result looks intentional in both orientations.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78A35C7-7207-4B5A-BCD5-F32C166FA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62500"/>
            <a:ext cx="628650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AC9780D-F09A-465D-9DA0-7E2D8EC2E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53000"/>
            <a:ext cx="43815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25BEE2-75B5-45D2-84EB-0F18F1172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24450"/>
            <a:ext cx="5905500" cy="247650"/>
          </a:xfrm>
          <a:prstGeom xmlns:a="http://schemas.openxmlformats.org/drawingml/2006/main" prst="roundRect">
            <a:avLst>
              <a:gd name="adj" fmla="val 4615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1099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Common breakpoint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B2EE09D-D5DE-48CE-BFAF-CB68F4ACB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67350"/>
            <a:ext cx="5905500" cy="1333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Around 48–64rem (768–1024px) is where many layouts add a second column or reveal a persistent nav — test squarely on both sides of it.</a:t>
            </a:r>
          </a:p>
        </p:txBody>
      </p:sp>
    </p:spTree>
    <p:extLst>
      <p:ext uri="{BB962C8B-B14F-4D97-AF65-F5344CB8AC3E}">
        <p14:creationId xmlns:p14="http://schemas.microsoft.com/office/powerpoint/2010/main" val="1924870809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8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0272C9A-F651-45DB-8C09-3BF73FEF0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762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83F7B6-6395-4DCA-90BA-83A439CE1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28575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/ WEEK 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4B7944-C426-460B-9A9D-8933ABBBA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71500"/>
            <a:ext cx="5715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21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31CB78-986F-4D6B-A73A-9315B13EB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09650"/>
            <a:ext cx="10668000" cy="533400"/>
          </a:xfrm>
          <a:prstGeom xmlns:a="http://schemas.openxmlformats.org/drawingml/2006/main" prst="roundRect">
            <a:avLst>
              <a:gd name="adj" fmla="val 2142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Common responsive design mistakes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F80F07-5823-4E18-8AC8-2B712093E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00200"/>
            <a:ext cx="10572750" cy="342900"/>
          </a:xfrm>
          <a:prstGeom xmlns:a="http://schemas.openxmlformats.org/drawingml/2006/main" prst="roundRect">
            <a:avLst>
              <a:gd name="adj" fmla="val 3333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4954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Four failures this course watches for in project review.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3C8B11-A38E-42E6-9034-CF23591FC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111252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A88827-E41F-43D8-85AB-01589F960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4381500" cy="1524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190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Web Design and Interactive Publishing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AD9F79-8F8F-43EF-BA84-325A90480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57450"/>
            <a:ext cx="3238500" cy="285750"/>
          </a:xfrm>
          <a:prstGeom xmlns:a="http://schemas.openxmlformats.org/drawingml/2006/main" prst="roundRect">
            <a:avLst>
              <a:gd name="adj" fmla="val 4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8643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C7831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C7831A"/>
                </a:solidFill>
                <a:latin typeface="Aptos"/>
                <a:ea typeface="Aptos"/>
                <a:cs typeface="Aptos"/>
              </a:rPr>
              <a:t>Fixed pixel widths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7513DC-3D54-4383-AEC7-4A3F898E7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457450"/>
            <a:ext cx="7334250" cy="571500"/>
          </a:xfrm>
          <a:prstGeom xmlns:a="http://schemas.openxmlformats.org/drawingml/2006/main" prst="roundRect">
            <a:avLst>
              <a:gd name="adj" fmla="val 2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12A"/>
                </a:solidFill>
                <a:latin typeface="Aptos"/>
                <a:ea typeface="Aptos"/>
                <a:cs typeface="Aptos"/>
              </a:rPr>
              <a:t>A hard-coded width:960px container overflows any viewport narrower than 960px, forcing horizontal scroll.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955C91-CCC1-46DF-B9F0-ACFC440B2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0"/>
            <a:ext cx="112395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2D9A89-2A20-4E33-BDB9-B178E4971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71850"/>
            <a:ext cx="3238500" cy="285750"/>
          </a:xfrm>
          <a:prstGeom xmlns:a="http://schemas.openxmlformats.org/drawingml/2006/main" prst="roundRect">
            <a:avLst>
              <a:gd name="adj" fmla="val 4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8643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C7831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C7831A"/>
                </a:solidFill>
                <a:latin typeface="Aptos"/>
                <a:ea typeface="Aptos"/>
                <a:cs typeface="Aptos"/>
              </a:rPr>
              <a:t>Content hidden with display:none on mobile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9F05A8-D87C-40FC-BF3F-E01A93018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371850"/>
            <a:ext cx="7334250" cy="571500"/>
          </a:xfrm>
          <a:prstGeom xmlns:a="http://schemas.openxmlformats.org/drawingml/2006/main" prst="roundRect">
            <a:avLst>
              <a:gd name="adj" fmla="val 2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12A"/>
                </a:solidFill>
                <a:latin typeface="Aptos"/>
                <a:ea typeface="Aptos"/>
                <a:cs typeface="Aptos"/>
              </a:rPr>
              <a:t>Hiding a whole section at a breakpoint (rather than restructuring it) usually means real content was deleted, not adapted.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54FB50-6BC5-457B-8C5D-69F96143B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52900"/>
            <a:ext cx="112395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4FEDFC6-EC4A-466E-9851-E34DB5145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86250"/>
            <a:ext cx="3238500" cy="285750"/>
          </a:xfrm>
          <a:prstGeom xmlns:a="http://schemas.openxmlformats.org/drawingml/2006/main" prst="roundRect">
            <a:avLst>
              <a:gd name="adj" fmla="val 4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8643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C7831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C7831A"/>
                </a:solidFill>
                <a:latin typeface="Aptos"/>
                <a:ea typeface="Aptos"/>
                <a:cs typeface="Aptos"/>
              </a:rPr>
              <a:t>Tiny, cramped touch targets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9AEC72E-9545-4DEE-90FD-599FC6A85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286250"/>
            <a:ext cx="7334250" cy="571500"/>
          </a:xfrm>
          <a:prstGeom xmlns:a="http://schemas.openxmlformats.org/drawingml/2006/main" prst="roundRect">
            <a:avLst>
              <a:gd name="adj" fmla="val 2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12A"/>
                </a:solidFill>
                <a:latin typeface="Aptos"/>
                <a:ea typeface="Aptos"/>
                <a:cs typeface="Aptos"/>
              </a:rPr>
              <a:t>Icon buttons styled only for a mouse cursor become unusable once a real thumb has to tap them.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FF0C401-4B19-42A5-95FA-81456CABC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067300"/>
            <a:ext cx="112395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9F94AF0-1D73-4162-855E-396E8DD01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00650"/>
            <a:ext cx="3238500" cy="285750"/>
          </a:xfrm>
          <a:prstGeom xmlns:a="http://schemas.openxmlformats.org/drawingml/2006/main" prst="roundRect">
            <a:avLst>
              <a:gd name="adj" fmla="val 4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8643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C7831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C7831A"/>
                </a:solidFill>
                <a:latin typeface="Aptos"/>
                <a:ea typeface="Aptos"/>
                <a:cs typeface="Aptos"/>
              </a:rPr>
              <a:t>Untested orientation change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B1D779D-7353-4606-A70D-2576A022E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5200650"/>
            <a:ext cx="7334250" cy="571500"/>
          </a:xfrm>
          <a:prstGeom xmlns:a="http://schemas.openxmlformats.org/drawingml/2006/main" prst="roundRect">
            <a:avLst>
              <a:gd name="adj" fmla="val 2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12A"/>
                </a:solidFill>
                <a:latin typeface="Aptos"/>
                <a:ea typeface="Aptos"/>
                <a:cs typeface="Aptos"/>
              </a:rPr>
              <a:t>A layout that only looks right in portrait can break completely the moment a tablet or phone rotates to landscape.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732DC4E-EE18-46BD-A7D7-FDAB0F19B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81700"/>
            <a:ext cx="112395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401513319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8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DCF0674-F67F-48D8-A82C-96B8DF98D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762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79BD2C-ED5C-4CA8-A467-84B0AF167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28575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/ WEEK 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0D8815-8B1F-4726-B172-3D1C1F6CD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71500"/>
            <a:ext cx="5715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22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BCCD72-6A76-4D99-8A4F-C2DA4CE0B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09650"/>
            <a:ext cx="10668000" cy="533400"/>
          </a:xfrm>
          <a:prstGeom xmlns:a="http://schemas.openxmlformats.org/drawingml/2006/main" prst="roundRect">
            <a:avLst>
              <a:gd name="adj" fmla="val 2142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Case study, before: a fixed desktop layout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585E86-FD87-4A3A-8F1A-7B7D139CA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00200"/>
            <a:ext cx="10572750" cy="342900"/>
          </a:xfrm>
          <a:prstGeom xmlns:a="http://schemas.openxmlformats.org/drawingml/2006/main" prst="roundRect">
            <a:avLst>
              <a:gd name="adj" fmla="val 3333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4954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A real transformation, step one — what the untouched design looked like.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E30A26-C85F-4D4F-848E-17DEDE512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111252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A471D4-FC59-41FD-B695-0CC8AB2C0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4381500" cy="1524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190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Web Design and Interactive Publishing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9f66287f1c4c25"/>
          <a:srcRect xmlns:a="http://schemas.openxmlformats.org/drawingml/2006/main" l="8808" t="0" r="880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39000" y="2381250"/>
            <a:ext cx="4038600" cy="3676650"/>
          </a:xfrm>
          <a:prstGeom xmlns:a="http://schemas.openxmlformats.org/drawingml/2006/main" prst="roundRect">
            <a:avLst>
              <a:gd name="adj" fmla="val 3109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CA642C-D26E-4AF1-9C87-151B704F6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57450"/>
            <a:ext cx="6286500" cy="952500"/>
          </a:xfrm>
          <a:prstGeom xmlns:a="http://schemas.openxmlformats.org/drawingml/2006/main" prst="roundRect">
            <a:avLst>
              <a:gd name="adj" fmla="val 12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The original design used a fixed 1024px three-column layout: a 240px sidebar, a 600px content column, and a 184px widget rail — all in absolute pixels, with no media queries at all.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36DF5B-F5BE-4A00-8515-EB514BD35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0"/>
            <a:ext cx="628650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C18C48-ACF7-49C9-9441-5A8F72CF7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10000"/>
            <a:ext cx="43815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C63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B78142-2EC8-40E6-9E4D-EB6DD329E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81450"/>
            <a:ext cx="5905500" cy="247650"/>
          </a:xfrm>
          <a:prstGeom xmlns:a="http://schemas.openxmlformats.org/drawingml/2006/main" prst="roundRect">
            <a:avLst>
              <a:gd name="adj" fmla="val 4615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1099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What broke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CA6176B-A67E-40DD-A17C-39295320D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24350"/>
            <a:ext cx="5905500" cy="1333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On a 375px phone, the whole 1024px layout rendered at 37% scale: text was unreadably small and every tap target was far below 44px.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F0E89E2-CA6A-49AE-975D-13CF032B4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62500"/>
            <a:ext cx="628650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D8614E2-5DE5-447E-ADDC-457BEE569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53000"/>
            <a:ext cx="43815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E366A1A-539F-4154-AF27-D87148FBF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24450"/>
            <a:ext cx="5905500" cy="247650"/>
          </a:xfrm>
          <a:prstGeom xmlns:a="http://schemas.openxmlformats.org/drawingml/2006/main" prst="roundRect">
            <a:avLst>
              <a:gd name="adj" fmla="val 4615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1099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Root cause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0C32A65-AF52-44AB-B0A5-896FB8ABB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67350"/>
            <a:ext cx="5905500" cy="1333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Fixed pixel widths on every container, plus no viewport meta tag — the two failures compound each other.</a:t>
            </a:r>
          </a:p>
        </p:txBody>
      </p:sp>
    </p:spTree>
    <p:extLst>
      <p:ext uri="{BB962C8B-B14F-4D97-AF65-F5344CB8AC3E}">
        <p14:creationId xmlns:p14="http://schemas.microsoft.com/office/powerpoint/2010/main" val="1066092348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8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BE21455-8F82-4764-B222-2795341CD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762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5993BE-448A-41E5-8771-970BC2CF1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28575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/ WEEK 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32EEF6-31E5-4A63-9939-23ED6B2ED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71500"/>
            <a:ext cx="5715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23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38C8D8-F1B2-41DF-ABF9-14EB26E85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09650"/>
            <a:ext cx="10668000" cy="533400"/>
          </a:xfrm>
          <a:prstGeom xmlns:a="http://schemas.openxmlformats.org/drawingml/2006/main" prst="roundRect">
            <a:avLst>
              <a:gd name="adj" fmla="val 2142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Case study, after: mobile-first rebuild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84AA81-EEB8-4B78-BB6D-0F52CD9E1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00200"/>
            <a:ext cx="10572750" cy="342900"/>
          </a:xfrm>
          <a:prstGeom xmlns:a="http://schemas.openxmlformats.org/drawingml/2006/main" prst="roundRect">
            <a:avLst>
              <a:gd name="adj" fmla="val 3333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4954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The same content, restructured with the techniques from this lecture.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15743C-7678-46BD-A44E-47BA2AFC7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111252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EA1278-49E2-4C3D-BE1C-08DA5EE77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4381500" cy="1524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190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Web Design and Interactive Publishing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ef2f897075454a"/>
          <a:srcRect xmlns:a="http://schemas.openxmlformats.org/drawingml/2006/main" l="6073" t="0" r="607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39000" y="2381250"/>
            <a:ext cx="4038600" cy="3676650"/>
          </a:xfrm>
          <a:prstGeom xmlns:a="http://schemas.openxmlformats.org/drawingml/2006/main" prst="roundRect">
            <a:avLst>
              <a:gd name="adj" fmla="val 3109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42DD15-5FF7-416B-A8D2-A7939FDBD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57450"/>
            <a:ext cx="6286500" cy="1047750"/>
          </a:xfrm>
          <a:prstGeom xmlns:a="http://schemas.openxmlformats.org/drawingml/2006/main" prst="roundRect">
            <a:avLst>
              <a:gd name="adj" fmla="val 1090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Base styles now stack sidebar, content and widget rail in one column with fluid widths. A single min-width:64rem media query switches to the three-column grid using CSS Grid's repeat()/minmax().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6B30A2-FF6C-4268-AB06-949647618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0"/>
            <a:ext cx="628650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C73EAD-3AC8-48A1-BB3E-B9532684E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0"/>
            <a:ext cx="43815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C63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4EE4E5-637F-41D7-A00C-8E54D2418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71950"/>
            <a:ext cx="5905500" cy="247650"/>
          </a:xfrm>
          <a:prstGeom xmlns:a="http://schemas.openxmlformats.org/drawingml/2006/main" prst="roundRect">
            <a:avLst>
              <a:gd name="adj" fmla="val 4615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1099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Result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F3E33D-9DDE-48D5-B426-BE3D39669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14850"/>
            <a:ext cx="5905500" cy="1333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The same markup now renders correctly from 320px to 2560px with one breakpoint, instead of a fixed layout that only worked near 1024px.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F09A382-7811-4C26-BF51-9DA21E356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0"/>
            <a:ext cx="628650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1D4AE4F-941C-4EBB-87FA-B7393AC12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43500"/>
            <a:ext cx="43815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5361D78-D80A-4949-8DCA-88AE82B1C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14950"/>
            <a:ext cx="5905500" cy="247650"/>
          </a:xfrm>
          <a:prstGeom xmlns:a="http://schemas.openxmlformats.org/drawingml/2006/main" prst="roundRect">
            <a:avLst>
              <a:gd name="adj" fmla="val 4615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1099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Measured outcome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B459BBF-353A-4BA2-B5DB-5F61591A5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57850"/>
            <a:ext cx="5905500" cy="1333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Mobile bounce rate in the case study's analytics dropped after the rebuild, once content was reachable without horizontal scrolling.</a:t>
            </a:r>
          </a:p>
        </p:txBody>
      </p:sp>
    </p:spTree>
    <p:extLst>
      <p:ext uri="{BB962C8B-B14F-4D97-AF65-F5344CB8AC3E}">
        <p14:creationId xmlns:p14="http://schemas.microsoft.com/office/powerpoint/2010/main" val="1687284496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8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6785EA3-2EBC-4ED8-B1AB-11B953E7F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762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B2BC91-3D19-44AD-8119-4B1832774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28575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/ WEEK 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D7AD68-4AEC-4AC1-A132-C4A679D9A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71500"/>
            <a:ext cx="5715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24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E8AAA8-09E5-4AEF-98D0-99081040D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09650"/>
            <a:ext cx="10668000" cy="533400"/>
          </a:xfrm>
          <a:prstGeom xmlns:a="http://schemas.openxmlformats.org/drawingml/2006/main" prst="roundRect">
            <a:avLst>
              <a:gd name="adj" fmla="val 2142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Breakpoint testing checklist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4B4211-0372-40AA-8FE7-20175A22F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00200"/>
            <a:ext cx="10572750" cy="342900"/>
          </a:xfrm>
          <a:prstGeom xmlns:a="http://schemas.openxmlformats.org/drawingml/2006/main" prst="roundRect">
            <a:avLst>
              <a:gd name="adj" fmla="val 3333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4954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Four widths to check on every layout before calling it done.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9A313B-5595-4733-926C-707AB098E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111252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5C6DC6-8627-47C8-B77B-01DABC5A3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4381500" cy="1524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190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Web Design and Interactive Publishing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C0816F-4E95-4908-B727-A4587EB80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52700"/>
            <a:ext cx="2095500" cy="285750"/>
          </a:xfrm>
          <a:prstGeom xmlns:a="http://schemas.openxmlformats.org/drawingml/2006/main" prst="roundRect">
            <a:avLst>
              <a:gd name="adj" fmla="val 4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0646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C7831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C7831A"/>
                </a:solidFill>
                <a:latin typeface="Aptos"/>
                <a:ea typeface="Aptos"/>
                <a:cs typeface="Aptos"/>
              </a:rPr>
              <a:t>320px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67D925-B9C8-433F-82F6-691D32692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552700"/>
            <a:ext cx="7905750" cy="571500"/>
          </a:xfrm>
          <a:prstGeom xmlns:a="http://schemas.openxmlformats.org/drawingml/2006/main" prst="roundRect">
            <a:avLst>
              <a:gd name="adj" fmla="val 2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smallest common phone width — no horizontal scroll, all text and controls reachable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91AF08-55F8-4A04-9A45-B7310516F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00400"/>
            <a:ext cx="1076325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BC47F2-C0FA-40C7-AC5A-4BE6B4AA9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90900"/>
            <a:ext cx="2095500" cy="285750"/>
          </a:xfrm>
          <a:prstGeom xmlns:a="http://schemas.openxmlformats.org/drawingml/2006/main" prst="roundRect">
            <a:avLst>
              <a:gd name="adj" fmla="val 4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0646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C7831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C7831A"/>
                </a:solidFill>
                <a:latin typeface="Aptos"/>
                <a:ea typeface="Aptos"/>
                <a:cs typeface="Aptos"/>
              </a:rPr>
              <a:t>768px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3FEBDF-EBB9-4466-A3E8-7EF9CDBD8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390900"/>
            <a:ext cx="7905750" cy="571500"/>
          </a:xfrm>
          <a:prstGeom xmlns:a="http://schemas.openxmlformats.org/drawingml/2006/main" prst="roundRect">
            <a:avLst>
              <a:gd name="adj" fmla="val 2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small tablet / narrow window — check the first added breakpoint's transition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043890-752F-4AFC-AAE5-8BFE175B5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38600"/>
            <a:ext cx="1076325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DC639DD-C4CC-4CAC-8470-E5A5C5F90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29100"/>
            <a:ext cx="2095500" cy="285750"/>
          </a:xfrm>
          <a:prstGeom xmlns:a="http://schemas.openxmlformats.org/drawingml/2006/main" prst="roundRect">
            <a:avLst>
              <a:gd name="adj" fmla="val 4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0646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C7831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C7831A"/>
                </a:solidFill>
                <a:latin typeface="Aptos"/>
                <a:ea typeface="Aptos"/>
                <a:cs typeface="Aptos"/>
              </a:rPr>
              <a:t>1024px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8510D0A-E1B8-4639-85BA-BC5891302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229100"/>
            <a:ext cx="7905750" cy="571500"/>
          </a:xfrm>
          <a:prstGeom xmlns:a="http://schemas.openxmlformats.org/drawingml/2006/main" prst="roundRect">
            <a:avLst>
              <a:gd name="adj" fmla="val 2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tablet landscape / small laptop — check any second breakpoint and nav changes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130C355-D635-4D35-B8E6-F355A2484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76800"/>
            <a:ext cx="1076325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BB279A6-52E8-4C85-8BE4-4548CBDE3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067300"/>
            <a:ext cx="2095500" cy="285750"/>
          </a:xfrm>
          <a:prstGeom xmlns:a="http://schemas.openxmlformats.org/drawingml/2006/main" prst="roundRect">
            <a:avLst>
              <a:gd name="adj" fmla="val 4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0646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C7831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C7831A"/>
                </a:solidFill>
                <a:latin typeface="Aptos"/>
                <a:ea typeface="Aptos"/>
                <a:cs typeface="Aptos"/>
              </a:rPr>
              <a:t>1440px+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AC8CBF3-AF04-4B7F-97EB-9B59B4F96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067300"/>
            <a:ext cx="7905750" cy="571500"/>
          </a:xfrm>
          <a:prstGeom xmlns:a="http://schemas.openxmlformats.org/drawingml/2006/main" prst="roundRect">
            <a:avLst>
              <a:gd name="adj" fmla="val 2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large desktop — check max-width caps keep line length readable, no awkward empty gutters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A09FBC5-D21F-4642-B04B-67D0E06AA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0"/>
            <a:ext cx="1076325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875580893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8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8C18821-D867-456F-B497-BB0692018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762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A60A89-1C4A-400E-BA96-B44B24380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28575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/ WEEK 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0971E7-25DE-40F0-875E-5BC4426CB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71500"/>
            <a:ext cx="5715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25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DFD5DB-1D45-42D0-8E52-A676BD645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09650"/>
            <a:ext cx="10668000" cy="533400"/>
          </a:xfrm>
          <a:prstGeom xmlns:a="http://schemas.openxmlformats.org/drawingml/2006/main" prst="roundRect">
            <a:avLst>
              <a:gd name="adj" fmla="val 2142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Studio task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DDB578-018E-4CC1-A4AE-856CF6C49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00200"/>
            <a:ext cx="10572750" cy="342900"/>
          </a:xfrm>
          <a:prstGeom xmlns:a="http://schemas.openxmlformats.org/drawingml/2006/main" prst="roundRect">
            <a:avLst>
              <a:gd name="adj" fmla="val 3333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4954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Rebuild a fixed layout as a mobile-first responsive page.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104E40-AB05-4E39-A822-62086E5AD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111252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1B1E37-8AF5-4887-B069-2B67DA458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4381500" cy="1524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190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Web Design and Interactive Publishing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40D7F6-B63F-4BDD-80F2-A11A81C5C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1428750" cy="266700"/>
          </a:xfrm>
          <a:prstGeom xmlns:a="http://schemas.openxmlformats.org/drawingml/2006/main" prst="roundRect">
            <a:avLst>
              <a:gd name="adj" fmla="val 4285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5122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C7831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C7831A"/>
                </a:solidFill>
                <a:latin typeface="Aptos"/>
                <a:ea typeface="Aptos"/>
                <a:cs typeface="Aptos"/>
              </a:rPr>
              <a:t>Brief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C574EB-DBD4-4FF3-BED8-4B8B22F62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457450"/>
            <a:ext cx="8572500" cy="704850"/>
          </a:xfrm>
          <a:prstGeom xmlns:a="http://schemas.openxmlformats.org/drawingml/2006/main" prst="roundRect">
            <a:avLst>
              <a:gd name="adj" fmla="val 16216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Take a page you built in an earlier week (or a simple 3-section page) and restyle it mobile-first: base styles for a single column, then add min-width breakpoints at ~48rem and ~64rem.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179E6E-0CD7-46FC-BB45-5C1BAE080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14700"/>
            <a:ext cx="1809750" cy="266700"/>
          </a:xfrm>
          <a:prstGeom xmlns:a="http://schemas.openxmlformats.org/drawingml/2006/main" prst="roundRect">
            <a:avLst>
              <a:gd name="adj" fmla="val 4285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5122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C7831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C7831A"/>
                </a:solidFill>
                <a:latin typeface="Aptos"/>
                <a:ea typeface="Aptos"/>
                <a:cs typeface="Aptos"/>
              </a:rPr>
              <a:t>Constraints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42234D0-E979-406C-A9CF-1AE5A2FBF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314700"/>
            <a:ext cx="8572500" cy="590550"/>
          </a:xfrm>
          <a:prstGeom xmlns:a="http://schemas.openxmlformats.org/drawingml/2006/main" prst="roundRect">
            <a:avLst>
              <a:gd name="adj" fmla="val 19355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9497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8212A"/>
                </a:solidFill>
                <a:latin typeface="Aptos"/>
                <a:ea typeface="Aptos"/>
                <a:cs typeface="Aptos"/>
              </a:rPr>
              <a:t>No fixed pixel widths on any container. All images use max-width:100%. Every interactive control keeps a real 44px touch target at 320px width.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56648A-63CB-4739-9807-18B37E3A6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76700"/>
            <a:ext cx="2000250" cy="266700"/>
          </a:xfrm>
          <a:prstGeom xmlns:a="http://schemas.openxmlformats.org/drawingml/2006/main" prst="roundRect">
            <a:avLst>
              <a:gd name="adj" fmla="val 4285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5122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C7831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C7831A"/>
                </a:solidFill>
                <a:latin typeface="Aptos"/>
                <a:ea typeface="Aptos"/>
                <a:cs typeface="Aptos"/>
              </a:rPr>
              <a:t>Evidence to submit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E64F7C-8C45-4CE3-8497-778468409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076700"/>
            <a:ext cx="8572500" cy="704850"/>
          </a:xfrm>
          <a:prstGeom xmlns:a="http://schemas.openxmlformats.org/drawingml/2006/main" prst="roundRect">
            <a:avLst>
              <a:gd name="adj" fmla="val 16216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8212A"/>
                </a:solidFill>
                <a:latin typeface="Aptos"/>
                <a:ea typeface="Aptos"/>
                <a:cs typeface="Aptos"/>
              </a:rPr>
              <a:t>Screenshots at 320px, 768px and 1024px, plus 100 words on the one piece of content or navigation you were careful not to hide on the smallest screen.</a:t>
            </a:r>
          </a:p>
        </p:txBody>
      </p:sp>
    </p:spTree>
    <p:extLst>
      <p:ext uri="{BB962C8B-B14F-4D97-AF65-F5344CB8AC3E}">
        <p14:creationId xmlns:p14="http://schemas.microsoft.com/office/powerpoint/2010/main" val="89821355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8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C19E2F0-9B19-4F55-B8F9-EDD90CBF2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762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AB6F54-B2AA-4C26-8312-B82BA7020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28575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/ WEEK 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A0C881-DE11-4A48-A83E-3371B3E47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71500"/>
            <a:ext cx="5715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87CAA5-60F3-40B8-B9A8-7DF674B41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09650"/>
            <a:ext cx="10668000" cy="533400"/>
          </a:xfrm>
          <a:prstGeom xmlns:a="http://schemas.openxmlformats.org/drawingml/2006/main" prst="roundRect">
            <a:avLst>
              <a:gd name="adj" fmla="val 2142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Review checklist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AA3F5C-E480-4C24-9910-F651A5959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00200"/>
            <a:ext cx="10572750" cy="342900"/>
          </a:xfrm>
          <a:prstGeom xmlns:a="http://schemas.openxmlformats.org/drawingml/2006/main" prst="roundRect">
            <a:avLst>
              <a:gd name="adj" fmla="val 3333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4954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How responsive work is assessed in project review.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40C859-E9C4-4F05-AB00-970FAEB60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111252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668ABE-D962-4F3F-8B61-92D86EE01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4381500" cy="1524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190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Web Design and Interactive Publishing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10D32E-2F58-460A-B7BF-73342CE1A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76500"/>
            <a:ext cx="2476500" cy="266700"/>
          </a:xfrm>
          <a:prstGeom xmlns:a="http://schemas.openxmlformats.org/drawingml/2006/main" prst="roundRect">
            <a:avLst>
              <a:gd name="adj" fmla="val 4285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7378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7831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C7831A"/>
                </a:solidFill>
                <a:latin typeface="Aptos"/>
                <a:ea typeface="Aptos"/>
                <a:cs typeface="Aptos"/>
              </a:rPr>
              <a:t>Mobile-first CSS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0F6D0A-34BF-4E42-938D-1E6E2128A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476500"/>
            <a:ext cx="7334250" cy="457200"/>
          </a:xfrm>
          <a:prstGeom xmlns:a="http://schemas.openxmlformats.org/drawingml/2006/main" prst="roundRect">
            <a:avLst>
              <a:gd name="adj" fmla="val 25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12A"/>
                </a:solidFill>
                <a:latin typeface="Aptos"/>
                <a:ea typeface="Aptos"/>
                <a:cs typeface="Aptos"/>
              </a:rPr>
              <a:t>Base styles target the narrowest viewport; media queries use min-width to add, not override.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23E08F-30CC-4AFA-9ECC-AD284169B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48000"/>
            <a:ext cx="1076325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F859F0-56A0-407F-8DD8-765AFCB74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19450"/>
            <a:ext cx="2476500" cy="266700"/>
          </a:xfrm>
          <a:prstGeom xmlns:a="http://schemas.openxmlformats.org/drawingml/2006/main" prst="roundRect">
            <a:avLst>
              <a:gd name="adj" fmla="val 4285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7378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7831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C7831A"/>
                </a:solidFill>
                <a:latin typeface="Aptos"/>
                <a:ea typeface="Aptos"/>
                <a:cs typeface="Aptos"/>
              </a:rPr>
              <a:t>No hidden essentials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AB3E2B-6988-4084-8C60-4D2633F3D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219450"/>
            <a:ext cx="7334250" cy="457200"/>
          </a:xfrm>
          <a:prstGeom xmlns:a="http://schemas.openxmlformats.org/drawingml/2006/main" prst="roundRect">
            <a:avLst>
              <a:gd name="adj" fmla="val 25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12A"/>
                </a:solidFill>
                <a:latin typeface="Aptos"/>
                <a:ea typeface="Aptos"/>
                <a:cs typeface="Aptos"/>
              </a:rPr>
              <a:t>Every critical piece of content or navigation remains reachable at 320px, even if repositioned.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EE2F31-3860-4DA3-A788-742532B39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90950"/>
            <a:ext cx="1076325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41EBCB-1327-47BA-B50F-641D4041D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62400"/>
            <a:ext cx="2476500" cy="266700"/>
          </a:xfrm>
          <a:prstGeom xmlns:a="http://schemas.openxmlformats.org/drawingml/2006/main" prst="roundRect">
            <a:avLst>
              <a:gd name="adj" fmla="val 4285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7378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7831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C7831A"/>
                </a:solidFill>
                <a:latin typeface="Aptos"/>
                <a:ea typeface="Aptos"/>
                <a:cs typeface="Aptos"/>
              </a:rPr>
              <a:t>Fluid images and type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45168A3-8470-4262-B494-96CEB5A1F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962400"/>
            <a:ext cx="7334250" cy="457200"/>
          </a:xfrm>
          <a:prstGeom xmlns:a="http://schemas.openxmlformats.org/drawingml/2006/main" prst="roundRect">
            <a:avLst>
              <a:gd name="adj" fmla="val 25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7747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12A"/>
                </a:solidFill>
                <a:latin typeface="Aptos"/>
                <a:ea typeface="Aptos"/>
                <a:cs typeface="Aptos"/>
              </a:rPr>
              <a:t>Images use max-width:100%/height:auto; type does not become unreadably small or huge at any width.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47B2747-4731-4555-9645-F38D7DD66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33900"/>
            <a:ext cx="1076325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60CEA8C-8A83-4342-89CB-8059FBCCD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05350"/>
            <a:ext cx="2476500" cy="266700"/>
          </a:xfrm>
          <a:prstGeom xmlns:a="http://schemas.openxmlformats.org/drawingml/2006/main" prst="roundRect">
            <a:avLst>
              <a:gd name="adj" fmla="val 4285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7378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7831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C7831A"/>
                </a:solidFill>
                <a:latin typeface="Aptos"/>
                <a:ea typeface="Aptos"/>
                <a:cs typeface="Aptos"/>
              </a:rPr>
              <a:t>Touch-target size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F969D09-B198-453A-9267-018E6BFA1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705350"/>
            <a:ext cx="7334250" cy="457200"/>
          </a:xfrm>
          <a:prstGeom xmlns:a="http://schemas.openxmlformats.org/drawingml/2006/main" prst="roundRect">
            <a:avLst>
              <a:gd name="adj" fmla="val 25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12A"/>
                </a:solidFill>
                <a:latin typeface="Aptos"/>
                <a:ea typeface="Aptos"/>
                <a:cs typeface="Aptos"/>
              </a:rPr>
              <a:t>Interactive elements meet at least 44×44px with adequate spacing on touch viewports.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6309F31-7540-4682-93C6-E4CBD5D98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76850"/>
            <a:ext cx="1076325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182250477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8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9A606F3-1D8E-4517-AA8B-96E56344D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762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255FFE-A7B3-4927-9D19-A2D7880FA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28575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/ WEEK 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074CD3-163D-40FB-843F-4DEDA4146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71500"/>
            <a:ext cx="5715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27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165374-49B5-486E-AF6D-0EB2FB29A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09650"/>
            <a:ext cx="10668000" cy="533400"/>
          </a:xfrm>
          <a:prstGeom xmlns:a="http://schemas.openxmlformats.org/drawingml/2006/main" prst="roundRect">
            <a:avLst>
              <a:gd name="adj" fmla="val 2142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Connections to earlier weeks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05AA69-2CB7-4B12-A2B5-1D1142A33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00200"/>
            <a:ext cx="10572750" cy="342900"/>
          </a:xfrm>
          <a:prstGeom xmlns:a="http://schemas.openxmlformats.org/drawingml/2006/main" prst="roundRect">
            <a:avLst>
              <a:gd name="adj" fmla="val 3333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4954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Responsive design builds directly on semantic structure and CSS layout already covered.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2E9992-FA9F-402F-91C9-F85370149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111252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1986C5-1BD5-4E5A-8C7C-D66DB5E13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4381500" cy="1524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190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Web Design and Interactive Publishing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5A79CF-6E7B-477B-8E1A-16C7CCB80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57450"/>
            <a:ext cx="5286375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5C30BB-60B2-4FC5-8B34-CAC5E6827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47950"/>
            <a:ext cx="43815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64093B-01AE-453A-98E9-897782A89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19400"/>
            <a:ext cx="4905375" cy="247650"/>
          </a:xfrm>
          <a:prstGeom xmlns:a="http://schemas.openxmlformats.org/drawingml/2006/main" prst="roundRect">
            <a:avLst>
              <a:gd name="adj" fmla="val 4615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1099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Week 2 — semantic HTML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7E932F-A747-4D77-AD19-90CCEE3FB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62300"/>
            <a:ext cx="4905375" cy="1200150"/>
          </a:xfrm>
          <a:prstGeom xmlns:a="http://schemas.openxmlformats.org/drawingml/2006/main" prst="roundRect">
            <a:avLst>
              <a:gd name="adj" fmla="val 952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A correct landmark and heading structure means reflow at any breakpoint keeps meaning intact — responsive CSS cannot fix broken markup.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A3914C-4E22-484C-A7CE-0F0FDC66F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2457450"/>
            <a:ext cx="5286375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F06276-87D2-42A2-A580-3E348627F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2647950"/>
            <a:ext cx="43815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C63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3EE7BC1-D59B-4804-B733-8C4699ED8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2819400"/>
            <a:ext cx="4905375" cy="247650"/>
          </a:xfrm>
          <a:prstGeom xmlns:a="http://schemas.openxmlformats.org/drawingml/2006/main" prst="roundRect">
            <a:avLst>
              <a:gd name="adj" fmla="val 4615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1099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Week 4 — layout with CSS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18F0E0F-489D-4A79-BF7A-886F0A112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3162300"/>
            <a:ext cx="4905375" cy="1200150"/>
          </a:xfrm>
          <a:prstGeom xmlns:a="http://schemas.openxmlformats.org/drawingml/2006/main" prst="roundRect">
            <a:avLst>
              <a:gd name="adj" fmla="val 952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Flexbox and Grid from Week 4 are the same tools used here; this week adds the media-query and container-query layer on top.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7C955FD-2F46-4B0B-B3CF-560627035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05350"/>
            <a:ext cx="5286375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CFC464B-D8E6-420B-BB51-EC1143EEF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95850"/>
            <a:ext cx="43815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21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EACA98F-C5FD-4909-8FBA-E89827F91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67300"/>
            <a:ext cx="4905375" cy="247650"/>
          </a:xfrm>
          <a:prstGeom xmlns:a="http://schemas.openxmlformats.org/drawingml/2006/main" prst="roundRect">
            <a:avLst>
              <a:gd name="adj" fmla="val 4615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1099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Week 8 (coming) — accessibility review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0B7768F-5151-40DA-AFAD-F3A50C0FC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10200"/>
            <a:ext cx="4905375" cy="914400"/>
          </a:xfrm>
          <a:prstGeom xmlns:a="http://schemas.openxmlformats.org/drawingml/2006/main" prst="roundRect">
            <a:avLst>
              <a:gd name="adj" fmla="val 125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Touch-target size and keyboard-operable navigation from this week are directly re-checked in the Week 8 audit.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ACAFBF3-8B7E-4CE6-90AC-9FF10382C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4705350"/>
            <a:ext cx="5286375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CCFEF2B-44AE-4211-B775-40B350FAA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4895850"/>
            <a:ext cx="43815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91060FA-071E-48F7-899E-603E533EF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5067300"/>
            <a:ext cx="4905375" cy="247650"/>
          </a:xfrm>
          <a:prstGeom xmlns:a="http://schemas.openxmlformats.org/drawingml/2006/main" prst="roundRect">
            <a:avLst>
              <a:gd name="adj" fmla="val 4615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1099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Assignment 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8E87AFA-4254-49AD-8DD2-EE4D5D4D9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5410200"/>
            <a:ext cx="4905375" cy="914400"/>
          </a:xfrm>
          <a:prstGeom xmlns:a="http://schemas.openxmlformats.org/drawingml/2006/main" prst="roundRect">
            <a:avLst>
              <a:gd name="adj" fmla="val 125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This week's studio task is direct preparation for the interaction-and-forms assignment: a form must also stay usable at 320px.</a:t>
            </a:r>
          </a:p>
        </p:txBody>
      </p:sp>
    </p:spTree>
    <p:extLst>
      <p:ext uri="{BB962C8B-B14F-4D97-AF65-F5344CB8AC3E}">
        <p14:creationId xmlns:p14="http://schemas.microsoft.com/office/powerpoint/2010/main" val="767298780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8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73F7E90-75A1-428E-85B6-B524D334A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762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063989-EF17-4480-A3ED-E9007FF97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28575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/ WEEK 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EDCFDF-9C86-4D6F-945A-4A43EA5D0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71500"/>
            <a:ext cx="5715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28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786E75-79AF-4629-93CF-56A6AB352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09650"/>
            <a:ext cx="10668000" cy="533400"/>
          </a:xfrm>
          <a:prstGeom xmlns:a="http://schemas.openxmlformats.org/drawingml/2006/main" prst="roundRect">
            <a:avLst>
              <a:gd name="adj" fmla="val 2142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Further practice and resources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BDDE8A-26CF-43F0-ADE1-04A4D2D6A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00200"/>
            <a:ext cx="10572750" cy="342900"/>
          </a:xfrm>
          <a:prstGeom xmlns:a="http://schemas.openxmlformats.org/drawingml/2006/main" prst="roundRect">
            <a:avLst>
              <a:gd name="adj" fmla="val 3333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4954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Before next session.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CE8B00-D104-4897-81D8-23F9FBF57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111252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96352F-2440-4634-96A8-D7C20D29E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4381500" cy="1524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190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Web Design and Interactive Publishing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782B7C-396A-42B0-A9AE-7C42A5512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19350"/>
            <a:ext cx="3238500" cy="266700"/>
          </a:xfrm>
          <a:prstGeom xmlns:a="http://schemas.openxmlformats.org/drawingml/2006/main" prst="roundRect">
            <a:avLst>
              <a:gd name="adj" fmla="val 4285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5122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C7831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C7831A"/>
                </a:solidFill>
                <a:latin typeface="Aptos"/>
                <a:ea typeface="Aptos"/>
                <a:cs typeface="Aptos"/>
              </a:rPr>
              <a:t>Responsive images reference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39AB41-53C5-417B-9990-FDA62B13D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19400"/>
            <a:ext cx="10287000" cy="247650"/>
          </a:xfrm>
          <a:prstGeom xmlns:a="http://schemas.openxmlformats.org/drawingml/2006/main" prst="roundRect">
            <a:avLst>
              <a:gd name="adj" fmla="val 4615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5934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8212A"/>
                </a:solidFill>
                <a:latin typeface="Aptos"/>
                <a:ea typeface="Aptos"/>
                <a:cs typeface="Aptos"/>
              </a:rPr>
              <a:t>MDN, Responsive images: https://developer.mozilla.org/en-US/docs/Web/HTML/Responsive_images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01CD86-D9A1-4F6F-AA2F-444CAF342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90900"/>
            <a:ext cx="3238500" cy="266700"/>
          </a:xfrm>
          <a:prstGeom xmlns:a="http://schemas.openxmlformats.org/drawingml/2006/main" prst="roundRect">
            <a:avLst>
              <a:gd name="adj" fmla="val 4285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5122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C7831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C7831A"/>
                </a:solidFill>
                <a:latin typeface="Aptos"/>
                <a:ea typeface="Aptos"/>
                <a:cs typeface="Aptos"/>
              </a:rPr>
              <a:t>Container queries reference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3EDC5F-968D-4DDC-B6E5-1ADF94F50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90950"/>
            <a:ext cx="10287000" cy="247650"/>
          </a:xfrm>
          <a:prstGeom xmlns:a="http://schemas.openxmlformats.org/drawingml/2006/main" prst="roundRect">
            <a:avLst>
              <a:gd name="adj" fmla="val 4615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5934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8212A"/>
                </a:solidFill>
                <a:latin typeface="Aptos"/>
                <a:ea typeface="Aptos"/>
                <a:cs typeface="Aptos"/>
              </a:rPr>
              <a:t>MDN, CSS containment / container queries: https://developer.mozilla.org/en-US/docs/Web/CSS/CSS_containment/Container_queries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CBF5B27-B07E-4B69-85E0-DDE956748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62450"/>
            <a:ext cx="2857500" cy="266700"/>
          </a:xfrm>
          <a:prstGeom xmlns:a="http://schemas.openxmlformats.org/drawingml/2006/main" prst="roundRect">
            <a:avLst>
              <a:gd name="adj" fmla="val 4285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5122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C7831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C7831A"/>
                </a:solidFill>
                <a:latin typeface="Aptos"/>
                <a:ea typeface="Aptos"/>
                <a:cs typeface="Aptos"/>
              </a:rPr>
              <a:t>Touch target guidance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EACFED-0CE5-4BF0-93D3-64C01FB4C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10287000" cy="247650"/>
          </a:xfrm>
          <a:prstGeom xmlns:a="http://schemas.openxmlformats.org/drawingml/2006/main" prst="roundRect">
            <a:avLst>
              <a:gd name="adj" fmla="val 4615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5934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8212A"/>
                </a:solidFill>
                <a:latin typeface="Aptos"/>
                <a:ea typeface="Aptos"/>
                <a:cs typeface="Aptos"/>
              </a:rPr>
              <a:t>W3C WAI, Understanding Success Criterion 2.5.5 Target Size: https://www.w3.org/WAI/WCAG22/Understanding/target-size-minimum.html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69C65CF-28BB-4BA6-8F12-C024317E5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91150"/>
            <a:ext cx="2476500" cy="266700"/>
          </a:xfrm>
          <a:prstGeom xmlns:a="http://schemas.openxmlformats.org/drawingml/2006/main" prst="roundRect">
            <a:avLst>
              <a:gd name="adj" fmla="val 4285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5122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C7831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C7831A"/>
                </a:solidFill>
                <a:latin typeface="Aptos"/>
                <a:ea typeface="Aptos"/>
                <a:cs typeface="Aptos"/>
              </a:rPr>
              <a:t>Bring to Week 7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6E8267C-D9A6-41D7-BC78-B2E42A704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91200"/>
            <a:ext cx="10096500" cy="247650"/>
          </a:xfrm>
          <a:prstGeom xmlns:a="http://schemas.openxmlformats.org/drawingml/2006/main" prst="roundRect">
            <a:avLst>
              <a:gd name="adj" fmla="val 4615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1099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A screenshot of one form you use often (login, checkout, search) to critique its labels and error handling.</a:t>
            </a:r>
          </a:p>
        </p:txBody>
      </p:sp>
    </p:spTree>
    <p:extLst>
      <p:ext uri="{BB962C8B-B14F-4D97-AF65-F5344CB8AC3E}">
        <p14:creationId xmlns:p14="http://schemas.microsoft.com/office/powerpoint/2010/main" val="1725751833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8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F5B8D0-5EDB-4263-983D-32A6A197D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762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8D2F5A-3C91-4F89-BA49-F2EAA51E9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28575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/ WEEK 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27B219-F4F5-4839-B83F-E26E2A205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71500"/>
            <a:ext cx="5715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29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FF45AF-FB4A-4A82-96C7-F0404D74B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09650"/>
            <a:ext cx="10668000" cy="533400"/>
          </a:xfrm>
          <a:prstGeom xmlns:a="http://schemas.openxmlformats.org/drawingml/2006/main" prst="roundRect">
            <a:avLst>
              <a:gd name="adj" fmla="val 2142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Next week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646CDC-77B7-4158-88C6-D7D4961DC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00200"/>
            <a:ext cx="10572750" cy="342900"/>
          </a:xfrm>
          <a:prstGeom xmlns:a="http://schemas.openxmlformats.org/drawingml/2006/main" prst="roundRect">
            <a:avLst>
              <a:gd name="adj" fmla="val 3333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4954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Week 7: Interaction and forms.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74E256-D495-41AB-8618-3A0EFF888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111252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F4933E-F9D3-45D2-ACF5-BCFE87180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4381500" cy="1524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190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Web Design and Interactive Publishing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2BB344-CB9A-47AF-87EA-E8334223C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0"/>
            <a:ext cx="10287000" cy="952500"/>
          </a:xfrm>
          <a:prstGeom xmlns:a="http://schemas.openxmlformats.org/drawingml/2006/main" prst="roundRect">
            <a:avLst>
              <a:gd name="adj" fmla="val 12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Build clear navigation and an accessible form. Test focus order, labels, errors and keyboard access — the interaction layer that sits on top of the responsive structure built this week.</a:t>
            </a:r>
          </a:p>
        </p:txBody>
      </p:sp>
    </p:spTree>
    <p:extLst>
      <p:ext uri="{BB962C8B-B14F-4D97-AF65-F5344CB8AC3E}">
        <p14:creationId xmlns:p14="http://schemas.microsoft.com/office/powerpoint/2010/main" val="178377785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2026-09-13T07:40:30.9420000Z</dcterms:created>
  <dcterms:modified xsi:type="dcterms:W3CDTF">2026-09-13T07:40:30.9420000Z</dcterms:modified>
</coreProperties>
</file>