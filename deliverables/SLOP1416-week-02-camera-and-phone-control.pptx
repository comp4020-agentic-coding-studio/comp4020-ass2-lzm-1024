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0711611d799481b" /><Relationship Type="http://schemas.openxmlformats.org/officeDocument/2006/relationships/extended-properties" Target="/docProps/app.xml" Id="R1e869e8f7dfa4db9" /><Relationship Type="http://schemas.openxmlformats.org/officeDocument/2006/relationships/officeDocument" Target="/ppt/presentation.xml" Id="R0a8972b25dbb439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60bc420c95d4403"/>
  </p:sldMasterIdLst>
  <p:notesMasterIdLst>
    <p:notesMasterId xmlns:r="http://schemas.openxmlformats.org/officeDocument/2006/relationships" r:id="R673b32f897e241a8"/>
  </p:notesMasterIdLst>
  <p:sldIdLst>
    <p:sldId xmlns:r="http://schemas.openxmlformats.org/officeDocument/2006/relationships" id="256" r:id="R8475897ed7cb49df"/>
    <p:sldId xmlns:r="http://schemas.openxmlformats.org/officeDocument/2006/relationships" id="257" r:id="R6291521bd7a6461f"/>
    <p:sldId xmlns:r="http://schemas.openxmlformats.org/officeDocument/2006/relationships" id="258" r:id="Rf34490959ac34494"/>
    <p:sldId xmlns:r="http://schemas.openxmlformats.org/officeDocument/2006/relationships" id="259" r:id="R12238acbb9134bf2"/>
    <p:sldId xmlns:r="http://schemas.openxmlformats.org/officeDocument/2006/relationships" id="260" r:id="R07890b4ee28046ce"/>
    <p:sldId xmlns:r="http://schemas.openxmlformats.org/officeDocument/2006/relationships" id="261" r:id="R0ee2a015d7de4900"/>
    <p:sldId xmlns:r="http://schemas.openxmlformats.org/officeDocument/2006/relationships" id="262" r:id="Ra6a294161ff44c65"/>
    <p:sldId xmlns:r="http://schemas.openxmlformats.org/officeDocument/2006/relationships" id="263" r:id="Rbbea85bf0bc74769"/>
    <p:sldId xmlns:r="http://schemas.openxmlformats.org/officeDocument/2006/relationships" id="264" r:id="R2875a15f9be94676"/>
    <p:sldId xmlns:r="http://schemas.openxmlformats.org/officeDocument/2006/relationships" id="265" r:id="Rb6a840a19b7149b8"/>
    <p:sldId xmlns:r="http://schemas.openxmlformats.org/officeDocument/2006/relationships" id="266" r:id="R425f88979be540eb"/>
    <p:sldId xmlns:r="http://schemas.openxmlformats.org/officeDocument/2006/relationships" id="267" r:id="Rb6581141cd084e77"/>
    <p:sldId xmlns:r="http://schemas.openxmlformats.org/officeDocument/2006/relationships" id="268" r:id="R3ed21243813c4364"/>
    <p:sldId xmlns:r="http://schemas.openxmlformats.org/officeDocument/2006/relationships" id="269" r:id="R5e4712ca3005419b"/>
    <p:sldId xmlns:r="http://schemas.openxmlformats.org/officeDocument/2006/relationships" id="270" r:id="R0033452c18444f33"/>
    <p:sldId xmlns:r="http://schemas.openxmlformats.org/officeDocument/2006/relationships" id="271" r:id="R9d3535a91b864e79"/>
    <p:sldId xmlns:r="http://schemas.openxmlformats.org/officeDocument/2006/relationships" id="272" r:id="Ra28935e4d0624fa8"/>
    <p:sldId xmlns:r="http://schemas.openxmlformats.org/officeDocument/2006/relationships" id="273" r:id="R2890ca36e055418b"/>
    <p:sldId xmlns:r="http://schemas.openxmlformats.org/officeDocument/2006/relationships" id="274" r:id="R312cc6460d4447a8"/>
    <p:sldId xmlns:r="http://schemas.openxmlformats.org/officeDocument/2006/relationships" id="275" r:id="R09668102856a4eed"/>
    <p:sldId xmlns:r="http://schemas.openxmlformats.org/officeDocument/2006/relationships" id="276" r:id="Rd27a90a020d24daa"/>
    <p:sldId xmlns:r="http://schemas.openxmlformats.org/officeDocument/2006/relationships" id="277" r:id="Rdf247662fbba4a3b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e580a84383d4259" /><Relationship Type="http://schemas.openxmlformats.org/officeDocument/2006/relationships/slideMaster" Target="/ppt/slideMasters/slideMaster1.xml" Id="R660bc420c95d4403" /><Relationship Type="http://schemas.openxmlformats.org/officeDocument/2006/relationships/notesMaster" Target="/ppt/notesMasters/notesMaster1.xml" Id="R673b32f897e241a8" /><Relationship Type="http://schemas.openxmlformats.org/officeDocument/2006/relationships/presProps" Target="/ppt/presProps.xml" Id="R72920709ec5d4eda" /><Relationship Type="http://schemas.openxmlformats.org/officeDocument/2006/relationships/tableStyles" Target="/ppt/tableStyles.xml" Id="R24e6ef8b4ba84562" /><Relationship Type="http://schemas.openxmlformats.org/officeDocument/2006/relationships/slide" Target="/ppt/slides/slide1.xml" Id="R8475897ed7cb49df" /><Relationship Type="http://schemas.openxmlformats.org/officeDocument/2006/relationships/slide" Target="/ppt/slides/slide2.xml" Id="R6291521bd7a6461f" /><Relationship Type="http://schemas.openxmlformats.org/officeDocument/2006/relationships/slide" Target="/ppt/slides/slide3.xml" Id="Rf34490959ac34494" /><Relationship Type="http://schemas.openxmlformats.org/officeDocument/2006/relationships/slide" Target="/ppt/slides/slide4.xml" Id="R12238acbb9134bf2" /><Relationship Type="http://schemas.openxmlformats.org/officeDocument/2006/relationships/slide" Target="/ppt/slides/slide5.xml" Id="R07890b4ee28046ce" /><Relationship Type="http://schemas.openxmlformats.org/officeDocument/2006/relationships/slide" Target="/ppt/slides/slide6.xml" Id="R0ee2a015d7de4900" /><Relationship Type="http://schemas.openxmlformats.org/officeDocument/2006/relationships/slide" Target="/ppt/slides/slide7.xml" Id="Ra6a294161ff44c65" /><Relationship Type="http://schemas.openxmlformats.org/officeDocument/2006/relationships/slide" Target="/ppt/slides/slide8.xml" Id="Rbbea85bf0bc74769" /><Relationship Type="http://schemas.openxmlformats.org/officeDocument/2006/relationships/slide" Target="/ppt/slides/slide9.xml" Id="R2875a15f9be94676" /><Relationship Type="http://schemas.openxmlformats.org/officeDocument/2006/relationships/slide" Target="/ppt/slides/slide10.xml" Id="Rb6a840a19b7149b8" /><Relationship Type="http://schemas.openxmlformats.org/officeDocument/2006/relationships/slide" Target="/ppt/slides/slide11.xml" Id="R425f88979be540eb" /><Relationship Type="http://schemas.openxmlformats.org/officeDocument/2006/relationships/slide" Target="/ppt/slides/slide12.xml" Id="Rb6581141cd084e77" /><Relationship Type="http://schemas.openxmlformats.org/officeDocument/2006/relationships/slide" Target="/ppt/slides/slide13.xml" Id="R3ed21243813c4364" /><Relationship Type="http://schemas.openxmlformats.org/officeDocument/2006/relationships/slide" Target="/ppt/slides/slide14.xml" Id="R5e4712ca3005419b" /><Relationship Type="http://schemas.openxmlformats.org/officeDocument/2006/relationships/slide" Target="/ppt/slides/slide15.xml" Id="R0033452c18444f33" /><Relationship Type="http://schemas.openxmlformats.org/officeDocument/2006/relationships/slide" Target="/ppt/slides/slide16.xml" Id="R9d3535a91b864e79" /><Relationship Type="http://schemas.openxmlformats.org/officeDocument/2006/relationships/slide" Target="/ppt/slides/slide17.xml" Id="Ra28935e4d0624fa8" /><Relationship Type="http://schemas.openxmlformats.org/officeDocument/2006/relationships/slide" Target="/ppt/slides/slide18.xml" Id="R2890ca36e055418b" /><Relationship Type="http://schemas.openxmlformats.org/officeDocument/2006/relationships/slide" Target="/ppt/slides/slide19.xml" Id="R312cc6460d4447a8" /><Relationship Type="http://schemas.openxmlformats.org/officeDocument/2006/relationships/slide" Target="/ppt/slides/slide20.xml" Id="R09668102856a4eed" /><Relationship Type="http://schemas.openxmlformats.org/officeDocument/2006/relationships/slide" Target="/ppt/slides/slide21.xml" Id="Rd27a90a020d24daa" /><Relationship Type="http://schemas.openxmlformats.org/officeDocument/2006/relationships/slide" Target="/ppt/slides/slide22.xml" Id="Rdf247662fbba4a3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83b30b4cd89482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50339069ed84381" /><Relationship Type="http://schemas.openxmlformats.org/officeDocument/2006/relationships/notesMaster" Target="/ppt/notesMasters/notesMaster1.xml" Id="R388f44f3e4ae46a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e2c20caa9a8498f" /><Relationship Type="http://schemas.openxmlformats.org/officeDocument/2006/relationships/notesMaster" Target="/ppt/notesMasters/notesMaster1.xml" Id="R9c08fff34b9447d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9f22f8571534b66" /><Relationship Type="http://schemas.openxmlformats.org/officeDocument/2006/relationships/notesMaster" Target="/ppt/notesMasters/notesMaster1.xml" Id="R4e915527a120472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324717e796e407b" /><Relationship Type="http://schemas.openxmlformats.org/officeDocument/2006/relationships/notesMaster" Target="/ppt/notesMasters/notesMaster1.xml" Id="R776dcfb51cc1487f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6e112f16a0f74416" /><Relationship Type="http://schemas.openxmlformats.org/officeDocument/2006/relationships/notesMaster" Target="/ppt/notesMasters/notesMaster1.xml" Id="Rcebf1eabd83e4cc2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a22d0f15ff7a4bf8" /><Relationship Type="http://schemas.openxmlformats.org/officeDocument/2006/relationships/notesMaster" Target="/ppt/notesMasters/notesMaster1.xml" Id="R42fa8a0f20ca43f9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146a98d1035c44c4" /><Relationship Type="http://schemas.openxmlformats.org/officeDocument/2006/relationships/notesMaster" Target="/ppt/notesMasters/notesMaster1.xml" Id="Rc4609f0c93f847f2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7c6f287ccb954137" /><Relationship Type="http://schemas.openxmlformats.org/officeDocument/2006/relationships/notesMaster" Target="/ppt/notesMasters/notesMaster1.xml" Id="R7d0a4e79c8774103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b919f888661e4509" /><Relationship Type="http://schemas.openxmlformats.org/officeDocument/2006/relationships/notesMaster" Target="/ppt/notesMasters/notesMaster1.xml" Id="R72c56f24943b4e07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71aae06e28734183" /><Relationship Type="http://schemas.openxmlformats.org/officeDocument/2006/relationships/notesMaster" Target="/ppt/notesMasters/notesMaster1.xml" Id="R21dd9558ad2146b3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f0b00c22327e489c" /><Relationship Type="http://schemas.openxmlformats.org/officeDocument/2006/relationships/notesMaster" Target="/ppt/notesMasters/notesMaster1.xml" Id="Rb690c011cc284a01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2d6eeb288a044a80" /><Relationship Type="http://schemas.openxmlformats.org/officeDocument/2006/relationships/notesMaster" Target="/ppt/notesMasters/notesMaster1.xml" Id="Rd0911e42fe784cdb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24b6fb4f86904283" /><Relationship Type="http://schemas.openxmlformats.org/officeDocument/2006/relationships/notesMaster" Target="/ppt/notesMasters/notesMaster1.xml" Id="Rdf7c9b8f5c824288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ecdcaaa13a2b4cf6" /><Relationship Type="http://schemas.openxmlformats.org/officeDocument/2006/relationships/notesMaster" Target="/ppt/notesMasters/notesMaster1.xml" Id="R23552a07918b4668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eb1a5613ffcd43c3" /><Relationship Type="http://schemas.openxmlformats.org/officeDocument/2006/relationships/notesMaster" Target="/ppt/notesMasters/notesMaster1.xml" Id="R5924b45aaebc48ce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f78075f8aa1f4200" /><Relationship Type="http://schemas.openxmlformats.org/officeDocument/2006/relationships/notesMaster" Target="/ppt/notesMasters/notesMaster1.xml" Id="Rda970e6a66524e3a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74e15d59f1944f5f" /><Relationship Type="http://schemas.openxmlformats.org/officeDocument/2006/relationships/notesMaster" Target="/ppt/notesMasters/notesMaster1.xml" Id="R6862a3a85e2944fe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456c2e8398f14711" /><Relationship Type="http://schemas.openxmlformats.org/officeDocument/2006/relationships/notesMaster" Target="/ppt/notesMasters/notesMaster1.xml" Id="Rf4e76ed9ecce4df1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c0165aa9ffdf419b" /><Relationship Type="http://schemas.openxmlformats.org/officeDocument/2006/relationships/notesMaster" Target="/ppt/notesMasters/notesMaster1.xml" Id="R094eb4e52f7a4198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7a274236019441b8" /><Relationship Type="http://schemas.openxmlformats.org/officeDocument/2006/relationships/notesMaster" Target="/ppt/notesMasters/notesMaster1.xml" Id="Ra773c061efc242b0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47ec8f0b9c9040d5" /><Relationship Type="http://schemas.openxmlformats.org/officeDocument/2006/relationships/notesMaster" Target="/ppt/notesMasters/notesMaster1.xml" Id="R4cc9b22c08ca412c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c5d1bf23120e417e" /><Relationship Type="http://schemas.openxmlformats.org/officeDocument/2006/relationships/notesMaster" Target="/ppt/notesMasters/notesMaster1.xml" Id="R9ba7172a61e740f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Image asset: Unsplash https://images.unsplash.com/photo-1492691527719-9d1e07e534b4</a:t>
            </a:r>
          </a:p>
          <a:p xmlns:a="http://schemas.openxmlformats.org/drawingml/2006/main">
            <a:r>
              <a:t>Course content is original.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Original SLOP1416 Week 2 teaching content.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Original SLOP1416 Week 2 teaching content.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Original SLOP1416 Week 2 teaching content.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Original SLOP1416 Week 2 teaching content.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Original SLOP1416 Week 2 teaching content.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Original SLOP1416 Week 2 teaching content.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Original SLOP1416 Week 2 teaching content.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Original SLOP1416 Week 2 teaching content.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Original SLOP1416 Week 2 teaching content.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Original SLOP1416 Week 2 teaching content.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Original SLOP1416 Week 2 teaching content.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Original SLOP1416 Week 2 teaching content.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Original SLOP1416 Week 2 teaching content.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Original SLOP1416 Week 2 teaching content.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Original SLOP1416 Week 2 teaching content.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Original SLOP1416 Week 2 teaching content.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Original SLOP1416 Week 2 teaching content.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Original SLOP1416 Week 2 teaching content.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External links shown on slide.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Original SLOP1416 Week 2 teaching content.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Original teaching prompt.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a7f71620893462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2ae66db2aec403b" /><Relationship Type="http://schemas.openxmlformats.org/officeDocument/2006/relationships/slideLayout" Target="/ppt/slideLayouts/slideLayout1.xml" Id="Re2319eb1963a43d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2319eb1963a43d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2bdd58970104d4e" /><Relationship Type="http://schemas.openxmlformats.org/officeDocument/2006/relationships/image" Target="/ppt/media/image.jpeg" Id="Rfc43f24f721e42d6" /><Relationship Type="http://schemas.openxmlformats.org/officeDocument/2006/relationships/notesSlide" Target="/ppt/notesSlides/notesSlide1.xml" Id="Rfd5e43c953c540e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a3aa0d9f88e42ba" /><Relationship Type="http://schemas.openxmlformats.org/officeDocument/2006/relationships/notesSlide" Target="/ppt/notesSlides/notesSlide2.xml" Id="R3e11f49880fe404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c45a2dbce244fa7" /><Relationship Type="http://schemas.openxmlformats.org/officeDocument/2006/relationships/notesSlide" Target="/ppt/notesSlides/notesSlide3.xml" Id="R2f4a5e610fee44e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f0b9e2ed2e3465f" /><Relationship Type="http://schemas.openxmlformats.org/officeDocument/2006/relationships/notesSlide" Target="/ppt/notesSlides/notesSlide4.xml" Id="R9bd182fef44d4980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8353e4fb9d84a44" /><Relationship Type="http://schemas.openxmlformats.org/officeDocument/2006/relationships/image" Target="/ppt/media/image2.jpeg" Id="Racc1fdef065d41ca" /><Relationship Type="http://schemas.openxmlformats.org/officeDocument/2006/relationships/notesSlide" Target="/ppt/notesSlides/notesSlide5.xml" Id="R167e50e12eaa41a0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4d7e78b7809417f" /><Relationship Type="http://schemas.openxmlformats.org/officeDocument/2006/relationships/notesSlide" Target="/ppt/notesSlides/notesSlide6.xml" Id="Rb0168db7a6ab44a4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4845c0147cf40f1" /><Relationship Type="http://schemas.openxmlformats.org/officeDocument/2006/relationships/notesSlide" Target="/ppt/notesSlides/notesSlide7.xml" Id="R8df04cac273f447c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f673a971b57447f" /><Relationship Type="http://schemas.openxmlformats.org/officeDocument/2006/relationships/notesSlide" Target="/ppt/notesSlides/notesSlide8.xml" Id="R76167ae55e4c4940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595fa4f6dbd454a" /><Relationship Type="http://schemas.openxmlformats.org/officeDocument/2006/relationships/notesSlide" Target="/ppt/notesSlides/notesSlide9.xml" Id="R17be04b31a90436f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6d0bf2f92e440e4" /><Relationship Type="http://schemas.openxmlformats.org/officeDocument/2006/relationships/notesSlide" Target="/ppt/notesSlides/notesSlide10.xml" Id="R58338a131a7445fa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8a0b1970a764993" /><Relationship Type="http://schemas.openxmlformats.org/officeDocument/2006/relationships/notesSlide" Target="/ppt/notesSlides/notesSlide11.xml" Id="R6cdf59b24d0840e7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e33f1ad5b4545df" /><Relationship Type="http://schemas.openxmlformats.org/officeDocument/2006/relationships/notesSlide" Target="/ppt/notesSlides/notesSlide12.xml" Id="Re55fa917dd094c69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86f4a89056e41ac" /><Relationship Type="http://schemas.openxmlformats.org/officeDocument/2006/relationships/notesSlide" Target="/ppt/notesSlides/notesSlide13.xml" Id="R0cfca456fc7e4699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bd30121cf9b4eff" /><Relationship Type="http://schemas.openxmlformats.org/officeDocument/2006/relationships/image" Target="/ppt/media/image3.jpeg" Id="R7b674adfb368477f" /><Relationship Type="http://schemas.openxmlformats.org/officeDocument/2006/relationships/notesSlide" Target="/ppt/notesSlides/notesSlide14.xml" Id="Rb2b8c9e73cd64c69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6b5a99fe350466b" /><Relationship Type="http://schemas.openxmlformats.org/officeDocument/2006/relationships/notesSlide" Target="/ppt/notesSlides/notesSlide15.xml" Id="R82cf07b07b6248f0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e079dc896b4437f" /><Relationship Type="http://schemas.openxmlformats.org/officeDocument/2006/relationships/notesSlide" Target="/ppt/notesSlides/notesSlide16.xml" Id="R38582dce2ca64615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0e11253853c4edc" /><Relationship Type="http://schemas.openxmlformats.org/officeDocument/2006/relationships/notesSlide" Target="/ppt/notesSlides/notesSlide17.xml" Id="R0241357cf58d432a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6158745e88e43b9" /><Relationship Type="http://schemas.openxmlformats.org/officeDocument/2006/relationships/notesSlide" Target="/ppt/notesSlides/notesSlide18.xml" Id="R9885422ba5954ed5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b9ddbc2437e4936" /><Relationship Type="http://schemas.openxmlformats.org/officeDocument/2006/relationships/notesSlide" Target="/ppt/notesSlides/notesSlide19.xml" Id="R8ed2a63dbbad4b57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382679c04914fba" /><Relationship Type="http://schemas.openxmlformats.org/officeDocument/2006/relationships/notesSlide" Target="/ppt/notesSlides/notesSlide20.xml" Id="R392c59e00ccd4f24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281c5a6aeca499c" /><Relationship Type="http://schemas.openxmlformats.org/officeDocument/2006/relationships/notesSlide" Target="/ppt/notesSlides/notesSlide21.xml" Id="R7df95ea346e54f73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62e7c4e218f4264" /><Relationship Type="http://schemas.openxmlformats.org/officeDocument/2006/relationships/notesSlide" Target="/ppt/notesSlides/notesSlide22.xml" Id="Rfe872c1d01d24fd6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E25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c43f24f721e42d6"/>
          <a:srcRect xmlns:a="http://schemas.openxmlformats.org/drawingml/2006/main" l="20389" t="0" r="20389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096000" y="0"/>
            <a:ext cx="6096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01DC42E-4F93-425B-B4FE-0705306F0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6572250" cy="6858000"/>
          </a:xfrm>
          <a:prstGeom xmlns:a="http://schemas.openxmlformats.org/drawingml/2006/main" prst="roundRect">
            <a:avLst>
              <a:gd name="adj" fmla="val 1739"/>
            </a:avLst>
          </a:prstGeom>
          <a:solidFill xmlns:a="http://schemas.openxmlformats.org/drawingml/2006/main">
            <a:srgbClr val="1E25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2156868-2E1A-4315-A6D3-FF99456E6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90550"/>
            <a:ext cx="647700" cy="666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783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BFF7A30-6457-4493-8226-19994B3FA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57250"/>
            <a:ext cx="2476500" cy="2286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38389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1DFC0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1DFC0"/>
                </a:solidFill>
                <a:latin typeface="Aptos"/>
                <a:ea typeface="Aptos"/>
                <a:cs typeface="Aptos"/>
              </a:rPr>
              <a:t>SLOP / UNIVERSITY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C7BD405-6DAF-4DA7-B2E1-4F8E03798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714500"/>
            <a:ext cx="2857500" cy="285750"/>
          </a:xfrm>
          <a:prstGeom xmlns:a="http://schemas.openxmlformats.org/drawingml/2006/main" prst="roundRect">
            <a:avLst>
              <a:gd name="adj" fmla="val 4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58643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1DFC0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F1DFC0"/>
                </a:solidFill>
                <a:latin typeface="Aptos"/>
                <a:ea typeface="Aptos"/>
                <a:cs typeface="Aptos"/>
              </a:rPr>
              <a:t>SLOP1416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3A81350-2F90-4DAE-839E-006276886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190750"/>
            <a:ext cx="5429250" cy="1238250"/>
          </a:xfrm>
          <a:prstGeom xmlns:a="http://schemas.openxmlformats.org/drawingml/2006/main" prst="roundRect">
            <a:avLst>
              <a:gd name="adj" fmla="val 9231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8412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36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Camera and Phone</a:t>
            </a:r>
          </a:p>
          <a:p xmlns:a="http://schemas.openxmlformats.org/drawingml/2006/main">
            <a:pPr algn="l">
              <a:defRPr sz="36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36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Control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BBDEEB1-4E75-4DF8-B1FB-A16B921B5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857625"/>
            <a:ext cx="4953000" cy="342900"/>
          </a:xfrm>
          <a:prstGeom xmlns:a="http://schemas.openxmlformats.org/drawingml/2006/main" prst="roundRect">
            <a:avLst>
              <a:gd name="adj" fmla="val 33333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0711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Week 2: Exposure, focus, movement and reliable files</a:t>
            </a:r>
          </a:p>
        </p:txBody>
      </p:sp>
    </p:spTree>
    <p:extLst>
      <p:ext uri="{BB962C8B-B14F-4D97-AF65-F5344CB8AC3E}">
        <p14:creationId xmlns:p14="http://schemas.microsoft.com/office/powerpoint/2010/main" val="30519447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4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787EE48-6C07-490D-A9A0-B41A83C18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45720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783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9A43E57-6557-407D-A7CA-471DD8E01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71500"/>
            <a:ext cx="2190750" cy="1905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27037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44515C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44515C"/>
                </a:solidFill>
                <a:latin typeface="Aptos"/>
                <a:ea typeface="Aptos"/>
                <a:cs typeface="Aptos"/>
              </a:rPr>
              <a:t>SLOP / UNIVERSITY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53D63FB-8176-43AC-B86E-532EB1684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571500"/>
            <a:ext cx="1619250" cy="1905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27037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44515C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44515C"/>
                </a:solidFill>
                <a:latin typeface="Aptos"/>
                <a:ea typeface="Aptos"/>
                <a:cs typeface="Aptos"/>
              </a:rPr>
              <a:t>WEEK 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C7C2DDE-9B4A-4865-B8B1-EF0D41CF3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38900"/>
            <a:ext cx="381000" cy="17145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21722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44515C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44515C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A770BCA-76A1-4B41-9307-67D300CC7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48400"/>
            <a:ext cx="11125200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9D0C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0E261CC-602C-4FF7-BB7F-B410D5711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28700"/>
            <a:ext cx="8572500" cy="571500"/>
          </a:xfrm>
          <a:prstGeom xmlns:a="http://schemas.openxmlformats.org/drawingml/2006/main" prst="roundRect">
            <a:avLst>
              <a:gd name="adj" fmla="val 2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0355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E252B"/>
                </a:solidFill>
                <a:latin typeface="Aptos"/>
                <a:ea typeface="Aptos"/>
                <a:cs typeface="Aptos"/>
              </a:defRPr>
            </a:pPr>
            <a:r>
              <a:rPr sz="3000" b="1">
                <a:solidFill>
                  <a:srgbClr val="1E252B"/>
                </a:solidFill>
                <a:latin typeface="Aptos"/>
                <a:ea typeface="Aptos"/>
                <a:cs typeface="Aptos"/>
              </a:rPr>
              <a:t>Today’s practice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B9EA445-9683-418A-BCC5-AD649E830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809750"/>
            <a:ext cx="8953500" cy="361950"/>
          </a:xfrm>
          <a:prstGeom xmlns:a="http://schemas.openxmlformats.org/drawingml/2006/main" prst="roundRect">
            <a:avLst>
              <a:gd name="adj" fmla="val 31579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3731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44515C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44515C"/>
                </a:solidFill>
                <a:latin typeface="Aptos"/>
                <a:ea typeface="Aptos"/>
                <a:cs typeface="Aptos"/>
              </a:rPr>
              <a:t>Control the camera before the camera controls your story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338C54B-E20D-48AE-8313-B75DB756B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952750"/>
            <a:ext cx="3238500" cy="1352550"/>
          </a:xfrm>
          <a:prstGeom xmlns:a="http://schemas.openxmlformats.org/drawingml/2006/main" prst="roundRect">
            <a:avLst>
              <a:gd name="adj" fmla="val 845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0C2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3927D7C-1E0A-4F8B-8C13-59C84F962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143250"/>
            <a:ext cx="457200" cy="47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783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372EAB8-9AD0-443A-BFED-5B8219C43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333750"/>
            <a:ext cx="2857500" cy="247650"/>
          </a:xfrm>
          <a:prstGeom xmlns:a="http://schemas.openxmlformats.org/drawingml/2006/main" prst="roundRect">
            <a:avLst>
              <a:gd name="adj" fmla="val 46154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39044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E252B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E252B"/>
                </a:solidFill>
                <a:latin typeface="Aptos"/>
                <a:ea typeface="Aptos"/>
                <a:cs typeface="Aptos"/>
              </a:rPr>
              <a:t>Observe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34C781D-85C4-4B84-B739-45E7F5279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695700"/>
            <a:ext cx="2857500" cy="419100"/>
          </a:xfrm>
          <a:prstGeom xmlns:a="http://schemas.openxmlformats.org/drawingml/2006/main" prst="roundRect">
            <a:avLst>
              <a:gd name="adj" fmla="val 27273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2391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4515C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44515C"/>
                </a:solidFill>
                <a:latin typeface="Aptos"/>
                <a:ea typeface="Aptos"/>
                <a:cs typeface="Aptos"/>
              </a:rPr>
              <a:t>What changes in the image when you change one setting?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A16BB50-E08B-45C9-BF82-BF3875012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952750"/>
            <a:ext cx="3238500" cy="1352550"/>
          </a:xfrm>
          <a:prstGeom xmlns:a="http://schemas.openxmlformats.org/drawingml/2006/main" prst="roundRect">
            <a:avLst>
              <a:gd name="adj" fmla="val 845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0C2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8D34042-C065-4C74-AEF8-F60886054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143250"/>
            <a:ext cx="457200" cy="47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52665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FA07BA0-F1D6-4961-B176-001FAFACE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333750"/>
            <a:ext cx="2857500" cy="247650"/>
          </a:xfrm>
          <a:prstGeom xmlns:a="http://schemas.openxmlformats.org/drawingml/2006/main" prst="roundRect">
            <a:avLst>
              <a:gd name="adj" fmla="val 46154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39044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E252B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E252B"/>
                </a:solidFill>
                <a:latin typeface="Aptos"/>
                <a:ea typeface="Aptos"/>
                <a:cs typeface="Aptos"/>
              </a:rPr>
              <a:t>Test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44323A0-527E-46AB-A600-18B3F6B82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695700"/>
            <a:ext cx="2857500" cy="419100"/>
          </a:xfrm>
          <a:prstGeom xmlns:a="http://schemas.openxmlformats.org/drawingml/2006/main" prst="roundRect">
            <a:avLst>
              <a:gd name="adj" fmla="val 27273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9853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4515C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44515C"/>
                </a:solidFill>
                <a:latin typeface="Aptos"/>
                <a:ea typeface="Aptos"/>
                <a:cs typeface="Aptos"/>
              </a:rPr>
              <a:t>Repeat the action from the same position.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3A1578C-DB40-48C4-99FE-BEC789A7D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952750"/>
            <a:ext cx="3238500" cy="1352550"/>
          </a:xfrm>
          <a:prstGeom xmlns:a="http://schemas.openxmlformats.org/drawingml/2006/main" prst="roundRect">
            <a:avLst>
              <a:gd name="adj" fmla="val 845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0C2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78B0DA7-112A-4EBB-946A-91B80FFB5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3143250"/>
            <a:ext cx="457200" cy="47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E25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5F20638-2B20-4A65-9466-1681BBDD6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3333750"/>
            <a:ext cx="2857500" cy="247650"/>
          </a:xfrm>
          <a:prstGeom xmlns:a="http://schemas.openxmlformats.org/drawingml/2006/main" prst="roundRect">
            <a:avLst>
              <a:gd name="adj" fmla="val 46154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39044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E252B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E252B"/>
                </a:solidFill>
                <a:latin typeface="Aptos"/>
                <a:ea typeface="Aptos"/>
                <a:cs typeface="Aptos"/>
              </a:rPr>
              <a:t>Review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1A007B6-7BF1-4138-86B6-D286D7077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3695700"/>
            <a:ext cx="2857500" cy="419100"/>
          </a:xfrm>
          <a:prstGeom xmlns:a="http://schemas.openxmlformats.org/drawingml/2006/main" prst="roundRect">
            <a:avLst>
              <a:gd name="adj" fmla="val 27273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4515C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44515C"/>
                </a:solidFill>
                <a:latin typeface="Aptos"/>
                <a:ea typeface="Aptos"/>
                <a:cs typeface="Aptos"/>
              </a:rPr>
              <a:t>Decide which version serves the story.</a:t>
            </a:r>
          </a:p>
        </p:txBody>
      </p:sp>
    </p:spTree>
    <p:extLst>
      <p:ext uri="{BB962C8B-B14F-4D97-AF65-F5344CB8AC3E}">
        <p14:creationId xmlns:p14="http://schemas.microsoft.com/office/powerpoint/2010/main" val="199726447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4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42FA404-4D48-481F-BB54-08E72D9E3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45720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783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27DA0D4-C773-4709-A78E-9FF416CA5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71500"/>
            <a:ext cx="2190750" cy="1905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27037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44515C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44515C"/>
                </a:solidFill>
                <a:latin typeface="Aptos"/>
                <a:ea typeface="Aptos"/>
                <a:cs typeface="Aptos"/>
              </a:rPr>
              <a:t>SLOP / UNIVERSITY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3A97278-3480-4713-A765-B4206C180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571500"/>
            <a:ext cx="1619250" cy="1905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27037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44515C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44515C"/>
                </a:solidFill>
                <a:latin typeface="Aptos"/>
                <a:ea typeface="Aptos"/>
                <a:cs typeface="Aptos"/>
              </a:rPr>
              <a:t>WEEK 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B1505D2-D113-4158-83AC-BA4B17489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38900"/>
            <a:ext cx="381000" cy="17145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21722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44515C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44515C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76675C3-60C2-44F9-9800-571D39087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48400"/>
            <a:ext cx="11125200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9D0C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4931A2F-6C84-419C-A3AD-503D1D9E6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28700"/>
            <a:ext cx="8572500" cy="571500"/>
          </a:xfrm>
          <a:prstGeom xmlns:a="http://schemas.openxmlformats.org/drawingml/2006/main" prst="roundRect">
            <a:avLst>
              <a:gd name="adj" fmla="val 2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0355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E252B"/>
                </a:solidFill>
                <a:latin typeface="Aptos"/>
                <a:ea typeface="Aptos"/>
                <a:cs typeface="Aptos"/>
              </a:defRPr>
            </a:pPr>
            <a:r>
              <a:rPr sz="3000" b="1">
                <a:solidFill>
                  <a:srgbClr val="1E252B"/>
                </a:solidFill>
                <a:latin typeface="Aptos"/>
                <a:ea typeface="Aptos"/>
                <a:cs typeface="Aptos"/>
              </a:rPr>
              <a:t>The exposure triangle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5E203D3-4711-4682-9CB2-60F2E3261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809750"/>
            <a:ext cx="8953500" cy="361950"/>
          </a:xfrm>
          <a:prstGeom xmlns:a="http://schemas.openxmlformats.org/drawingml/2006/main" prst="roundRect">
            <a:avLst>
              <a:gd name="adj" fmla="val 31579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3731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44515C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44515C"/>
                </a:solidFill>
                <a:latin typeface="Aptos"/>
                <a:ea typeface="Aptos"/>
                <a:cs typeface="Aptos"/>
              </a:rPr>
              <a:t>Aperture, shutter speed and ISO change brightness in different ways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409742F-B7A4-49A1-B275-4D8B4CC3B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048000"/>
            <a:ext cx="3238500" cy="1352550"/>
          </a:xfrm>
          <a:prstGeom xmlns:a="http://schemas.openxmlformats.org/drawingml/2006/main" prst="roundRect">
            <a:avLst>
              <a:gd name="adj" fmla="val 845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0C2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CE47C2A-9F5C-4D8F-B6EE-AD66B0DAF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238500"/>
            <a:ext cx="457200" cy="47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783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7D20EE0-370E-4BB4-B444-31AD0AAF2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429000"/>
            <a:ext cx="2857500" cy="247650"/>
          </a:xfrm>
          <a:prstGeom xmlns:a="http://schemas.openxmlformats.org/drawingml/2006/main" prst="roundRect">
            <a:avLst>
              <a:gd name="adj" fmla="val 46154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39044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E252B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E252B"/>
                </a:solidFill>
                <a:latin typeface="Aptos"/>
                <a:ea typeface="Aptos"/>
                <a:cs typeface="Aptos"/>
              </a:rPr>
              <a:t>Aperture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E79EFDB-E9F6-4C51-A0E2-E0E116C20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790950"/>
            <a:ext cx="2857500" cy="419100"/>
          </a:xfrm>
          <a:prstGeom xmlns:a="http://schemas.openxmlformats.org/drawingml/2006/main" prst="roundRect">
            <a:avLst>
              <a:gd name="adj" fmla="val 27273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1277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4515C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44515C"/>
                </a:solidFill>
                <a:latin typeface="Aptos"/>
                <a:ea typeface="Aptos"/>
                <a:cs typeface="Aptos"/>
              </a:rPr>
              <a:t>Controls depth of field on cameras with adjustable apertures.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3EADD4C-FFBE-4CEE-AA2F-009D602F1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048000"/>
            <a:ext cx="3238500" cy="1352550"/>
          </a:xfrm>
          <a:prstGeom xmlns:a="http://schemas.openxmlformats.org/drawingml/2006/main" prst="roundRect">
            <a:avLst>
              <a:gd name="adj" fmla="val 845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0C2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21022DD-554D-4A91-833B-4DA114349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238500"/>
            <a:ext cx="457200" cy="47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52665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89A36E2-9582-4513-AC8D-89F385EC3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429000"/>
            <a:ext cx="2857500" cy="247650"/>
          </a:xfrm>
          <a:prstGeom xmlns:a="http://schemas.openxmlformats.org/drawingml/2006/main" prst="roundRect">
            <a:avLst>
              <a:gd name="adj" fmla="val 46154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39044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E252B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E252B"/>
                </a:solidFill>
                <a:latin typeface="Aptos"/>
                <a:ea typeface="Aptos"/>
                <a:cs typeface="Aptos"/>
              </a:rPr>
              <a:t>Shutter speed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314115F-E806-4565-B8E6-156D8BEED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790950"/>
            <a:ext cx="2857500" cy="419100"/>
          </a:xfrm>
          <a:prstGeom xmlns:a="http://schemas.openxmlformats.org/drawingml/2006/main" prst="roundRect">
            <a:avLst>
              <a:gd name="adj" fmla="val 27273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6197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4515C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44515C"/>
                </a:solidFill>
                <a:latin typeface="Aptos"/>
                <a:ea typeface="Aptos"/>
                <a:cs typeface="Aptos"/>
              </a:rPr>
              <a:t>Controls motion blur and affects brightness.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3EE7CF0-B13F-4C12-A94B-A8C9FC51E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048000"/>
            <a:ext cx="3238500" cy="1352550"/>
          </a:xfrm>
          <a:prstGeom xmlns:a="http://schemas.openxmlformats.org/drawingml/2006/main" prst="roundRect">
            <a:avLst>
              <a:gd name="adj" fmla="val 845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0C2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0AAE704-942B-45CD-92BF-F93177590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3238500"/>
            <a:ext cx="457200" cy="47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E25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A424A16-587A-47AF-81C4-CA84A2AAF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3429000"/>
            <a:ext cx="2857500" cy="247650"/>
          </a:xfrm>
          <a:prstGeom xmlns:a="http://schemas.openxmlformats.org/drawingml/2006/main" prst="roundRect">
            <a:avLst>
              <a:gd name="adj" fmla="val 46154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39044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E252B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E252B"/>
                </a:solidFill>
                <a:latin typeface="Aptos"/>
                <a:ea typeface="Aptos"/>
                <a:cs typeface="Aptos"/>
              </a:rPr>
              <a:t>ISO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C7D852F-A2BD-46CA-BF49-C0204DF06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3790950"/>
            <a:ext cx="2857500" cy="419100"/>
          </a:xfrm>
          <a:prstGeom xmlns:a="http://schemas.openxmlformats.org/drawingml/2006/main" prst="roundRect">
            <a:avLst>
              <a:gd name="adj" fmla="val 27273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6984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4515C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44515C"/>
                </a:solidFill>
                <a:latin typeface="Aptos"/>
                <a:ea typeface="Aptos"/>
                <a:cs typeface="Aptos"/>
              </a:rPr>
              <a:t>Raises sensitivity and may add visible noise.</a:t>
            </a:r>
          </a:p>
        </p:txBody>
      </p:sp>
    </p:spTree>
    <p:extLst>
      <p:ext uri="{BB962C8B-B14F-4D97-AF65-F5344CB8AC3E}">
        <p14:creationId xmlns:p14="http://schemas.microsoft.com/office/powerpoint/2010/main" val="83479440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4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9A5E90F-4ACD-49CE-8832-29E9AA886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45720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783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779AF45-02E5-4FBB-B8B3-16256F8F3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71500"/>
            <a:ext cx="2190750" cy="1905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27037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44515C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44515C"/>
                </a:solidFill>
                <a:latin typeface="Aptos"/>
                <a:ea typeface="Aptos"/>
                <a:cs typeface="Aptos"/>
              </a:rPr>
              <a:t>SLOP / UNIVERSITY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14CE8F2-830B-488C-9D5E-763C000CA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571500"/>
            <a:ext cx="1619250" cy="1905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27037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44515C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44515C"/>
                </a:solidFill>
                <a:latin typeface="Aptos"/>
                <a:ea typeface="Aptos"/>
                <a:cs typeface="Aptos"/>
              </a:rPr>
              <a:t>WEEK 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71954CC-9C7E-47CE-B7E3-F3E85804D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38900"/>
            <a:ext cx="381000" cy="17145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21722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44515C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44515C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193AAE0-9F5A-4A5E-A21C-407487F83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48400"/>
            <a:ext cx="11125200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9D0C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EB08010-5875-4D52-9F96-25430E2EE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28700"/>
            <a:ext cx="8572500" cy="571500"/>
          </a:xfrm>
          <a:prstGeom xmlns:a="http://schemas.openxmlformats.org/drawingml/2006/main" prst="roundRect">
            <a:avLst>
              <a:gd name="adj" fmla="val 2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0355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E252B"/>
                </a:solidFill>
                <a:latin typeface="Aptos"/>
                <a:ea typeface="Aptos"/>
                <a:cs typeface="Aptos"/>
              </a:defRPr>
            </a:pPr>
            <a:r>
              <a:rPr sz="3000" b="1">
                <a:solidFill>
                  <a:srgbClr val="1E252B"/>
                </a:solidFill>
                <a:latin typeface="Aptos"/>
                <a:ea typeface="Aptos"/>
                <a:cs typeface="Aptos"/>
              </a:rPr>
              <a:t>Exposure priority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6A2DC92-347D-422A-80A7-7893EA1AE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809750"/>
            <a:ext cx="8953500" cy="361950"/>
          </a:xfrm>
          <a:prstGeom xmlns:a="http://schemas.openxmlformats.org/drawingml/2006/main" prst="roundRect">
            <a:avLst>
              <a:gd name="adj" fmla="val 31579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3731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44515C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44515C"/>
                </a:solidFill>
                <a:latin typeface="Aptos"/>
                <a:ea typeface="Aptos"/>
                <a:cs typeface="Aptos"/>
              </a:rPr>
              <a:t>Choose the setting that protects the story first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4AE0128-29BD-46E0-83B2-2468DA7D2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857500"/>
            <a:ext cx="8572500" cy="704850"/>
          </a:xfrm>
          <a:prstGeom xmlns:a="http://schemas.openxmlformats.org/drawingml/2006/main" prst="roundRect">
            <a:avLst>
              <a:gd name="adj" fmla="val 16216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5618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E252B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1E252B"/>
                </a:solidFill>
                <a:latin typeface="Aptos"/>
                <a:ea typeface="Aptos"/>
                <a:cs typeface="Aptos"/>
              </a:rPr>
              <a:t>For a moving subject, protect readable motion. For a face, protect focus. For a dark location, protect useful detail before you chase a perfect number.</a:t>
            </a:r>
          </a:p>
        </p:txBody>
      </p:sp>
    </p:spTree>
    <p:extLst>
      <p:ext uri="{BB962C8B-B14F-4D97-AF65-F5344CB8AC3E}">
        <p14:creationId xmlns:p14="http://schemas.microsoft.com/office/powerpoint/2010/main" val="160499333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4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6E66116-001A-4C77-B8B5-546FEEC05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45720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783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5238925-9118-409C-BD2A-A495F1CD4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71500"/>
            <a:ext cx="2190750" cy="1905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27037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44515C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44515C"/>
                </a:solidFill>
                <a:latin typeface="Aptos"/>
                <a:ea typeface="Aptos"/>
                <a:cs typeface="Aptos"/>
              </a:rPr>
              <a:t>SLOP / UNIVERSITY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23D3C4F-0353-4415-A027-ECCD4A09E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571500"/>
            <a:ext cx="1619250" cy="1905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27037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44515C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44515C"/>
                </a:solidFill>
                <a:latin typeface="Aptos"/>
                <a:ea typeface="Aptos"/>
                <a:cs typeface="Aptos"/>
              </a:rPr>
              <a:t>WEEK 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1FBD9F5-3E16-41CB-B3ED-DD5C44E19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38900"/>
            <a:ext cx="381000" cy="17145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21722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44515C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44515C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1BE2749-0E39-40B4-8F24-1EBF8EE9D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48400"/>
            <a:ext cx="11125200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9D0C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5ADBE8E-3228-4F32-9D41-FAFC2E164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28700"/>
            <a:ext cx="8572500" cy="571500"/>
          </a:xfrm>
          <a:prstGeom xmlns:a="http://schemas.openxmlformats.org/drawingml/2006/main" prst="roundRect">
            <a:avLst>
              <a:gd name="adj" fmla="val 2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0355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E252B"/>
                </a:solidFill>
                <a:latin typeface="Aptos"/>
                <a:ea typeface="Aptos"/>
                <a:cs typeface="Aptos"/>
              </a:defRPr>
            </a:pPr>
            <a:r>
              <a:rPr sz="3000" b="1">
                <a:solidFill>
                  <a:srgbClr val="1E252B"/>
                </a:solidFill>
                <a:latin typeface="Aptos"/>
                <a:ea typeface="Aptos"/>
                <a:cs typeface="Aptos"/>
              </a:rPr>
              <a:t>Focus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43EF9E6-E33D-49BF-B776-C8AF5C5EA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809750"/>
            <a:ext cx="8953500" cy="361950"/>
          </a:xfrm>
          <a:prstGeom xmlns:a="http://schemas.openxmlformats.org/drawingml/2006/main" prst="roundRect">
            <a:avLst>
              <a:gd name="adj" fmla="val 31579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3731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44515C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44515C"/>
                </a:solidFill>
                <a:latin typeface="Aptos"/>
                <a:ea typeface="Aptos"/>
                <a:cs typeface="Aptos"/>
              </a:rPr>
              <a:t>Decide what the viewer should see clearly</a:t>
            </a:r>
          </a:p>
        </p:txBody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cc1fdef065d41ca"/>
          <a:srcRect xmlns:a="http://schemas.openxmlformats.org/drawingml/2006/main" l="0" t="24545" r="0" b="2454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143750" y="2381250"/>
            <a:ext cx="4191000" cy="2667000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D712B9E-8C9E-48AA-86E4-AC82DB282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905125"/>
            <a:ext cx="5429250" cy="704850"/>
          </a:xfrm>
          <a:prstGeom xmlns:a="http://schemas.openxmlformats.org/drawingml/2006/main" prst="roundRect">
            <a:avLst>
              <a:gd name="adj" fmla="val 16216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9602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E252B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E252B"/>
                </a:solidFill>
                <a:latin typeface="Aptos"/>
                <a:ea typeface="Aptos"/>
                <a:cs typeface="Aptos"/>
              </a:rPr>
              <a:t>Tap or set focus deliberately. Re-check it after moving the camera or changing the distance to the subject.</a:t>
            </a:r>
          </a:p>
        </p:txBody>
      </p:sp>
    </p:spTree>
    <p:extLst>
      <p:ext uri="{BB962C8B-B14F-4D97-AF65-F5344CB8AC3E}">
        <p14:creationId xmlns:p14="http://schemas.microsoft.com/office/powerpoint/2010/main" val="43118359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4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CEDD774-8254-4466-AB88-8A79653DA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45720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783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3C676B6-3BE5-484E-85C9-36E890327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71500"/>
            <a:ext cx="2190750" cy="1905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27037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44515C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44515C"/>
                </a:solidFill>
                <a:latin typeface="Aptos"/>
                <a:ea typeface="Aptos"/>
                <a:cs typeface="Aptos"/>
              </a:rPr>
              <a:t>SLOP / UNIVERSITY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6EA5BC6-8BB2-41A4-A9D5-A67D3E16D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571500"/>
            <a:ext cx="1619250" cy="1905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27037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44515C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44515C"/>
                </a:solidFill>
                <a:latin typeface="Aptos"/>
                <a:ea typeface="Aptos"/>
                <a:cs typeface="Aptos"/>
              </a:rPr>
              <a:t>WEEK 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DF2F0AE-0920-4E9B-91DE-AD4DF8DD1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38900"/>
            <a:ext cx="381000" cy="17145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21722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44515C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44515C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C8F025D-F27F-4E38-A5D0-A0B8FBEFE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48400"/>
            <a:ext cx="11125200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9D0C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A9A877B-B0F0-438A-9E92-B20956850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28700"/>
            <a:ext cx="8572500" cy="571500"/>
          </a:xfrm>
          <a:prstGeom xmlns:a="http://schemas.openxmlformats.org/drawingml/2006/main" prst="roundRect">
            <a:avLst>
              <a:gd name="adj" fmla="val 2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0355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E252B"/>
                </a:solidFill>
                <a:latin typeface="Aptos"/>
                <a:ea typeface="Aptos"/>
                <a:cs typeface="Aptos"/>
              </a:defRPr>
            </a:pPr>
            <a:r>
              <a:rPr sz="3000" b="1">
                <a:solidFill>
                  <a:srgbClr val="1E252B"/>
                </a:solidFill>
                <a:latin typeface="Aptos"/>
                <a:ea typeface="Aptos"/>
                <a:cs typeface="Aptos"/>
              </a:rPr>
              <a:t>Frame rate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5BEC134-4A90-4383-9CC2-03176FE70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809750"/>
            <a:ext cx="8953500" cy="361950"/>
          </a:xfrm>
          <a:prstGeom xmlns:a="http://schemas.openxmlformats.org/drawingml/2006/main" prst="roundRect">
            <a:avLst>
              <a:gd name="adj" fmla="val 31579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3731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44515C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44515C"/>
                </a:solidFill>
                <a:latin typeface="Aptos"/>
                <a:ea typeface="Aptos"/>
                <a:cs typeface="Aptos"/>
              </a:rPr>
              <a:t>Frame rate changes movement, motion blur and editing options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DA30F20-C68B-4CA8-A1FB-8F145E76D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762250"/>
            <a:ext cx="6858000" cy="952500"/>
          </a:xfrm>
          <a:prstGeom xmlns:a="http://schemas.openxmlformats.org/drawingml/2006/main" prst="roundRect">
            <a:avLst>
              <a:gd name="adj" fmla="val 12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E252B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1E252B"/>
                </a:solidFill>
                <a:latin typeface="Aptos"/>
                <a:ea typeface="Aptos"/>
                <a:cs typeface="Aptos"/>
              </a:rPr>
              <a:t>Use one frame rate for a sequence unless a change has a clear purpose. Keep enough light for the setting you choose.</a:t>
            </a:r>
          </a:p>
        </p:txBody>
      </p:sp>
    </p:spTree>
    <p:extLst>
      <p:ext uri="{BB962C8B-B14F-4D97-AF65-F5344CB8AC3E}">
        <p14:creationId xmlns:p14="http://schemas.microsoft.com/office/powerpoint/2010/main" val="132825064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4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9011B12-05B7-4AE4-BD46-1D0F30ED3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45720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783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95B56E7-40F0-4CF4-B8EF-59288E9E5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71500"/>
            <a:ext cx="2190750" cy="1905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27037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44515C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44515C"/>
                </a:solidFill>
                <a:latin typeface="Aptos"/>
                <a:ea typeface="Aptos"/>
                <a:cs typeface="Aptos"/>
              </a:rPr>
              <a:t>SLOP / UNIVERSITY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6436782-5137-4C26-8436-02403E426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571500"/>
            <a:ext cx="1619250" cy="1905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27037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44515C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44515C"/>
                </a:solidFill>
                <a:latin typeface="Aptos"/>
                <a:ea typeface="Aptos"/>
                <a:cs typeface="Aptos"/>
              </a:rPr>
              <a:t>WEEK 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CD54869-EB45-4AB3-A1EA-93D6CD873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38900"/>
            <a:ext cx="381000" cy="17145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21722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44515C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44515C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104ED97-47A9-4496-A8F7-9A6B2FDA5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48400"/>
            <a:ext cx="11125200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9D0C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CF9072D-0FBD-41C9-BF0D-9E7A46737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28700"/>
            <a:ext cx="8572500" cy="571500"/>
          </a:xfrm>
          <a:prstGeom xmlns:a="http://schemas.openxmlformats.org/drawingml/2006/main" prst="roundRect">
            <a:avLst>
              <a:gd name="adj" fmla="val 2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0355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E252B"/>
                </a:solidFill>
                <a:latin typeface="Aptos"/>
                <a:ea typeface="Aptos"/>
                <a:cs typeface="Aptos"/>
              </a:defRPr>
            </a:pPr>
            <a:r>
              <a:rPr sz="3000" b="1">
                <a:solidFill>
                  <a:srgbClr val="1E252B"/>
                </a:solidFill>
                <a:latin typeface="Aptos"/>
                <a:ea typeface="Aptos"/>
                <a:cs typeface="Aptos"/>
              </a:rPr>
              <a:t>Resolution and aspect ratio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73C26D8-C3C2-479E-992A-BFB410028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809750"/>
            <a:ext cx="8953500" cy="361950"/>
          </a:xfrm>
          <a:prstGeom xmlns:a="http://schemas.openxmlformats.org/drawingml/2006/main" prst="roundRect">
            <a:avLst>
              <a:gd name="adj" fmla="val 31579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3731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44515C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44515C"/>
                </a:solidFill>
                <a:latin typeface="Aptos"/>
                <a:ea typeface="Aptos"/>
                <a:cs typeface="Aptos"/>
              </a:rPr>
              <a:t>Choose a format before shooting, not after editing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5938F63-318A-4C77-9786-2FABB65AA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762250"/>
            <a:ext cx="6858000" cy="952500"/>
          </a:xfrm>
          <a:prstGeom xmlns:a="http://schemas.openxmlformats.org/drawingml/2006/main" prst="roundRect">
            <a:avLst>
              <a:gd name="adj" fmla="val 12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E252B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1E252B"/>
                </a:solidFill>
                <a:latin typeface="Aptos"/>
                <a:ea typeface="Aptos"/>
                <a:cs typeface="Aptos"/>
              </a:rPr>
              <a:t>Decide whether your story belongs in vertical 9:16, horizontal 16:9, or another format before you frame the first shot.</a:t>
            </a:r>
          </a:p>
        </p:txBody>
      </p:sp>
    </p:spTree>
    <p:extLst>
      <p:ext uri="{BB962C8B-B14F-4D97-AF65-F5344CB8AC3E}">
        <p14:creationId xmlns:p14="http://schemas.microsoft.com/office/powerpoint/2010/main" val="209303893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4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A45842D-9BA1-4428-984B-C0D3E86D1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45720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783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6EB2EC6-F81A-4D62-B75A-49E4D8659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71500"/>
            <a:ext cx="2190750" cy="1905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27037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44515C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44515C"/>
                </a:solidFill>
                <a:latin typeface="Aptos"/>
                <a:ea typeface="Aptos"/>
                <a:cs typeface="Aptos"/>
              </a:rPr>
              <a:t>SLOP / UNIVERSITY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C3188BC-B83A-4926-B920-16CE71455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571500"/>
            <a:ext cx="1619250" cy="1905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27037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44515C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44515C"/>
                </a:solidFill>
                <a:latin typeface="Aptos"/>
                <a:ea typeface="Aptos"/>
                <a:cs typeface="Aptos"/>
              </a:rPr>
              <a:t>WEEK 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19F4415-7B25-4E5C-9864-54C196BEA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38900"/>
            <a:ext cx="381000" cy="17145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21722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44515C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44515C"/>
                </a:solidFill>
                <a:latin typeface="Aptos"/>
                <a:ea typeface="Aptos"/>
                <a:cs typeface="Aptos"/>
              </a:rPr>
              <a:t>08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9B01B21-AF40-4DF4-A13D-BA5D987D9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48400"/>
            <a:ext cx="11125200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9D0C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5DC658F-B35B-4E0E-A6BC-7A955B4F2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28700"/>
            <a:ext cx="8572500" cy="571500"/>
          </a:xfrm>
          <a:prstGeom xmlns:a="http://schemas.openxmlformats.org/drawingml/2006/main" prst="roundRect">
            <a:avLst>
              <a:gd name="adj" fmla="val 2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0355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E252B"/>
                </a:solidFill>
                <a:latin typeface="Aptos"/>
                <a:ea typeface="Aptos"/>
                <a:cs typeface="Aptos"/>
              </a:defRPr>
            </a:pPr>
            <a:r>
              <a:rPr sz="3000" b="1">
                <a:solidFill>
                  <a:srgbClr val="1E252B"/>
                </a:solidFill>
                <a:latin typeface="Aptos"/>
                <a:ea typeface="Aptos"/>
                <a:cs typeface="Aptos"/>
              </a:rPr>
              <a:t>Stability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9A42E3B-B025-4467-8B2B-B1A135192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809750"/>
            <a:ext cx="8953500" cy="361950"/>
          </a:xfrm>
          <a:prstGeom xmlns:a="http://schemas.openxmlformats.org/drawingml/2006/main" prst="roundRect">
            <a:avLst>
              <a:gd name="adj" fmla="val 31579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3731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44515C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44515C"/>
                </a:solidFill>
                <a:latin typeface="Aptos"/>
                <a:ea typeface="Aptos"/>
                <a:cs typeface="Aptos"/>
              </a:rPr>
              <a:t>Handheld movement needs a reason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51446D6-5BCF-4B74-86AB-87F9B70B7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762250"/>
            <a:ext cx="6858000" cy="952500"/>
          </a:xfrm>
          <a:prstGeom xmlns:a="http://schemas.openxmlformats.org/drawingml/2006/main" prst="roundRect">
            <a:avLst>
              <a:gd name="adj" fmla="val 12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E252B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1E252B"/>
                </a:solidFill>
                <a:latin typeface="Aptos"/>
                <a:ea typeface="Aptos"/>
                <a:cs typeface="Aptos"/>
              </a:rPr>
              <a:t>Hold the camera close to your body, move your feet before moving the frame, and avoid motion that distracts from the subject.</a:t>
            </a:r>
          </a:p>
        </p:txBody>
      </p:sp>
    </p:spTree>
    <p:extLst>
      <p:ext uri="{BB962C8B-B14F-4D97-AF65-F5344CB8AC3E}">
        <p14:creationId xmlns:p14="http://schemas.microsoft.com/office/powerpoint/2010/main" val="806159111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7F4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CF5C48D-9053-457C-99EC-404E8ACAF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45720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783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9C35A29-7B91-48F4-85F1-6D4451858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71500"/>
            <a:ext cx="2190750" cy="1905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27037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44515C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44515C"/>
                </a:solidFill>
                <a:latin typeface="Aptos"/>
                <a:ea typeface="Aptos"/>
                <a:cs typeface="Aptos"/>
              </a:rPr>
              <a:t>SLOP / UNIVERSITY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8CADECF-1E40-4E98-88BE-DD4C63F0D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571500"/>
            <a:ext cx="1619250" cy="1905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27037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44515C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44515C"/>
                </a:solidFill>
                <a:latin typeface="Aptos"/>
                <a:ea typeface="Aptos"/>
                <a:cs typeface="Aptos"/>
              </a:rPr>
              <a:t>WEEK 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DCDB6A5-86DA-4F62-9914-D47DA52E5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38900"/>
            <a:ext cx="381000" cy="17145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21722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44515C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44515C"/>
                </a:solidFill>
                <a:latin typeface="Aptos"/>
                <a:ea typeface="Aptos"/>
                <a:cs typeface="Aptos"/>
              </a:rPr>
              <a:t>09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7021F7F-B0CE-4C9D-B8C0-01BAE93A9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48400"/>
            <a:ext cx="11125200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9D0C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C51F3B9-F109-4863-8950-DED40678A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28700"/>
            <a:ext cx="8572500" cy="571500"/>
          </a:xfrm>
          <a:prstGeom xmlns:a="http://schemas.openxmlformats.org/drawingml/2006/main" prst="roundRect">
            <a:avLst>
              <a:gd name="adj" fmla="val 2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0355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E252B"/>
                </a:solidFill>
                <a:latin typeface="Aptos"/>
                <a:ea typeface="Aptos"/>
                <a:cs typeface="Aptos"/>
              </a:defRPr>
            </a:pPr>
            <a:r>
              <a:rPr sz="3000" b="1">
                <a:solidFill>
                  <a:srgbClr val="1E252B"/>
                </a:solidFill>
                <a:latin typeface="Aptos"/>
                <a:ea typeface="Aptos"/>
                <a:cs typeface="Aptos"/>
              </a:rPr>
              <a:t>Camera movement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A53711B-A8D2-49CA-80FA-569392F2C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809750"/>
            <a:ext cx="8953500" cy="361950"/>
          </a:xfrm>
          <a:prstGeom xmlns:a="http://schemas.openxmlformats.org/drawingml/2006/main" prst="roundRect">
            <a:avLst>
              <a:gd name="adj" fmla="val 31579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3731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44515C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44515C"/>
                </a:solidFill>
                <a:latin typeface="Aptos"/>
                <a:ea typeface="Aptos"/>
                <a:cs typeface="Aptos"/>
              </a:rPr>
              <a:t>Pan, tilt and tracking each change what the viewer learns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9BE3841-CD28-46BB-AD73-6E4DEBA25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762250"/>
            <a:ext cx="6858000" cy="952500"/>
          </a:xfrm>
          <a:prstGeom xmlns:a="http://schemas.openxmlformats.org/drawingml/2006/main" prst="roundRect">
            <a:avLst>
              <a:gd name="adj" fmla="val 12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E252B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1E252B"/>
                </a:solidFill>
                <a:latin typeface="Aptos"/>
                <a:ea typeface="Aptos"/>
                <a:cs typeface="Aptos"/>
              </a:rPr>
              <a:t>A pan reveals space. A tilt changes attention. A tracking shot follows action. Rehearse each move once before recording.</a:t>
            </a:r>
          </a:p>
        </p:txBody>
      </p:sp>
    </p:spTree>
    <p:extLst>
      <p:ext uri="{BB962C8B-B14F-4D97-AF65-F5344CB8AC3E}">
        <p14:creationId xmlns:p14="http://schemas.microsoft.com/office/powerpoint/2010/main" val="1622143320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7F4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97AC065-A9DC-46F8-BE5F-DACC59E92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45720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783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23671A8-6584-43BC-AF1F-9B766FD52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71500"/>
            <a:ext cx="2190750" cy="1905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27037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44515C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44515C"/>
                </a:solidFill>
                <a:latin typeface="Aptos"/>
                <a:ea typeface="Aptos"/>
                <a:cs typeface="Aptos"/>
              </a:rPr>
              <a:t>SLOP / UNIVERSITY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F190D72-FD7E-402F-8ED5-D7C8D8273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571500"/>
            <a:ext cx="1619250" cy="1905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27037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44515C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44515C"/>
                </a:solidFill>
                <a:latin typeface="Aptos"/>
                <a:ea typeface="Aptos"/>
                <a:cs typeface="Aptos"/>
              </a:rPr>
              <a:t>WEEK 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6163312-EB17-4A98-ADA5-1C34040DB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38900"/>
            <a:ext cx="381000" cy="17145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21722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44515C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44515C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258B2A0-CC96-4EE4-B401-56BC72AE3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48400"/>
            <a:ext cx="11125200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9D0C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9293ABF-8799-4A35-BB9F-691139384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28700"/>
            <a:ext cx="8572500" cy="571500"/>
          </a:xfrm>
          <a:prstGeom xmlns:a="http://schemas.openxmlformats.org/drawingml/2006/main" prst="roundRect">
            <a:avLst>
              <a:gd name="adj" fmla="val 2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0355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E252B"/>
                </a:solidFill>
                <a:latin typeface="Aptos"/>
                <a:ea typeface="Aptos"/>
                <a:cs typeface="Aptos"/>
              </a:defRPr>
            </a:pPr>
            <a:r>
              <a:rPr sz="3000" b="1">
                <a:solidFill>
                  <a:srgbClr val="1E252B"/>
                </a:solidFill>
                <a:latin typeface="Aptos"/>
                <a:ea typeface="Aptos"/>
                <a:cs typeface="Aptos"/>
              </a:rPr>
              <a:t>The 180-degree line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7674F1B-E591-4099-8E57-4EC4AB9C9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809750"/>
            <a:ext cx="8953500" cy="361950"/>
          </a:xfrm>
          <a:prstGeom xmlns:a="http://schemas.openxmlformats.org/drawingml/2006/main" prst="roundRect">
            <a:avLst>
              <a:gd name="adj" fmla="val 31579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3731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44515C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44515C"/>
                </a:solidFill>
                <a:latin typeface="Aptos"/>
                <a:ea typeface="Aptos"/>
                <a:cs typeface="Aptos"/>
              </a:rPr>
              <a:t>Screen direction helps a viewer understand space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7A70B15-65EF-4A50-9222-5995CC454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762250"/>
            <a:ext cx="6858000" cy="952500"/>
          </a:xfrm>
          <a:prstGeom xmlns:a="http://schemas.openxmlformats.org/drawingml/2006/main" prst="roundRect">
            <a:avLst>
              <a:gd name="adj" fmla="val 12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2634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E252B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1E252B"/>
                </a:solidFill>
                <a:latin typeface="Aptos"/>
                <a:ea typeface="Aptos"/>
                <a:cs typeface="Aptos"/>
              </a:rPr>
              <a:t>Imagine a line between two people or two directions of action. Keep the camera on one side unless you deliberately reset the viewer’s orientation.</a:t>
            </a:r>
          </a:p>
        </p:txBody>
      </p:sp>
    </p:spTree>
    <p:extLst>
      <p:ext uri="{BB962C8B-B14F-4D97-AF65-F5344CB8AC3E}">
        <p14:creationId xmlns:p14="http://schemas.microsoft.com/office/powerpoint/2010/main" val="1654861923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7F4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A353E5A-DD1E-497B-996B-6E2A52643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45720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783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F73C882-3F4A-4A87-8C03-5D31DA19F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71500"/>
            <a:ext cx="2190750" cy="1905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27037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44515C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44515C"/>
                </a:solidFill>
                <a:latin typeface="Aptos"/>
                <a:ea typeface="Aptos"/>
                <a:cs typeface="Aptos"/>
              </a:rPr>
              <a:t>SLOP / UNIVERSITY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070A7EA-42EE-468D-9C0D-7D801DD49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571500"/>
            <a:ext cx="1619250" cy="1905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27037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44515C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44515C"/>
                </a:solidFill>
                <a:latin typeface="Aptos"/>
                <a:ea typeface="Aptos"/>
                <a:cs typeface="Aptos"/>
              </a:rPr>
              <a:t>WEEK 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8E45302-D84F-4E37-AD09-F5C80C06C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38900"/>
            <a:ext cx="381000" cy="17145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21722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44515C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44515C"/>
                </a:solidFill>
                <a:latin typeface="Aptos"/>
                <a:ea typeface="Aptos"/>
                <a:cs typeface="Aptos"/>
              </a:rPr>
              <a:t>11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3599D88-271D-4F73-814C-C81BE9D6B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48400"/>
            <a:ext cx="11125200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9D0C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C5EF2CB-A6F4-4FA5-9B6A-0C9C9D192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28700"/>
            <a:ext cx="8572500" cy="571500"/>
          </a:xfrm>
          <a:prstGeom xmlns:a="http://schemas.openxmlformats.org/drawingml/2006/main" prst="roundRect">
            <a:avLst>
              <a:gd name="adj" fmla="val 2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0355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E252B"/>
                </a:solidFill>
                <a:latin typeface="Aptos"/>
                <a:ea typeface="Aptos"/>
                <a:cs typeface="Aptos"/>
              </a:defRPr>
            </a:pPr>
            <a:r>
              <a:rPr sz="3000" b="1">
                <a:solidFill>
                  <a:srgbClr val="1E252B"/>
                </a:solidFill>
                <a:latin typeface="Aptos"/>
                <a:ea typeface="Aptos"/>
                <a:cs typeface="Aptos"/>
              </a:rPr>
              <a:t>Continuity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B729EFA-672C-473B-8874-EAF109413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809750"/>
            <a:ext cx="8953500" cy="361950"/>
          </a:xfrm>
          <a:prstGeom xmlns:a="http://schemas.openxmlformats.org/drawingml/2006/main" prst="roundRect">
            <a:avLst>
              <a:gd name="adj" fmla="val 31579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3731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44515C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44515C"/>
                </a:solidFill>
                <a:latin typeface="Aptos"/>
                <a:ea typeface="Aptos"/>
                <a:cs typeface="Aptos"/>
              </a:rPr>
              <a:t>Match action, direction and sound across a cut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9AA9893-3402-4E4D-B586-32F4D0236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762250"/>
            <a:ext cx="6858000" cy="952500"/>
          </a:xfrm>
          <a:prstGeom xmlns:a="http://schemas.openxmlformats.org/drawingml/2006/main" prst="roundRect">
            <a:avLst>
              <a:gd name="adj" fmla="val 12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E252B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1E252B"/>
                </a:solidFill>
                <a:latin typeface="Aptos"/>
                <a:ea typeface="Aptos"/>
                <a:cs typeface="Aptos"/>
              </a:rPr>
              <a:t>Cut on a change in action, retain screen direction, and capture room tone so sound does not jump between shots.</a:t>
            </a:r>
          </a:p>
        </p:txBody>
      </p:sp>
    </p:spTree>
    <p:extLst>
      <p:ext uri="{BB962C8B-B14F-4D97-AF65-F5344CB8AC3E}">
        <p14:creationId xmlns:p14="http://schemas.microsoft.com/office/powerpoint/2010/main" val="1563291069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7F4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B54079E-3ABB-4FEC-80E0-5E456F176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45720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783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CCCD33D-2B6D-40D1-9448-EB2037958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71500"/>
            <a:ext cx="2190750" cy="1905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27037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44515C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44515C"/>
                </a:solidFill>
                <a:latin typeface="Aptos"/>
                <a:ea typeface="Aptos"/>
                <a:cs typeface="Aptos"/>
              </a:rPr>
              <a:t>SLOP / UNIVERSITY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46C0135-B47A-4FF7-9682-87957BE6C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571500"/>
            <a:ext cx="1619250" cy="1905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27037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44515C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44515C"/>
                </a:solidFill>
                <a:latin typeface="Aptos"/>
                <a:ea typeface="Aptos"/>
                <a:cs typeface="Aptos"/>
              </a:rPr>
              <a:t>WEEK 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5D84B3D-F800-4378-A6C3-122CD2518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38900"/>
            <a:ext cx="381000" cy="17145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21722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44515C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44515C"/>
                </a:solidFill>
                <a:latin typeface="Aptos"/>
                <a:ea typeface="Aptos"/>
                <a:cs typeface="Aptos"/>
              </a:rPr>
              <a:t>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8E17BFD-A8EF-4A66-863D-E65B57231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48400"/>
            <a:ext cx="11125200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9D0C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E681808-2407-4811-9E41-670C0BBB2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28700"/>
            <a:ext cx="8572500" cy="571500"/>
          </a:xfrm>
          <a:prstGeom xmlns:a="http://schemas.openxmlformats.org/drawingml/2006/main" prst="roundRect">
            <a:avLst>
              <a:gd name="adj" fmla="val 2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0355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E252B"/>
                </a:solidFill>
                <a:latin typeface="Aptos"/>
                <a:ea typeface="Aptos"/>
                <a:cs typeface="Aptos"/>
              </a:defRPr>
            </a:pPr>
            <a:r>
              <a:rPr sz="3000" b="1">
                <a:solidFill>
                  <a:srgbClr val="1E252B"/>
                </a:solidFill>
                <a:latin typeface="Aptos"/>
                <a:ea typeface="Aptos"/>
                <a:cs typeface="Aptos"/>
              </a:rPr>
              <a:t>Phone camera settings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F8C6DC7-A688-412C-9505-0B4FA0E58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809750"/>
            <a:ext cx="8953500" cy="361950"/>
          </a:xfrm>
          <a:prstGeom xmlns:a="http://schemas.openxmlformats.org/drawingml/2006/main" prst="roundRect">
            <a:avLst>
              <a:gd name="adj" fmla="val 31579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3731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44515C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44515C"/>
                </a:solidFill>
                <a:latin typeface="Aptos"/>
                <a:ea typeface="Aptos"/>
                <a:cs typeface="Aptos"/>
              </a:rPr>
              <a:t>Lock focus and exposure when the scene demands consistency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2B79055-CCBC-4A43-8C3F-E1FEF4B97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762250"/>
            <a:ext cx="6858000" cy="952500"/>
          </a:xfrm>
          <a:prstGeom xmlns:a="http://schemas.openxmlformats.org/drawingml/2006/main" prst="roundRect">
            <a:avLst>
              <a:gd name="adj" fmla="val 12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E252B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1E252B"/>
                </a:solidFill>
                <a:latin typeface="Aptos"/>
                <a:ea typeface="Aptos"/>
                <a:cs typeface="Aptos"/>
              </a:rPr>
              <a:t>Phones are capable cameras when you control focus, exposure and orientation instead of relying on every automatic choice.</a:t>
            </a:r>
          </a:p>
        </p:txBody>
      </p:sp>
    </p:spTree>
    <p:extLst>
      <p:ext uri="{BB962C8B-B14F-4D97-AF65-F5344CB8AC3E}">
        <p14:creationId xmlns:p14="http://schemas.microsoft.com/office/powerpoint/2010/main" val="1528847048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7F4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2BC3CE1-AF3C-4BE7-8A15-6F44C719B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45720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783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05D2389-7C43-4182-B9C2-0C79229A1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71500"/>
            <a:ext cx="2190750" cy="1905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27037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44515C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44515C"/>
                </a:solidFill>
                <a:latin typeface="Aptos"/>
                <a:ea typeface="Aptos"/>
                <a:cs typeface="Aptos"/>
              </a:rPr>
              <a:t>SLOP / UNIVERSITY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6732AA1-751A-4055-BBCA-797B35D6E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571500"/>
            <a:ext cx="1619250" cy="1905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27037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44515C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44515C"/>
                </a:solidFill>
                <a:latin typeface="Aptos"/>
                <a:ea typeface="Aptos"/>
                <a:cs typeface="Aptos"/>
              </a:rPr>
              <a:t>WEEK 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94A8032-2442-4527-BE1D-7C762800B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38900"/>
            <a:ext cx="381000" cy="17145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21722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44515C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44515C"/>
                </a:solidFill>
                <a:latin typeface="Aptos"/>
                <a:ea typeface="Aptos"/>
                <a:cs typeface="Aptos"/>
              </a:rPr>
              <a:t>13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4AB7C73-EA36-48C8-A1E4-1BD5DB233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48400"/>
            <a:ext cx="11125200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9D0C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4BB14ED-429B-4924-9A1D-5D7584593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28700"/>
            <a:ext cx="8572500" cy="571500"/>
          </a:xfrm>
          <a:prstGeom xmlns:a="http://schemas.openxmlformats.org/drawingml/2006/main" prst="roundRect">
            <a:avLst>
              <a:gd name="adj" fmla="val 2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0355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E252B"/>
                </a:solidFill>
                <a:latin typeface="Aptos"/>
                <a:ea typeface="Aptos"/>
                <a:cs typeface="Aptos"/>
              </a:defRPr>
            </a:pPr>
            <a:r>
              <a:rPr sz="3000" b="1">
                <a:solidFill>
                  <a:srgbClr val="1E252B"/>
                </a:solidFill>
                <a:latin typeface="Aptos"/>
                <a:ea typeface="Aptos"/>
                <a:cs typeface="Aptos"/>
              </a:rPr>
              <a:t>Camera settings checklist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74C7DD6-DDDF-4E40-A75D-C419B5915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809750"/>
            <a:ext cx="8953500" cy="361950"/>
          </a:xfrm>
          <a:prstGeom xmlns:a="http://schemas.openxmlformats.org/drawingml/2006/main" prst="roundRect">
            <a:avLst>
              <a:gd name="adj" fmla="val 31579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3731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44515C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44515C"/>
                </a:solidFill>
                <a:latin typeface="Aptos"/>
                <a:ea typeface="Aptos"/>
                <a:cs typeface="Aptos"/>
              </a:rPr>
              <a:t>Battery, storage, format, focus, exposure and sound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BFCB021-E8F1-4664-A2CE-87A706DE3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762250"/>
            <a:ext cx="6858000" cy="952500"/>
          </a:xfrm>
          <a:prstGeom xmlns:a="http://schemas.openxmlformats.org/drawingml/2006/main" prst="roundRect">
            <a:avLst>
              <a:gd name="adj" fmla="val 12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483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E252B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1E252B"/>
                </a:solidFill>
                <a:latin typeface="Aptos"/>
                <a:ea typeface="Aptos"/>
                <a:cs typeface="Aptos"/>
              </a:rPr>
              <a:t>Before every shoot: charge battery, clear storage, choose format, test focus and exposure, record ten seconds of sound, then make a backup.</a:t>
            </a:r>
          </a:p>
        </p:txBody>
      </p:sp>
    </p:spTree>
    <p:extLst>
      <p:ext uri="{BB962C8B-B14F-4D97-AF65-F5344CB8AC3E}">
        <p14:creationId xmlns:p14="http://schemas.microsoft.com/office/powerpoint/2010/main" val="1460343713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7F4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9EC8F27-A7D5-4C10-9977-5AB3FA425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45720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783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F6453BF-3EC9-4D4A-A5F8-6308829C0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71500"/>
            <a:ext cx="2190750" cy="1905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27037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44515C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44515C"/>
                </a:solidFill>
                <a:latin typeface="Aptos"/>
                <a:ea typeface="Aptos"/>
                <a:cs typeface="Aptos"/>
              </a:rPr>
              <a:t>SLOP / UNIVERSITY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25DF41C-9542-4670-9DEC-4A27215C9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571500"/>
            <a:ext cx="1619250" cy="1905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27037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44515C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44515C"/>
                </a:solidFill>
                <a:latin typeface="Aptos"/>
                <a:ea typeface="Aptos"/>
                <a:cs typeface="Aptos"/>
              </a:rPr>
              <a:t>WEEK 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485E2C0-2180-400E-8AD8-F640D9F55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38900"/>
            <a:ext cx="381000" cy="17145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21722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44515C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44515C"/>
                </a:solidFill>
                <a:latin typeface="Aptos"/>
                <a:ea typeface="Aptos"/>
                <a:cs typeface="Aptos"/>
              </a:rPr>
              <a:t>14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8E8B1E3-0C93-4090-BB22-1340AC166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48400"/>
            <a:ext cx="11125200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9D0C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E70258F-9B2C-455B-9C3F-B54BA1500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28700"/>
            <a:ext cx="8572500" cy="571500"/>
          </a:xfrm>
          <a:prstGeom xmlns:a="http://schemas.openxmlformats.org/drawingml/2006/main" prst="roundRect">
            <a:avLst>
              <a:gd name="adj" fmla="val 2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0355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E252B"/>
                </a:solidFill>
                <a:latin typeface="Aptos"/>
                <a:ea typeface="Aptos"/>
                <a:cs typeface="Aptos"/>
              </a:defRPr>
            </a:pPr>
            <a:r>
              <a:rPr sz="3000" b="1">
                <a:solidFill>
                  <a:srgbClr val="1E252B"/>
                </a:solidFill>
                <a:latin typeface="Aptos"/>
                <a:ea typeface="Aptos"/>
                <a:cs typeface="Aptos"/>
              </a:rPr>
              <a:t>File management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DB1FD0C-F866-46DC-B818-AACCF167B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809750"/>
            <a:ext cx="8953500" cy="361950"/>
          </a:xfrm>
          <a:prstGeom xmlns:a="http://schemas.openxmlformats.org/drawingml/2006/main" prst="roundRect">
            <a:avLst>
              <a:gd name="adj" fmla="val 31579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3731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44515C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44515C"/>
                </a:solidFill>
                <a:latin typeface="Aptos"/>
                <a:ea typeface="Aptos"/>
                <a:cs typeface="Aptos"/>
              </a:rPr>
              <a:t>A simple folder structure protects creative work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57844B9-1911-4FAD-AE56-F5B694627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762250"/>
            <a:ext cx="6858000" cy="952500"/>
          </a:xfrm>
          <a:prstGeom xmlns:a="http://schemas.openxmlformats.org/drawingml/2006/main" prst="roundRect">
            <a:avLst>
              <a:gd name="adj" fmla="val 12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E252B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1E252B"/>
                </a:solidFill>
                <a:latin typeface="Aptos"/>
                <a:ea typeface="Aptos"/>
                <a:cs typeface="Aptos"/>
              </a:rPr>
              <a:t>Use one project folder with subfolders for originals, audio, project files, exports and documents. Name files by date and subject.</a:t>
            </a:r>
          </a:p>
        </p:txBody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b674adfb368477f"/>
          <a:srcRect xmlns:a="http://schemas.openxmlformats.org/drawingml/2006/main" l="3056" t="0" r="3056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953375" y="2381250"/>
            <a:ext cx="3333750" cy="23812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4129107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7F4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0493B37-27E4-401F-8662-D4D3B4A31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45720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783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04EA511-83B8-4B46-95E2-7682C2418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71500"/>
            <a:ext cx="2190750" cy="1905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27037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44515C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44515C"/>
                </a:solidFill>
                <a:latin typeface="Aptos"/>
                <a:ea typeface="Aptos"/>
                <a:cs typeface="Aptos"/>
              </a:rPr>
              <a:t>SLOP / UNIVERSITY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B6F047C-60B3-4C14-93A8-C7D0898BA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571500"/>
            <a:ext cx="1619250" cy="1905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27037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44515C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44515C"/>
                </a:solidFill>
                <a:latin typeface="Aptos"/>
                <a:ea typeface="Aptos"/>
                <a:cs typeface="Aptos"/>
              </a:rPr>
              <a:t>WEEK 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E036B84-896F-464D-97E4-4EA8B14DF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38900"/>
            <a:ext cx="381000" cy="17145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21722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44515C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44515C"/>
                </a:solidFill>
                <a:latin typeface="Aptos"/>
                <a:ea typeface="Aptos"/>
                <a:cs typeface="Aptos"/>
              </a:rPr>
              <a:t>15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2B55713-0D0C-4C14-AA01-12CCB8B49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48400"/>
            <a:ext cx="11125200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9D0C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EDDC9C0-7164-44AD-9DD0-17351476D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28700"/>
            <a:ext cx="8572500" cy="571500"/>
          </a:xfrm>
          <a:prstGeom xmlns:a="http://schemas.openxmlformats.org/drawingml/2006/main" prst="roundRect">
            <a:avLst>
              <a:gd name="adj" fmla="val 2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0355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E252B"/>
                </a:solidFill>
                <a:latin typeface="Aptos"/>
                <a:ea typeface="Aptos"/>
                <a:cs typeface="Aptos"/>
              </a:defRPr>
            </a:pPr>
            <a:r>
              <a:rPr sz="3000" b="1">
                <a:solidFill>
                  <a:srgbClr val="1E252B"/>
                </a:solidFill>
                <a:latin typeface="Aptos"/>
                <a:ea typeface="Aptos"/>
                <a:cs typeface="Aptos"/>
              </a:rPr>
              <a:t>Backup rule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0A0E188-C277-420A-9416-243E323AF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809750"/>
            <a:ext cx="8953500" cy="361950"/>
          </a:xfrm>
          <a:prstGeom xmlns:a="http://schemas.openxmlformats.org/drawingml/2006/main" prst="roundRect">
            <a:avLst>
              <a:gd name="adj" fmla="val 31579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3731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44515C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44515C"/>
                </a:solidFill>
                <a:latin typeface="Aptos"/>
                <a:ea typeface="Aptos"/>
                <a:cs typeface="Aptos"/>
              </a:rPr>
              <a:t>Keep two copies before you delete footage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D8CB5A1-9D6F-42B9-AE7E-1E2096677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762250"/>
            <a:ext cx="6858000" cy="952500"/>
          </a:xfrm>
          <a:prstGeom xmlns:a="http://schemas.openxmlformats.org/drawingml/2006/main" prst="roundRect">
            <a:avLst>
              <a:gd name="adj" fmla="val 12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E252B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1E252B"/>
                </a:solidFill>
                <a:latin typeface="Aptos"/>
                <a:ea typeface="Aptos"/>
                <a:cs typeface="Aptos"/>
              </a:rPr>
              <a:t>Keep two copies in different places. A cloud copy and an external drive are useful only when you check that the files open.</a:t>
            </a:r>
          </a:p>
        </p:txBody>
      </p:sp>
    </p:spTree>
    <p:extLst>
      <p:ext uri="{BB962C8B-B14F-4D97-AF65-F5344CB8AC3E}">
        <p14:creationId xmlns:p14="http://schemas.microsoft.com/office/powerpoint/2010/main" val="107122030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7F4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58E223F-1BB0-4D68-AB07-6CDBF524E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45720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783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BB966CB-C631-4510-8643-47A692730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71500"/>
            <a:ext cx="2190750" cy="1905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27037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44515C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44515C"/>
                </a:solidFill>
                <a:latin typeface="Aptos"/>
                <a:ea typeface="Aptos"/>
                <a:cs typeface="Aptos"/>
              </a:rPr>
              <a:t>SLOP / UNIVERSITY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42CE882-C1E1-4822-87FB-91E7A9E14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571500"/>
            <a:ext cx="1619250" cy="1905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27037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44515C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44515C"/>
                </a:solidFill>
                <a:latin typeface="Aptos"/>
                <a:ea typeface="Aptos"/>
                <a:cs typeface="Aptos"/>
              </a:rPr>
              <a:t>WEEK 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807E3C7-DD03-40F7-AAD3-C0AD6A61B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38900"/>
            <a:ext cx="381000" cy="17145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21722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44515C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44515C"/>
                </a:solidFill>
                <a:latin typeface="Aptos"/>
                <a:ea typeface="Aptos"/>
                <a:cs typeface="Aptos"/>
              </a:rPr>
              <a:t>16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D86066E-0FF3-4BE3-BE3A-4CE5E2E9D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48400"/>
            <a:ext cx="11125200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9D0C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F68551E-589A-43B9-82BB-E1F65E691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28700"/>
            <a:ext cx="8572500" cy="571500"/>
          </a:xfrm>
          <a:prstGeom xmlns:a="http://schemas.openxmlformats.org/drawingml/2006/main" prst="roundRect">
            <a:avLst>
              <a:gd name="adj" fmla="val 2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0355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E252B"/>
                </a:solidFill>
                <a:latin typeface="Aptos"/>
                <a:ea typeface="Aptos"/>
                <a:cs typeface="Aptos"/>
              </a:defRPr>
            </a:pPr>
            <a:r>
              <a:rPr sz="3000" b="1">
                <a:solidFill>
                  <a:srgbClr val="1E252B"/>
                </a:solidFill>
                <a:latin typeface="Aptos"/>
                <a:ea typeface="Aptos"/>
                <a:cs typeface="Aptos"/>
              </a:rPr>
              <a:t>Week 2 continuity exercise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C61766B-841F-499D-B472-D5492D37C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809750"/>
            <a:ext cx="8953500" cy="361950"/>
          </a:xfrm>
          <a:prstGeom xmlns:a="http://schemas.openxmlformats.org/drawingml/2006/main" prst="roundRect">
            <a:avLst>
              <a:gd name="adj" fmla="val 31579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3731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44515C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44515C"/>
                </a:solidFill>
                <a:latin typeface="Aptos"/>
                <a:ea typeface="Aptos"/>
                <a:cs typeface="Aptos"/>
              </a:rPr>
              <a:t>Make a 20-second action readable across three shots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48244F4-AB8C-4C02-8513-4E517CF6E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762250"/>
            <a:ext cx="6858000" cy="952500"/>
          </a:xfrm>
          <a:prstGeom xmlns:a="http://schemas.openxmlformats.org/drawingml/2006/main" prst="roundRect">
            <a:avLst>
              <a:gd name="adj" fmla="val 12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873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E252B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1E252B"/>
                </a:solidFill>
                <a:latin typeface="Aptos"/>
                <a:ea typeface="Aptos"/>
                <a:cs typeface="Aptos"/>
              </a:rPr>
              <a:t>Record a person making a simple action. Use a wide shot, a medium shot and a close-up. Match the direction of movement across cuts.</a:t>
            </a:r>
          </a:p>
        </p:txBody>
      </p:sp>
    </p:spTree>
    <p:extLst>
      <p:ext uri="{BB962C8B-B14F-4D97-AF65-F5344CB8AC3E}">
        <p14:creationId xmlns:p14="http://schemas.microsoft.com/office/powerpoint/2010/main" val="838058110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7F4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63BB66B-3B0A-4346-BF8F-60E8DFCE8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45720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783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4B4B6E2-3985-43F6-AD7B-3B832182B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71500"/>
            <a:ext cx="2190750" cy="1905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27037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44515C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44515C"/>
                </a:solidFill>
                <a:latin typeface="Aptos"/>
                <a:ea typeface="Aptos"/>
                <a:cs typeface="Aptos"/>
              </a:rPr>
              <a:t>SLOP / UNIVERSITY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97FCCF8-1E8A-4E4D-B4E8-7D30998E1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571500"/>
            <a:ext cx="1619250" cy="1905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27037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44515C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44515C"/>
                </a:solidFill>
                <a:latin typeface="Aptos"/>
                <a:ea typeface="Aptos"/>
                <a:cs typeface="Aptos"/>
              </a:rPr>
              <a:t>WEEK 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E80931A-86D1-4C09-90DB-410DF0BED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38900"/>
            <a:ext cx="381000" cy="17145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21722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44515C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44515C"/>
                </a:solidFill>
                <a:latin typeface="Aptos"/>
                <a:ea typeface="Aptos"/>
                <a:cs typeface="Aptos"/>
              </a:rPr>
              <a:t>17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319B55D-A526-47F0-91CB-DEA59209E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48400"/>
            <a:ext cx="11125200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9D0C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AECAD58-FD75-42E4-A2A1-53D17594E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28700"/>
            <a:ext cx="8572500" cy="571500"/>
          </a:xfrm>
          <a:prstGeom xmlns:a="http://schemas.openxmlformats.org/drawingml/2006/main" prst="roundRect">
            <a:avLst>
              <a:gd name="adj" fmla="val 2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0355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E252B"/>
                </a:solidFill>
                <a:latin typeface="Aptos"/>
                <a:ea typeface="Aptos"/>
                <a:cs typeface="Aptos"/>
              </a:defRPr>
            </a:pPr>
            <a:r>
              <a:rPr sz="3000" b="1">
                <a:solidFill>
                  <a:srgbClr val="1E252B"/>
                </a:solidFill>
                <a:latin typeface="Aptos"/>
                <a:ea typeface="Aptos"/>
                <a:cs typeface="Aptos"/>
              </a:rPr>
              <a:t>Assignment 1 portfolio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EA21FD7-FE05-4F5F-9333-E99809183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809750"/>
            <a:ext cx="8953500" cy="361950"/>
          </a:xfrm>
          <a:prstGeom xmlns:a="http://schemas.openxmlformats.org/drawingml/2006/main" prst="roundRect">
            <a:avLst>
              <a:gd name="adj" fmla="val 31579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3731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44515C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44515C"/>
                </a:solidFill>
                <a:latin typeface="Aptos"/>
                <a:ea typeface="Aptos"/>
                <a:cs typeface="Aptos"/>
              </a:rPr>
              <a:t>Use this week’s exercise as your framing and movement evidence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A396D56-4286-4F40-9EF1-CFF9537FD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762250"/>
            <a:ext cx="6858000" cy="952500"/>
          </a:xfrm>
          <a:prstGeom xmlns:a="http://schemas.openxmlformats.org/drawingml/2006/main" prst="roundRect">
            <a:avLst>
              <a:gd name="adj" fmla="val 12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6246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E252B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1E252B"/>
                </a:solidFill>
                <a:latin typeface="Aptos"/>
                <a:ea typeface="Aptos"/>
                <a:cs typeface="Aptos"/>
              </a:rPr>
              <a:t>Add the continuity exercise to your portfolio. In the reflection, name one camera setting you controlled and one result you would improve.</a:t>
            </a:r>
          </a:p>
        </p:txBody>
      </p:sp>
    </p:spTree>
    <p:extLst>
      <p:ext uri="{BB962C8B-B14F-4D97-AF65-F5344CB8AC3E}">
        <p14:creationId xmlns:p14="http://schemas.microsoft.com/office/powerpoint/2010/main" val="684660792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7F4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E9E2A52-B3A4-4060-B6B8-996D40BCD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45720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783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F2282B7-83A0-4B31-9A6B-344B29257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71500"/>
            <a:ext cx="2190750" cy="1905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27037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44515C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44515C"/>
                </a:solidFill>
                <a:latin typeface="Aptos"/>
                <a:ea typeface="Aptos"/>
                <a:cs typeface="Aptos"/>
              </a:rPr>
              <a:t>SLOP / UNIVERSITY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B4DE201-FAA2-4A7D-A725-2AF86D641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571500"/>
            <a:ext cx="1619250" cy="1905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27037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44515C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44515C"/>
                </a:solidFill>
                <a:latin typeface="Aptos"/>
                <a:ea typeface="Aptos"/>
                <a:cs typeface="Aptos"/>
              </a:rPr>
              <a:t>WEEK 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4D7D1BB-18CD-4748-9511-EC6E61870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38900"/>
            <a:ext cx="381000" cy="17145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21722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44515C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44515C"/>
                </a:solidFill>
                <a:latin typeface="Aptos"/>
                <a:ea typeface="Aptos"/>
                <a:cs typeface="Aptos"/>
              </a:rPr>
              <a:t>18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369011E-D0D3-4769-90A1-12E555432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48400"/>
            <a:ext cx="11125200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9D0C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CC3EB9F-EB7B-49C3-BE13-9FA46A744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28700"/>
            <a:ext cx="8572500" cy="571500"/>
          </a:xfrm>
          <a:prstGeom xmlns:a="http://schemas.openxmlformats.org/drawingml/2006/main" prst="roundRect">
            <a:avLst>
              <a:gd name="adj" fmla="val 2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0355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E252B"/>
                </a:solidFill>
                <a:latin typeface="Aptos"/>
                <a:ea typeface="Aptos"/>
                <a:cs typeface="Aptos"/>
              </a:defRPr>
            </a:pPr>
            <a:r>
              <a:rPr sz="3000" b="1">
                <a:solidFill>
                  <a:srgbClr val="1E252B"/>
                </a:solidFill>
                <a:latin typeface="Aptos"/>
                <a:ea typeface="Aptos"/>
                <a:cs typeface="Aptos"/>
              </a:rPr>
              <a:t>Review vocabulary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FB1BECC-E863-45BD-9121-DA97CC29C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809750"/>
            <a:ext cx="8953500" cy="361950"/>
          </a:xfrm>
          <a:prstGeom xmlns:a="http://schemas.openxmlformats.org/drawingml/2006/main" prst="roundRect">
            <a:avLst>
              <a:gd name="adj" fmla="val 31579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3731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44515C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44515C"/>
                </a:solidFill>
                <a:latin typeface="Aptos"/>
                <a:ea typeface="Aptos"/>
                <a:cs typeface="Aptos"/>
              </a:rPr>
              <a:t>Name a choice, describe its effect, ask a useful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B372A3F-6842-4AE0-B658-B2F4275DB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762250"/>
            <a:ext cx="6858000" cy="952500"/>
          </a:xfrm>
          <a:prstGeom xmlns:a="http://schemas.openxmlformats.org/drawingml/2006/main" prst="roundRect">
            <a:avLst>
              <a:gd name="adj" fmla="val 12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707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E252B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1E252B"/>
                </a:solidFill>
                <a:latin typeface="Aptos"/>
                <a:ea typeface="Aptos"/>
                <a:cs typeface="Aptos"/>
              </a:rPr>
              <a:t>Useful feedback points to a visible or audible choice: where focus lands, when a cut occurs, or what the background sound contributes.</a:t>
            </a:r>
          </a:p>
        </p:txBody>
      </p:sp>
    </p:spTree>
    <p:extLst>
      <p:ext uri="{BB962C8B-B14F-4D97-AF65-F5344CB8AC3E}">
        <p14:creationId xmlns:p14="http://schemas.microsoft.com/office/powerpoint/2010/main" val="1776823008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7F4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BD27EDA-968C-4798-BA32-E22BA3E2A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45720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783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64C490A-1A9D-4B1F-931A-C41EF8661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71500"/>
            <a:ext cx="2190750" cy="1905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27037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44515C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44515C"/>
                </a:solidFill>
                <a:latin typeface="Aptos"/>
                <a:ea typeface="Aptos"/>
                <a:cs typeface="Aptos"/>
              </a:rPr>
              <a:t>SLOP / UNIVERSITY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88DAC09-FE08-480A-8491-BB7608941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571500"/>
            <a:ext cx="1619250" cy="1905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27037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44515C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44515C"/>
                </a:solidFill>
                <a:latin typeface="Aptos"/>
                <a:ea typeface="Aptos"/>
                <a:cs typeface="Aptos"/>
              </a:rPr>
              <a:t>WEEK 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C15ADAC-0C65-4FE0-903B-0F8DC004F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38900"/>
            <a:ext cx="381000" cy="17145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21722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44515C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44515C"/>
                </a:solidFill>
                <a:latin typeface="Aptos"/>
                <a:ea typeface="Aptos"/>
                <a:cs typeface="Aptos"/>
              </a:rPr>
              <a:t>19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59F3D14-722C-4A11-B677-92CF1FA67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48400"/>
            <a:ext cx="11125200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9D0C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33ED793-758F-4594-8FA5-D2121BE2A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28700"/>
            <a:ext cx="8572500" cy="571500"/>
          </a:xfrm>
          <a:prstGeom xmlns:a="http://schemas.openxmlformats.org/drawingml/2006/main" prst="roundRect">
            <a:avLst>
              <a:gd name="adj" fmla="val 2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0355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E252B"/>
                </a:solidFill>
                <a:latin typeface="Aptos"/>
                <a:ea typeface="Aptos"/>
                <a:cs typeface="Aptos"/>
              </a:defRPr>
            </a:pPr>
            <a:r>
              <a:rPr sz="3000" b="1">
                <a:solidFill>
                  <a:srgbClr val="1E252B"/>
                </a:solidFill>
                <a:latin typeface="Aptos"/>
                <a:ea typeface="Aptos"/>
                <a:cs typeface="Aptos"/>
              </a:rPr>
              <a:t>Common problems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B87E684-C69A-41C7-B56A-38197335E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809750"/>
            <a:ext cx="8953500" cy="361950"/>
          </a:xfrm>
          <a:prstGeom xmlns:a="http://schemas.openxmlformats.org/drawingml/2006/main" prst="roundRect">
            <a:avLst>
              <a:gd name="adj" fmla="val 31579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3731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44515C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44515C"/>
                </a:solidFill>
                <a:latin typeface="Aptos"/>
                <a:ea typeface="Aptos"/>
                <a:cs typeface="Aptos"/>
              </a:rPr>
              <a:t>Auto exposure shifts, distracted focus, rushed cuts and missing room tone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AC05CBD-5226-44CC-85FC-23FCECA33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762250"/>
            <a:ext cx="6858000" cy="952500"/>
          </a:xfrm>
          <a:prstGeom xmlns:a="http://schemas.openxmlformats.org/drawingml/2006/main" prst="roundRect">
            <a:avLst>
              <a:gd name="adj" fmla="val 12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2634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E252B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1E252B"/>
                </a:solidFill>
                <a:latin typeface="Aptos"/>
                <a:ea typeface="Aptos"/>
                <a:cs typeface="Aptos"/>
              </a:rPr>
              <a:t>Solve one problem at a time. Re-shoot when focus is unusable. Re-record sound when speech cannot be understood. Keep enough handle before and after action.</a:t>
            </a:r>
          </a:p>
        </p:txBody>
      </p:sp>
    </p:spTree>
    <p:extLst>
      <p:ext uri="{BB962C8B-B14F-4D97-AF65-F5344CB8AC3E}">
        <p14:creationId xmlns:p14="http://schemas.microsoft.com/office/powerpoint/2010/main" val="499436729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7F4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5CC4BA6-DE6C-46B9-84C8-6130AB0FE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45720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783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493ADB9-19E7-4F92-9F6F-2D30DBD18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71500"/>
            <a:ext cx="2190750" cy="1905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27037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44515C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44515C"/>
                </a:solidFill>
                <a:latin typeface="Aptos"/>
                <a:ea typeface="Aptos"/>
                <a:cs typeface="Aptos"/>
              </a:rPr>
              <a:t>SLOP / UNIVERSITY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F159F4F-9D54-4D7A-8BF7-5741C0BEF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571500"/>
            <a:ext cx="1619250" cy="1905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27037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44515C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44515C"/>
                </a:solidFill>
                <a:latin typeface="Aptos"/>
                <a:ea typeface="Aptos"/>
                <a:cs typeface="Aptos"/>
              </a:rPr>
              <a:t>WEEK 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3EBE1C6-3129-42AE-A417-A14934ECC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38900"/>
            <a:ext cx="381000" cy="17145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21722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44515C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44515C"/>
                </a:solidFill>
                <a:latin typeface="Aptos"/>
                <a:ea typeface="Aptos"/>
                <a:cs typeface="Aptos"/>
              </a:rPr>
              <a:t>20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812B44E-EFC2-4E58-B9C8-5737E96AC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48400"/>
            <a:ext cx="11125200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9D0C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CF92201-9878-4EE4-A07A-88B304DB5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28700"/>
            <a:ext cx="8572500" cy="571500"/>
          </a:xfrm>
          <a:prstGeom xmlns:a="http://schemas.openxmlformats.org/drawingml/2006/main" prst="roundRect">
            <a:avLst>
              <a:gd name="adj" fmla="val 2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0355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E252B"/>
                </a:solidFill>
                <a:latin typeface="Aptos"/>
                <a:ea typeface="Aptos"/>
                <a:cs typeface="Aptos"/>
              </a:defRPr>
            </a:pPr>
            <a:r>
              <a:rPr sz="3000" b="1">
                <a:solidFill>
                  <a:srgbClr val="1E252B"/>
                </a:solidFill>
                <a:latin typeface="Aptos"/>
                <a:ea typeface="Aptos"/>
                <a:cs typeface="Aptos"/>
              </a:rPr>
              <a:t>External resources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10DC013-B0C4-4B61-ABF0-DA1BCA9E7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809750"/>
            <a:ext cx="8953500" cy="361950"/>
          </a:xfrm>
          <a:prstGeom xmlns:a="http://schemas.openxmlformats.org/drawingml/2006/main" prst="roundRect">
            <a:avLst>
              <a:gd name="adj" fmla="val 31579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3731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44515C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44515C"/>
                </a:solidFill>
                <a:latin typeface="Aptos"/>
                <a:ea typeface="Aptos"/>
                <a:cs typeface="Aptos"/>
              </a:rPr>
              <a:t>Use these after class to extend your practice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6D6A75F-1550-4E0F-95EE-749949433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571750"/>
            <a:ext cx="10287000" cy="2095500"/>
          </a:xfrm>
          <a:prstGeom xmlns:a="http://schemas.openxmlformats.org/drawingml/2006/main" prst="roundRect">
            <a:avLst>
              <a:gd name="adj" fmla="val 5455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E252B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E252B"/>
                </a:solidFill>
                <a:latin typeface="Aptos"/>
                <a:ea typeface="Aptos"/>
                <a:cs typeface="Aptos"/>
              </a:rPr>
              <a:t>1. Videomaker: Composition 101</a:t>
            </a:r>
          </a:p>
          <a:p xmlns:a="http://schemas.openxmlformats.org/drawingml/2006/main">
            <a:pPr algn="l">
              <a:defRPr sz="1500" b="0">
                <a:solidFill>
                  <a:srgbClr val="1E252B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E252B"/>
                </a:solidFill>
                <a:latin typeface="Aptos"/>
                <a:ea typeface="Aptos"/>
                <a:cs typeface="Aptos"/>
              </a:rPr>
              <a:t>https://www.videomaker.com/article/c10/12190-composition-101-part-1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00" b="0">
                <a:solidFill>
                  <a:srgbClr val="1E252B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E252B"/>
                </a:solidFill>
                <a:latin typeface="Aptos"/>
                <a:ea typeface="Aptos"/>
                <a:cs typeface="Aptos"/>
              </a:rPr>
              <a:t>2. W3C: Making Audio and Video Media Accessible</a:t>
            </a:r>
          </a:p>
          <a:p xmlns:a="http://schemas.openxmlformats.org/drawingml/2006/main">
            <a:pPr algn="l">
              <a:defRPr sz="1500" b="0">
                <a:solidFill>
                  <a:srgbClr val="1E252B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E252B"/>
                </a:solidFill>
                <a:latin typeface="Aptos"/>
                <a:ea typeface="Aptos"/>
                <a:cs typeface="Aptos"/>
              </a:rPr>
              <a:t>https://www.w3.org/WAI/media/av/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00" b="0">
                <a:solidFill>
                  <a:srgbClr val="1E252B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E252B"/>
                </a:solidFill>
                <a:latin typeface="Aptos"/>
                <a:ea typeface="Aptos"/>
                <a:cs typeface="Aptos"/>
              </a:rPr>
              <a:t>3. NFSA: Exploring the language of film</a:t>
            </a:r>
          </a:p>
          <a:p xmlns:a="http://schemas.openxmlformats.org/drawingml/2006/main">
            <a:pPr algn="l">
              <a:defRPr sz="1500" b="0">
                <a:solidFill>
                  <a:srgbClr val="1E252B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E252B"/>
                </a:solidFill>
                <a:latin typeface="Aptos"/>
                <a:ea typeface="Aptos"/>
                <a:cs typeface="Aptos"/>
              </a:rPr>
              <a:t>https://shop.nfsa.gov.au/assets/files/Story%20of%20Rosy%20Dock_TN.pdf</a:t>
            </a:r>
          </a:p>
        </p:txBody>
      </p:sp>
    </p:spTree>
    <p:extLst>
      <p:ext uri="{BB962C8B-B14F-4D97-AF65-F5344CB8AC3E}">
        <p14:creationId xmlns:p14="http://schemas.microsoft.com/office/powerpoint/2010/main" val="1485403992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7F4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12586AF-927F-4330-8BDA-9EF2FF897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45720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783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6923B84-6DAB-4923-A365-288075D04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71500"/>
            <a:ext cx="2190750" cy="1905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27037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44515C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44515C"/>
                </a:solidFill>
                <a:latin typeface="Aptos"/>
                <a:ea typeface="Aptos"/>
                <a:cs typeface="Aptos"/>
              </a:rPr>
              <a:t>SLOP / UNIVERSITY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48D1AA1-E28F-4351-9BA6-E3B82AE71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571500"/>
            <a:ext cx="1619250" cy="1905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27037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44515C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44515C"/>
                </a:solidFill>
                <a:latin typeface="Aptos"/>
                <a:ea typeface="Aptos"/>
                <a:cs typeface="Aptos"/>
              </a:rPr>
              <a:t>WEEK 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6FE0489-3C2B-4E6E-A59C-A4BC8BCF1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38900"/>
            <a:ext cx="381000" cy="17145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21722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44515C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44515C"/>
                </a:solidFill>
                <a:latin typeface="Aptos"/>
                <a:ea typeface="Aptos"/>
                <a:cs typeface="Aptos"/>
              </a:rPr>
              <a:t>21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DCBD4EB-1C97-46AF-9793-668F995B3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48400"/>
            <a:ext cx="11125200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9D0C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986DF8A-97B7-430B-B594-E48F012A1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28700"/>
            <a:ext cx="8572500" cy="571500"/>
          </a:xfrm>
          <a:prstGeom xmlns:a="http://schemas.openxmlformats.org/drawingml/2006/main" prst="roundRect">
            <a:avLst>
              <a:gd name="adj" fmla="val 2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0355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E252B"/>
                </a:solidFill>
                <a:latin typeface="Aptos"/>
                <a:ea typeface="Aptos"/>
                <a:cs typeface="Aptos"/>
              </a:defRPr>
            </a:pPr>
            <a:r>
              <a:rPr sz="3000" b="1">
                <a:solidFill>
                  <a:srgbClr val="1E252B"/>
                </a:solidFill>
                <a:latin typeface="Aptos"/>
                <a:ea typeface="Aptos"/>
                <a:cs typeface="Aptos"/>
              </a:rPr>
              <a:t>Preparation for Week 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3D93A18-7EDF-4B4A-B7D6-70FB1ADA4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809750"/>
            <a:ext cx="8953500" cy="361950"/>
          </a:xfrm>
          <a:prstGeom xmlns:a="http://schemas.openxmlformats.org/drawingml/2006/main" prst="roundRect">
            <a:avLst>
              <a:gd name="adj" fmla="val 31579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3731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44515C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44515C"/>
                </a:solidFill>
                <a:latin typeface="Aptos"/>
                <a:ea typeface="Aptos"/>
                <a:cs typeface="Aptos"/>
              </a:rPr>
              <a:t>Bring two versions of the same place in different light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87E89E7-DA38-4C52-A7BC-D38769328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762250"/>
            <a:ext cx="6858000" cy="952500"/>
          </a:xfrm>
          <a:prstGeom xmlns:a="http://schemas.openxmlformats.org/drawingml/2006/main" prst="roundRect">
            <a:avLst>
              <a:gd name="adj" fmla="val 12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E252B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1E252B"/>
                </a:solidFill>
                <a:latin typeface="Aptos"/>
                <a:ea typeface="Aptos"/>
                <a:cs typeface="Aptos"/>
              </a:rPr>
              <a:t>Prepare two clips of the same place in different light. Note exposure, colour, shadow and where the viewer looks first.</a:t>
            </a:r>
          </a:p>
        </p:txBody>
      </p:sp>
    </p:spTree>
    <p:extLst>
      <p:ext uri="{BB962C8B-B14F-4D97-AF65-F5344CB8AC3E}">
        <p14:creationId xmlns:p14="http://schemas.microsoft.com/office/powerpoint/2010/main" val="1746114137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1E25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39DBBA4-8427-41D5-9512-9557BA470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6750"/>
            <a:ext cx="666750" cy="666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783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701770D-EDC5-4392-95F4-B46208733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09650"/>
            <a:ext cx="4000500" cy="2286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38389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1DFC0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1DFC0"/>
                </a:solidFill>
                <a:latin typeface="Aptos"/>
                <a:ea typeface="Aptos"/>
                <a:cs typeface="Aptos"/>
              </a:rPr>
              <a:t>NEXT: LIGHT AND COLOUR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EF234D7-4C72-4D8A-B3DA-22D198D9C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095500"/>
            <a:ext cx="6572250" cy="1238250"/>
          </a:xfrm>
          <a:prstGeom xmlns:a="http://schemas.openxmlformats.org/drawingml/2006/main" prst="roundRect">
            <a:avLst>
              <a:gd name="adj" fmla="val 9231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8412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36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Control the camera</a:t>
            </a:r>
          </a:p>
          <a:p xmlns:a="http://schemas.openxmlformats.org/drawingml/2006/main">
            <a:pPr algn="l">
              <a:defRPr sz="36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36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so you can notice light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E82F434-CCB3-404E-83A1-DA24CD5CE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905250"/>
            <a:ext cx="6191250" cy="361950"/>
          </a:xfrm>
          <a:prstGeom xmlns:a="http://schemas.openxmlformats.org/drawingml/2006/main" prst="roundRect">
            <a:avLst>
              <a:gd name="adj" fmla="val 31579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0949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F1DFC0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F1DFC0"/>
                </a:solidFill>
                <a:latin typeface="Aptos"/>
                <a:ea typeface="Aptos"/>
                <a:cs typeface="Aptos"/>
              </a:rPr>
              <a:t>Bring two versions of one place, recorded at different times of day.</a:t>
            </a:r>
          </a:p>
        </p:txBody>
      </p:sp>
    </p:spTree>
    <p:extLst>
      <p:ext uri="{BB962C8B-B14F-4D97-AF65-F5344CB8AC3E}">
        <p14:creationId xmlns:p14="http://schemas.microsoft.com/office/powerpoint/2010/main" val="167590979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2026-09-12T23:43:15.8920000Z</dcterms:created>
  <dcterms:modified xsi:type="dcterms:W3CDTF">2026-09-12T23:43:15.8920000Z</dcterms:modified>
</coreProperties>
</file>