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057cc01c1c4d51" /><Relationship Type="http://schemas.openxmlformats.org/officeDocument/2006/relationships/extended-properties" Target="/docProps/app.xml" Id="R919fa0dccc324e2a" /><Relationship Type="http://schemas.openxmlformats.org/officeDocument/2006/relationships/officeDocument" Target="/ppt/presentation.xml" Id="R658c0a706ff24b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ec5e067048455e"/>
  </p:sldMasterIdLst>
  <p:notesMasterIdLst>
    <p:notesMasterId xmlns:r="http://schemas.openxmlformats.org/officeDocument/2006/relationships" r:id="R01c0c20abf564009"/>
  </p:notesMasterIdLst>
  <p:sldIdLst>
    <p:sldId xmlns:r="http://schemas.openxmlformats.org/officeDocument/2006/relationships" id="256" r:id="R436c2d91f8fd4df7"/>
    <p:sldId xmlns:r="http://schemas.openxmlformats.org/officeDocument/2006/relationships" id="257" r:id="R778f750033b84559"/>
    <p:sldId xmlns:r="http://schemas.openxmlformats.org/officeDocument/2006/relationships" id="258" r:id="Red003f40dfba44b2"/>
    <p:sldId xmlns:r="http://schemas.openxmlformats.org/officeDocument/2006/relationships" id="259" r:id="R347ef165a29748e1"/>
    <p:sldId xmlns:r="http://schemas.openxmlformats.org/officeDocument/2006/relationships" id="260" r:id="R351276ad80a1425d"/>
    <p:sldId xmlns:r="http://schemas.openxmlformats.org/officeDocument/2006/relationships" id="261" r:id="Ra9212a6fa2504f1d"/>
    <p:sldId xmlns:r="http://schemas.openxmlformats.org/officeDocument/2006/relationships" id="262" r:id="R048d0d09cec54d28"/>
    <p:sldId xmlns:r="http://schemas.openxmlformats.org/officeDocument/2006/relationships" id="263" r:id="R2ab15da1fe154366"/>
    <p:sldId xmlns:r="http://schemas.openxmlformats.org/officeDocument/2006/relationships" id="264" r:id="R4e4ae628f43c4226"/>
    <p:sldId xmlns:r="http://schemas.openxmlformats.org/officeDocument/2006/relationships" id="265" r:id="R21f01518274d4d49"/>
    <p:sldId xmlns:r="http://schemas.openxmlformats.org/officeDocument/2006/relationships" id="266" r:id="Ra1f6459a17dc41a6"/>
    <p:sldId xmlns:r="http://schemas.openxmlformats.org/officeDocument/2006/relationships" id="267" r:id="Rf48ddc104ca04b8a"/>
    <p:sldId xmlns:r="http://schemas.openxmlformats.org/officeDocument/2006/relationships" id="268" r:id="R874810713cd54f01"/>
    <p:sldId xmlns:r="http://schemas.openxmlformats.org/officeDocument/2006/relationships" id="269" r:id="Rd5b2f0668192464e"/>
    <p:sldId xmlns:r="http://schemas.openxmlformats.org/officeDocument/2006/relationships" id="270" r:id="R966a30db838a4ac9"/>
    <p:sldId xmlns:r="http://schemas.openxmlformats.org/officeDocument/2006/relationships" id="271" r:id="R41b855fc989a4d85"/>
    <p:sldId xmlns:r="http://schemas.openxmlformats.org/officeDocument/2006/relationships" id="272" r:id="R946d42570e2d4608"/>
    <p:sldId xmlns:r="http://schemas.openxmlformats.org/officeDocument/2006/relationships" id="273" r:id="Re776a9ccc5e54d0f"/>
    <p:sldId xmlns:r="http://schemas.openxmlformats.org/officeDocument/2006/relationships" id="274" r:id="R16c686114d884fc1"/>
    <p:sldId xmlns:r="http://schemas.openxmlformats.org/officeDocument/2006/relationships" id="275" r:id="R31e6292405ca489b"/>
    <p:sldId xmlns:r="http://schemas.openxmlformats.org/officeDocument/2006/relationships" id="276" r:id="Rb259fe5917224265"/>
    <p:sldId xmlns:r="http://schemas.openxmlformats.org/officeDocument/2006/relationships" id="277" r:id="Rfe123d32bf814ce1"/>
    <p:sldId xmlns:r="http://schemas.openxmlformats.org/officeDocument/2006/relationships" id="278" r:id="R45e6db415dac4ff7"/>
    <p:sldId xmlns:r="http://schemas.openxmlformats.org/officeDocument/2006/relationships" id="279" r:id="Rd727e7cf8ca74400"/>
    <p:sldId xmlns:r="http://schemas.openxmlformats.org/officeDocument/2006/relationships" id="280" r:id="Re73d6e2820c14644"/>
    <p:sldId xmlns:r="http://schemas.openxmlformats.org/officeDocument/2006/relationships" id="281" r:id="R7f0e0bd905c34ad5"/>
    <p:sldId xmlns:r="http://schemas.openxmlformats.org/officeDocument/2006/relationships" id="282" r:id="R27fff3c1269d4772"/>
    <p:sldId xmlns:r="http://schemas.openxmlformats.org/officeDocument/2006/relationships" id="283" r:id="R2b8f9cb26b3841b0"/>
    <p:sldId xmlns:r="http://schemas.openxmlformats.org/officeDocument/2006/relationships" id="284" r:id="R637da6a2732b4705"/>
    <p:sldId xmlns:r="http://schemas.openxmlformats.org/officeDocument/2006/relationships" id="285" r:id="R09f96a5ea9cb41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c1a0aa71fd4c9f" /><Relationship Type="http://schemas.openxmlformats.org/officeDocument/2006/relationships/slideMaster" Target="/ppt/slideMasters/slideMaster1.xml" Id="R01ec5e067048455e" /><Relationship Type="http://schemas.openxmlformats.org/officeDocument/2006/relationships/notesMaster" Target="/ppt/notesMasters/notesMaster1.xml" Id="R01c0c20abf564009" /><Relationship Type="http://schemas.openxmlformats.org/officeDocument/2006/relationships/presProps" Target="/ppt/presProps.xml" Id="R3da3369241c7419f" /><Relationship Type="http://schemas.openxmlformats.org/officeDocument/2006/relationships/tableStyles" Target="/ppt/tableStyles.xml" Id="Rf99933d3b61247b6" /><Relationship Type="http://schemas.openxmlformats.org/officeDocument/2006/relationships/slide" Target="/ppt/slides/slide1.xml" Id="R436c2d91f8fd4df7" /><Relationship Type="http://schemas.openxmlformats.org/officeDocument/2006/relationships/slide" Target="/ppt/slides/slide2.xml" Id="R778f750033b84559" /><Relationship Type="http://schemas.openxmlformats.org/officeDocument/2006/relationships/slide" Target="/ppt/slides/slide3.xml" Id="Red003f40dfba44b2" /><Relationship Type="http://schemas.openxmlformats.org/officeDocument/2006/relationships/slide" Target="/ppt/slides/slide4.xml" Id="R347ef165a29748e1" /><Relationship Type="http://schemas.openxmlformats.org/officeDocument/2006/relationships/slide" Target="/ppt/slides/slide5.xml" Id="R351276ad80a1425d" /><Relationship Type="http://schemas.openxmlformats.org/officeDocument/2006/relationships/slide" Target="/ppt/slides/slide6.xml" Id="Ra9212a6fa2504f1d" /><Relationship Type="http://schemas.openxmlformats.org/officeDocument/2006/relationships/slide" Target="/ppt/slides/slide7.xml" Id="R048d0d09cec54d28" /><Relationship Type="http://schemas.openxmlformats.org/officeDocument/2006/relationships/slide" Target="/ppt/slides/slide8.xml" Id="R2ab15da1fe154366" /><Relationship Type="http://schemas.openxmlformats.org/officeDocument/2006/relationships/slide" Target="/ppt/slides/slide9.xml" Id="R4e4ae628f43c4226" /><Relationship Type="http://schemas.openxmlformats.org/officeDocument/2006/relationships/slide" Target="/ppt/slides/slide10.xml" Id="R21f01518274d4d49" /><Relationship Type="http://schemas.openxmlformats.org/officeDocument/2006/relationships/slide" Target="/ppt/slides/slide11.xml" Id="Ra1f6459a17dc41a6" /><Relationship Type="http://schemas.openxmlformats.org/officeDocument/2006/relationships/slide" Target="/ppt/slides/slide12.xml" Id="Rf48ddc104ca04b8a" /><Relationship Type="http://schemas.openxmlformats.org/officeDocument/2006/relationships/slide" Target="/ppt/slides/slide13.xml" Id="R874810713cd54f01" /><Relationship Type="http://schemas.openxmlformats.org/officeDocument/2006/relationships/slide" Target="/ppt/slides/slide14.xml" Id="Rd5b2f0668192464e" /><Relationship Type="http://schemas.openxmlformats.org/officeDocument/2006/relationships/slide" Target="/ppt/slides/slide15.xml" Id="R966a30db838a4ac9" /><Relationship Type="http://schemas.openxmlformats.org/officeDocument/2006/relationships/slide" Target="/ppt/slides/slide16.xml" Id="R41b855fc989a4d85" /><Relationship Type="http://schemas.openxmlformats.org/officeDocument/2006/relationships/slide" Target="/ppt/slides/slide17.xml" Id="R946d42570e2d4608" /><Relationship Type="http://schemas.openxmlformats.org/officeDocument/2006/relationships/slide" Target="/ppt/slides/slide18.xml" Id="Re776a9ccc5e54d0f" /><Relationship Type="http://schemas.openxmlformats.org/officeDocument/2006/relationships/slide" Target="/ppt/slides/slide19.xml" Id="R16c686114d884fc1" /><Relationship Type="http://schemas.openxmlformats.org/officeDocument/2006/relationships/slide" Target="/ppt/slides/slide20.xml" Id="R31e6292405ca489b" /><Relationship Type="http://schemas.openxmlformats.org/officeDocument/2006/relationships/slide" Target="/ppt/slides/slide21.xml" Id="Rb259fe5917224265" /><Relationship Type="http://schemas.openxmlformats.org/officeDocument/2006/relationships/slide" Target="/ppt/slides/slide22.xml" Id="Rfe123d32bf814ce1" /><Relationship Type="http://schemas.openxmlformats.org/officeDocument/2006/relationships/slide" Target="/ppt/slides/slide23.xml" Id="R45e6db415dac4ff7" /><Relationship Type="http://schemas.openxmlformats.org/officeDocument/2006/relationships/slide" Target="/ppt/slides/slide24.xml" Id="Rd727e7cf8ca74400" /><Relationship Type="http://schemas.openxmlformats.org/officeDocument/2006/relationships/slide" Target="/ppt/slides/slide25.xml" Id="Re73d6e2820c14644" /><Relationship Type="http://schemas.openxmlformats.org/officeDocument/2006/relationships/slide" Target="/ppt/slides/slide26.xml" Id="R7f0e0bd905c34ad5" /><Relationship Type="http://schemas.openxmlformats.org/officeDocument/2006/relationships/slide" Target="/ppt/slides/slide27.xml" Id="R27fff3c1269d4772" /><Relationship Type="http://schemas.openxmlformats.org/officeDocument/2006/relationships/slide" Target="/ppt/slides/slide28.xml" Id="R2b8f9cb26b3841b0" /><Relationship Type="http://schemas.openxmlformats.org/officeDocument/2006/relationships/slide" Target="/ppt/slides/slide29.xml" Id="R637da6a2732b4705" /><Relationship Type="http://schemas.openxmlformats.org/officeDocument/2006/relationships/slide" Target="/ppt/slides/slide30.xml" Id="R09f96a5ea9cb41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c0fec0ec294c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99901de843446d" /><Relationship Type="http://schemas.openxmlformats.org/officeDocument/2006/relationships/notesMaster" Target="/ppt/notesMasters/notesMaster1.xml" Id="Rfde478885b8d47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dc1f09b9e44a0c" /><Relationship Type="http://schemas.openxmlformats.org/officeDocument/2006/relationships/notesMaster" Target="/ppt/notesMasters/notesMaster1.xml" Id="Ra039e2247daa43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3bc9c43c034b07" /><Relationship Type="http://schemas.openxmlformats.org/officeDocument/2006/relationships/notesMaster" Target="/ppt/notesMasters/notesMaster1.xml" Id="Re03e581c6d3e4a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e5c2570a154ef7" /><Relationship Type="http://schemas.openxmlformats.org/officeDocument/2006/relationships/notesMaster" Target="/ppt/notesMasters/notesMaster1.xml" Id="R08c268d414d447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6b2d78aa1d4c0f" /><Relationship Type="http://schemas.openxmlformats.org/officeDocument/2006/relationships/notesMaster" Target="/ppt/notesMasters/notesMaster1.xml" Id="R500636d3f4514e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6d5dce59c44083" /><Relationship Type="http://schemas.openxmlformats.org/officeDocument/2006/relationships/notesMaster" Target="/ppt/notesMasters/notesMaster1.xml" Id="R363a4101201742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b66669e6d04f7b" /><Relationship Type="http://schemas.openxmlformats.org/officeDocument/2006/relationships/notesMaster" Target="/ppt/notesMasters/notesMaster1.xml" Id="Ra9e8504eaf424b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78ed2f93794167" /><Relationship Type="http://schemas.openxmlformats.org/officeDocument/2006/relationships/notesMaster" Target="/ppt/notesMasters/notesMaster1.xml" Id="R853830cf8dc048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c9e3b11d6d4cae" /><Relationship Type="http://schemas.openxmlformats.org/officeDocument/2006/relationships/notesMaster" Target="/ppt/notesMasters/notesMaster1.xml" Id="R52db07c2102b49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a051a9892549d5" /><Relationship Type="http://schemas.openxmlformats.org/officeDocument/2006/relationships/notesMaster" Target="/ppt/notesMasters/notesMaster1.xml" Id="Re3fb51cfc47e45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f5eb0633194593" /><Relationship Type="http://schemas.openxmlformats.org/officeDocument/2006/relationships/notesMaster" Target="/ppt/notesMasters/notesMaster1.xml" Id="Rbe8726ffb8af4e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8106df73044740" /><Relationship Type="http://schemas.openxmlformats.org/officeDocument/2006/relationships/notesMaster" Target="/ppt/notesMasters/notesMaster1.xml" Id="R500597d8aec046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0e119350c24d55" /><Relationship Type="http://schemas.openxmlformats.org/officeDocument/2006/relationships/notesMaster" Target="/ppt/notesMasters/notesMaster1.xml" Id="Rd427488043ab40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90e4b867934180" /><Relationship Type="http://schemas.openxmlformats.org/officeDocument/2006/relationships/notesMaster" Target="/ppt/notesMasters/notesMaster1.xml" Id="R022199a8877744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2652aa198f463b" /><Relationship Type="http://schemas.openxmlformats.org/officeDocument/2006/relationships/notesMaster" Target="/ppt/notesMasters/notesMaster1.xml" Id="R7b99c2540a5347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3eba2e7b87485a" /><Relationship Type="http://schemas.openxmlformats.org/officeDocument/2006/relationships/notesMaster" Target="/ppt/notesMasters/notesMaster1.xml" Id="R5e811f15efe54c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08257a9b824e60" /><Relationship Type="http://schemas.openxmlformats.org/officeDocument/2006/relationships/notesMaster" Target="/ppt/notesMasters/notesMaster1.xml" Id="R5446ff9c77854b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4b1f30ca084e25" /><Relationship Type="http://schemas.openxmlformats.org/officeDocument/2006/relationships/notesMaster" Target="/ppt/notesMasters/notesMaster1.xml" Id="R7f930c9d13094a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7f185970ad4ade" /><Relationship Type="http://schemas.openxmlformats.org/officeDocument/2006/relationships/notesMaster" Target="/ppt/notesMasters/notesMaster1.xml" Id="R2fe659bd446249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5dfd8a05fd4cc7" /><Relationship Type="http://schemas.openxmlformats.org/officeDocument/2006/relationships/notesMaster" Target="/ppt/notesMasters/notesMaster1.xml" Id="R2861edc65efb418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fff62d62d224eed" /><Relationship Type="http://schemas.openxmlformats.org/officeDocument/2006/relationships/notesMaster" Target="/ppt/notesMasters/notesMaster1.xml" Id="Rdf8f343ac05342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de32b81f79c4ecb" /><Relationship Type="http://schemas.openxmlformats.org/officeDocument/2006/relationships/notesMaster" Target="/ppt/notesMasters/notesMaster1.xml" Id="R6628c12c7af64dc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30dcb225ca342b6" /><Relationship Type="http://schemas.openxmlformats.org/officeDocument/2006/relationships/notesMaster" Target="/ppt/notesMasters/notesMaster1.xml" Id="Re4e05024691741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a3df2bcf0c343cb" /><Relationship Type="http://schemas.openxmlformats.org/officeDocument/2006/relationships/notesMaster" Target="/ppt/notesMasters/notesMaster1.xml" Id="Rd47c669d00ac444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a8e3a1e42774b1b" /><Relationship Type="http://schemas.openxmlformats.org/officeDocument/2006/relationships/notesMaster" Target="/ppt/notesMasters/notesMaster1.xml" Id="R953e55c71c124ef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1a7d15b95f041e5" /><Relationship Type="http://schemas.openxmlformats.org/officeDocument/2006/relationships/notesMaster" Target="/ppt/notesMasters/notesMaster1.xml" Id="R3b45c5a3557e4e6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3d0ffc0cd94f25" /><Relationship Type="http://schemas.openxmlformats.org/officeDocument/2006/relationships/notesMaster" Target="/ppt/notesMasters/notesMaster1.xml" Id="R7c8ac58161aa4e6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4c7a383f5124e1c" /><Relationship Type="http://schemas.openxmlformats.org/officeDocument/2006/relationships/notesMaster" Target="/ppt/notesMasters/notesMaster1.xml" Id="R47483ddf121e4bd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35bcefcdbb949f7" /><Relationship Type="http://schemas.openxmlformats.org/officeDocument/2006/relationships/notesMaster" Target="/ppt/notesMasters/notesMaster1.xml" Id="Ra2617cc57ce7454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d5d617dfef4435f" /><Relationship Type="http://schemas.openxmlformats.org/officeDocument/2006/relationships/notesMaster" Target="/ppt/notesMasters/notesMaster1.xml" Id="Rdb4c4996d3b040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File:CSS code on a screen (Unsplash).jpg — CC0 — Sai Kiran Anagani _imkiran — https://commons.wikimedia.org/wiki/File:CSS_code_on_a_screen_(Unsplash).jpg — accessed 13 Sep 2026</a:t>
            </a:r>
          </a:p>
          <a:p xmlns:a="http://schemas.openxmlformats.org/drawingml/2006/main">
            <a:r>
              <a:t>Course teaching content is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4 learning outcomes, grounded in webModules[3]: normal flow, flexbox, grid, reading column vs multi-column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normal flow as the CSS default layout algorithm, prerequisite to flexbox/grid.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testable demonstration distinguishing block and inline formatting contexts using a verifiable DevTools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reference table of the display values used through the rest of the lecture (flex and grid formally introduced next).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flexbox's core mental model: axis-relative alignment, prerequisite to justify-content/align-items.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navigation-bar example directly implementing the session brief's flexbox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comparison of legacy margin-based spacing vs the gap property, with a DevTools-verifiable equivalence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the flex shorthand, with a concrete card/sidebar example testable by resizing the viewport.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responsive card-row example demonstrating flex-wrap without any media query. File:Man with smartphone and laptop (Unsplash).jpg — CC0 — Alejandro Escamilla alejandroescamilla — https://commons.wikimedia.org/wiki/File:Man_with_smartphone_and_laptop_(Unsplash).jpg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explicit grid track definition and the fr unit. File:Reflective skyscraper windows (Unsplash).jpg — CC0 — Redd Angelo reddangelo16 — https://commons.wikimedia.org/wiki/File:Reflective_skyscraper_windows_(Unsplash).jpg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grid-template-areas example modelling a common sidebar/header/main page skeleton, chosen to parallel a blueprint's labelled sections. File:Norcon blueprint section.jpg — Public domain — HM Government — https://commons.wikimedia.org/wiki/File:Norcon_blueprint_section.jpg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repeat(auto-fit, minmax()) as the standard responsive card-grid pattern, chosen to parallel a city block grid. File:Aerial view of the Seattle Center, Seattle, Washington (4860575885).jpg — No restrictions — UW Digital Collections — https://commons.wikimedia.org/wiki/File:Aerial_view_of_the_Seattle_Center,_Seattle,_Washington_(4860575885).jpg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disambiguation of a commonly confused CSS Grid pairing, with a browser-testable reproduction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decision framework directly answering webModules[3]'s comparison requirement; testable via the nested-flex smell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measure and readability, applied to the single narrow reading column. File:Key West Citizen newspaper front page 12 June 1908.jpg — Public domain — Florida Keys--Public Libraries — https://commons.wikimedia.org/wiki/File:Key_West_Citizen_newspaper_front_page_12_June_1908.jpg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CSS multi-column layout (column-width, column-gap, column-rule), paired with a period magazine layout for visual grounding. File:School Begins (Puck Magazine 1-25-1899).jpg — Public domain — Louis Dalrymple — https://commons.wikimedia.org/wiki/File:School_Begins_(Puck_Magazine_1-25-1899).jpg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comparison table directly answering the module's stated requirement: compare a narrow reading column with a multi-column information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container queries as a component-level responsive mechanism, distinct from viewport-level media queries.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margin collapsing, a well-documented CSS box-model behaviour, with a concrete verifiable measurement and a flex/grid-based fix.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the classic flexbox min-width:auto overflow bug and its one-line fix, independently reproducible in DevTools.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implicit grid track creation causing layout blowout when a span exceeds the explicit column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before/after refactor exercise, framed against the print era's fixed physical page layout. File:Rotary printing press machine, Asahi-Shinbun, 1932.jpg — Public domain — Unknown authorUnknown author — https://commons.wikimedia.org/wiki/File:Rotary_printing_press_machine,_Asahi-Shinbun,_1932.jpg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continuation of the refactor exercise, making the specific correctness improvement (row-height alignment) explicit and testable by changing content length in either column.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DevTools workflow for verifying flex/grid layouts empirically rather than by visual inspection alone. File:Min (web browser) 1.5.1 tests Acid3 screenshot.png — Public domain — Jayvee Enaguas (HarvettFox96) — https://commons.wikimedia.org/wiki/File:Min_(web_browser)_1.5.1_tests_Acid3_screenshot.png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01-newspaper-columns.jpg: File:Key West Citizen newspaper front page 12 June 1908.jpg — Public domain — Florida Keys--Public Libraries — https://commons.wikimedia.org/wiki/File:Key_West_Citizen_newspaper_front_page_12_June_1908.jpg</a:t>
            </a:r>
          </a:p>
          <a:p xmlns:a="http://schemas.openxmlformats.org/drawingml/2006/main">
            <a:r>
              <a:t>02-magazine-page.jpg: File:School Begins (Puck Magazine 1-25-1899).jpg — Public domain — Louis Dalrymple — https://commons.wikimedia.org/wiki/File:School_Begins_(Puck_Magazine_1-25-1899).jpg</a:t>
            </a:r>
          </a:p>
          <a:p xmlns:a="http://schemas.openxmlformats.org/drawingml/2006/main">
            <a:r>
              <a:t>03-architectural-blueprint.jpg: File:Norcon blueprint section.jpg — Public domain — HM Government — https://commons.wikimedia.org/wiki/File:Norcon_blueprint_section.jpg</a:t>
            </a:r>
          </a:p>
          <a:p xmlns:a="http://schemas.openxmlformats.org/drawingml/2006/main">
            <a:r>
              <a:t>04-bookshelf-row.jpg: File:Canadian law books on shelf (31089552820).jpg — CC0 — David Whelan — https://commons.wikimedia.org/wiki/File:Canadian_law_books_on_shelf_(31089552820).jpg</a:t>
            </a:r>
          </a:p>
          <a:p xmlns:a="http://schemas.openxmlformats.org/drawingml/2006/main">
            <a:r>
              <a:t>05-printing-press.jpg: File:Rotary printing press machine, Asahi-Shinbun, 1932.jpg — Public domain — Unknown authorUnknown author — https://commons.wikimedia.org/wiki/File:Rotary_printing_press_machine,_Asahi-Shinbun,_1932.jpg</a:t>
            </a:r>
          </a:p>
          <a:p xmlns:a="http://schemas.openxmlformats.org/drawingml/2006/main">
            <a:r>
              <a:t>06-browser-devtools.png: File:Min (web browser) 1.5.1 tests Acid3 screenshot.png — Public domain — Jayvee Enaguas (HarvettFox96) — https://commons.wikimedia.org/wiki/File:Min_(web_browser)_1.5.1_tests_Acid3_screenshot.png</a:t>
            </a:r>
          </a:p>
          <a:p xmlns:a="http://schemas.openxmlformats.org/drawingml/2006/main">
            <a:r>
              <a:t>07-theatre-seats-grid.jpg: File:Movie theater seats (Unsplash).jpg — CC0 — Elijah Flores baesik — https://commons.wikimedia.org/wiki/File:Movie_theater_seats_(Unsplash).jpg</a:t>
            </a:r>
          </a:p>
          <a:p xmlns:a="http://schemas.openxmlformats.org/drawingml/2006/main">
            <a:r>
              <a:t>08-window-panes-grid.jpg: File:Reflective skyscraper windows (Unsplash).jpg — CC0 — Redd Angelo reddangelo16 — https://commons.wikimedia.org/wiki/File:Reflective_skyscraper_windows_(Unsplash).jpg</a:t>
            </a:r>
          </a:p>
          <a:p xmlns:a="http://schemas.openxmlformats.org/drawingml/2006/main">
            <a:r>
              <a:t>09-css-code-screen.jpg: File:CSS code on a screen (Unsplash).jpg — CC0 — Sai Kiran Anagani _imkiran — https://commons.wikimedia.org/wiki/File:CSS_code_on_a_screen_(Unsplash).jpg</a:t>
            </a:r>
          </a:p>
          <a:p xmlns:a="http://schemas.openxmlformats.org/drawingml/2006/main">
            <a:r>
              <a:t>10-city-grid-aerial.jpg: File:Aerial view of the Seattle Center, Seattle, Washington (4860575885).jpg — No restrictions — UW Digital Collections — https://commons.wikimedia.org/wiki/File:Aerial_view_of_the_Seattle_Center,_Seattle,_Washington_(4860575885).jpg</a:t>
            </a:r>
          </a:p>
          <a:p xmlns:a="http://schemas.openxmlformats.org/drawingml/2006/main">
            <a:r>
              <a:t>11-devices-desk.jpg: File:Man with smartphone and laptop (Unsplash).jpg — CC0 — Alejandro Escamilla alejandroescamilla — https://commons.wikimedia.org/wiki/File:Man_with_smartphone_and_laptop_(Unsplash).jpg</a:t>
            </a:r>
          </a:p>
          <a:p xmlns:a="http://schemas.openxmlformats.org/drawingml/2006/main">
            <a:r>
              <a:t>All images accessed 13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4 studio task, directly implementing webModules[3]'s flexbox/grid coverage and the flexbox-vs-grid decision rule taught earlier in the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review rubric aligned to the studio task and the CSS layout criteria this course applies to layout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External resources: MDN flexbox, grid, and container query references. Accessed 13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closing slide bridging Week 4 (layout) to Week 5 (typography and visual hierarchy) per webModules ordering.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df6e1319648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f0bc38fea24424" /><Relationship Type="http://schemas.openxmlformats.org/officeDocument/2006/relationships/slideLayout" Target="/ppt/slideLayouts/slideLayout1.xml" Id="R99ed911bb2e846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ed911bb2e846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60ff79fbf4c57" /><Relationship Type="http://schemas.openxmlformats.org/officeDocument/2006/relationships/image" Target="/ppt/media/image.jpeg" Id="R4a4cfc302b534187" /><Relationship Type="http://schemas.openxmlformats.org/officeDocument/2006/relationships/notesSlide" Target="/ppt/notesSlides/notesSlide1.xml" Id="Rdd12eb56b2254a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ee4630b50425e" /><Relationship Type="http://schemas.openxmlformats.org/officeDocument/2006/relationships/notesSlide" Target="/ppt/notesSlides/notesSlide2.xml" Id="R529df530b9294e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fe35da31b4ada" /><Relationship Type="http://schemas.openxmlformats.org/officeDocument/2006/relationships/notesSlide" Target="/ppt/notesSlides/notesSlide3.xml" Id="R325b582c1f4d48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9aa6396614058" /><Relationship Type="http://schemas.openxmlformats.org/officeDocument/2006/relationships/notesSlide" Target="/ppt/notesSlides/notesSlide4.xml" Id="R07e7dca7594946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e6a9ea00a4285" /><Relationship Type="http://schemas.openxmlformats.org/officeDocument/2006/relationships/notesSlide" Target="/ppt/notesSlides/notesSlide5.xml" Id="R5ff90c43481241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1af9db9d74c2d" /><Relationship Type="http://schemas.openxmlformats.org/officeDocument/2006/relationships/notesSlide" Target="/ppt/notesSlides/notesSlide6.xml" Id="R9e777ff0bd8841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7002ccc9a4952" /><Relationship Type="http://schemas.openxmlformats.org/officeDocument/2006/relationships/notesSlide" Target="/ppt/notesSlides/notesSlide7.xml" Id="R2ecf17153d634f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988139df14f8d" /><Relationship Type="http://schemas.openxmlformats.org/officeDocument/2006/relationships/notesSlide" Target="/ppt/notesSlides/notesSlide8.xml" Id="Ra9257b68002b43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b17da1dae4267" /><Relationship Type="http://schemas.openxmlformats.org/officeDocument/2006/relationships/notesSlide" Target="/ppt/notesSlides/notesSlide9.xml" Id="R8bb168bd26c745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c264ca8bd487e" /><Relationship Type="http://schemas.openxmlformats.org/officeDocument/2006/relationships/image" Target="/ppt/media/image2.jpeg" Id="Re81490152da04712" /><Relationship Type="http://schemas.openxmlformats.org/officeDocument/2006/relationships/notesSlide" Target="/ppt/notesSlides/notesSlide10.xml" Id="R383fdc91291e4f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a3092d94a4cdb" /><Relationship Type="http://schemas.openxmlformats.org/officeDocument/2006/relationships/image" Target="/ppt/media/image3.jpeg" Id="R3bf401268d3a4273" /><Relationship Type="http://schemas.openxmlformats.org/officeDocument/2006/relationships/notesSlide" Target="/ppt/notesSlides/notesSlide11.xml" Id="Rc13a2e444ca542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7c05bd06649cd" /><Relationship Type="http://schemas.openxmlformats.org/officeDocument/2006/relationships/image" Target="/ppt/media/image4.jpeg" Id="Re72831d6f6b94743" /><Relationship Type="http://schemas.openxmlformats.org/officeDocument/2006/relationships/notesSlide" Target="/ppt/notesSlides/notesSlide12.xml" Id="R9fb7b86be81341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eae59eff641df" /><Relationship Type="http://schemas.openxmlformats.org/officeDocument/2006/relationships/image" Target="/ppt/media/image5.jpeg" Id="R2c1ed0a5d15a4855" /><Relationship Type="http://schemas.openxmlformats.org/officeDocument/2006/relationships/notesSlide" Target="/ppt/notesSlides/notesSlide13.xml" Id="R4852882f237343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20edfb8a946ea" /><Relationship Type="http://schemas.openxmlformats.org/officeDocument/2006/relationships/notesSlide" Target="/ppt/notesSlides/notesSlide14.xml" Id="Rbc373dbb0d3945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226ef42cb4fe2" /><Relationship Type="http://schemas.openxmlformats.org/officeDocument/2006/relationships/notesSlide" Target="/ppt/notesSlides/notesSlide15.xml" Id="Re1e762c72ba846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ff0f3d78c41e0" /><Relationship Type="http://schemas.openxmlformats.org/officeDocument/2006/relationships/image" Target="/ppt/media/image6.jpeg" Id="R70f85fd2cde04f57" /><Relationship Type="http://schemas.openxmlformats.org/officeDocument/2006/relationships/notesSlide" Target="/ppt/notesSlides/notesSlide16.xml" Id="R23fd24e9799647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ee94aa13248af" /><Relationship Type="http://schemas.openxmlformats.org/officeDocument/2006/relationships/image" Target="/ppt/media/image7.jpeg" Id="R13d2893bff7a4798" /><Relationship Type="http://schemas.openxmlformats.org/officeDocument/2006/relationships/notesSlide" Target="/ppt/notesSlides/notesSlide17.xml" Id="R4dee79a5f45547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62c9fa86942f1" /><Relationship Type="http://schemas.openxmlformats.org/officeDocument/2006/relationships/notesSlide" Target="/ppt/notesSlides/notesSlide18.xml" Id="Red6b5b777f7440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dba61dfd44c14" /><Relationship Type="http://schemas.openxmlformats.org/officeDocument/2006/relationships/notesSlide" Target="/ppt/notesSlides/notesSlide19.xml" Id="Rd5ee96abb01449b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5219e8d2545d8" /><Relationship Type="http://schemas.openxmlformats.org/officeDocument/2006/relationships/notesSlide" Target="/ppt/notesSlides/notesSlide20.xml" Id="R2271a6dd29524b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f930b0a7d4661" /><Relationship Type="http://schemas.openxmlformats.org/officeDocument/2006/relationships/notesSlide" Target="/ppt/notesSlides/notesSlide21.xml" Id="R4911ef30f8f84bd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f76ee173a4748" /><Relationship Type="http://schemas.openxmlformats.org/officeDocument/2006/relationships/notesSlide" Target="/ppt/notesSlides/notesSlide22.xml" Id="R4ced3daa493544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737e815374eac" /><Relationship Type="http://schemas.openxmlformats.org/officeDocument/2006/relationships/image" Target="/ppt/media/image8.jpeg" Id="R6770b6e8928d4437" /><Relationship Type="http://schemas.openxmlformats.org/officeDocument/2006/relationships/notesSlide" Target="/ppt/notesSlides/notesSlide23.xml" Id="Ree348efbc449443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b278d99a14e6c" /><Relationship Type="http://schemas.openxmlformats.org/officeDocument/2006/relationships/notesSlide" Target="/ppt/notesSlides/notesSlide24.xml" Id="Rf7b57d7d9f08499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3680306bb4e97" /><Relationship Type="http://schemas.openxmlformats.org/officeDocument/2006/relationships/image" Target="/ppt/media/image.png" Id="R04aa31b5731745e9" /><Relationship Type="http://schemas.openxmlformats.org/officeDocument/2006/relationships/notesSlide" Target="/ppt/notesSlides/notesSlide25.xml" Id="R51a65abcb2544cf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4b35005424707" /><Relationship Type="http://schemas.openxmlformats.org/officeDocument/2006/relationships/image" Target="/ppt/media/image9.jpeg" Id="R20bc41eddde745bd" /><Relationship Type="http://schemas.openxmlformats.org/officeDocument/2006/relationships/image" Target="/ppt/media/image10.jpeg" Id="R59cf7f995d084241" /><Relationship Type="http://schemas.openxmlformats.org/officeDocument/2006/relationships/notesSlide" Target="/ppt/notesSlides/notesSlide26.xml" Id="R8e916a6151d04c9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4d3a900f44137" /><Relationship Type="http://schemas.openxmlformats.org/officeDocument/2006/relationships/notesSlide" Target="/ppt/notesSlides/notesSlide27.xml" Id="Rf86495b06513432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40c169ab54d3a" /><Relationship Type="http://schemas.openxmlformats.org/officeDocument/2006/relationships/notesSlide" Target="/ppt/notesSlides/notesSlide28.xml" Id="Re23fdb7f59a3427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3e86de1c74dba" /><Relationship Type="http://schemas.openxmlformats.org/officeDocument/2006/relationships/notesSlide" Target="/ppt/notesSlides/notesSlide29.xml" Id="Rc80035634ca8423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25516164e45ea" /><Relationship Type="http://schemas.openxmlformats.org/officeDocument/2006/relationships/notesSlide" Target="/ppt/notesSlides/notesSlide30.xml" Id="R381df9cb4f494a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cfc302b534187"/>
          <a:srcRect xmlns:a="http://schemas.openxmlformats.org/drawingml/2006/main" l="23148" t="0" r="23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oundRect">
            <a:avLst>
              <a:gd name="adj" fmla="val 206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1B566-9D2A-483D-B0D0-31816F1D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EE3E7-89A3-4D7E-A8FA-F3CDEDEF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048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6A4D1-E75D-4632-AE9F-9C032BA3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2952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E1810-328B-4B81-BFE0-6EC0BE0B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SLOP1512  /  WEEK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9607E-CFB4-4617-9593-2EC952FB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561975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Layout with CSS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F8199-B175-4FF5-B8EF-E20CA5B8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5810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 flow, flexbox and grid, and how to choose between a narrow reading column and a multi-column information layout.</a:t>
            </a:r>
          </a:p>
        </p:txBody>
      </p:sp>
    </p:spTree>
    <p:extLst>
      <p:ext uri="{BB962C8B-B14F-4D97-AF65-F5344CB8AC3E}">
        <p14:creationId xmlns:p14="http://schemas.microsoft.com/office/powerpoint/2010/main" val="617339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E19E5-D198-405B-8E45-2346173E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0F14B-5595-4FFD-8B0C-A0A80837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1EFE2-35A7-4EF6-B576-2BB6D7FF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DDCFF-6A8F-48C8-97F1-55BA0C9E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Technical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87E93-BDE8-430A-879F-9F3E3FD7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By the end of this lecture you can build, debug and choose between the layout systems CSS provides.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1A472-BC56-4F5C-B7B0-ADEB31B8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48723-6865-4882-B7F1-1D1DE45A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916C5-0B7A-44CB-B836-545498ED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9EFF3-091D-4451-95AD-8BE9C473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33350-D45C-4690-BB4D-937A60DD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29527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Predict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E0F23-913D-4762-A816-354C6582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952750" cy="1276350"/>
          </a:xfrm>
          <a:prstGeom xmlns:a="http://schemas.openxmlformats.org/drawingml/2006/main" prst="roundRect">
            <a:avLst>
              <a:gd name="adj" fmla="val 89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Trace how normal flow lays out block and inline boxes before any layout property is applied.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4AD56-23D2-4B48-8090-DF28E9BF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62684-E1BC-4770-ACCF-6227D916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479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CBB36-7CAD-4F9E-8353-14E92E92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19400"/>
            <a:ext cx="29527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8F1199-1BCB-445C-B886-3887B224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81350"/>
            <a:ext cx="2952750" cy="1276350"/>
          </a:xfrm>
          <a:prstGeom xmlns:a="http://schemas.openxmlformats.org/drawingml/2006/main" prst="roundRect">
            <a:avLst>
              <a:gd name="adj" fmla="val 89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Write working flexbox and grid layouts from real CSS properties, not memorised snippets.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1438D-42FD-4081-AB3C-F9E4E9F6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90FA5-672C-4BFD-8B02-5A9ED00E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5F791-4A0C-4B13-916E-8C07ACBA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9527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Choose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ADAA8-0212-4CB5-AD53-8A5FB187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81350"/>
            <a:ext cx="2952750" cy="1276350"/>
          </a:xfrm>
          <a:prstGeom xmlns:a="http://schemas.openxmlformats.org/drawingml/2006/main" prst="roundRect">
            <a:avLst>
              <a:gd name="adj" fmla="val 89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Justify flexbox vs grid, and a single reading column vs a multi-column layout, for a given piece of content.</a:t>
            </a:r>
          </a:p>
        </p:txBody>
      </p:sp>
    </p:spTree>
    <p:extLst>
      <p:ext uri="{BB962C8B-B14F-4D97-AF65-F5344CB8AC3E}">
        <p14:creationId xmlns:p14="http://schemas.microsoft.com/office/powerpoint/2010/main" val="191232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C62F4-7AF9-4CB7-B915-2DC1C76D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74034-8CF6-4339-B091-E77E0B86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9DFD0-5462-4563-B9F5-BFB1748C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A2BFB-B40A-4D47-9D0D-C5D839F4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Before any layout property runs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14486-854D-4207-A1F0-88072FB1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element is already laid out by normal flow — layout CSS changes that default, it does not create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9835C-E700-44C4-8B8B-D55BD9F0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BF84E-681F-440B-A5D1-C999E787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62413-2673-49DD-B04F-0DFF93A9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0382250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Normal flow places block-level boxes (p, div, section, h1–h6) one below another, each taking the full available width. It places inline boxes (span, a, strong, img by default) left-to-right within a line, wrapping to a new line only when the current one is full.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20FA1-5DB4-4BA2-B17B-5DC9FD53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2863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05A3E-50A6-453F-B744-05A79CDF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05ECA-CE23-4839-BD31-08FC290F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9053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Block boxes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03921-DE7B-4E32-82A3-5B3ED15B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905375" cy="1181100"/>
          </a:xfrm>
          <a:prstGeom xmlns:a="http://schemas.openxmlformats.org/drawingml/2006/main" prst="roundRect">
            <a:avLst>
              <a:gd name="adj" fmla="val 96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display: block. Stack vertically. Width defaults to 100% of the containing block; height defaults to the height of their content.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7DEFB-BBF8-408B-B1EF-3A07AF1B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19500"/>
            <a:ext cx="52863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F9B51-2308-4BF5-85A5-DFA96303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100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45349-7866-4A6B-9FE7-4EAEA4FA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81450"/>
            <a:ext cx="49053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Inline boxes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3AD8A-97E6-4240-A1FD-A551E388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43400"/>
            <a:ext cx="4905375" cy="1181100"/>
          </a:xfrm>
          <a:prstGeom xmlns:a="http://schemas.openxmlformats.org/drawingml/2006/main" prst="roundRect">
            <a:avLst>
              <a:gd name="adj" fmla="val 96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display: inline. Flow horizontally inside a line box. Cannot take an explicit width or height; top/bottom margin is ignored.</a:t>
            </a:r>
          </a:p>
        </p:txBody>
      </p:sp>
    </p:spTree>
    <p:extLst>
      <p:ext uri="{BB962C8B-B14F-4D97-AF65-F5344CB8AC3E}">
        <p14:creationId xmlns:p14="http://schemas.microsoft.com/office/powerpoint/2010/main" val="1987390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AC859-917C-48FE-89F2-1459BFAD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85918-F32B-4DE4-92D7-63FB78E2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5D077-EA16-49D6-88AE-40CD644B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A90C3-C448-4340-B72F-8D15052D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 it: block vs inline, not by eye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2A544-50CB-4AA1-B5DE-E85E91A4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testable check you can run in any browser, not a visual guess.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5426D-3727-412C-A53E-7B111E52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FF6FD-FD1F-4A81-83D5-CE00E8ED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DC31D-92E2-4D13-A83F-A2EA732C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0382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11E1A-FA9C-4949-ADBF-6D3CEC7A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10039350" cy="163830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&lt;style&gt;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span.demo  { background: gold; width: 300px; }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div.demo   { background: teal;  width: 300px; }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&lt;/style&gt;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&lt;span class="demo"&gt;A span ignores width&lt;/span&gt;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&lt;div class="demo"&gt;A div fills the 300px width&lt;/div&gt;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962B8-FBE3-4C8E-8C52-CE06958F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Testable claim: set width: 300px on both. The div's rendered box measures 300px in DevTools' computed-style panel. The span's rendered box still measures only as wide as its text — width on an inline box is not applied.</a:t>
            </a:r>
          </a:p>
        </p:txBody>
      </p:sp>
    </p:spTree>
    <p:extLst>
      <p:ext uri="{BB962C8B-B14F-4D97-AF65-F5344CB8AC3E}">
        <p14:creationId xmlns:p14="http://schemas.microsoft.com/office/powerpoint/2010/main" val="12889931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CF9D5-E806-47CE-AB79-A19C70ED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A0866-71EA-4C14-ACEA-D38E2124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2CA94-308A-424E-B07B-4A7344FD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37497-4B70-4C4F-9EF7-2ACE7A79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display changes the box type, not the element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CDAB7-2DE0-4629-BC7A-4ED6836C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Any element can be told to behave like a different box type.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14DBB-DF63-4E5E-9A6A-F1535AF5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B6099-F26E-41C9-A7B1-9D24393B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10A69-4F94-4B0B-B024-284E8E2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93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32A6B-7A43-4694-AD7A-F31BA65B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52700"/>
            <a:ext cx="7810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93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Effect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74360-2C8B-4097-AF98-342BB6BC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0382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5B8F1-30F5-495C-9CBF-76D9C526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05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inline-block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41427-ECDC-4270-B1FB-CAE14526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24200"/>
            <a:ext cx="7620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Flows inline with siblings but accepts width, height and vertical margin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4EF6A-A52A-4C23-9ED7-45B4A9B8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4D67B-69D1-4B4A-942F-82414375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05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flex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D3B72-7B7D-4201-A76C-E25CE2A7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48100"/>
            <a:ext cx="7620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Turns this element into a flex container; its direct children become flex items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F2B1A-1BC4-40D1-A54F-96FA05E4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932C8-EFD6-4781-95FD-F532FE6B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05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grid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99949-1C11-4D57-A0DC-32AD2934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72000"/>
            <a:ext cx="7620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Turns this element into a grid container; its direct children become grid items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AE8BA-37A0-44EB-AA8D-480DEE89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64272-6919-49F4-8F44-A2640A64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05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DFAC9-C529-4F26-942A-1FAFAE43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95900"/>
            <a:ext cx="7620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Removes the box entirely — it takes no space and is not in the accessibility tree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F06A8-D9B4-4EAE-B40F-1FA181EE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30789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30141-68E0-4C5A-9021-237E3306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D29B8-9A2A-4E11-A39C-B68664B4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D7B1D-D74A-487C-9FA3-60B82EED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EBC45-B026-41A5-84FD-5775F8E9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Flexbox: one axis at a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03423-A3D1-4719-97AD-F957AB43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flex-direction sets the main axis; everything else in flexbox is described relative to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200E5-C078-4C94-8038-A3D15BEC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81161-4B2A-4469-9BD2-38DB55A0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79928-6459-4361-BD83-361AB7D0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5286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CE44A-9D41-4C4C-9AC9-8AB40296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4943475" cy="1924050"/>
          </a:xfrm>
          <a:prstGeom xmlns:a="http://schemas.openxmlformats.org/drawingml/2006/main" prst="roundRect">
            <a:avLst>
              <a:gd name="adj" fmla="val 594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54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.nav {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display: flex;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flex-direction: row;   /* main axis runs left→right */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.stack {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display: flex;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flex-direction: column; /* main axis runs top→bottom */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B1ECE-2CB2-49F8-8812-FDFAE247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19350"/>
            <a:ext cx="52863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386F4-9473-4E92-A518-A85554A1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098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3527B-03E4-4951-A52C-16D278C0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781300"/>
            <a:ext cx="49053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Main axis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76C3D-E994-47F2-97E5-B8E49A9B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43250"/>
            <a:ext cx="4905375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direction flex-direction points. justify-content aligns items along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41780-8CC6-4562-B806-B4BADC61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24350"/>
            <a:ext cx="52863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0244D-ADED-4C72-9D1B-A2BF9BB4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148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4D538-820B-4061-B19A-A332D751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86300"/>
            <a:ext cx="49053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Cross axis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5B5C1-BD6C-4797-8E01-3155C8DD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48250"/>
            <a:ext cx="4905375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Perpendicular to the main axis. align-items aligns items along it.</a:t>
            </a:r>
          </a:p>
        </p:txBody>
      </p:sp>
    </p:spTree>
    <p:extLst>
      <p:ext uri="{BB962C8B-B14F-4D97-AF65-F5344CB8AC3E}">
        <p14:creationId xmlns:p14="http://schemas.microsoft.com/office/powerpoint/2010/main" val="2464761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C2CDC-60E9-4CF7-8C43-CEF2EFB7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E45C0-1F7B-4866-83C1-C63C756D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FDA4B-F94E-47E3-BDF1-04F7E85D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995DF-D52C-4F7D-9031-FF936254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Building a real navigation bar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2B4A4-68D7-4108-8303-A1FDA8F3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working, testable flex layout — not a description of 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50385-3BDB-4330-BB23-6ED71814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5340E-CC42-498E-BFC5-42A9B8D7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A6315-DC97-4701-BF95-1EACA792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5905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43223-CDB1-406E-B5A7-559A33CA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5562600" cy="2019300"/>
          </a:xfrm>
          <a:prstGeom xmlns:a="http://schemas.openxmlformats.org/drawingml/2006/main" prst="roundRect">
            <a:avLst>
              <a:gd name="adj" fmla="val 566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.site-nav {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display: flex;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align-items: center;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justify-content: space-between;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gap: 1.5rem;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padding: 0.75rem 1.5rem;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.site-nav__links { display: flex; gap: 1rem;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E4C5E-E0B1-48FA-B163-F0242587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4038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0A4C5-CD58-4BAD-B0E8-3862D022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E8B37-5586-41CA-83A2-41F7CA85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36576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align-items: center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41D03-8F91-4768-82F5-C51CF249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365760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Vertically centres the logo and links even if one is taller than another.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1C541-78DB-4E12-8BFD-5F4CFE02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4038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6B63E-0E0C-4463-922D-CA033F47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991CE-E434-4BF1-9A47-B5A70057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86300"/>
            <a:ext cx="36576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justify-content: space-between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BC5C3-D72A-460F-BDDD-695F0789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8250"/>
            <a:ext cx="365760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Pushes the logo to the start and the link group to the end, with space distributed between them.</a:t>
            </a:r>
          </a:p>
        </p:txBody>
      </p:sp>
    </p:spTree>
    <p:extLst>
      <p:ext uri="{BB962C8B-B14F-4D97-AF65-F5344CB8AC3E}">
        <p14:creationId xmlns:p14="http://schemas.microsoft.com/office/powerpoint/2010/main" val="6878672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94F78-B181-445C-8CE2-397030B9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EC23E-29D1-4632-B25D-0817C22C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7C771-FC80-4A6F-97E7-A7F3B2FC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3B5CE-EC44-4977-943F-1E40C190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gap replaced margin hacks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877C0-AA0A-45B1-AC97-E6C29D9C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gap adds space only between flex/grid items — never at the outer edge.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FF6A-E54F-44AF-ABE1-DFF5A6FB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1AD20-97BF-4330-BB33-4CC81D73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61739-67F4-449E-9D8D-A6E7D319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0382250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Before gap existed, spacing children required margin-right on every item except the last (:not(:last-child)) or negative-margin tricks on the container. gap: 1rem on a flex or grid container does the same job with one line and no selector gymnastics.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44EA0-AE9E-4D76-B080-D3C4ABF0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10382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D8061-CF81-4EB4-8A5C-E972FCDE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10039350" cy="781050"/>
          </a:xfrm>
          <a:prstGeom xmlns:a="http://schemas.openxmlformats.org/drawingml/2006/main" prst="roundRect">
            <a:avLst>
              <a:gd name="adj" fmla="val 1463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.site-nav__links &gt; * + * { margin-left: 1rem; }  /* old way */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.site-nav__links { display: flex; gap: 1rem; }    /* current way */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E3980-B439-4FE8-8BA1-8D7C9E60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03822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Test it: inspect either rule in DevTools — both produce the same 1rem visual gap, but only gap survives a change in flex-direction unmodified.</a:t>
            </a:r>
          </a:p>
        </p:txBody>
      </p:sp>
    </p:spTree>
    <p:extLst>
      <p:ext uri="{BB962C8B-B14F-4D97-AF65-F5344CB8AC3E}">
        <p14:creationId xmlns:p14="http://schemas.microsoft.com/office/powerpoint/2010/main" val="5863751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D474D-23F8-4090-B095-48FE0EDA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72970-2DD5-49C0-A186-A21408D2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56B23-B048-4219-9B7B-05F44F36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29108-CDD9-4FA4-B2BA-D78FF497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Flex-grow, flex-shrink, flex-basis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19988-2649-42F6-A068-6FD950EC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shorthand flex: A B C controls how items share leftover or missing 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01998-6B54-4671-91BC-03F10F6F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FA44A-BD81-48CE-9F16-EA294F0D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F787A-6395-46C0-93D8-BEE8989D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286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93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Property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283B8-21F7-414B-BB0F-8C9868AC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14600"/>
            <a:ext cx="7429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93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What it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6D453-5074-47BF-893E-096FF6D6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0382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9A020-9274-4040-A8FF-232779E4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flex-basis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4E918-FB45-4B25-B182-90E7FD63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67050"/>
            <a:ext cx="72390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Starting size before growing/shrinking is applied (like width, but axis-aware)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BAAA2-8793-4D28-829A-B2AFD6EE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70A64-30EC-45DC-B7DE-55373FFB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flex-grow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DD72C-DEA9-45F5-AD10-351BDB0E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72390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Share of extra space this item takes when the container has room to spare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9D65E-7D49-4B85-B94E-92A9F0F7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5D5C7-6CBC-4B90-90B6-37A889B3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flex-shrink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06E3E-8AEA-4357-B024-5B3C0B4C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62450"/>
            <a:ext cx="72390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Share of the deficit this item gives up when the container is too small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CF760-7F41-4117-8D8F-5D54E34A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B6C13-DE9B-4B04-AEA6-535777E2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382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48124-A494-4680-9DEF-2712D692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039350" cy="647700"/>
          </a:xfrm>
          <a:prstGeom xmlns:a="http://schemas.openxmlformats.org/drawingml/2006/main" prst="roundRect">
            <a:avLst>
              <a:gd name="adj" fmla="val 1764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.card    { flex: 1 1 240px; }  /* grow, shrink, from 240px */</a:t>
            </a:r>
          </a:p>
          <a:p xmlns:a="http://schemas.openxmlformats.org/drawingml/2006/main">
            <a:pPr algn="l">
              <a:def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.sidebar { flex: 0 0 260px; }  /* fixed 260px, never grows/shrinks */</a:t>
            </a:r>
          </a:p>
        </p:txBody>
      </p:sp>
    </p:spTree>
    <p:extLst>
      <p:ext uri="{BB962C8B-B14F-4D97-AF65-F5344CB8AC3E}">
        <p14:creationId xmlns:p14="http://schemas.microsoft.com/office/powerpoint/2010/main" val="9311343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48E2D-B7C9-4791-81A2-2209B220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85828-668D-4FF9-92F0-1F5A8EF0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E0AE9-C760-4C38-A6EB-F84342F6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E54D7-071D-4CD9-A92A-C8C95C3C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flex-wrap and a responsive card row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A1638-2D2D-41DE-94F3-8E64D26D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Without flex-wrap, flex items are compressed, never pushed to a new 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D380F-DA4E-42C7-815F-C8D90ACB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EBC6D-0BD5-4778-8B8A-8F153C76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490152da04712"/>
          <a:srcRect xmlns:a="http://schemas.openxmlformats.org/drawingml/2006/main" l="1905" t="0" r="19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381250"/>
            <a:ext cx="3848100" cy="26670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2C9B7-9BB7-445E-A665-E6100554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657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111E9-A227-43C1-B9A9-0ACE7A81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6229350" cy="154305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.card-row {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display: flex;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flex-wrap: wrap;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gap: 1rem;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.card-row &gt; * { flex: 1 1 220px;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E1008-9D24-4896-8965-90ACFA9B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0382250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 it: shrink the browser window in DevTools' device toolbar. Cards keep a minimum ~220px width and drop to fewer per row, then wrap to a new row entirely below about 660px — with no media query written.</a:t>
            </a:r>
          </a:p>
        </p:txBody>
      </p:sp>
    </p:spTree>
    <p:extLst>
      <p:ext uri="{BB962C8B-B14F-4D97-AF65-F5344CB8AC3E}">
        <p14:creationId xmlns:p14="http://schemas.microsoft.com/office/powerpoint/2010/main" val="1897636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7711C-A8E5-4D6C-B0ED-C1294909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D742B-905C-4940-BC01-229D3D7A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CC189-222D-4706-80CF-3C9435C4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4FB30-BAE5-4C74-A722-85592089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Grid: two axes, defined together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ED7AB-C27B-4F78-8C42-2AAC8CAA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grid-template-columns and grid-template-rows lay out both dimensions in one declaration.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1D404-DB8E-4A59-BD64-111C35FF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37154-4C17-4376-A156-6593D784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401268d3a4273"/>
          <a:srcRect xmlns:a="http://schemas.openxmlformats.org/drawingml/2006/main" l="0" t="7974" r="0" b="79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381250"/>
            <a:ext cx="44196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2C2D7-43F4-4FC8-801B-E2D5DEE4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6000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F7190-BAD3-42D5-A661-A16D38DD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5657850" cy="154305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.gallery {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display: grid;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grid-template-columns: 1fr 1fr 1fr;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grid-template-rows: 200px 200px;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gap: 1rem;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8170F-F36B-4295-925F-9E882A7F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600075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fr unit divides remaining space into fractions after fixed-size tracks are subtracted — three equal 1fr columns share whatever width the container has.</a:t>
            </a:r>
          </a:p>
        </p:txBody>
      </p:sp>
    </p:spTree>
    <p:extLst>
      <p:ext uri="{BB962C8B-B14F-4D97-AF65-F5344CB8AC3E}">
        <p14:creationId xmlns:p14="http://schemas.microsoft.com/office/powerpoint/2010/main" val="19348033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97851-0892-49D8-8324-A6237753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6D749-D2A1-47EA-BA15-96FD6D60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406E5-99F8-4BAD-AC4B-85ED615F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ED4C4-3315-49C7-8CE8-A0D04A94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Naming areas with grid-template-areas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A0046-EF36-4F97-8934-6553C0E9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page layout described visually, in the stylesheet itself.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01693-AF06-4F25-9C57-943BAE46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3A742-A20B-4C62-B250-F3AFE253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831d6f6b94743"/>
          <a:srcRect xmlns:a="http://schemas.openxmlformats.org/drawingml/2006/main" l="13388" t="0" r="13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381250"/>
            <a:ext cx="38481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89D8F-E6CB-4D3F-8B7D-3CA53368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6572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70C5F-DE41-41D4-9D73-D8F28AF2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6229350" cy="2590800"/>
          </a:xfrm>
          <a:prstGeom xmlns:a="http://schemas.openxmlformats.org/drawingml/2006/main" prst="roundRect">
            <a:avLst>
              <a:gd name="adj" fmla="val 441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.page {</a:t>
            </a:r>
          </a:p>
          <a:p xmlns:a="http://schemas.openxmlformats.org/drawingml/2006/main">
            <a:pPr algn="l">
              <a:def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display: grid;</a:t>
            </a:r>
          </a:p>
          <a:p xmlns:a="http://schemas.openxmlformats.org/drawingml/2006/main">
            <a:pPr algn="l">
              <a:def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grid-template-columns: 220px 1fr;</a:t>
            </a:r>
          </a:p>
          <a:p xmlns:a="http://schemas.openxmlformats.org/drawingml/2006/main">
            <a:pPr algn="l">
              <a:def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grid-template-areas:</a:t>
            </a:r>
          </a:p>
          <a:p xmlns:a="http://schemas.openxmlformats.org/drawingml/2006/main">
            <a:pPr algn="l">
              <a:def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  "sidebar header"</a:t>
            </a:r>
          </a:p>
          <a:p xmlns:a="http://schemas.openxmlformats.org/drawingml/2006/main">
            <a:pPr algn="l">
              <a:def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  "sidebar main";</a:t>
            </a:r>
          </a:p>
          <a:p xmlns:a="http://schemas.openxmlformats.org/drawingml/2006/main">
            <a:pPr algn="l">
              <a:def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pPr algn="l">
              <a:def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.sidebar { grid-area: sidebar; }</a:t>
            </a:r>
          </a:p>
          <a:p xmlns:a="http://schemas.openxmlformats.org/drawingml/2006/main">
            <a:pPr algn="l">
              <a:def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.header  { grid-area: header; }</a:t>
            </a:r>
          </a:p>
          <a:p xmlns:a="http://schemas.openxmlformats.org/drawingml/2006/main">
            <a:pPr algn="l">
              <a:def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.main    { grid-area: main; }</a:t>
            </a:r>
          </a:p>
        </p:txBody>
      </p:sp>
    </p:spTree>
    <p:extLst>
      <p:ext uri="{BB962C8B-B14F-4D97-AF65-F5344CB8AC3E}">
        <p14:creationId xmlns:p14="http://schemas.microsoft.com/office/powerpoint/2010/main" val="21308515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93703-089A-45EB-9F6F-7242F46B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FFF71-124B-4198-8645-D374781F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63C49-9CF6-4412-A17F-3C0CE0C8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A44C3-7036-4BCE-8F63-E32A77D2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Auto-fit, auto-fill and minmax: a self-sizing card grid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68A9A-6F80-476D-AE03-F0AA0681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One line of CSS that adds and removes columns as the viewport changes — no breakpoints.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8173B-40F7-45E6-BC92-91A9D945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0C559-2A2C-4334-BD90-491B0344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ed0a5d15a4855"/>
          <a:srcRect xmlns:a="http://schemas.openxmlformats.org/drawingml/2006/main" l="0" t="22461" r="0" b="224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2381250"/>
            <a:ext cx="36576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8DF4E-20FD-47AB-A2FE-F072E2D3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666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37847-4181-4FA9-A013-9164BEDE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6324600" cy="1352550"/>
          </a:xfrm>
          <a:prstGeom xmlns:a="http://schemas.openxmlformats.org/drawingml/2006/main" prst="roundRect">
            <a:avLst>
              <a:gd name="adj" fmla="val 845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.gallery {</a:t>
            </a:r>
          </a:p>
          <a:p xmlns:a="http://schemas.openxmlformats.org/drawingml/2006/main">
            <a:pPr algn="l">
              <a:def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display: grid;</a:t>
            </a:r>
          </a:p>
          <a:p xmlns:a="http://schemas.openxmlformats.org/drawingml/2006/main">
            <a:pPr algn="l">
              <a:def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grid-template-columns:</a:t>
            </a:r>
          </a:p>
          <a:p xmlns:a="http://schemas.openxmlformats.org/drawingml/2006/main">
            <a:pPr algn="l">
              <a:def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  repeat(auto-fit, minmax(220px, 1fr));</a:t>
            </a:r>
          </a:p>
          <a:p xmlns:a="http://schemas.openxmlformats.org/drawingml/2006/main">
            <a:pPr algn="l">
              <a:def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gap: 1rem;</a:t>
            </a:r>
          </a:p>
          <a:p xmlns:a="http://schemas.openxmlformats.org/drawingml/2006/main">
            <a:pPr algn="l">
              <a:def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6D27F-F16A-408F-8553-719E61A7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6667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minmax(220px, 1fr) tells the browser: never shrink a track below 220px, but let it grow to fill remaining space. auto-fit collapses empty tracks so the last row of cards stretches instead of leaving a gap.</a:t>
            </a:r>
          </a:p>
        </p:txBody>
      </p:sp>
    </p:spTree>
    <p:extLst>
      <p:ext uri="{BB962C8B-B14F-4D97-AF65-F5344CB8AC3E}">
        <p14:creationId xmlns:p14="http://schemas.microsoft.com/office/powerpoint/2010/main" val="3167071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98B95-F9CA-4474-829C-15442E53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001FD-0B90-474A-B013-577F897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3791C-7399-4A16-A8EE-C3E93F04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E78CE-5DE3-47F5-BA72-F50D1BA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auto-fit vs auto-fill — the difference that trips people 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C8739-BF00-406E-A500-5F52FA1D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Both compute the same track count. They differ only when the grid has fewer items than tracks.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93159-BAA4-49C7-A329-EAE13E7B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15DC5-7FF3-4F75-A439-3AFCC87D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04780-E021-4D61-A299-3E645345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382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37A15-74E5-4A13-93CA-56437E56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16AA6-0280-4547-85BA-42B8260F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100012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auto-fit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9B9C4-621D-48C6-9CCF-AF1484CF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000125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Collapses unused tracks to 0 width — existing items stretch to fill the row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33957-0C8F-4336-81C3-55D6966A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0382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5EF29-E5B9-495F-BA9A-4EBEB7EA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00CB1-F18A-42FF-B55A-F54B4D61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0012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auto-fill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52DED-24B0-4EC3-A700-F6F4E1F1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1000125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Keeps unused tracks at their minmax minimum width, even if empty — items do not stretch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E9A4A-184B-4B83-B062-06651DF3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38225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 it: build a grid with 2 items and repeat(auto-fit/auto-fill, minmax(200px, 1fr)) inside a 900px container. auto-fit gives 2 wide items; auto-fill leaves visible empty tracks beside them.</a:t>
            </a:r>
          </a:p>
        </p:txBody>
      </p:sp>
    </p:spTree>
    <p:extLst>
      <p:ext uri="{BB962C8B-B14F-4D97-AF65-F5344CB8AC3E}">
        <p14:creationId xmlns:p14="http://schemas.microsoft.com/office/powerpoint/2010/main" val="15123725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E86DC9-3DEC-41CF-92BB-2BB0D1B1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CECDC-1D5D-4746-B69B-BAD24425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EA26B-3959-469E-9DA5-49B32627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B6AF0-1F9A-4C90-9E7D-2271AB69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Flexbox or grid — a decision rule, not a preference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F28CF-8A01-495C-AD41-79ED64FE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choice follows from the content's dimensionality, not from habit.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E64FF-BE8F-4DB0-8D46-9D891A4F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CE9B2-5CAA-4A0C-8B02-4A38B945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B53A3-976C-4447-AE52-D1722C6F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286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0EEE6-2445-491A-84A8-44F4443C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3D563-6CE9-449F-AB89-937C1CA2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9053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Choose flexbox 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404C8-51D8-46FC-AC67-81BD989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4905375" cy="1276350"/>
          </a:xfrm>
          <a:prstGeom xmlns:a="http://schemas.openxmlformats.org/drawingml/2006/main" prst="roundRect">
            <a:avLst>
              <a:gd name="adj" fmla="val 89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You are arranging items along one dimension and want their size to respond to their content — a nav bar, a button group, a tag list.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B86CF-BA10-4444-8187-2B4CE473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5286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83F7C-78FD-4DBC-BA9A-D03A57B7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479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A6257-F7AB-4018-9C6D-25117014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19400"/>
            <a:ext cx="49053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Choose grid when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C6E73-4AFF-48B8-A754-BEF97A6D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81350"/>
            <a:ext cx="4905375" cy="1276350"/>
          </a:xfrm>
          <a:prstGeom xmlns:a="http://schemas.openxmlformats.org/drawingml/2006/main" prst="roundRect">
            <a:avLst>
              <a:gd name="adj" fmla="val 89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You are arranging items along two dimensions at once, or need precise alignment between rows and columns — a page skeleton, a card gallery, a form.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944F2-69BD-4109-A7C4-923F2A65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0287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Rule of thumb: if you find yourself nesting flex containers to fake rows and columns together, that is the signal to switch to grid.</a:t>
            </a:r>
          </a:p>
        </p:txBody>
      </p:sp>
    </p:spTree>
    <p:extLst>
      <p:ext uri="{BB962C8B-B14F-4D97-AF65-F5344CB8AC3E}">
        <p14:creationId xmlns:p14="http://schemas.microsoft.com/office/powerpoint/2010/main" val="17226921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A9B8E-D93A-4E6F-9361-22B87483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13DFB-722A-4E3D-8F49-46EB5AD6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31BDF-43C4-45A9-A979-C06C7501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AC28A-259E-4974-8550-3BBA10B0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reading column: why measure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5034C-B21C-4C44-86C3-96A3B8E8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Line length, not font size, is the main lever for reading comfort in long-form 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E62FB-EA9E-4158-9AEF-0A482C18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BBDD5-C45D-4A94-BD97-E9D3C460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85fd2cde04f57"/>
          <a:srcRect xmlns:a="http://schemas.openxmlformats.org/drawingml/2006/main" l="0" t="4858" r="0" b="4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2381250"/>
            <a:ext cx="413385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65BE0-CB38-4FA0-AF3A-DC338B71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286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Typographic research puts comfortable measure (line length) around 45–75 characters, roughly 60ch in CSS. Below that, eyes jump lines too often; above it, they lose their place returning to the start of the next 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292E3-9312-4FF3-8C9A-D29F9717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628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90EDB-987A-4587-916F-1EEA48F7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5943600" cy="971550"/>
          </a:xfrm>
          <a:prstGeom xmlns:a="http://schemas.openxmlformats.org/drawingml/2006/main" prst="roundRect">
            <a:avLst>
              <a:gd name="adj" fmla="val 1176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.article p {</a:t>
            </a:r>
          </a:p>
          <a:p xmlns:a="http://schemas.openxmlformats.org/drawingml/2006/main">
            <a:pPr algn="l">
              <a:def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max-width: 60ch;</a:t>
            </a:r>
          </a:p>
          <a:p xmlns:a="http://schemas.openxmlformats.org/drawingml/2006/main">
            <a:pPr algn="l">
              <a:def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line-height: 1.6;</a:t>
            </a:r>
          </a:p>
          <a:p xmlns:a="http://schemas.openxmlformats.org/drawingml/2006/main">
            <a:pPr algn="l">
              <a:def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258649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3174B-7080-49C2-AB07-24FD05EC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54A63-3AE9-47D3-B084-239F6EDD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C4957-B6C2-4B81-8DB9-8A28FB17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41D20-F96D-4DE1-A578-0016888B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Multi-column layout: column-count and column-width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C0553-5FA2-4AA1-B8AF-4CD6AEBD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CSS can lay one flow of text into newspaper-style columns without touching the HTML.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DDD20-F756-4728-BBBA-B48FD5A9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4C8A6-D2F2-41BE-A0CF-1634EB6C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2893bff7a4798"/>
          <a:srcRect xmlns:a="http://schemas.openxmlformats.org/drawingml/2006/main" l="2130" t="0" r="21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381250"/>
            <a:ext cx="3848100" cy="26670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D5F19-040B-4842-9658-3EF70553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657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6E4F6-0124-4B0B-AE80-3C72D528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6229350" cy="1162050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.brief {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column-width: 22ch;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column-gap: 2rem;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column-rule: 1px solid #d7d0c4;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9ABAC-6032-4566-B4C9-218638DA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6572250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column-width sets an ideal column size; the browser fits as many columns as fit, then shares leftover width between them — the same responsive logic as auto-fit grid tracks, applied to text flow.</a:t>
            </a:r>
          </a:p>
        </p:txBody>
      </p:sp>
    </p:spTree>
    <p:extLst>
      <p:ext uri="{BB962C8B-B14F-4D97-AF65-F5344CB8AC3E}">
        <p14:creationId xmlns:p14="http://schemas.microsoft.com/office/powerpoint/2010/main" val="8277767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A631C-EB6A-4C42-AC99-75CDA50C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4D97E-A49B-4D75-98B3-D497E47D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5C209-C134-4AF3-ACD3-D55C6A63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FDCC1-6833-4B90-A0B5-E5905EFD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Narrow column vs multi-column: the actual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01DBC-18FE-4A10-8958-421192C9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webModules[3] asks you to compare these directly — here is the testable difference.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5520C-D0FE-446D-95E0-D80C4491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4D5FA-2075-4AD8-B1B1-454E3D4D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440CF-5626-4C62-91D2-395CFE9A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2095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Dimension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A378C-29FC-4329-B484-7D1FD618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95550"/>
            <a:ext cx="3619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Single reading column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E3CEB-848F-491D-8B93-2109B1A7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3810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Multi-column info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5FF6F-4030-4009-88D7-7B82176E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382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0E741-7613-47E7-B2FD-DD9A5314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Reading pattern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1FDF2-4226-4729-8DEB-806E49DE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90850"/>
            <a:ext cx="3619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One continuous vertical scroll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589F8-5761-4530-8BDA-C250F08A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38100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Zig-zag: down one column, jump to the top of the 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08914-3C7C-4476-BF90-7FB9D87F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DFBE0-522E-46C8-989C-59A17318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Best for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2E9FD-0048-48F7-8E97-B705DCC2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05250"/>
            <a:ext cx="3619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Long-form narrative prose meant to be read start to finish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91CC4-D496-42AC-9DC8-60E46839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38100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Reference or scannable content: glossaries, short news items, indexes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E5DB0-9432-4423-8062-1FF9FD59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2407F-876D-41CB-A8F4-ADEC7102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Failure mode if misused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DC3C4-466F-4975-976D-DCCF776F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9650"/>
            <a:ext cx="3619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Wastes width on a wide screen, feels empty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6266E-4D94-42D1-8596-2B927064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9650"/>
            <a:ext cx="38100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reader loses their place jumping between columns of long paragraphs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129AFA-62EE-4B3E-B7B6-48B8176E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45598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68E03-B61E-4323-BD59-825E36CF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88AB2-DA5E-4181-B67F-5B6D46B0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06740-34A8-4632-A262-78955CC1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3B318-B057-46D6-91E0-AB4C8F6D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Container queries: responding to the container, not the viewport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4031A-DA54-42FB-846A-0CC9115A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@container lets a component adapt to the space it actually has, wherever it is placed.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1D1A8-BE7A-49F9-9CC5-C31F4DFD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45639-905D-4909-B395-ED299CAC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53D37-C947-46BA-9E48-034110C0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038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02722-C46C-4427-86CF-7EDC117A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10039350" cy="154305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.card-wrapper { container-type: inline-size;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@container (min-width: 380px) {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.card { display: grid; grid-template-columns: 120px 1fr; }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CA8E4-B6B9-4C43-9E1A-78FE2CC5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382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media query asks “how wide is the browser window?”. A container query asks “how wide is my parent right now?” — the same .card component can sit in a 300px sidebar or a 900px main column and lay itself out correctly in each.</a:t>
            </a:r>
          </a:p>
        </p:txBody>
      </p:sp>
    </p:spTree>
    <p:extLst>
      <p:ext uri="{BB962C8B-B14F-4D97-AF65-F5344CB8AC3E}">
        <p14:creationId xmlns:p14="http://schemas.microsoft.com/office/powerpoint/2010/main" val="16642239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B421B-4E3F-4F0E-8349-A7B96325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B90E6-617C-408A-9A14-C3AB1EB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FB0BB-8C88-4E4B-B4C0-2DCD14DF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5B203-0986-467F-B4F9-10418B33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Layout bug 1 — collapsing margins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E9664-8AFF-427E-8949-CCA1C20E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Adjacent vertical margins between block siblings do not add; the larger one wins.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4629B-4E91-436E-BF59-419169C5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003CC-AE53-4FE3-ADFC-0FF970F3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16652-3B71-421A-95C3-A534E585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0382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56D0E-B817-4739-938B-30ED5026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10039350" cy="971550"/>
          </a:xfrm>
          <a:prstGeom xmlns:a="http://schemas.openxmlformats.org/drawingml/2006/main" prst="roundRect">
            <a:avLst>
              <a:gd name="adj" fmla="val 1176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&lt;div style="margin-bottom: 20px"&gt;First&lt;/div&gt;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&lt;div style="margin-top: 30px"&gt;Second&lt;/div&gt;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&lt;!-- gap between them is 30px, not 50px --&gt;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02E34-CC8E-4752-8B93-14B4631D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0382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44A5C-1031-403F-947A-D72CF9B0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772C3-1AB4-41BE-8282-9D8A0D84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0012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fix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83FE4-434C-4608-83A3-53002F3B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10001250" cy="704850"/>
          </a:xfrm>
          <a:prstGeom xmlns:a="http://schemas.openxmlformats.org/drawingml/2006/main" prst="roundRect">
            <a:avLst>
              <a:gd name="adj" fmla="val 1621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Give the parent display: flex, display: grid, or a non-zero border/padding — any of these opts the parent out of margin collapsing entirely.</a:t>
            </a:r>
          </a:p>
        </p:txBody>
      </p:sp>
    </p:spTree>
    <p:extLst>
      <p:ext uri="{BB962C8B-B14F-4D97-AF65-F5344CB8AC3E}">
        <p14:creationId xmlns:p14="http://schemas.microsoft.com/office/powerpoint/2010/main" val="14119975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3FD6C-F9F3-40F1-B031-BFB1E7A9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432FB-FA90-4DDE-8DA0-B59A4947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4ABFB-7865-4D18-AA36-AFC839D6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E7868-1FDC-4005-8CBC-059FDD4B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Layout bug 2 — the flex item that will not shrink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46C0D-0AE1-4D27-AFD8-E6562BF9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Flex items default to min-width: auto, which can override flex-shrink entirely.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E8F5C-2E05-45D3-9298-EC5D8AD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B367D-B561-406B-8541-331A88A2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3E7E4-BC84-4D24-9593-28309D56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038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B60A0-CE11-48BC-8F93-ACE209F1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10039350" cy="1162050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.row { display: flex; }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.row &gt; pre { flex: 1; }        /* long unbroken text still overflows */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.row &gt; pre { flex: 1; min-width: 0; } /* fix: now it wraps/scrolls inside */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9C922-1D5F-4AA0-B6F5-2B7B3992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10382250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flex or grid item's default min-width (and min-height, on the cross axis) is auto, meaning “never smaller than my content's intrinsic size.” A long unbroken string like a URL then forces the item wider than flex-shrink allows, and it overflows the row.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993B5-FECF-4F77-BA8D-A0D1DDD2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3822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Test it: put min-width: 0 back on the item and the same content wraps inside its column instead of pushing the layout wider.</a:t>
            </a:r>
          </a:p>
        </p:txBody>
      </p:sp>
    </p:spTree>
    <p:extLst>
      <p:ext uri="{BB962C8B-B14F-4D97-AF65-F5344CB8AC3E}">
        <p14:creationId xmlns:p14="http://schemas.microsoft.com/office/powerpoint/2010/main" val="4140954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85B9C-C9DD-4AF0-867B-B82A047C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57457-6EEB-445D-A36D-2356F97D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E0CE2-0345-473F-B5D7-A8F88A14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6E811-DB7F-405F-9382-73085DD6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Layout bug 3 — grid blowout from implicit tracks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C15A7-48B1-49F4-8F4C-D0704FD7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Content that does not fit an explicit grid creates new tracks the designer never sized.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8B11B-D263-42C4-8843-7F8DA4B9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1F13A-86A9-4DA7-BAD7-E6E47B12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A63E9-1D91-4868-8F30-8C65BE3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0382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19822-67CF-4693-ABB8-52CA56A2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10039350" cy="971550"/>
          </a:xfrm>
          <a:prstGeom xmlns:a="http://schemas.openxmlformats.org/drawingml/2006/main" prst="roundRect">
            <a:avLst>
              <a:gd name="adj" fmla="val 1176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.gallery { display: grid; grid-template-columns: repeat(3, 1fr); }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.gallery &gt; .wide { grid-column: span 5; } /* only 3 columns exist! */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069BE-2868-4908-847F-BD5F20D0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0382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B246A-4FDE-45FE-BCF2-A8826633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86E12-B342-4ECF-818B-0849B7C5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0012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fix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3DB2E-84B0-4336-87A8-E0006016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10001250" cy="704850"/>
          </a:xfrm>
          <a:prstGeom xmlns:a="http://schemas.openxmlformats.org/drawingml/2006/main" prst="roundRect">
            <a:avLst>
              <a:gd name="adj" fmla="val 1621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Constrain implicit tracks explicitly with grid-auto-columns, or clamp spans with min(5, 3) logic in code before the value reaches CSS, so a span can never exceed the defined column count.</a:t>
            </a:r>
          </a:p>
        </p:txBody>
      </p:sp>
    </p:spTree>
    <p:extLst>
      <p:ext uri="{BB962C8B-B14F-4D97-AF65-F5344CB8AC3E}">
        <p14:creationId xmlns:p14="http://schemas.microsoft.com/office/powerpoint/2010/main" val="108385871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B6E1C-9533-4DDB-944A-C8CA4DAB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F9525-EDCE-41B9-9929-FAB6726F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4CF49-C479-41D0-AF07-00C1F1B9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9F4BE-B2F0-4228-9633-56554816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Before / after: refactoring a float-based layout to grid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66450-3BC4-49E4-B5DC-0DD7B68E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historical technique this replaces, and why the replacement is more robust.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FF89E-3DE7-4002-93E3-4952A0AA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FD6E6-D2BB-4EF3-A747-9F765FA1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0b6e8928d4437"/>
          <a:srcRect xmlns:a="http://schemas.openxmlformats.org/drawingml/2006/main" l="3498" t="0" r="34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381250"/>
            <a:ext cx="38481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7AF06-DEB1-4548-A885-CAF3340E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657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D3A4B-85C2-41A8-8EDC-1B5957AB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6229350" cy="154305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/* before: float + clearfix */</a:t>
            </a:r>
          </a:p>
          <a:p xmlns:a="http://schemas.openxmlformats.org/drawingml/2006/main">
            <a:pPr algn="l">
              <a:defRPr sz="105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.sidebar { float: left;  width: 220px; }</a:t>
            </a:r>
          </a:p>
          <a:p xmlns:a="http://schemas.openxmlformats.org/drawingml/2006/main">
            <a:pPr algn="l">
              <a:defRPr sz="105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.main    { margin-left: 240px; }</a:t>
            </a:r>
          </a:p>
          <a:p xmlns:a="http://schemas.openxmlformats.org/drawingml/2006/main">
            <a:pPr algn="l">
              <a:defRPr sz="105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.row::after { content: ""; display: block; clear: both; }</a:t>
            </a:r>
          </a:p>
        </p:txBody>
      </p:sp>
    </p:spTree>
    <p:extLst>
      <p:ext uri="{BB962C8B-B14F-4D97-AF65-F5344CB8AC3E}">
        <p14:creationId xmlns:p14="http://schemas.microsoft.com/office/powerpoint/2010/main" val="494621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EFD10-2868-4873-9056-0098F4C4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D34BF-2F0C-439C-A9A9-1D04EC0E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A5DCA-A73F-4A7E-877F-CF5DA2F2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4AFF0-8030-4073-BF07-43FA8304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grid version — same result, no clearfix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4352A-F5F9-4A00-A4C0-E8889C52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grid-template-columns replaces float, width and the clearfix hack in one declaration.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43133-E2B1-4560-89DB-AEB04B0E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3FCFA-5B37-4195-BD03-E857D5BB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5B554-CEDA-4DCD-BE1A-30D9A999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590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B24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F04D0-AE28-4153-8386-9412E714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5562600" cy="1828800"/>
          </a:xfrm>
          <a:prstGeom xmlns:a="http://schemas.openxmlformats.org/drawingml/2006/main" prst="roundRect">
            <a:avLst>
              <a:gd name="adj" fmla="val 62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/* after: grid */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.row {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display: grid;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grid-template-columns: 220px 1fr;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  gap: 1.5rem;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pPr algn="l">
              <a:def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7EEF2"/>
                </a:solidFill>
                <a:latin typeface="Courier New"/>
                <a:ea typeface="Courier New"/>
                <a:cs typeface="Courier New"/>
              </a:rPr>
              <a:t>.sidebar { /* no float, no width hack needed */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63F88-74B6-4F8A-A442-AF5B67CA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4038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CCFA7-28A2-4BB8-A1EC-130C081B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2D0CC-33F3-4397-A34C-A56424B0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36576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improved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5240D-2C3F-48D7-921C-76E070DD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3657600" cy="1181100"/>
          </a:xfrm>
          <a:prstGeom xmlns:a="http://schemas.openxmlformats.org/drawingml/2006/main" prst="roundRect">
            <a:avLst>
              <a:gd name="adj" fmla="val 96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main column's height is no longer independent of the sidebar's; both sit in one grid row and stay aligned even if either one's content changes length.</a:t>
            </a:r>
          </a:p>
        </p:txBody>
      </p:sp>
    </p:spTree>
    <p:extLst>
      <p:ext uri="{BB962C8B-B14F-4D97-AF65-F5344CB8AC3E}">
        <p14:creationId xmlns:p14="http://schemas.microsoft.com/office/powerpoint/2010/main" val="133906281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75DA5-B5CC-4F19-9252-C49AD28F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4597D-7EAD-46B6-859B-55F7EE66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CC567-AC98-44A8-9298-7E48BA55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DCE59-98E4-4031-96A2-502C9527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Debugging layout in DevTools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B6B78-E1D6-4A6C-B5B7-621CB2F2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Both flex and grid have dedicated, official inspector overlays — use them before guessing.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AACA7-FBCC-4149-914A-9AD9CFB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FBA2D-8BBC-45BB-9F15-A62DE5AC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a31b5731745e9"/>
          <a:srcRect xmlns:a="http://schemas.openxmlformats.org/drawingml/2006/main" l="0" t="4337" r="0" b="43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EB733-B8A6-45A6-93D7-2AA97FB2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E2555-27AF-492D-8CF8-0C28E0B4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479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65B4B-E1BA-492C-93D0-A83F2FF0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28875"/>
            <a:ext cx="61341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Select the container element, then click the flex or grid badge next to its display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E6C91-E064-49D0-B501-30BFEB65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9141D-CF7D-4426-8FD6-91361C6B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AE277-9A9D-40C3-BDEE-B2BFC05F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71825"/>
            <a:ext cx="61341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Toggle the overlay to see track/line numbers and item boundaries drawn directly on the page.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D84FC-F75C-4F11-8997-2FF17EA7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B9EFA-3FEE-4353-AAE9-B7706F89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338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967B9-DB9D-4896-A511-5AC199F6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61341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Open the Layout or Flex panel to read each item's resolved size, not just its declared CSS.</a:t>
            </a:r>
          </a:p>
        </p:txBody>
      </p:sp>
    </p:spTree>
    <p:extLst>
      <p:ext uri="{BB962C8B-B14F-4D97-AF65-F5344CB8AC3E}">
        <p14:creationId xmlns:p14="http://schemas.microsoft.com/office/powerpoint/2010/main" val="121908737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56327-8E5C-42ED-A46C-B5C8FD9B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9263D-A3D3-440E-8CD1-3BED6E08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4492B-765A-46EE-ABED-6E3D0621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AED8C-BC39-49E2-8904-7FB01425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Image sources and licenses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D5D5B-5CA7-4B93-92A5-2C8AB454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photograph in this deck is CC0, public domain, or otherwise unrestricted, sourced from Wikimedia Commons.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49E48-2019-412E-BD70-0D8656B2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7B791-815B-43E9-B5E5-7CDBE0C9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7FB0D-8F2E-4393-BD47-AC36B312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619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File:Key West Citizen newspaper front page 12 June 1908.jpg — Public domain, Florida Keys--Public Libraries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11190-8B59-430F-88B4-80EEF60B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5619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File:School Begins (Puck Magazine 1-25-1899).jpg — Public domain, Louis Dalrymple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799B5-12C0-492C-B79A-E51A908D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619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File:Norcon blueprint section.jpg — Public domain, HM Government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54B02-297F-4968-9A79-FC6BE08D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5619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File:Canadian law books on shelf (31089552820).jpg — CC0, David Whelan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EC06B-13C1-4514-BB3E-486F42B6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5619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35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File:Rotary printing press machine, Asahi-Shinbun, 1932.jpg — Public domain, Unknown authorUnknown author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55768-7B92-429A-B200-C6950E34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5619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File:Min (web browser) 1.5.1 tests Acid3 screenshot.png — Public domain, Jayvee Enaguas (HarvettFox96)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FD379-8740-4C82-84E5-D1141EF6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85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42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File:Movie theater seats (Unsplash).jpg — CC0, Elijah Flores baesik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CB7DA8-A361-497E-99EF-659A27EA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43200"/>
            <a:ext cx="285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092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File:Reflective skyscraper windows (Unsplash).jpg — CC0, Redd Angelo reddangelo16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31E82-C462-4DD5-B76C-5CDD19AE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285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473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File:CSS code on a screen (Unsplash).jpg — CC0, Sai Kiran Anagani _imkiran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F1E71-B835-4DFC-BE8F-7F17D3A7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67100"/>
            <a:ext cx="285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67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File:Aerial view of the Seattle Center, Seattle, Washington (4860575885).jpg — No restrictions, UW Digital Collections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5B3A4-0729-4085-A77A-418AA494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285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67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File:Man with smartphone and laptop (Unsplash).jpg — CC0, Alejandro Escamilla alejandroescamilla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c41eddde745bd"/>
          <a:srcRect xmlns:a="http://schemas.openxmlformats.org/drawingml/2006/main" l="0" t="18510" r="0" b="18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0" y="24193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f7f995d084241"/>
          <a:srcRect xmlns:a="http://schemas.openxmlformats.org/drawingml/2006/main" l="7778" t="0" r="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0" y="4000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809134-99FE-4C6A-BA28-1904FDA1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85725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Full description-page URLs are recorded in each slide's speaker notes. All images accessed 13 September 2026.</a:t>
            </a:r>
          </a:p>
        </p:txBody>
      </p:sp>
    </p:spTree>
    <p:extLst>
      <p:ext uri="{BB962C8B-B14F-4D97-AF65-F5344CB8AC3E}">
        <p14:creationId xmlns:p14="http://schemas.microsoft.com/office/powerpoint/2010/main" val="41588102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A2634-9D14-4D58-B23C-2F65BC8B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CFC17-3583-41BB-B60F-D7B0D762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FD7D6-7878-4BFE-A7B6-1D610393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09082-3317-43C0-AE26-D0384A04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Studio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5342F-07E6-4368-9C0A-B4E25F02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Build both layout systems in the same page and justify each choice in writing.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82E19-0DE8-4319-8406-FADA8F4C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4BFFD-6AB2-4697-AE76-8E4421B6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9667C-A68A-4540-8B31-80160CBD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631B2-BFF1-4FD8-8EA5-F58BE2AD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8191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11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 a page with a flexbox navigation bar (logo left, links right, wraps below 600px) and a CSS Grid card gallery below it (auto-fit, minmax(220px, 1fr)).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CA86D-3A87-42BF-BC5D-10CF876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2082A-F032-44CC-877F-91A9F1A9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819150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31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No fixed pixel widths on the cards. No media queries in the gallery. The nav must not overflow at 320px wide.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00F4D-C37C-4D8E-A623-AF20F83F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000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Evidence to submit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82389-2785-4867-9099-03DD3890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76700"/>
            <a:ext cx="8191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 screenshot at 375px and 1440px, your CSS, and 100 words justifying flexbox for the nav and grid for the gallery using this lecture's decision rule.</a:t>
            </a:r>
          </a:p>
        </p:txBody>
      </p:sp>
    </p:spTree>
    <p:extLst>
      <p:ext uri="{BB962C8B-B14F-4D97-AF65-F5344CB8AC3E}">
        <p14:creationId xmlns:p14="http://schemas.microsoft.com/office/powerpoint/2010/main" val="97896059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23528-553A-4695-93A8-2ECEA877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18BBA-D7A4-4527-A9FB-F6FBE52B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1FD4C-01F8-49E3-BD8B-83981682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0C373-0FFD-44BE-A333-06E712FF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Review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76A7E-E669-466D-889C-81D0E5A3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How your studio submission is assessed.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B4895-AE8A-43F0-BCB0-E61BAA46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57B90-5BDF-4CC0-B048-8DF72ED3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8C33D-AEA3-4115-8D06-07826589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Correctness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C476A-3EEF-44C0-9780-F0507E5A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74295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Layout matches the brief at both 375px and 1440px without horizontal overflow.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6C788-4656-4115-B141-72501D00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4B72F-23EE-4A00-BA1C-6E4513C1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System choice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DA453-2D21-40D0-9DC7-7E48A066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38500"/>
            <a:ext cx="74295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Flexbox used for the one-dimensional nav; grid used for the two-dimensional gallery.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40023-60B7-4C1D-BED3-0D6D25A8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9B971-BDEA-41AF-9328-84F7F427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Robustness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01F78-FB0E-4EB4-851D-ED2D4958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81450"/>
            <a:ext cx="74295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No fixed pixel widths on cards; the gallery re-flows correctly as items are added or removed.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AE261-88BD-4452-93A1-48AF4563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EF038-2446-432C-842E-3A8E5497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Justification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612F6-8244-456E-9F1E-02D1DB14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24400"/>
            <a:ext cx="74295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Written explanation correctly applies the flexbox-vs-grid decision rule to this specific layout.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BEDDA-A918-44ED-92FD-C3562293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478547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2818B-66BC-495F-9F3C-7343552C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91093-6EE8-4165-88C7-50029C28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1DF7A-6FAD-4FFC-8A18-52B46AFC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5B054-A39E-45E6-AD92-276003C2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Further practice and preparation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3D05F-AA05-4E49-BC0E-B3ACDC47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Before next session.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A3767-DB94-4B08-883D-93AE65F2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F4568-66BA-48DC-90E1-940B6A28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C34D5-FD05-4A65-A0F2-D071B1C2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Flexbox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EC6DA-B7B1-4463-9FFD-2E8231DD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287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80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MDN, Basic concepts of flexbox: https://developer.mozilla.org/en-US/docs/Web/CSS/CSS_flexible_box_layout/Basic_concepts_of_flexbox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14AD5-1D00-4C8E-9EF8-14BF60BC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Grid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29C45-3DD2-4262-9F1B-872DBE62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287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80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MDN, Basic concepts of grid layout: https://developer.mozilla.org/en-US/docs/Web/CSS/CSS_grid_layout/Basic_concepts_of_grid_layout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5CF22-1806-4BF1-BE5A-E8D93716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Container queries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D8DDF-95D2-4264-86B4-23ACBB37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287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80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MDN, CSS container queries: https://developer.mozilla.org/en-US/docs/Web/CSS/CSS_containment/Container_queries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786F9-37B3-4E92-A8DC-DB296929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Bring to Week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4E7A5-2B42-421F-95E5-E8E0BE7D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906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38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One page of your studio build printed or screenshotted, ready to critique in session.</a:t>
            </a:r>
          </a:p>
        </p:txBody>
      </p:sp>
    </p:spTree>
    <p:extLst>
      <p:ext uri="{BB962C8B-B14F-4D97-AF65-F5344CB8AC3E}">
        <p14:creationId xmlns:p14="http://schemas.microsoft.com/office/powerpoint/2010/main" val="20907003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8B51C-0D09-4841-BA48-76794176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506C0-3672-42CB-901E-44708DD8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27C8D-5083-44E0-9364-213672C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1500"/>
            <a:ext cx="2095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  /  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8B9C5-C5EC-49CE-9723-2973F375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Next week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8595D-5087-4BA0-9DDF-7D504930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5727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From layout to typography and colour — making the page you can now build easy to read.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8FFD1-F16A-4E71-931B-5394A1FD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E7422-8031-4B8B-8257-DD5DF63C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97915-3C35-4DE5-8D56-6CDCB988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38225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4 gave you the structural tools: normal flow as the default, flexbox for one dimension, grid for two, and the reading-column vs multi-column decision for long-form and reference content.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1A49E-94A3-42C1-917E-092109EC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0382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5EF69-2041-427E-B727-37B8117B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BAD6A-5CA3-42C2-85DF-6743F2B9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0012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5 preview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9D236-DA55-485A-B3A4-0AE2EFCC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10001250" cy="704850"/>
          </a:xfrm>
          <a:prstGeom xmlns:a="http://schemas.openxmlformats.org/drawingml/2006/main" prst="roundRect">
            <a:avLst>
              <a:gd name="adj" fmla="val 1621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Typography, colour and visual hierarchy — how type scale, contrast and whitespace make a correctly laid-out page comfortable to actually read.</a:t>
            </a:r>
          </a:p>
        </p:txBody>
      </p:sp>
    </p:spTree>
    <p:extLst>
      <p:ext uri="{BB962C8B-B14F-4D97-AF65-F5344CB8AC3E}">
        <p14:creationId xmlns:p14="http://schemas.microsoft.com/office/powerpoint/2010/main" val="420090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2026-09-13T07:34:14.9640000Z</dcterms:created>
  <dcterms:modified xsi:type="dcterms:W3CDTF">2026-09-13T07:34:14.9640000Z</dcterms:modified>
</coreProperties>
</file>