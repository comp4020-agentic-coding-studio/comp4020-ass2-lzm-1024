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475e8772548e2" /><Relationship Type="http://schemas.openxmlformats.org/officeDocument/2006/relationships/extended-properties" Target="/docProps/app.xml" Id="R5b7e757a7c384a09" /><Relationship Type="http://schemas.openxmlformats.org/officeDocument/2006/relationships/officeDocument" Target="/ppt/presentation.xml" Id="Rb18b4c54f96f49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33fce26b944de5"/>
  </p:sldMasterIdLst>
  <p:notesMasterIdLst>
    <p:notesMasterId xmlns:r="http://schemas.openxmlformats.org/officeDocument/2006/relationships" r:id="Ra5e33254d8af4f96"/>
  </p:notesMasterIdLst>
  <p:sldIdLst>
    <p:sldId xmlns:r="http://schemas.openxmlformats.org/officeDocument/2006/relationships" id="256" r:id="R1394ac5d9aec4d20"/>
    <p:sldId xmlns:r="http://schemas.openxmlformats.org/officeDocument/2006/relationships" id="257" r:id="Rc957057f0e9f4c97"/>
    <p:sldId xmlns:r="http://schemas.openxmlformats.org/officeDocument/2006/relationships" id="258" r:id="R860b5e2c41794f0c"/>
    <p:sldId xmlns:r="http://schemas.openxmlformats.org/officeDocument/2006/relationships" id="259" r:id="R1ebb0fe957ff4235"/>
    <p:sldId xmlns:r="http://schemas.openxmlformats.org/officeDocument/2006/relationships" id="260" r:id="Rd879118154fa4168"/>
    <p:sldId xmlns:r="http://schemas.openxmlformats.org/officeDocument/2006/relationships" id="261" r:id="Rb29ebd7bf9a44801"/>
    <p:sldId xmlns:r="http://schemas.openxmlformats.org/officeDocument/2006/relationships" id="262" r:id="Rac667ad56ca44473"/>
    <p:sldId xmlns:r="http://schemas.openxmlformats.org/officeDocument/2006/relationships" id="263" r:id="Rffad3db5941f498c"/>
    <p:sldId xmlns:r="http://schemas.openxmlformats.org/officeDocument/2006/relationships" id="264" r:id="R443d7d552c00474a"/>
    <p:sldId xmlns:r="http://schemas.openxmlformats.org/officeDocument/2006/relationships" id="265" r:id="R4c51951e6e3342f6"/>
    <p:sldId xmlns:r="http://schemas.openxmlformats.org/officeDocument/2006/relationships" id="266" r:id="R1535ce1654e5408e"/>
    <p:sldId xmlns:r="http://schemas.openxmlformats.org/officeDocument/2006/relationships" id="267" r:id="Ra93e804a9a6640bd"/>
    <p:sldId xmlns:r="http://schemas.openxmlformats.org/officeDocument/2006/relationships" id="268" r:id="R11e44f3af06e4913"/>
    <p:sldId xmlns:r="http://schemas.openxmlformats.org/officeDocument/2006/relationships" id="269" r:id="R363c5dc58ac14726"/>
    <p:sldId xmlns:r="http://schemas.openxmlformats.org/officeDocument/2006/relationships" id="270" r:id="R5a5b3282d1494eef"/>
    <p:sldId xmlns:r="http://schemas.openxmlformats.org/officeDocument/2006/relationships" id="271" r:id="R9727381c31d64c67"/>
    <p:sldId xmlns:r="http://schemas.openxmlformats.org/officeDocument/2006/relationships" id="272" r:id="Re4416bce5a584968"/>
    <p:sldId xmlns:r="http://schemas.openxmlformats.org/officeDocument/2006/relationships" id="273" r:id="Rbe31b7e492c740fc"/>
    <p:sldId xmlns:r="http://schemas.openxmlformats.org/officeDocument/2006/relationships" id="274" r:id="R48f45e46f9ae4265"/>
    <p:sldId xmlns:r="http://schemas.openxmlformats.org/officeDocument/2006/relationships" id="275" r:id="R9c194804208b4725"/>
    <p:sldId xmlns:r="http://schemas.openxmlformats.org/officeDocument/2006/relationships" id="276" r:id="R5e9f7e02a8064d40"/>
    <p:sldId xmlns:r="http://schemas.openxmlformats.org/officeDocument/2006/relationships" id="277" r:id="R5f21e0d7aad348cf"/>
    <p:sldId xmlns:r="http://schemas.openxmlformats.org/officeDocument/2006/relationships" id="278" r:id="R939e76993a3a4382"/>
    <p:sldId xmlns:r="http://schemas.openxmlformats.org/officeDocument/2006/relationships" id="279" r:id="Rd5c9b8cc2a6b403e"/>
    <p:sldId xmlns:r="http://schemas.openxmlformats.org/officeDocument/2006/relationships" id="280" r:id="Rde5325b064704950"/>
    <p:sldId xmlns:r="http://schemas.openxmlformats.org/officeDocument/2006/relationships" id="281" r:id="R5c2cc84c34c84327"/>
    <p:sldId xmlns:r="http://schemas.openxmlformats.org/officeDocument/2006/relationships" id="282" r:id="R8a8051d04a534249"/>
    <p:sldId xmlns:r="http://schemas.openxmlformats.org/officeDocument/2006/relationships" id="283" r:id="R3f06cc4844384291"/>
    <p:sldId xmlns:r="http://schemas.openxmlformats.org/officeDocument/2006/relationships" id="284" r:id="Rf6af983a7098418c"/>
    <p:sldId xmlns:r="http://schemas.openxmlformats.org/officeDocument/2006/relationships" id="285" r:id="R27945e65404b48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dfb1b99a94457" /><Relationship Type="http://schemas.openxmlformats.org/officeDocument/2006/relationships/slideMaster" Target="/ppt/slideMasters/slideMaster1.xml" Id="R0c33fce26b944de5" /><Relationship Type="http://schemas.openxmlformats.org/officeDocument/2006/relationships/notesMaster" Target="/ppt/notesMasters/notesMaster1.xml" Id="Ra5e33254d8af4f96" /><Relationship Type="http://schemas.openxmlformats.org/officeDocument/2006/relationships/presProps" Target="/ppt/presProps.xml" Id="R64c74fd585884389" /><Relationship Type="http://schemas.openxmlformats.org/officeDocument/2006/relationships/tableStyles" Target="/ppt/tableStyles.xml" Id="R45acc8bdd45c412f" /><Relationship Type="http://schemas.openxmlformats.org/officeDocument/2006/relationships/slide" Target="/ppt/slides/slide1.xml" Id="R1394ac5d9aec4d20" /><Relationship Type="http://schemas.openxmlformats.org/officeDocument/2006/relationships/slide" Target="/ppt/slides/slide2.xml" Id="Rc957057f0e9f4c97" /><Relationship Type="http://schemas.openxmlformats.org/officeDocument/2006/relationships/slide" Target="/ppt/slides/slide3.xml" Id="R860b5e2c41794f0c" /><Relationship Type="http://schemas.openxmlformats.org/officeDocument/2006/relationships/slide" Target="/ppt/slides/slide4.xml" Id="R1ebb0fe957ff4235" /><Relationship Type="http://schemas.openxmlformats.org/officeDocument/2006/relationships/slide" Target="/ppt/slides/slide5.xml" Id="Rd879118154fa4168" /><Relationship Type="http://schemas.openxmlformats.org/officeDocument/2006/relationships/slide" Target="/ppt/slides/slide6.xml" Id="Rb29ebd7bf9a44801" /><Relationship Type="http://schemas.openxmlformats.org/officeDocument/2006/relationships/slide" Target="/ppt/slides/slide7.xml" Id="Rac667ad56ca44473" /><Relationship Type="http://schemas.openxmlformats.org/officeDocument/2006/relationships/slide" Target="/ppt/slides/slide8.xml" Id="Rffad3db5941f498c" /><Relationship Type="http://schemas.openxmlformats.org/officeDocument/2006/relationships/slide" Target="/ppt/slides/slide9.xml" Id="R443d7d552c00474a" /><Relationship Type="http://schemas.openxmlformats.org/officeDocument/2006/relationships/slide" Target="/ppt/slides/slide10.xml" Id="R4c51951e6e3342f6" /><Relationship Type="http://schemas.openxmlformats.org/officeDocument/2006/relationships/slide" Target="/ppt/slides/slide11.xml" Id="R1535ce1654e5408e" /><Relationship Type="http://schemas.openxmlformats.org/officeDocument/2006/relationships/slide" Target="/ppt/slides/slide12.xml" Id="Ra93e804a9a6640bd" /><Relationship Type="http://schemas.openxmlformats.org/officeDocument/2006/relationships/slide" Target="/ppt/slides/slide13.xml" Id="R11e44f3af06e4913" /><Relationship Type="http://schemas.openxmlformats.org/officeDocument/2006/relationships/slide" Target="/ppt/slides/slide14.xml" Id="R363c5dc58ac14726" /><Relationship Type="http://schemas.openxmlformats.org/officeDocument/2006/relationships/slide" Target="/ppt/slides/slide15.xml" Id="R5a5b3282d1494eef" /><Relationship Type="http://schemas.openxmlformats.org/officeDocument/2006/relationships/slide" Target="/ppt/slides/slide16.xml" Id="R9727381c31d64c67" /><Relationship Type="http://schemas.openxmlformats.org/officeDocument/2006/relationships/slide" Target="/ppt/slides/slide17.xml" Id="Re4416bce5a584968" /><Relationship Type="http://schemas.openxmlformats.org/officeDocument/2006/relationships/slide" Target="/ppt/slides/slide18.xml" Id="Rbe31b7e492c740fc" /><Relationship Type="http://schemas.openxmlformats.org/officeDocument/2006/relationships/slide" Target="/ppt/slides/slide19.xml" Id="R48f45e46f9ae4265" /><Relationship Type="http://schemas.openxmlformats.org/officeDocument/2006/relationships/slide" Target="/ppt/slides/slide20.xml" Id="R9c194804208b4725" /><Relationship Type="http://schemas.openxmlformats.org/officeDocument/2006/relationships/slide" Target="/ppt/slides/slide21.xml" Id="R5e9f7e02a8064d40" /><Relationship Type="http://schemas.openxmlformats.org/officeDocument/2006/relationships/slide" Target="/ppt/slides/slide22.xml" Id="R5f21e0d7aad348cf" /><Relationship Type="http://schemas.openxmlformats.org/officeDocument/2006/relationships/slide" Target="/ppt/slides/slide23.xml" Id="R939e76993a3a4382" /><Relationship Type="http://schemas.openxmlformats.org/officeDocument/2006/relationships/slide" Target="/ppt/slides/slide24.xml" Id="Rd5c9b8cc2a6b403e" /><Relationship Type="http://schemas.openxmlformats.org/officeDocument/2006/relationships/slide" Target="/ppt/slides/slide25.xml" Id="Rde5325b064704950" /><Relationship Type="http://schemas.openxmlformats.org/officeDocument/2006/relationships/slide" Target="/ppt/slides/slide26.xml" Id="R5c2cc84c34c84327" /><Relationship Type="http://schemas.openxmlformats.org/officeDocument/2006/relationships/slide" Target="/ppt/slides/slide27.xml" Id="R8a8051d04a534249" /><Relationship Type="http://schemas.openxmlformats.org/officeDocument/2006/relationships/slide" Target="/ppt/slides/slide28.xml" Id="R3f06cc4844384291" /><Relationship Type="http://schemas.openxmlformats.org/officeDocument/2006/relationships/slide" Target="/ppt/slides/slide29.xml" Id="Rf6af983a7098418c" /><Relationship Type="http://schemas.openxmlformats.org/officeDocument/2006/relationships/slide" Target="/ppt/slides/slide30.xml" Id="R27945e65404b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03078cb50c4e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5da4868a5442c5" /><Relationship Type="http://schemas.openxmlformats.org/officeDocument/2006/relationships/notesMaster" Target="/ppt/notesMasters/notesMaster1.xml" Id="R61b174d901134c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8cff1b59004c97" /><Relationship Type="http://schemas.openxmlformats.org/officeDocument/2006/relationships/notesMaster" Target="/ppt/notesMasters/notesMaster1.xml" Id="R4a7c497c593448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fab2d989fc4678" /><Relationship Type="http://schemas.openxmlformats.org/officeDocument/2006/relationships/notesMaster" Target="/ppt/notesMasters/notesMaster1.xml" Id="Rf08d95b85ac449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3550221895420e" /><Relationship Type="http://schemas.openxmlformats.org/officeDocument/2006/relationships/notesMaster" Target="/ppt/notesMasters/notesMaster1.xml" Id="R8ac19ce50846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e3d828707b4b02" /><Relationship Type="http://schemas.openxmlformats.org/officeDocument/2006/relationships/notesMaster" Target="/ppt/notesMasters/notesMaster1.xml" Id="Rc51e5335e6794c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b42be86a5247e4" /><Relationship Type="http://schemas.openxmlformats.org/officeDocument/2006/relationships/notesMaster" Target="/ppt/notesMasters/notesMaster1.xml" Id="Ra0ef15d8385649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366de2632c4195" /><Relationship Type="http://schemas.openxmlformats.org/officeDocument/2006/relationships/notesMaster" Target="/ppt/notesMasters/notesMaster1.xml" Id="Rb42b271933e94a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7deb56327f43d7" /><Relationship Type="http://schemas.openxmlformats.org/officeDocument/2006/relationships/notesMaster" Target="/ppt/notesMasters/notesMaster1.xml" Id="R03c227dbdaa548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315e4c81a34911" /><Relationship Type="http://schemas.openxmlformats.org/officeDocument/2006/relationships/notesMaster" Target="/ppt/notesMasters/notesMaster1.xml" Id="R4f1a4514200648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6f134212064e5d" /><Relationship Type="http://schemas.openxmlformats.org/officeDocument/2006/relationships/notesMaster" Target="/ppt/notesMasters/notesMaster1.xml" Id="Rf01dfcd3039741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b0776a76bd4526" /><Relationship Type="http://schemas.openxmlformats.org/officeDocument/2006/relationships/notesMaster" Target="/ppt/notesMasters/notesMaster1.xml" Id="Rd6f536a79d374e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adf534a8b4146" /><Relationship Type="http://schemas.openxmlformats.org/officeDocument/2006/relationships/notesMaster" Target="/ppt/notesMasters/notesMaster1.xml" Id="Rf5cbe8cd5a294e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08d5519a364cf8" /><Relationship Type="http://schemas.openxmlformats.org/officeDocument/2006/relationships/notesMaster" Target="/ppt/notesMasters/notesMaster1.xml" Id="Rab12ad7e425043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931b0b27c64de9" /><Relationship Type="http://schemas.openxmlformats.org/officeDocument/2006/relationships/notesMaster" Target="/ppt/notesMasters/notesMaster1.xml" Id="Rbd1dcd33e91640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ad76daa7df4c66" /><Relationship Type="http://schemas.openxmlformats.org/officeDocument/2006/relationships/notesMaster" Target="/ppt/notesMasters/notesMaster1.xml" Id="Rb74b83e4f34e47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afa58c2b6e4be4" /><Relationship Type="http://schemas.openxmlformats.org/officeDocument/2006/relationships/notesMaster" Target="/ppt/notesMasters/notesMaster1.xml" Id="Rd31351e129d443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dd28f5f5754242" /><Relationship Type="http://schemas.openxmlformats.org/officeDocument/2006/relationships/notesMaster" Target="/ppt/notesMasters/notesMaster1.xml" Id="Rc46583d5decf44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bf1270c6014475" /><Relationship Type="http://schemas.openxmlformats.org/officeDocument/2006/relationships/notesMaster" Target="/ppt/notesMasters/notesMaster1.xml" Id="R1867fd39d9604e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a06339161042b3" /><Relationship Type="http://schemas.openxmlformats.org/officeDocument/2006/relationships/notesMaster" Target="/ppt/notesMasters/notesMaster1.xml" Id="R6564fdf943714b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088c69f02d4f71" /><Relationship Type="http://schemas.openxmlformats.org/officeDocument/2006/relationships/notesMaster" Target="/ppt/notesMasters/notesMaster1.xml" Id="R929a2b7194e649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bec14ef4d94bae" /><Relationship Type="http://schemas.openxmlformats.org/officeDocument/2006/relationships/notesMaster" Target="/ppt/notesMasters/notesMaster1.xml" Id="Rb7a3edf3c3264c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90f784280a41b9" /><Relationship Type="http://schemas.openxmlformats.org/officeDocument/2006/relationships/notesMaster" Target="/ppt/notesMasters/notesMaster1.xml" Id="Raea783f6d5e84c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a098f936024dee" /><Relationship Type="http://schemas.openxmlformats.org/officeDocument/2006/relationships/notesMaster" Target="/ppt/notesMasters/notesMaster1.xml" Id="R77e08ad62f6c43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ca5b1bbf774b30" /><Relationship Type="http://schemas.openxmlformats.org/officeDocument/2006/relationships/notesMaster" Target="/ppt/notesMasters/notesMaster1.xml" Id="Rc4b88293dc494e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ef783cce23c41ec" /><Relationship Type="http://schemas.openxmlformats.org/officeDocument/2006/relationships/notesMaster" Target="/ppt/notesMasters/notesMaster1.xml" Id="Rc6907d0a58a84e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f315fc3528542ad" /><Relationship Type="http://schemas.openxmlformats.org/officeDocument/2006/relationships/notesMaster" Target="/ppt/notesMasters/notesMaster1.xml" Id="Rd6752a2b0acc4b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0fc2e309b564d51" /><Relationship Type="http://schemas.openxmlformats.org/officeDocument/2006/relationships/notesMaster" Target="/ppt/notesMasters/notesMaster1.xml" Id="R4dec2a264ffb4d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13d0d3f4d54287" /><Relationship Type="http://schemas.openxmlformats.org/officeDocument/2006/relationships/notesMaster" Target="/ppt/notesMasters/notesMaster1.xml" Id="R0f575bbddd784b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3cbdec7fdd4ffb" /><Relationship Type="http://schemas.openxmlformats.org/officeDocument/2006/relationships/notesMaster" Target="/ppt/notesMasters/notesMaster1.xml" Id="R13356a1d7dbb444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1da27f24d034f40" /><Relationship Type="http://schemas.openxmlformats.org/officeDocument/2006/relationships/notesMaster" Target="/ppt/notesMasters/notesMaster1.xml" Id="R9d3e79956d5a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File:Program evaluation portal sitemap draft1.png — author Jmorgan (WMF), CC BY-SA 3.0, https://commons.wikimedia.org/wiki/File:Program_evaluation_portal_sitemap_draft1.png, accessed 13 Sep 2026</a:t>
            </a:r>
          </a:p>
          <a:p xmlns:a="http://schemas.openxmlformats.org/drawingml/2006/main">
            <a:r>
              <a:t>Course teaching content is original, prepared for SLOP1512 Week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learning outcomes for SLOP1512 session 9, aligned to the assignment 4 brief on information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framing of IA for a small hand-built site, distinct from visual design (weeks 3-6).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inventory as the first concrete IA artefact; a real technique used before any grouping or navigation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IA heuristic: group by user task/question rather than internal organisational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File:Collecting ideas for brainstorming.png — photographer Frank Homp, CC BY 2.0, https://commons.wikimedia.org/wiki/File:Collecting_ideas_for_brainstorming.png, accessed 13 Sep 2026</a:t>
            </a:r>
          </a:p>
          <a:p xmlns:a="http://schemas.openxmlformats.org/drawingml/2006/main">
            <a:r>
              <a:t>Open vs closed card sorting is a standard, well-documented UX research technique for building an IA from real user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IA vocabulary for site topology, illustrated with small-site examples matching the assignment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File:Program evaluation portal sitemap draft1.png — author Jmorgan (WMF), CC BY-SA 3.0, https://commons.wikimedia.org/wiki/File:Program_evaluation_portal_sitemap_draft1.png, accessed 13 Sep 2026</a:t>
            </a:r>
          </a:p>
          <a:p xmlns:a="http://schemas.openxmlformats.org/drawingml/2006/main">
            <a:r>
              <a:t>Worked hierarchical site-map example scaled to a small multi-page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Practical primary-nav markup connecting week 2's landmark roles to this week's IA/nav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File:Breadcrumb.jpg — photographer Yvwv, CC BY-SA 3.0, https://commons.wikimedia.org/wiki/File:Breadcrumb.jpg, accessed 13 Sep 2026</a:t>
            </a:r>
          </a:p>
          <a:p xmlns:a="http://schemas.openxmlformats.org/drawingml/2006/main">
            <a:r>
              <a:t>The term "breadcrumb" comes directly from the Hansel and Gretel trail-of-crumbs image — the photo makes that literal origin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Distinguishes local/in-page nav and footer nav from primary nav, tying back to the orphan-page risk covered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WCAG 2.4 Consistent Navigation and the skip-link pattern, connecting Week 8's accessibility audit to this week's nav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File:Website frames.png — author Bagok, CC BY-SA 3.0, https://commons.wikimedia.org/wiki/File:Website_frames.png, accessed 13 Sep 2026</a:t>
            </a:r>
          </a:p>
          <a:p xmlns:a="http://schemas.openxmlformats.org/drawingml/2006/main">
            <a:r>
              <a:t>The historical HTML frameset diagram is repurposed here purely as a visual of shell-vs-content regions, explained in the caption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Practical technique for consistent shared layout without a framework, matching this course's hand-built HTML/CSS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Listing/detail as the two canonical reusable page patterns for a small multi-page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lightweight content model for a project/post detail page — the same fields every instance of that page type must supply.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argument connecting content-model discipline to scaling problems covered later in this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Predictable URL naming and the nav-label/heading/URL consistency rule, extending week 2's heading-hierarchy discipline.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File:Wayfinding Signage.JPG — photographer BL2002, CC BY-SA 4.0, https://commons.wikimedia.org/wiki/File:Wayfinding_Signage.JPG, accessed 13 Sep 2026</a:t>
            </a:r>
          </a:p>
          <a:p xmlns:a="http://schemas.openxmlformats.org/drawingml/2006/main">
            <a:r>
              <a:t>Orphan-page defect defined and given a concrete detection method (click-through audit from the home page).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scaling-failure sequence, motivating the systemic (shared partials/templates) approach in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Root-relative URLs and a shared shell file as the two concrete, framework-free fixes to the previous slide's failure modes.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‘before’ example showing realistic ad-hoc navigation drift across three hand-built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‘after’ example restructuring the previous slide's ad-hoc nav into one shared, consistent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File:Man at a laptop in an office (Unsplash).jpg — photographer Bench Accounting, CC0 1.0, https://commons.wikimedia.org/wiki/File:Man_at_a_laptop_in_an_office_(Unsplash).jpg, accessed 13 Sep 2026</a:t>
            </a:r>
          </a:p>
          <a:p xmlns:a="http://schemas.openxmlformats.org/drawingml/2006/main">
            <a:r>
              <a:t>First-click testing and tree testing as standard, distinct IA-validation methods, both usable before any visual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File:Tokyo metro map.png — author Hisagi, CC BY-SA 3.0, https://commons.wikimedia.org/wiki/File:Tokyo_metro_map.png, accessed 13 Sep 2026</a:t>
            </a:r>
          </a:p>
          <a:p xmlns:a="http://schemas.openxmlformats.org/drawingml/2006/main">
            <a:r>
              <a:t>Wikimedia Commons, File:Trilingual signage at YVR.jpg — photographer Mathew5000, CC BY-SA 3.0, https://commons.wikimedia.org/wiki/File:Trilingual_signage_at_YVR.jpg, accessed 13 Sep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Wikimedia Commons, File:Library Of Congress Card Catalog.jpg — photographer rochelle hartman, CC BY 2.0, https://commons.wikimedia.org/wiki/File:Library_Of_Congress_Card_Catalog.jpg, accessed 13 Sep 2026</a:t>
            </a:r>
          </a:p>
          <a:p xmlns:a="http://schemas.openxmlformats.org/drawingml/2006/main">
            <a:r>
              <a:t>Wikimedia Commons, File:Binhai library bookshelves.jpg — photographer Muzzleflash, CC0 1.0, https://commons.wikimedia.org/wiki/File:Binhai_library_bookshelves.jpg, accessed 13 Sep 2026</a:t>
            </a:r>
          </a:p>
          <a:p xmlns:a="http://schemas.openxmlformats.org/drawingml/2006/main">
            <a:r>
              <a:t>Original analogy connecting physical library organisation systems to digital IA/navigation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9 studio task, mapped directly to Assignment 4's information-architecture and shared-navigation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common-mistakes rubric for IA/navigation craft, aligned to Assignment 4's information-architecture criterion.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Explicit recap connecting this week to Week 2 (semantic HTML), Week 6 (responsive design) and Week 8 (accessibility review), per the course's own module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checklist for the week 9 studio task, previewing week 10's user-testing session which will exercise this IA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7f7aef1de4b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7db175f66462e" /><Relationship Type="http://schemas.openxmlformats.org/officeDocument/2006/relationships/slideLayout" Target="/ppt/slideLayouts/slideLayout1.xml" Id="R882dd95d375c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2dd95d375c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c00156ef84541" /><Relationship Type="http://schemas.openxmlformats.org/officeDocument/2006/relationships/image" Target="/ppt/media/image.png" Id="R2af13057d30043ff" /><Relationship Type="http://schemas.openxmlformats.org/officeDocument/2006/relationships/notesSlide" Target="/ppt/notesSlides/notesSlide1.xml" Id="Rb9e1d1c41461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b8413fd3348ac" /><Relationship Type="http://schemas.openxmlformats.org/officeDocument/2006/relationships/notesSlide" Target="/ppt/notesSlides/notesSlide2.xml" Id="R48a2dd523e2d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b093b24f9477c" /><Relationship Type="http://schemas.openxmlformats.org/officeDocument/2006/relationships/notesSlide" Target="/ppt/notesSlides/notesSlide3.xml" Id="Rb75d3174881c46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d8aa58a5e491b" /><Relationship Type="http://schemas.openxmlformats.org/officeDocument/2006/relationships/notesSlide" Target="/ppt/notesSlides/notesSlide4.xml" Id="R723e8f5aab3b43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b27c547eb4ff8" /><Relationship Type="http://schemas.openxmlformats.org/officeDocument/2006/relationships/notesSlide" Target="/ppt/notesSlides/notesSlide5.xml" Id="R286ff3559da541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335b526684af1" /><Relationship Type="http://schemas.openxmlformats.org/officeDocument/2006/relationships/image" Target="/ppt/media/image2.png" Id="R6035b950f9944a85" /><Relationship Type="http://schemas.openxmlformats.org/officeDocument/2006/relationships/notesSlide" Target="/ppt/notesSlides/notesSlide6.xml" Id="Rbd2d2e45d53446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1ca2f5e134cbb" /><Relationship Type="http://schemas.openxmlformats.org/officeDocument/2006/relationships/notesSlide" Target="/ppt/notesSlides/notesSlide7.xml" Id="Re5b5f437d22342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2e7932cfb48fb" /><Relationship Type="http://schemas.openxmlformats.org/officeDocument/2006/relationships/image" Target="/ppt/media/image3.png" Id="Rffd8f7f90cab4189" /><Relationship Type="http://schemas.openxmlformats.org/officeDocument/2006/relationships/notesSlide" Target="/ppt/notesSlides/notesSlide8.xml" Id="Rb6d0deea050a4b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d7314479d4538" /><Relationship Type="http://schemas.openxmlformats.org/officeDocument/2006/relationships/notesSlide" Target="/ppt/notesSlides/notesSlide9.xml" Id="Ree7cbf7ae94941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1b4266d5a481a" /><Relationship Type="http://schemas.openxmlformats.org/officeDocument/2006/relationships/image" Target="/ppt/media/image.jpeg" Id="Rab89ae5029544c7a" /><Relationship Type="http://schemas.openxmlformats.org/officeDocument/2006/relationships/notesSlide" Target="/ppt/notesSlides/notesSlide10.xml" Id="Rd419b2b2738542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dca84c89f4f7c" /><Relationship Type="http://schemas.openxmlformats.org/officeDocument/2006/relationships/notesSlide" Target="/ppt/notesSlides/notesSlide11.xml" Id="Rce8b3784f46240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76d1f1cc74238" /><Relationship Type="http://schemas.openxmlformats.org/officeDocument/2006/relationships/notesSlide" Target="/ppt/notesSlides/notesSlide12.xml" Id="Rddbefffbf53f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09b2a158649cb" /><Relationship Type="http://schemas.openxmlformats.org/officeDocument/2006/relationships/image" Target="/ppt/media/image4.png" Id="R4b7ba1e7ff414896" /><Relationship Type="http://schemas.openxmlformats.org/officeDocument/2006/relationships/notesSlide" Target="/ppt/notesSlides/notesSlide13.xml" Id="Re888ee1969e04b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67d1b4cdd4181" /><Relationship Type="http://schemas.openxmlformats.org/officeDocument/2006/relationships/notesSlide" Target="/ppt/notesSlides/notesSlide14.xml" Id="R653997d8354240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092e378e4d54" /><Relationship Type="http://schemas.openxmlformats.org/officeDocument/2006/relationships/notesSlide" Target="/ppt/notesSlides/notesSlide15.xml" Id="R017a979eeaa345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c38c04d3d44bf" /><Relationship Type="http://schemas.openxmlformats.org/officeDocument/2006/relationships/notesSlide" Target="/ppt/notesSlides/notesSlide16.xml" Id="Rb43750e6be0242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bad7f20a44e7b" /><Relationship Type="http://schemas.openxmlformats.org/officeDocument/2006/relationships/notesSlide" Target="/ppt/notesSlides/notesSlide17.xml" Id="R8e21b5e1102a42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cf238738841eb" /><Relationship Type="http://schemas.openxmlformats.org/officeDocument/2006/relationships/notesSlide" Target="/ppt/notesSlides/notesSlide18.xml" Id="R65496e011456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ccaf5766a46ef" /><Relationship Type="http://schemas.openxmlformats.org/officeDocument/2006/relationships/image" Target="/ppt/media/image2.jpeg" Id="Rf0890f360d5f4838" /><Relationship Type="http://schemas.openxmlformats.org/officeDocument/2006/relationships/notesSlide" Target="/ppt/notesSlides/notesSlide19.xml" Id="Re329c40633704f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cbb1d63d94051" /><Relationship Type="http://schemas.openxmlformats.org/officeDocument/2006/relationships/notesSlide" Target="/ppt/notesSlides/notesSlide20.xml" Id="R528750b985c44f1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58e86f578403d" /><Relationship Type="http://schemas.openxmlformats.org/officeDocument/2006/relationships/notesSlide" Target="/ppt/notesSlides/notesSlide21.xml" Id="Rf81261fd7dcf41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f53ad7a404521" /><Relationship Type="http://schemas.openxmlformats.org/officeDocument/2006/relationships/notesSlide" Target="/ppt/notesSlides/notesSlide22.xml" Id="R810abd7d8aa348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0e03df8842f3" /><Relationship Type="http://schemas.openxmlformats.org/officeDocument/2006/relationships/notesSlide" Target="/ppt/notesSlides/notesSlide23.xml" Id="Rab9cf127340943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9caaadf904e72" /><Relationship Type="http://schemas.openxmlformats.org/officeDocument/2006/relationships/image" Target="/ppt/media/image3.jpeg" Id="R0e7694719f334d86" /><Relationship Type="http://schemas.openxmlformats.org/officeDocument/2006/relationships/notesSlide" Target="/ppt/notesSlides/notesSlide24.xml" Id="R1f9d9246ec0446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329fc709046b4" /><Relationship Type="http://schemas.openxmlformats.org/officeDocument/2006/relationships/image" Target="/ppt/media/image5.png" Id="R3ff1b1e9c6e04424" /><Relationship Type="http://schemas.openxmlformats.org/officeDocument/2006/relationships/image" Target="/ppt/media/image4.jpeg" Id="R9fd22541d74e447c" /><Relationship Type="http://schemas.openxmlformats.org/officeDocument/2006/relationships/notesSlide" Target="/ppt/notesSlides/notesSlide25.xml" Id="R5f72088cc9cc4f0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f05984a874c67" /><Relationship Type="http://schemas.openxmlformats.org/officeDocument/2006/relationships/image" Target="/ppt/media/image5.jpeg" Id="R930d63dcf90b453b" /><Relationship Type="http://schemas.openxmlformats.org/officeDocument/2006/relationships/image" Target="/ppt/media/image6.jpeg" Id="Rf40ce3733d3f4419" /><Relationship Type="http://schemas.openxmlformats.org/officeDocument/2006/relationships/notesSlide" Target="/ppt/notesSlides/notesSlide26.xml" Id="Re1bd5cdbeb1048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3c3eb94c94a80" /><Relationship Type="http://schemas.openxmlformats.org/officeDocument/2006/relationships/notesSlide" Target="/ppt/notesSlides/notesSlide27.xml" Id="R7b71a0e0eee94a4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25fd826fc46b1" /><Relationship Type="http://schemas.openxmlformats.org/officeDocument/2006/relationships/notesSlide" Target="/ppt/notesSlides/notesSlide28.xml" Id="Rfb55ab95f0ed436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a3b3f883b402d" /><Relationship Type="http://schemas.openxmlformats.org/officeDocument/2006/relationships/notesSlide" Target="/ppt/notesSlides/notesSlide29.xml" Id="R22d80fa5acc745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61dd29e884eca" /><Relationship Type="http://schemas.openxmlformats.org/officeDocument/2006/relationships/notesSlide" Target="/ppt/notesSlides/notesSlide30.xml" Id="R50e99a74d83c46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13057d30043ff"/>
          <a:srcRect xmlns:a="http://schemas.openxmlformats.org/drawingml/2006/main" l="4615" t="0" r="4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71500"/>
            <a:ext cx="5143500" cy="5715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6AF41-4D28-452B-B282-7579DE5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C44B8-48CB-4DF1-A6AB-70075C11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04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120F9-7C8B-4177-BD20-AB1F0B6B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BAB97-6121-4232-8438-52B805B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381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 /  WEEK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32952-5D02-4EEE-8E46-EC7B411F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9055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Content Systems and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Multi-Page Sites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63804-A454-4EEF-8785-5B56D92B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58102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Planning an information architecture, a predictable navigation pattern, and shared page templates so a small site stays coherent as it grows from one page to many.</a:t>
            </a:r>
          </a:p>
        </p:txBody>
      </p:sp>
    </p:spTree>
    <p:extLst>
      <p:ext uri="{BB962C8B-B14F-4D97-AF65-F5344CB8AC3E}">
        <p14:creationId xmlns:p14="http://schemas.microsoft.com/office/powerpoint/2010/main" val="1497293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D8C78-079A-4715-96AE-F9605E9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D6E30-3564-4225-AB6F-F8FC92B9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97A36-24CD-4F76-9A0A-C266F9B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CDC50-E6E7-484D-9841-ED0110D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This week's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58B4E-C6B5-4B5B-BB2D-9976E22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By the end of this session you can plan, structure and wire navigation for a small multi-page site.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5404F-9889-4EE9-BF61-25B4A78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63DCB-ACFA-4653-9B36-4069CD52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1C95A-4FA7-4151-8E3C-40D595D8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86F87-D867-4ED7-9599-428D13D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0E8A5-83A4-46F0-AB88-D54253D3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A60EC-4A83-4391-86CA-EB24401C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14650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Turn a content inventory into a grouped information architecture using a real card-sorting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25B4D-18EF-4291-9345-43CA9E20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62241-774E-4D76-B116-9C653F5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91B89-95F0-4244-81A0-8BFE4E8D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0DFF1-3907-42AB-A29C-1EA05EDC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38500"/>
            <a:ext cx="2914650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Choose a site-map topology and a URL scheme that stay predictable as pages are added.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05D7D-AE0D-4144-9B33-52EB8EA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3708F-4B13-4687-8261-16E0F787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E3875-B0A2-4AC5-8DE0-0332FAF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2B2FE-C8C3-47F5-B4EB-AFACF360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914650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Implement one shared navigation pattern across at least three real HTML pages using a page-shell template.</a:t>
            </a:r>
          </a:p>
        </p:txBody>
      </p:sp>
    </p:spTree>
    <p:extLst>
      <p:ext uri="{BB962C8B-B14F-4D97-AF65-F5344CB8AC3E}">
        <p14:creationId xmlns:p14="http://schemas.microsoft.com/office/powerpoint/2010/main" val="1734258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EAD88-B094-453C-BBCA-19A8768D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22CE7-FA6C-4E89-BBBB-158584BF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C5166-95DE-4A9B-BDA5-D517F83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E1C89-D586-4888-A167-A4173A5A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information architecture actually 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BEF75-40C3-48A0-BFF7-C1A54024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IA is the structure a visitor infers before they read a single sentence.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470E5-3368-418C-B8A5-3C33759B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DD89F-EA9F-457B-9B43-E1734E6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91F81-61F1-4C4C-87B0-C1F9936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2870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Information architecture (IA) is the practice of deciding what content exists, how it is grouped, and how a visitor moves between groups — before any visual design happens.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5CAAC-FE53-4131-AFAA-E26A783F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42FCC-0596-4DEE-A706-A336D90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1D2F4-E9BC-4F20-B2B1-9AD13333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IA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476C6-CF2B-49CD-BF39-DC7B8CF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867275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For every page: what is this content, which group does it belong to, and what is one click away from it?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C1F21-B681-4C2F-97F9-E98E7509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F757F-FE99-4BF6-930D-BA4CD42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D7EFE-473B-4947-9406-AF082006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862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6F1FF-34D7-49E7-8C61-5EFA015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67200"/>
            <a:ext cx="4867275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site with a clean visual system but a confusing structure still fails — the reader can't find the page that answers their question.</a:t>
            </a:r>
          </a:p>
        </p:txBody>
      </p:sp>
    </p:spTree>
    <p:extLst>
      <p:ext uri="{BB962C8B-B14F-4D97-AF65-F5344CB8AC3E}">
        <p14:creationId xmlns:p14="http://schemas.microsoft.com/office/powerpoint/2010/main" val="1221772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3DA79-60D5-46CF-9031-E8910D8A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0559-42B9-4252-82E7-1A009778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1A9DB-A1FF-4AAC-961E-2C3650D9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0158F-CFD2-4C08-8C48-F7A519E0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1: content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55945-EBB3-43E8-8DCE-8EA98B21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List every page and fragment the site needs before grouping anything.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37584-C094-4993-8E6A-12D4F796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8E622-847D-4D06-A998-DB3F352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13068-B76E-4DCD-86B7-B43182D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AB205-06C7-4CF7-8362-CA8E9B58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36B21-7CFB-478C-900E-9F42302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86025"/>
            <a:ext cx="98488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 every planned page and any repeating content block (e.g. a testimonial, a contact block).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4227A-47E4-464F-9F09-362DE69B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2F9C7-FDFD-4E08-804A-5EA6A179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B7B40-CA78-4279-93E8-8F6B8069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98488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Note each item's purpose in one sentence — what task does this page complete for a visitor?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44F03-C08F-423A-9687-36EDBA9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316EE-5B90-4F2A-84A5-A112657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61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7DA63-E9BB-4F37-8C68-876353FA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98488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Flag near-duplicates: two pages answering the same question should usually merge into 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012D0-C951-429E-A306-14FC1EEF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481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36C8C-BFC3-494B-8846-C31B70CB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5121D1-66AA-44F0-9121-DF591FBC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984885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Flag orphans-in-waiting: any item with no obvious page to link from yet.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CAEAB-481A-48C8-B1D5-C7E964E9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 content inventory is a spreadsheet, not a design — rows are pages, columns are purpose, audience and status.</a:t>
            </a:r>
          </a:p>
        </p:txBody>
      </p:sp>
    </p:spTree>
    <p:extLst>
      <p:ext uri="{BB962C8B-B14F-4D97-AF65-F5344CB8AC3E}">
        <p14:creationId xmlns:p14="http://schemas.microsoft.com/office/powerpoint/2010/main" val="789993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C1351-662D-4077-B402-FED9379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1DF9-0CD4-4DB7-95A9-33DA6CE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76409-A724-43D3-9223-FC0222EB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50112-BDC7-43E1-9F78-D9142EDB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Step 2: group by task, not by org chart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A4C7-53AB-498E-B90E-5DF8F3F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most common IA mistake is grouping by who made the content, not what the visitor is trying to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3037A-F176-4E45-8F1D-EA1EF53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394C4-FFA5-4AF7-8438-EC696DF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0FD34-F3B9-4B97-926A-A157CA5E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687E2-FA5D-4BC8-AA81-A10B1DD3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Path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9CF25-85AD-4C05-97E0-CD4418B4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5270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Consequence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10EB2-98CF-4111-AE47-24E8C9E8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001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45DF2-515A-414C-9FA5-13F4310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Organisation-first grouping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89291-2F19-49A8-BA18-D0B8EAAF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“About → Departments → Marketing → Our team”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F839B-0676-496D-944B-C20A6E2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Matches how the organisation sees itself, not how a visitor searches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461C2-5683-4304-B30D-5A8B878F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B8375-7EEA-40C7-B5E7-CF0302FC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Task-first grouping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9CFE3-08A4-443E-BFD2-A1059BFF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624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“Work → Case studies → [project]”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59C0B-6BFC-41F1-AFF7-6EB3F904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62450"/>
            <a:ext cx="3238500" cy="1143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Matches the question a visitor actually arrived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21EF7-2279-4F26-B796-EC70FD3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A16C6-36EA-40E5-A25B-D2D5A66E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00125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Rule of thumb: name each group after the question it answers, not after the team that owns it.</a:t>
            </a:r>
          </a:p>
        </p:txBody>
      </p:sp>
    </p:spTree>
    <p:extLst>
      <p:ext uri="{BB962C8B-B14F-4D97-AF65-F5344CB8AC3E}">
        <p14:creationId xmlns:p14="http://schemas.microsoft.com/office/powerpoint/2010/main" val="139636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C4F4A-7449-4A2B-83DB-B5C79253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02ED-4140-449E-BB35-C860C1CA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6C659-7276-4DC8-8B79-FDA9FEAC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E11E4-11A4-4FFF-B8F0-DF88F9C7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Card sorting: a real technique, not a guess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AC737-1856-4FEB-8F67-8D3AEAA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Ask people to group your actual content — don't decide the grouping alone at a desk.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4E5D8-EE8B-4969-8E0F-88452CF8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2CCA7-0630-4314-9931-E8BF373E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5b950f9944a85"/>
          <a:srcRect xmlns:a="http://schemas.openxmlformats.org/drawingml/2006/main" l="2836" t="0" r="28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381250"/>
            <a:ext cx="43243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AC7FE-1274-4CC8-B0B6-83DF6443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96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Write each planned page or content item on its own card. Ask 3-5 people, individually, to sort the cards into groups that make sense to them and name each group.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EAB07-657E-41B2-84C1-B6D7506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609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90FCC-5963-4F6E-875B-BA89A88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708DB-FB90-4199-8287-3A433B75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Open card sort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EF9EF-11CD-4DC8-8F8E-8AB4636D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67690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No group names are given up-front — reveals how people naturally expect content to be organised.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7E65E-1C12-417C-AF97-93CE0E1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609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34542-09F1-490C-876A-DC7878A6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BEB89-378C-46B9-93B1-485A327E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Closed card sort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ED041-6EAE-4024-BFB8-E4C11056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567690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Group names are fixed in advance — tests whether people can find items inside categories you've already chosen.</a:t>
            </a:r>
          </a:p>
        </p:txBody>
      </p:sp>
    </p:spTree>
    <p:extLst>
      <p:ext uri="{BB962C8B-B14F-4D97-AF65-F5344CB8AC3E}">
        <p14:creationId xmlns:p14="http://schemas.microsoft.com/office/powerpoint/2010/main" val="1023366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EC962-355D-4A41-8663-78255395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8457D-EAA0-4F9E-A0B4-7BA79C2D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03488-E259-4A36-A984-C2BA72C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B3644-45BF-404F-AFFD-08C72998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Site-map topologies: three real shapes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8FD06-CE30-4704-8E47-538B8E5D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small site's structure is one of these, or a deliberate mix.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DCA45-942A-4FF9-9078-C7A3A9A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C7D0D-E25C-47A2-B614-2D479B30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32A1C-2F3F-4E8E-B006-2AEE658B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5D86A-0A95-4711-A1A4-2DC9D043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3619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ABF34-8089-420A-9A39-5F0D9095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3810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Small-site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B14C3-3B45-4C88-9EFC-07B22F49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287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190F5-0A48-4410-819E-A861F79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Hierarchical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8B750-4ECA-44D4-8DD8-9FBE297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trunk page branches into sections, each into sub-pages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9C1FD-4227-4339-A17A-C652CD56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8100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documentation site: Home → Guides → Setup → Install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E275B-28AD-4E2C-A06F-604E8264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F39AE-07A0-4C21-A54E-6BD67D7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Flat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C9B2B-F445-46D1-BC39-5E6D207B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page sits one click from every other, no sections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EFB68-8628-4D35-BA43-E8F4F44E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38100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4-page portfolio: Home, About, Work, Contact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E0671-F82A-4DE4-AB92-1F7FB60B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CF5AE-AD6C-458D-AA27-B93E90D5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Hub-and-spoke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40BB4-142A-41A1-9568-227C987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36195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hub page links out to many independent destinations, each returns to the 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80D9C-56F1-4B10-9ECC-7006A20F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38100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directory site linking to member profile 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21326-605B-428C-87F3-22E653A7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2870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5920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B4F84-2281-481C-811F-2FC9613F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BC0B1-DF0C-43C6-BBAB-46CA959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864E-2391-4C3E-9068-635AF288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23A71-0232-4B65-89C1-3995522D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worked site map: small business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6F51-B9B3-48D9-852D-CB70EE87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Home, about, work, contact, plus two secondary pages — a realistic Assignment 4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D7A66-0E77-4F00-ADA0-65AA064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61620-BDCE-464E-AF90-D789B1BA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8f7f90cab4189"/>
          <a:srcRect xmlns:a="http://schemas.openxmlformats.org/drawingml/2006/main" l="0" t="8686" r="0" b="8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343150"/>
            <a:ext cx="4572000" cy="38100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E2687-E6F8-4610-AB99-9FE6059C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5905500" cy="2857500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rPr>
              <a:t>Home</a:t>
            </a:r>
          </a:p>
          <a:p xmlns:a="http://schemas.openxmlformats.org/drawingml/2006/main">
            <a:pPr algn="l">
              <a:def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rPr>
              <a:t> ├─ About</a:t>
            </a:r>
          </a:p>
          <a:p xmlns:a="http://schemas.openxmlformats.org/drawingml/2006/main">
            <a:pPr algn="l">
              <a:def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rPr>
              <a:t> ├─ Work (listing)</a:t>
            </a:r>
          </a:p>
          <a:p xmlns:a="http://schemas.openxmlformats.org/drawingml/2006/main">
            <a:pPr algn="l">
              <a:def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rPr>
              <a:t> │    └─ Work / [project] (detail ×N)</a:t>
            </a:r>
          </a:p>
          <a:p xmlns:a="http://schemas.openxmlformats.org/drawingml/2006/main">
            <a:pPr algn="l">
              <a:def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rPr>
              <a:t> ├─ Contact</a:t>
            </a:r>
          </a:p>
          <a:p xmlns:a="http://schemas.openxmlformats.org/drawingml/2006/main">
            <a:pPr algn="l">
              <a:def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8212A"/>
                </a:solidFill>
                <a:latin typeface="Courier New"/>
                <a:ea typeface="Courier New"/>
                <a:cs typeface="Courier New"/>
              </a:rPr>
              <a:t> └─ Footer-only: Privacy, Credits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5A139-BC1D-45FB-91C5-F239EAD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5905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page above the footer row has an inbound link from the primary nav — nothing is reachable only by guessing a URL.</a:t>
            </a:r>
          </a:p>
        </p:txBody>
      </p:sp>
    </p:spTree>
    <p:extLst>
      <p:ext uri="{BB962C8B-B14F-4D97-AF65-F5344CB8AC3E}">
        <p14:creationId xmlns:p14="http://schemas.microsoft.com/office/powerpoint/2010/main" val="18147928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6C445-DBDD-46A9-8AAB-60A4C60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99623-1A93-45DB-B10F-CF43E207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71018-6597-4D53-AB85-A368D716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F4050-16BE-47CF-B7EF-9EE2C4ED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Primary navigation: the contract with every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86930-7935-45E6-8A49-CCDFC962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same links, in the same order, in the same place — on every single page.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7C638-FA4E-4A02-AD74-B85CFE45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46CDA-8D32-4C49-88DB-93433E5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FA2FD-40B4-4D7E-BF09-4DFDE5B3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5905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FE0D1-A348-472C-A290-1147305B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524500" cy="24003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&lt;header&gt;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&lt;nav aria-label="Primary"&gt;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&lt;ul&gt;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&lt;li&gt;&lt;a href="/"&gt;Home&lt;/a&gt;&lt;/li&gt;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&lt;li&gt;&lt;a href="/about/"&gt;About&lt;/a&gt;&lt;/li&gt;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&lt;li&gt;&lt;a href="/work/" aria-current="page"&gt;Work&lt;/a&gt;&lt;/li&gt;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  &lt;li&gt;&lt;a href="/contact/"&gt;Contact&lt;/a&gt;&lt;/li&gt;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&lt;/ul&gt;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&lt;/nav&gt;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&lt;/header&gt;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E7B70-6192-4280-8538-D9F1E3E7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AD463-B2AD-4CC3-B2FF-D3FACD7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A50FA-DCA1-4BF5-BB42-56F82CE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38450"/>
            <a:ext cx="4057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Landmark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5794F-2171-4073-9E3A-47AFE6B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19450"/>
            <a:ext cx="40576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22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nav element identifies this as a navigation region — assistive tech can jump straight to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89F89-EF26-49AA-B70A-C220343A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476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1ABD5-F251-4380-9738-7CF05B9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195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95CC9-B6D6-42BB-A979-35A61872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10050"/>
            <a:ext cx="4057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aria-current="page"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2CAB3-C36B-4160-89A3-C5504A19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405765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4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Marks which link matches the current page, so the active state is announced, not just coloured.</a:t>
            </a:r>
          </a:p>
        </p:txBody>
      </p:sp>
    </p:spTree>
    <p:extLst>
      <p:ext uri="{BB962C8B-B14F-4D97-AF65-F5344CB8AC3E}">
        <p14:creationId xmlns:p14="http://schemas.microsoft.com/office/powerpoint/2010/main" val="708582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450BE-B457-4BDB-8CA0-3978EC6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A8E2-B37D-4BE6-82DB-E8F6DAD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887E2-E5E9-4D07-9CD5-0131134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F331-2551-4E5D-97A4-CC7AC51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Breadcrumbs: where am I, not where can I 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8249C-6408-424A-8334-09E4EEB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breadcrumb trail names the path from home to the current page — it does not replace primary nav.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D506C-1341-430D-9AB3-5B1FE5E9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65D6D-A913-4AA2-BB89-B89E31B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9ae5029544c7a"/>
          <a:srcRect xmlns:a="http://schemas.openxmlformats.org/drawingml/2006/main" l="7254" t="0" r="7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381250"/>
            <a:ext cx="41910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64DC2-B9A3-4B09-AA22-CC8D4E0E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9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391AE-D85E-4BD0-9AF9-2519CF63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5715000" cy="154305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&lt;nav aria-label="Breadcrumb"&gt;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&lt;ol&gt;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href="/work/"&gt;Work&lt;/a&gt;&lt;/li&gt;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 aria-current="page"&gt;Portfolio site&lt;/li&gt;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&lt;/ol&gt;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&lt;/nav&gt;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16691-CB1D-42E9-9A5D-13313AD1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6096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Use breadcrumbs only once a site is at least two levels deep — on a flat 4-page site they add noise, not orientation.</a:t>
            </a:r>
          </a:p>
        </p:txBody>
      </p:sp>
    </p:spTree>
    <p:extLst>
      <p:ext uri="{BB962C8B-B14F-4D97-AF65-F5344CB8AC3E}">
        <p14:creationId xmlns:p14="http://schemas.microsoft.com/office/powerpoint/2010/main" val="575430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8FE45-148F-44A6-8683-A209B39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CBA1A-38D5-435E-A089-55B24BE1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F5C80-3A6F-4790-AA91-97446499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6BA48-F488-4676-8337-9A315009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Local nav and footer nav: the other two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1C274-C754-4F77-B779-C288E4E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Primary nav is not the only navigation a page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1D177-5BC7-4B60-9DC3-07B4CC8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00DFC-D1DE-4879-87CE-C26F22C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A301B-23F8-4433-B635-7F97B218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04338-1F7B-406C-B959-2781FC67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4381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F2007-81FF-4447-AA8B-9A771268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Typical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A6A69-5470-4B19-8F07-C3CC9A31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001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C4AEF-9AE4-4920-A0C9-7E372A4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Local / in-page nav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AC52F-C8F1-4745-84F9-878C232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4381500" cy="133350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Move within one long page or one section (e.g. a table of contents)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3674-C6E9-4561-9635-DF4A1120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single, sectioned reference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1177F-1B4F-440A-B9D9-5D1079D2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0D8D4-4F2C-4A02-83CF-9926A7A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Footer nav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602D4-7F7A-4A96-A347-BB801AFD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4381500" cy="133350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Catch secondary pages that don't belong in primary nav (legal, credits, sitemap link)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D7324-31D4-4233-8CAE-0EA5B367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2476500" cy="133350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Privacy policy, source attribution 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ECBBB-767B-4543-8372-D401BB9A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9B61E-49D5-4C2A-9F0C-B60501D1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001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Every page a footer links to must also be reachable another way — a footer-only page with no other inbound link is still an orphan.</a:t>
            </a:r>
          </a:p>
        </p:txBody>
      </p:sp>
    </p:spTree>
    <p:extLst>
      <p:ext uri="{BB962C8B-B14F-4D97-AF65-F5344CB8AC3E}">
        <p14:creationId xmlns:p14="http://schemas.microsoft.com/office/powerpoint/2010/main" val="216150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B8546-FB56-4A2E-86D1-7B676079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2CE18-1CC9-4DEC-9891-4928E217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D0F8A-57DA-403E-9DBB-45C76F44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29C0C-7D6E-4652-9A69-60F315B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Consistent placement is an accessibility requirement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46F96-0A1D-4F76-BE08-D3F6643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Predictable navigation location is not a style choice — it's tested behaviour (WCAG 3.2.3).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967C4-B2A9-4C6D-89E1-B094CDD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765D6-6293-4E43-B7A4-981D25E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C65B1-40E9-4817-8D6A-781A8402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C60BA-2B7B-40DB-9B3E-C0E58DB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F2C00-C428-441F-B619-8A57653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Consistent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EE025-AC04-4F28-95C9-B4A68383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867275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Repeated navigation components must occur in the same relative order on every page they appear — a keyboard user builds a mental map of tab order.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41B20-8482-40B8-A37C-27D566DA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77B67-F6D2-4937-82EA-249CB86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CE59A-A2F8-458F-96E0-C73A0052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575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Skip link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792C3-014B-465E-BCAC-5AB7A9CF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38500"/>
            <a:ext cx="4867275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visually-hidden-until-focused link that jumps a keyboard user straight past repeated nav to &lt;main&gt;, so it isn't tabbed through on every page.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82BED-F77C-4947-A6B9-473590DA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287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8B2E3-9B8A-4B85-AF1A-7D77B3E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9906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12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&lt;a class="skip-link" href="#main"&gt;Skip to main content&lt;/a&gt;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...</a:t>
            </a:r>
          </a:p>
          <a:p xmlns:a="http://schemas.openxmlformats.org/drawingml/2006/main">
            <a:pPr algn="l">
              <a:def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&lt;main id="main"&gt;...&lt;/main&gt;</a:t>
            </a:r>
          </a:p>
        </p:txBody>
      </p:sp>
    </p:spTree>
    <p:extLst>
      <p:ext uri="{BB962C8B-B14F-4D97-AF65-F5344CB8AC3E}">
        <p14:creationId xmlns:p14="http://schemas.microsoft.com/office/powerpoint/2010/main" val="2130847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0414D-297D-43B6-9630-F340DA25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2E745-48CD-4202-945B-180F0139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132E-4038-41EE-9093-C5DB869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BC52C-59A5-42A0-994A-581676D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page shell: what repeats vs what's unique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37AB6-B6F0-42BE-B89C-8C328A3C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page is one shared shell wrapped around one unique content region.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78524-A3B9-4D68-8B44-A4F5EF1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7966D-2621-4D3C-980E-42451F1E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ba1e7ff414896"/>
          <a:srcRect xmlns:a="http://schemas.openxmlformats.org/drawingml/2006/main" l="0" t="4545" r="0" b="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381250"/>
            <a:ext cx="4191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17067-2030-4292-86DE-92F3568E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960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 + nav + footer are the shell — identical markup, identical classes, on every page. &lt;main&gt; holds the one thing that page is actually for.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33731-08E6-4E7A-8DED-7C990F2C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609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1CAC5-26E9-4593-9F02-C2D61BCF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43602-28F2-4B92-8127-AD04D0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shell never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20ED3-C60A-4987-99C9-DA95B54B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67690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If the nav needs a new link, it changes once and every page picks it up — whether by copy-paste discipline or a build-time include.</a:t>
            </a:r>
          </a:p>
        </p:txBody>
      </p:sp>
    </p:spTree>
    <p:extLst>
      <p:ext uri="{BB962C8B-B14F-4D97-AF65-F5344CB8AC3E}">
        <p14:creationId xmlns:p14="http://schemas.microsoft.com/office/powerpoint/2010/main" val="15802412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4A817-04B4-495A-82A8-03C0A18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B5E74-BCBA-41E0-85E4-19362A4F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61798-0C8B-4EB7-944E-66294146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85D33-D0A1-4EEC-A21F-B1BD3D7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Keeping the shell consistent by hand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BEA54-6FD3-43F3-9152-F288BE4C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Without a framework, discipline replaces automation — name the technique so it's checkable.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B217-3A43-4023-A7A1-130B38B6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3997B-0AEB-4BC5-BA17-B1BC5915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9B712-2F7E-4B6E-A7DE-A5E6353D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95A4A-0EDF-4F72-900C-CA2D2D6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4761A-A28A-4F2F-A429-1DDEC9E8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98488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Write the header/nav/footer markup once, in one file, and treat it as the source of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4DD96-40AC-4C01-94BC-47E3BA8B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92512-9BE4-4E93-97B4-D1C73759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A4DDD-B717-444C-AA21-A57E9F6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98488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Copy that exact block into every page — never retype it from memory.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98FBC-A4E8-440A-9F95-974BBAA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F4C0E-7010-4F2B-BFC7-871FE836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AAC84-977B-44EB-B7FA-243865F6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98488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Give shell elements stable, descriptive classes (site-header, site-nav, site-footer) reused verbatim on every page.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80EFB-E968-45F8-9161-855BFA0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98DA9-A6ED-4B80-A2DB-CA555E4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304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E7365-94D2-410E-A883-2889170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98488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After any shell edit, diff every page's shell markup against the source file before publishing.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09FD1-3AF5-45B8-857E-0A372F6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This is a lightweight, hand-built version of what a templating system or static-site generator automates — same idea, manual enforcement.</a:t>
            </a:r>
          </a:p>
        </p:txBody>
      </p:sp>
    </p:spTree>
    <p:extLst>
      <p:ext uri="{BB962C8B-B14F-4D97-AF65-F5344CB8AC3E}">
        <p14:creationId xmlns:p14="http://schemas.microsoft.com/office/powerpoint/2010/main" val="15961151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F319D-868B-410C-B23A-21B5CA2F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9E300-154C-49F7-A148-438AB629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F5122-1575-4F37-987D-6377D103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F8078-C329-4048-8DFC-B476FE5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Two reusable page patterns: listing and detail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A1EE2-8D33-441F-A104-34CD458A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Almost every content site reduces to these two page types, repeated.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8C33-AAED-4731-9700-FAB4268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D4EC1-F56D-4F31-95EE-7F28E5C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CB974-23E7-4C67-9410-7AE43E7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60790-460F-4549-AF90-C1503F96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22181-00DF-4337-9E02-3BB47B7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Listing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656D-8175-4DBF-BCBA-3F901F2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867275" cy="18859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Shows many items at a glance — a project gallery, a blog index, a product grid. Each entry links to its own detail page. The template is the same; only the item data changes per entry.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EC15F-E604-47A9-888D-4AE805E6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04DB5-48B3-47A0-86BA-908AD906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C57B4-07D1-4260-B861-EF44AED8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575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Detail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C20C3-CD1E-4317-B966-72F346BD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38500"/>
            <a:ext cx="4867275" cy="18859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Shows one item in full — a single blog post, a single project. Every detail page follows the same section order so a returning visitor already knows where to look.</a:t>
            </a:r>
          </a:p>
        </p:txBody>
      </p:sp>
    </p:spTree>
    <p:extLst>
      <p:ext uri="{BB962C8B-B14F-4D97-AF65-F5344CB8AC3E}">
        <p14:creationId xmlns:p14="http://schemas.microsoft.com/office/powerpoint/2010/main" val="1960148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7EFBB-EB5C-44ED-8EB0-83A6519D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5AB40-44D6-4B20-BB63-4978525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5B183-1A69-44B8-9AAD-86ECDB5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A9402-6DA9-4044-BBFF-77DFA6AB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content model: the fields every detail page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24D6-6574-4435-9DE2-C809F0CC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Decide the fields before writing a single page — this is a hand-built version of a CMS content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8C543-3BC6-4404-AD2E-1CFC6493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4A3C5-E907-42A3-BB01-2586BEB9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AAE6F-0574-4E03-B6D3-647C5B2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E050A-75B9-47B9-B2F8-CC328C8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EADE4-B59D-48FF-9EB4-867FED22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EF434-7CEF-44E9-9995-8218F4F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001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410E0-95F5-4EAD-8C8F-34818516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C7FB-4496-43C7-9439-1507F10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B06FF-1FC8-4649-A9E6-F0DC8791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Becomes the h1 and the browser tab title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1DC17-35E5-494B-A8EA-8126028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2E3A7-F015-4DD7-9DDE-B15C6487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hero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23B02-3A27-406F-B61D-73F9345E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 + alt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A7672-1570-488B-9C55-EA9395B9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image, with alt text written for its role on this 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965F7-F8C7-4874-9CCB-24D6057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A4817-0852-4930-97A0-10BC173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F0D84B-429C-4AB8-ABEA-EED9B52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958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1-2 sentences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6D1B4-156D-43A5-A188-08A8135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Used on the listing page AND as the page's meta description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9C2B3-0019-4414-8355-9E76D699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2267FD-AA20-407E-B321-06A1C886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body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30123-015A-474F-8912-3168EFA0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Structured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BABA6-550A-4BDA-AA0E-619982C7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Headings, paragraphs, lists — the unique content itself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A087B-C066-4A54-A8B8-40113764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50561A-85DB-4F91-8AC4-D6BD9FE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link / call to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5C897-B8D0-405B-B31C-B70032F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URL + label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41D09-8EA9-40B4-9F1B-B7924761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43600"/>
            <a:ext cx="4762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Where this item sends the visitor 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AAA19-F4E3-4576-872F-1244D27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47663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C1A96-BAA3-4DC4-BC33-F4F3BD4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AAECE-7547-4293-B8F0-A3E4E67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11FDA-F739-4D95-9A28-3C408E35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60AA7-4D4C-4AC7-A1FE-16D00A80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Why a content model prevents drift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0BE45-76E0-455B-99CD-CBAB5CB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Without an explicit model, each new page quietly reinvents its own 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E7CA0-CF13-4762-8461-BF2FCDF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BB02F-4FC1-415B-8F42-C6754C19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142F0-96C1-4BBA-BACD-911C8C5F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1028700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Page 3 of a growing site is fine on instinct. Page 12 is where undocumented structure breaks — one project page has no image, another buries its link in a paragraph, a third has two headings labelled h1.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EF578-414B-40C3-BB1B-46B06C3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600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3D053-F547-4242-9A52-DAD0047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28B3D-22DA-44EB-9B8C-29BA766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5581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AE792-8F9D-4EEA-B1F7-034E0E37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5816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Write the field list down once (a text file is enough) and check each new page against it before publishing.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6E6FF-B5A7-42FB-B907-CE02715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4038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0671F-391D-4580-8ECD-467A1E90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17BC4-211A-40F1-AB05-F017570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36195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B041E-1F8A-40C5-ADC3-ABACE1EB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38650"/>
            <a:ext cx="3619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Could you swap this page's body text into another page of the same type without touching the layout?</a:t>
            </a:r>
          </a:p>
        </p:txBody>
      </p:sp>
    </p:spTree>
    <p:extLst>
      <p:ext uri="{BB962C8B-B14F-4D97-AF65-F5344CB8AC3E}">
        <p14:creationId xmlns:p14="http://schemas.microsoft.com/office/powerpoint/2010/main" val="11940503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C348C-3383-48A7-BEA2-C099BA91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4180E-AECD-4309-829F-41384B4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90117-7064-496E-BBB0-D6F94811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DAF61-1A3E-4C7A-A454-4BE81F31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URL structure: predictable and human-readable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59F82-D2F4-4086-9EB8-DE3E854B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URL is part of the interface — a visitor reads it before the page even loads.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DBACC-7C24-4A7D-BD3E-B946037A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368FC-3BFF-4BA7-94DA-AA847B2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39645-7F1A-4D03-89AF-E6C2F90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000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44763-1D4F-41B3-AA73-680AE56F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4381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2E280-10DD-4FE8-9E70-478E3FF1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94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7B225-EA80-4AFB-BBD2-6835E0F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001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84911-43D0-4B15-8FEF-B173AA4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0005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/index.html?p=7&amp;cat=3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F5740-341A-453F-A573-7BDDB3AB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43815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Meaningless once shared; breaks if the numbering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8A1D6-38DA-4C6E-8A21-38F7DF55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4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544A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C9CB5-2091-4611-A459-7A23E8E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DB720-F62D-4F38-816B-3EE72F2F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005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/blog/post-7/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B3C15-C2B1-4A9D-ABD2-3ECCCA2B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43815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Readable but still arbitrary — tells you nothing about content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D543A-E61F-46EB-9D7E-7140EEB4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F187B-9091-4FCF-A576-A128CAF3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855C0-6EB9-4CF3-8B8C-0C5B381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40005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/work/portfolio-redesign/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3AD16-D24E-43D9-A79F-7B10C4D5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43815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Matches the nav label and the page's own heading exactly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3C6EE-01D4-491E-BBE8-3BD08916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1143000" cy="819150"/>
          </a:xfrm>
          <a:prstGeom xmlns:a="http://schemas.openxmlformats.org/drawingml/2006/main" prst="roundRect">
            <a:avLst>
              <a:gd name="adj" fmla="val 139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6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2665A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42FB7-C7D8-491B-B83C-A1811D1F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B9263-C655-4559-A06B-90CD0B44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001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Keep the URL segment, the nav label, and the on-page &lt;h1&gt; in agreement — three different names for one page is a navigation bug.</a:t>
            </a:r>
          </a:p>
        </p:txBody>
      </p:sp>
    </p:spTree>
    <p:extLst>
      <p:ext uri="{BB962C8B-B14F-4D97-AF65-F5344CB8AC3E}">
        <p14:creationId xmlns:p14="http://schemas.microsoft.com/office/powerpoint/2010/main" val="19277782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C0CDB-EEEC-435D-88C0-8C9BCC8A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CFFE-5902-4F42-9E57-85F3880D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15921-DFBB-4533-B4DC-F95FE653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05CFD-6C04-4FE7-A37C-48EDEE8C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orphan page: reachable by URL, invisible in nav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8FEB1-DBE2-4EDF-8922-7E35F7B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most common real defect a scaled-up hand-built site develops.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89DB1-91C6-4D0B-A2F9-0D6FC336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2BF73-C971-414B-A5F9-FE19B0BF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90f360d5f4838"/>
          <a:srcRect xmlns:a="http://schemas.openxmlformats.org/drawingml/2006/main" l="0" t="31401" r="0" b="31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381250"/>
            <a:ext cx="43243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8FD8A-B28C-4B91-81E8-834B62C0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96000" cy="10287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An orphan page loads fine if you type its exact URL — but no nav link, breadcrumb, or footer link points to it. A visitor, and a search engine, can never discover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38EE0-A283-4EB0-A469-1B61272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609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0F50E-3D0D-45E4-92D5-07384961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2AF2A-DB12-4E99-9AF2-4EB19F7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How it happens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2E62E-D837-400C-A336-7E45A2E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67690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page is built, tested by URL, and the developer forgets the one remaining step: link to it from somewhere.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A10FF-0DF8-40A8-AFDA-96654C09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09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30312-09E8-4C88-808F-A283BE25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94351-C661-4B6C-8E3E-5671A2F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AC0B9-8F38-415B-985C-72E0B5F5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676900" cy="571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For every page in the content inventory, click through from the home page — if you can't arrive without typing the URL, it's an orphan.</a:t>
            </a:r>
          </a:p>
        </p:txBody>
      </p:sp>
    </p:spTree>
    <p:extLst>
      <p:ext uri="{BB962C8B-B14F-4D97-AF65-F5344CB8AC3E}">
        <p14:creationId xmlns:p14="http://schemas.microsoft.com/office/powerpoint/2010/main" val="12193827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F7AB6-B597-49D0-97A1-A795FF0E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6E077-AAB5-44F3-8026-9E81EB0F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617AE-D86F-43C7-9433-FDE6FBB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0A2E6-049D-4A25-B4DA-25BA23B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breaks first when a site scales past a handful of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3951E-9E3B-49AE-9853-BD2E0FA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same three failures, in order, every time a site grows without a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AE8FF-9B47-4CC7-8E97-8102FF83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A150B-87D0-46F1-8282-9FAB723D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1BBE0-3710-4858-8AE8-B89FCB38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619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Inconsistent navigation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F0C6F-8D93-41D2-AABA-D358C42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95550"/>
            <a:ext cx="60960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Page 6 has a link the others don't; visitors lose the mental map week 8 taught you to protect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5EF05-BED0-4645-965E-8A477EC3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09BC8-F1FD-48FA-BE9E-EB1B914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619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Duplicated header/footer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A44BF-D0BA-4EC9-A801-E978662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60960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copy-pasted shell drifts — one page's markup silently diverges from the 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9BA8E-095B-4599-B844-D13AAB41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001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80B62-725A-44BD-85F6-F19C6B2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3619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Broken relative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4544B-40A4-414F-B815-03D1D67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0150"/>
            <a:ext cx="609600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page moved one folder deeper breaks every ../ link built for its old location</a:t>
            </a:r>
          </a:p>
        </p:txBody>
      </p:sp>
    </p:spTree>
    <p:extLst>
      <p:ext uri="{BB962C8B-B14F-4D97-AF65-F5344CB8AC3E}">
        <p14:creationId xmlns:p14="http://schemas.microsoft.com/office/powerpoint/2010/main" val="314426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C8D26-58EF-4011-A94B-5070E64D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F1DBD-9FA8-46A7-8CB2-A989E24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1A8A8-FBD6-4034-952E-63282FD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8889C-2A74-4365-8010-AD51FB0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systemic fix: shared partials, one source of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A4915-F0F5-4C05-98C5-2BCD862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failure on the previous slide is prevented the same 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D4B3B-3A61-4670-AA08-D45717D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2613C-4335-464E-8205-6C09D96E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7B7E7-6A6C-4DD7-86E9-FF19C40B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ADD0E-5AC7-4CC9-B3F5-86FF5B76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B215D-B8D4-41DA-9E14-0EB624B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Shared shell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6CF0A-79EC-47BC-960C-6502F76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867275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header/nav/footer block, reused verbatim, so a nav change is a one-place edit even without a build tool.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91690-D509-4F0A-9DAF-8305128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528637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F092C-AD30-4D01-A404-1C2068C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D5F5C-FEEE-4BA6-B1C7-1895F083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57500"/>
            <a:ext cx="4867275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Root-relative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C4A42-6455-4062-B460-A90C5F86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238500"/>
            <a:ext cx="4867275" cy="1266825"/>
          </a:xfrm>
          <a:prstGeom xmlns:a="http://schemas.openxmlformats.org/drawingml/2006/main" prst="roundRect">
            <a:avLst>
              <a:gd name="adj" fmla="val 902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Write links from the site root (/work/) instead of relative paths (../../work/) so moving a page can't silently break its links.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6DB6B-61EB-486F-B3E2-3716C09B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Neither fix requires a framework — both are decisions you make and apply consistently, by hand, across every page.</a:t>
            </a:r>
          </a:p>
        </p:txBody>
      </p:sp>
    </p:spTree>
    <p:extLst>
      <p:ext uri="{BB962C8B-B14F-4D97-AF65-F5344CB8AC3E}">
        <p14:creationId xmlns:p14="http://schemas.microsoft.com/office/powerpoint/2010/main" val="14691750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60EBB-48FD-47B9-8728-BF61505E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882E7-4A17-4123-B304-B59F1AD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C2EB5-DF6D-4494-BDE9-40B153FE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B9636-902D-4AC0-805D-757F1069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Before: ad-hoc navigation on a growing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6DBBF-7D98-4E23-B1B7-1E2C035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Three pages, three slightly different navs — a real and common starting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9BCDE-BB40-4C88-82B7-F0980714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05743-CA7E-482D-9127-19C1941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A2F74-F5BA-4A4A-B70C-E605EE5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287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1C263-D8B4-4705-8F94-B863F54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9906000" cy="2209800"/>
          </a:xfrm>
          <a:prstGeom xmlns:a="http://schemas.openxmlformats.org/drawingml/2006/main" prst="roundRect">
            <a:avLst>
              <a:gd name="adj" fmla="val 517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about.html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&lt;a href="index.html"&gt;Home&lt;/a&gt;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&lt;a href="work.html"&gt;My Work&lt;/a&gt;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&lt;!-- work.html --&gt;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&lt;a href="/"&gt;Home&lt;/a&gt;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&lt;a href="about.html"&gt;About Me&lt;/a&gt;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&lt;a href="contact.html"&gt;Get in touch&lt;/a&gt;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C1AFB-E2A6-4E90-BD73-3B2B5C23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Three problems visible above: different link text for the same page (“My Work” vs “Work”), a missing Contact link on about.html, and a mixed root-relative/relative style.</a:t>
            </a:r>
          </a:p>
        </p:txBody>
      </p:sp>
    </p:spTree>
    <p:extLst>
      <p:ext uri="{BB962C8B-B14F-4D97-AF65-F5344CB8AC3E}">
        <p14:creationId xmlns:p14="http://schemas.microsoft.com/office/powerpoint/2010/main" val="4521128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30E9D-A538-4BF7-9ABE-D899565B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0D58E-4864-4717-B6A1-F8223A22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AB2E6-5E57-400E-B0FF-5B02DD1E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30B04-8DAB-4DF6-8099-6BB198C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After: one shared nav pattern, three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AA16E-B102-4A04-A037-997F138E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Identical markup, identical labels, identical order — pasted, not retyped.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EE27D-36D0-4AAF-87ED-E68BF3DE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EC12B-E859-428C-87A1-AFAA2B1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8CBFA-EC86-4715-A380-C191A9A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0287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822DF-5C47-40BD-AB27-5BA559C4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9906000" cy="24003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&lt;nav aria-label="Primary"&gt;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&lt;ul&gt;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href="/"&gt;Home&lt;/a&gt;&lt;/li&gt;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href="/about/" aria-current="page"&gt;About&lt;/a&gt;&lt;/li&gt;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href="/work/"&gt;Work&lt;/a&gt;&lt;/li&gt;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  &lt;li&gt;&lt;a href="/contact/"&gt;Contact&lt;/a&gt;&lt;/li&gt;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  &lt;/ul&gt;</a:t>
            </a:r>
          </a:p>
          <a:p xmlns:a="http://schemas.openxmlformats.org/drawingml/2006/main">
            <a:pPr algn="l">
              <a:def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AF1F4"/>
                </a:solidFill>
                <a:latin typeface="Courier New"/>
                <a:ea typeface="Courier New"/>
                <a:cs typeface="Courier New"/>
              </a:rPr>
              <a:t>&lt;/nav&gt;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E5D09-C61E-4652-99C3-A21638D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0287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6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665A"/>
                </a:solidFill>
                <a:latin typeface="Aptos"/>
                <a:ea typeface="Aptos"/>
                <a:cs typeface="Aptos"/>
              </a:rPr>
              <a:t>This exact block appears on about.html, work.html and contact.html — only the aria-current value changes per page.</a:t>
            </a:r>
          </a:p>
        </p:txBody>
      </p:sp>
    </p:spTree>
    <p:extLst>
      <p:ext uri="{BB962C8B-B14F-4D97-AF65-F5344CB8AC3E}">
        <p14:creationId xmlns:p14="http://schemas.microsoft.com/office/powerpoint/2010/main" val="13126950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E3864-E10F-4ED6-BF16-49992B09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8ABA1-01CC-4633-A7EF-3437CF1C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90151-8842-49BC-B595-2954EBA4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3B2A6-EF9D-434E-A31F-B0716149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Testing the IA: can a visitor find it in ≤ 2 clicks?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025A8-4C55-49C2-8284-E6E8985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First-click and tree testing check the structure itself, separate from visual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14CCD-9A10-49F0-8D80-63B4B14E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5B9F4-121F-4D00-B312-059795FC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694719f334d86"/>
          <a:srcRect xmlns:a="http://schemas.openxmlformats.org/drawingml/2006/main" l="10716" t="0" r="107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381250"/>
            <a:ext cx="43243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935A0-9AAF-4C51-95E4-78E7B073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609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4C7A5-8C49-4200-92AA-02441C58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51B75-91F9-4DFF-8C0D-3E2B167D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First-click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1D529-2591-47D7-AB51-AD2A760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567690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69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Show a static page or wireframe, ask “where would you click to find X?” — the first click alone predicts most task success.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7A686-1730-4659-9D15-D0585F44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6096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10818-60C6-43CC-81F2-C155C768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06314-FC05-4F9B-9103-F2B3FACD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67690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Tree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D2788-CB45-4527-AB7A-A7846311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567690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Show only the site's navigation labels as a text list (no visuals) and ask someone to find a target page — isolates the IA from the design entirely.</a:t>
            </a:r>
          </a:p>
        </p:txBody>
      </p:sp>
    </p:spTree>
    <p:extLst>
      <p:ext uri="{BB962C8B-B14F-4D97-AF65-F5344CB8AC3E}">
        <p14:creationId xmlns:p14="http://schemas.microsoft.com/office/powerpoint/2010/main" val="6973964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892D5-C27A-454F-86B5-C6C1C5D3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005BF-4120-4D9B-97A4-7C49C010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A56ED-5B93-4420-B70E-800A3ACC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903F4-59AC-4484-BC09-7D2167A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a real navigation system: two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33592-D2DB-4D18-88A1-17679AF4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Two very different real systems solving the same underlying problem as your site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7125F-4CE3-4558-970A-C3C0159F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B417-9BB3-4A7A-B8A2-9AA6170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1b1e9c6e04424"/>
          <a:srcRect xmlns:a="http://schemas.openxmlformats.org/drawingml/2006/main" l="0" t="513" r="0" b="5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381250"/>
            <a:ext cx="49530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22541d74e447c"/>
          <a:srcRect xmlns:a="http://schemas.openxmlformats.org/drawingml/2006/main" l="0" t="2696" r="0" b="2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81250"/>
            <a:ext cx="51816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4CA68-580C-485F-8271-337172E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744200" cy="95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transit map is a hub-and-spoke/interchange topology made legible at a glance; airport signage is consistent placement and label wording solved at very large scale — both are IA problems before they are visual ones.</a:t>
            </a:r>
          </a:p>
        </p:txBody>
      </p:sp>
    </p:spTree>
    <p:extLst>
      <p:ext uri="{BB962C8B-B14F-4D97-AF65-F5344CB8AC3E}">
        <p14:creationId xmlns:p14="http://schemas.microsoft.com/office/powerpoint/2010/main" val="3055239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49FA5-B154-4DE7-8401-6DED2C97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D7765-C6B0-47FD-B9AB-F3B4114E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4D3A9-4576-4D27-8253-32181A17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50A5-2835-43C4-A941-32806193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Content organisation as a physical, pre-digital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62E0A-7BD0-43E5-B05F-7503DA5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IA did not start with the web — these two systems solved the same grouping problem.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59D11-F6C7-4A4B-ADCA-0E7400E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1CF9C-52B2-4EE0-B398-74D58EA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d63dcf90b453b"/>
          <a:srcRect xmlns:a="http://schemas.openxmlformats.org/drawingml/2006/main" l="3386" t="0" r="33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38125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ce3733d3f4419"/>
          <a:srcRect xmlns:a="http://schemas.openxmlformats.org/drawingml/2006/main" l="0" t="23872" r="0" b="23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2381250"/>
            <a:ext cx="5276850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884C3-C464-4C78-9787-CACC2F39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07442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0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card catalog is a lookup index; the shelves are the grouped, browsable structure it points into — exactly the split between a site's nav (index) and its page groups (shelves).</a:t>
            </a:r>
          </a:p>
        </p:txBody>
      </p:sp>
    </p:spTree>
    <p:extLst>
      <p:ext uri="{BB962C8B-B14F-4D97-AF65-F5344CB8AC3E}">
        <p14:creationId xmlns:p14="http://schemas.microsoft.com/office/powerpoint/2010/main" val="222631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F4AF1-38BD-4B23-8363-293ACBE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83178-6030-406B-B6EA-16480C6D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BD94C-8166-47EE-A2A4-2C61D9BB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AE63F-A260-45E1-82D0-3BD52115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task: sketch, then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3F30-6A83-479E-B502-197B4D2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Directly implements Assignment 4's information-architecture requirement.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FBDBF-DF8F-4300-81D6-F3FFC582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B93CC-3CF9-4665-BBEC-28B3F683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3B181-7B2F-40DE-9177-312DAA7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Sketch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EFBEF-6534-4642-8F0F-2A33E0D3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57450"/>
            <a:ext cx="8191500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Draw a site map for your Assignment 4 project: choose a topology (hierarchical, flat or hub-and-spoke), list every page, and mark which nav item links to each.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2441B-50E9-49D2-AD70-BD35A4D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Card-sort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7339E-EDAF-4652-BBA4-BB6E0326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8191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Ask one classmate to sort your page list into groups without seeing your sketch, then compare the two groupings.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68A3B-713A-4E2C-AFB5-4A2F139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E497D-BA0A-4930-81F4-DC6CE236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38600"/>
            <a:ext cx="8191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Implement one shared primary-nav pattern, identical in markup and label order, across at least three real HTML 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8BFC5-A2A7-46B2-8BE0-73059F5F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12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Evidence to submit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34647-DA1B-4885-9F69-D675FEF5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81915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site-map sketch, the three built pages, and a one-paragraph note on the topology you chose and why.</a:t>
            </a:r>
          </a:p>
        </p:txBody>
      </p:sp>
    </p:spTree>
    <p:extLst>
      <p:ext uri="{BB962C8B-B14F-4D97-AF65-F5344CB8AC3E}">
        <p14:creationId xmlns:p14="http://schemas.microsoft.com/office/powerpoint/2010/main" val="15139280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118A6-4634-4C5D-9021-A06B25E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5E977-331C-42CB-82A4-791DDF24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66FB6-8A04-461F-A5FA-61E74E6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A9346-A118-4221-8BF1-00212D5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Common IA and navigation mistakes, and the fix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44888-DD36-471B-BF6F-ADE8CAB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defects a marker sees most often at this stage of a multi-page build.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EB886-48B1-4335-8409-F5AC0B34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BBF96-938D-4E6C-8BFF-0DDA172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0D405-C4F8-44A8-8FF9-E6BC29EE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Nav grouped by org chart, not by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DE556-A1B2-4595-8529-35B48501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Rename groups after the visitor's question, not the team that owns the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36A9E-3C0A-4A0F-BF04-8C0F763A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2ED9C-486F-40AC-B3F7-972E084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A page only reachable by typing its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13CC9-5CA9-4A75-B422-8E1E2A18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Click through from home for every inventory item; link every orphan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7E98D-413B-4D62-8D06-9D13BABB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9E349-920A-40BD-91DB-9477CD66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Nav wording differs page to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7E1B5-769B-471D-9613-006EBECD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Copy the exact shell block; never retype navigation markup by hand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92919-6808-45DB-84AA-53D80EB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F62CA-FD00-45DF-AE1A-9C7B871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4381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831A"/>
                </a:solidFill>
                <a:latin typeface="Aptos"/>
                <a:ea typeface="Aptos"/>
                <a:cs typeface="Aptos"/>
              </a:rPr>
              <a:t>Detail pages missing a field others have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12543-325D-4DEB-91CB-A7ADAC14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00650"/>
            <a:ext cx="53340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Check every new page against the written content model before publishing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BE796-65BD-44FE-96C8-23B75D6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9953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90091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B9988-9B60-40CC-9520-76E90FF2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B55E1-D163-47D4-B6FC-7809E08A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0E7F2-054B-4A79-9721-40E37E1B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322C2-F48F-4DC0-834C-0D84809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Recap: this week builds on three earlier weeks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F59D2-5113-4ECF-B564-3B57E165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IA and navigation are not a new skill — they assemble three you already have.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37A1A-E4CB-45F7-9394-35EF014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C59AA-5C33-4F49-ABEE-11D0208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7BF33-869C-433E-954E-552A786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EA957-6667-4935-9A88-A4DD7870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7E95A-D6A9-48A7-9726-419230E2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2 — HTML and semantic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65C2B-7051-46C6-B357-C10B02DA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14650" cy="18859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Landmarks (header, nav, main, footer) are the actual elements this week's shell and nav patterns are built from.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C0CA1-1057-4C44-B010-E576B1AE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E87C2-949C-4BD1-B0A6-C9FFBCD8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ABF87-F759-40E0-B403-BD912E84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6 — Responsive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043F9-27CC-41B2-8A4A-763E883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38500"/>
            <a:ext cx="2914650" cy="18859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shared shell has to keep working at every screen size — the nav pattern doesn't get a separate design per page.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00F28-FF99-487B-B8EC-29BFE585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3092F-76E2-40B7-824F-AD783182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DD4A4-1B65-45ED-85F9-D9E990B3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14650" cy="257175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4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8 — Accessibility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A33B7-8E72-4294-A86B-BDC2C78B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914650" cy="18859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Consistent navigation placement, skip links and aria-current are accessibility requirements this week puts into practice.</a:t>
            </a:r>
          </a:p>
        </p:txBody>
      </p:sp>
    </p:spTree>
    <p:extLst>
      <p:ext uri="{BB962C8B-B14F-4D97-AF65-F5344CB8AC3E}">
        <p14:creationId xmlns:p14="http://schemas.microsoft.com/office/powerpoint/2010/main" val="9813471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BCF67-795C-4DE6-8188-454E2934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C8809-2144-4FD8-94FE-DD05DB37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E6185-7473-41FA-9AE6-26DA905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71500"/>
            <a:ext cx="57150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84721-9CCD-4BAC-A558-7301CC0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10668000" cy="552450"/>
          </a:xfrm>
          <a:prstGeom xmlns:a="http://schemas.openxmlformats.org/drawingml/2006/main" prst="roundRect">
            <a:avLst>
              <a:gd name="adj" fmla="val 2069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Recap checklist and what's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3D25B-3233-4AC2-8BB4-628B9B2F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477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Use this before calling any multi-page structure finished.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4CFDA-3906-430F-81BC-14FD91A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954FF-55F1-49F2-8C07-57FB09EA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85775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F5986-BA11-4052-BC2E-2103E5DD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832D9-3FFE-4450-AEA8-FC45FC6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952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Content inventory lists every page and its purpose.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6685F-434E-45F2-AF59-77CA750D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1F459-5696-42F0-96E7-74277E05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952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Groups are named after visitor tasks, not org structure.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48FF3-D39E-41BA-82EE-369D3F1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757F4-CCF2-4A1F-B7F7-21F249F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952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Every page has at least one inbound nav/footer/breadcrumb link — no orphans.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42097-4FF5-403C-9282-16393C79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87B49-0F46-43C5-9C27-EF9E8769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952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Primary nav is identical, in markup and order, on every page.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532FA-B382-4A9E-9B5A-E8340380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41503-4A05-4511-A59E-CB10A944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952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URL, nav label and on-page heading agree for every page.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EA5D2-B3CE-4671-9945-5A1B5355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E2C64-719D-4C46-BD4B-87409E6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95250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A"/>
                </a:solidFill>
                <a:latin typeface="Aptos"/>
                <a:ea typeface="Aptos"/>
                <a:cs typeface="Aptos"/>
              </a:rPr>
              <a:t>A tree test or first-click test on the sketch succeeded in ≤ 2 clicks.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F8563-41B6-476D-A0AC-002112F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2870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Next week: user testing and revision — observing a classmate attempt a real task on the site you just structured.</a:t>
            </a:r>
          </a:p>
        </p:txBody>
      </p:sp>
    </p:spTree>
    <p:extLst>
      <p:ext uri="{BB962C8B-B14F-4D97-AF65-F5344CB8AC3E}">
        <p14:creationId xmlns:p14="http://schemas.microsoft.com/office/powerpoint/2010/main" val="779511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2026-09-13T07:27:16.6030000Z</dcterms:created>
  <dcterms:modified xsi:type="dcterms:W3CDTF">2026-09-13T07:27:16.6030000Z</dcterms:modified>
</coreProperties>
</file>