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9f0bf478c14d3f" /><Relationship Type="http://schemas.openxmlformats.org/officeDocument/2006/relationships/extended-properties" Target="/docProps/app.xml" Id="R77f8411078864d20" /><Relationship Type="http://schemas.openxmlformats.org/officeDocument/2006/relationships/officeDocument" Target="/ppt/presentation.xml" Id="R44edf99ec9b0405c" /></Relationships>
</file>

<file path=ppt/presentation.xml><?xml version="1.0" encoding="utf-8"?>
<p:presentation xmlns:p="http://schemas.openxmlformats.org/presentationml/2006/main">
  <p:sldMasterIdLst>
    <p:sldMasterId xmlns:r="http://schemas.openxmlformats.org/officeDocument/2006/relationships" id="2147483648" r:id="Rc10b3e077f834c1f"/>
  </p:sldMasterIdLst>
  <p:notesMasterIdLst>
    <p:notesMasterId xmlns:r="http://schemas.openxmlformats.org/officeDocument/2006/relationships" r:id="R076cb44453824280"/>
  </p:notesMasterIdLst>
  <p:sldIdLst>
    <p:sldId xmlns:r="http://schemas.openxmlformats.org/officeDocument/2006/relationships" id="256" r:id="R5d0bb3793b8e4689"/>
    <p:sldId xmlns:r="http://schemas.openxmlformats.org/officeDocument/2006/relationships" id="257" r:id="R7dbf82091b5641fa"/>
    <p:sldId xmlns:r="http://schemas.openxmlformats.org/officeDocument/2006/relationships" id="258" r:id="R049db1f2190d4ea0"/>
    <p:sldId xmlns:r="http://schemas.openxmlformats.org/officeDocument/2006/relationships" id="259" r:id="Red87ed2a40b446b7"/>
    <p:sldId xmlns:r="http://schemas.openxmlformats.org/officeDocument/2006/relationships" id="260" r:id="R5562e4d748d74037"/>
    <p:sldId xmlns:r="http://schemas.openxmlformats.org/officeDocument/2006/relationships" id="261" r:id="R3f28b0e028ca49dc"/>
    <p:sldId xmlns:r="http://schemas.openxmlformats.org/officeDocument/2006/relationships" id="262" r:id="R88e05f8f63de4400"/>
    <p:sldId xmlns:r="http://schemas.openxmlformats.org/officeDocument/2006/relationships" id="263" r:id="Rc2de5a2fb63e4e75"/>
    <p:sldId xmlns:r="http://schemas.openxmlformats.org/officeDocument/2006/relationships" id="264" r:id="R4f36ab10bc994d3c"/>
    <p:sldId xmlns:r="http://schemas.openxmlformats.org/officeDocument/2006/relationships" id="265" r:id="R9686e968af0f436f"/>
    <p:sldId xmlns:r="http://schemas.openxmlformats.org/officeDocument/2006/relationships" id="266" r:id="R558c5ba7f80b40d6"/>
    <p:sldId xmlns:r="http://schemas.openxmlformats.org/officeDocument/2006/relationships" id="267" r:id="R6896de09726442ea"/>
    <p:sldId xmlns:r="http://schemas.openxmlformats.org/officeDocument/2006/relationships" id="268" r:id="R33a751594ca24496"/>
    <p:sldId xmlns:r="http://schemas.openxmlformats.org/officeDocument/2006/relationships" id="269" r:id="Redcce5622b854417"/>
    <p:sldId xmlns:r="http://schemas.openxmlformats.org/officeDocument/2006/relationships" id="270" r:id="R6148d750b5f543a1"/>
    <p:sldId xmlns:r="http://schemas.openxmlformats.org/officeDocument/2006/relationships" id="271" r:id="Ra447e309dcac4c57"/>
    <p:sldId xmlns:r="http://schemas.openxmlformats.org/officeDocument/2006/relationships" id="272" r:id="Re7d280f38c6c467d"/>
    <p:sldId xmlns:r="http://schemas.openxmlformats.org/officeDocument/2006/relationships" id="273" r:id="Rd5e8a614e0b24928"/>
    <p:sldId xmlns:r="http://schemas.openxmlformats.org/officeDocument/2006/relationships" id="274" r:id="R8eb789b63e2f4ca6"/>
    <p:sldId xmlns:r="http://schemas.openxmlformats.org/officeDocument/2006/relationships" id="275" r:id="R49bbcaa2c99d4aa5"/>
    <p:sldId xmlns:r="http://schemas.openxmlformats.org/officeDocument/2006/relationships" id="276" r:id="R6a7065d4576045f2"/>
    <p:sldId xmlns:r="http://schemas.openxmlformats.org/officeDocument/2006/relationships" id="277" r:id="R6fd633b05b6843ab"/>
    <p:sldId xmlns:r="http://schemas.openxmlformats.org/officeDocument/2006/relationships" id="278" r:id="Rfbc4643026ce43f1"/>
    <p:sldId xmlns:r="http://schemas.openxmlformats.org/officeDocument/2006/relationships" id="279" r:id="R786b94332ae94cae"/>
    <p:sldId xmlns:r="http://schemas.openxmlformats.org/officeDocument/2006/relationships" id="280" r:id="R13bcf8db8c174a98"/>
    <p:sldId xmlns:r="http://schemas.openxmlformats.org/officeDocument/2006/relationships" id="281" r:id="R40046222020b485f"/>
    <p:sldId xmlns:r="http://schemas.openxmlformats.org/officeDocument/2006/relationships" id="282" r:id="R7b0e0d8ba5674d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aad71dc69a4926" /><Relationship Type="http://schemas.openxmlformats.org/officeDocument/2006/relationships/slideMaster" Target="/ppt/slideMasters/slideMaster1.xml" Id="Rc10b3e077f834c1f" /><Relationship Type="http://schemas.openxmlformats.org/officeDocument/2006/relationships/notesMaster" Target="/ppt/notesMasters/notesMaster1.xml" Id="R076cb44453824280" /><Relationship Type="http://schemas.openxmlformats.org/officeDocument/2006/relationships/presProps" Target="/ppt/presProps.xml" Id="R5edb1cd5fc4149fd" /><Relationship Type="http://schemas.openxmlformats.org/officeDocument/2006/relationships/tableStyles" Target="/ppt/tableStyles.xml" Id="Rba5cfa24d09743f2" /><Relationship Type="http://schemas.openxmlformats.org/officeDocument/2006/relationships/slide" Target="/ppt/slides/slide1.xml" Id="R5d0bb3793b8e4689" /><Relationship Type="http://schemas.openxmlformats.org/officeDocument/2006/relationships/slide" Target="/ppt/slides/slide2.xml" Id="R7dbf82091b5641fa" /><Relationship Type="http://schemas.openxmlformats.org/officeDocument/2006/relationships/slide" Target="/ppt/slides/slide3.xml" Id="R049db1f2190d4ea0" /><Relationship Type="http://schemas.openxmlformats.org/officeDocument/2006/relationships/slide" Target="/ppt/slides/slide4.xml" Id="Red87ed2a40b446b7" /><Relationship Type="http://schemas.openxmlformats.org/officeDocument/2006/relationships/slide" Target="/ppt/slides/slide5.xml" Id="R5562e4d748d74037" /><Relationship Type="http://schemas.openxmlformats.org/officeDocument/2006/relationships/slide" Target="/ppt/slides/slide6.xml" Id="R3f28b0e028ca49dc" /><Relationship Type="http://schemas.openxmlformats.org/officeDocument/2006/relationships/slide" Target="/ppt/slides/slide7.xml" Id="R88e05f8f63de4400" /><Relationship Type="http://schemas.openxmlformats.org/officeDocument/2006/relationships/slide" Target="/ppt/slides/slide8.xml" Id="Rc2de5a2fb63e4e75" /><Relationship Type="http://schemas.openxmlformats.org/officeDocument/2006/relationships/slide" Target="/ppt/slides/slide9.xml" Id="R4f36ab10bc994d3c" /><Relationship Type="http://schemas.openxmlformats.org/officeDocument/2006/relationships/slide" Target="/ppt/slides/slide10.xml" Id="R9686e968af0f436f" /><Relationship Type="http://schemas.openxmlformats.org/officeDocument/2006/relationships/slide" Target="/ppt/slides/slide11.xml" Id="R558c5ba7f80b40d6" /><Relationship Type="http://schemas.openxmlformats.org/officeDocument/2006/relationships/slide" Target="/ppt/slides/slide12.xml" Id="R6896de09726442ea" /><Relationship Type="http://schemas.openxmlformats.org/officeDocument/2006/relationships/slide" Target="/ppt/slides/slide13.xml" Id="R33a751594ca24496" /><Relationship Type="http://schemas.openxmlformats.org/officeDocument/2006/relationships/slide" Target="/ppt/slides/slide14.xml" Id="Redcce5622b854417" /><Relationship Type="http://schemas.openxmlformats.org/officeDocument/2006/relationships/slide" Target="/ppt/slides/slide15.xml" Id="R6148d750b5f543a1" /><Relationship Type="http://schemas.openxmlformats.org/officeDocument/2006/relationships/slide" Target="/ppt/slides/slide16.xml" Id="Ra447e309dcac4c57" /><Relationship Type="http://schemas.openxmlformats.org/officeDocument/2006/relationships/slide" Target="/ppt/slides/slide17.xml" Id="Re7d280f38c6c467d" /><Relationship Type="http://schemas.openxmlformats.org/officeDocument/2006/relationships/slide" Target="/ppt/slides/slide18.xml" Id="Rd5e8a614e0b24928" /><Relationship Type="http://schemas.openxmlformats.org/officeDocument/2006/relationships/slide" Target="/ppt/slides/slide19.xml" Id="R8eb789b63e2f4ca6" /><Relationship Type="http://schemas.openxmlformats.org/officeDocument/2006/relationships/slide" Target="/ppt/slides/slide20.xml" Id="R49bbcaa2c99d4aa5" /><Relationship Type="http://schemas.openxmlformats.org/officeDocument/2006/relationships/slide" Target="/ppt/slides/slide21.xml" Id="R6a7065d4576045f2" /><Relationship Type="http://schemas.openxmlformats.org/officeDocument/2006/relationships/slide" Target="/ppt/slides/slide22.xml" Id="R6fd633b05b6843ab" /><Relationship Type="http://schemas.openxmlformats.org/officeDocument/2006/relationships/slide" Target="/ppt/slides/slide23.xml" Id="Rfbc4643026ce43f1" /><Relationship Type="http://schemas.openxmlformats.org/officeDocument/2006/relationships/slide" Target="/ppt/slides/slide24.xml" Id="R786b94332ae94cae" /><Relationship Type="http://schemas.openxmlformats.org/officeDocument/2006/relationships/slide" Target="/ppt/slides/slide25.xml" Id="R13bcf8db8c174a98" /><Relationship Type="http://schemas.openxmlformats.org/officeDocument/2006/relationships/slide" Target="/ppt/slides/slide26.xml" Id="R40046222020b485f" /><Relationship Type="http://schemas.openxmlformats.org/officeDocument/2006/relationships/slide" Target="/ppt/slides/slide27.xml" Id="R7b0e0d8ba5674d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6d4a3f0a1c49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3fe849c0254235" /><Relationship Type="http://schemas.openxmlformats.org/officeDocument/2006/relationships/notesMaster" Target="/ppt/notesMasters/notesMaster1.xml" Id="Re85c47d38c7a4d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36b91cc9144882" /><Relationship Type="http://schemas.openxmlformats.org/officeDocument/2006/relationships/notesMaster" Target="/ppt/notesMasters/notesMaster1.xml" Id="Re124d3564e3e49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b5eb3837e14ecc" /><Relationship Type="http://schemas.openxmlformats.org/officeDocument/2006/relationships/notesMaster" Target="/ppt/notesMasters/notesMaster1.xml" Id="Raf40e8a1d3024d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350302f15c4614" /><Relationship Type="http://schemas.openxmlformats.org/officeDocument/2006/relationships/notesMaster" Target="/ppt/notesMasters/notesMaster1.xml" Id="Rab137280b5d8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f559900ab94f13" /><Relationship Type="http://schemas.openxmlformats.org/officeDocument/2006/relationships/notesMaster" Target="/ppt/notesMasters/notesMaster1.xml" Id="R67636a98536b43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999ae50e5b486c" /><Relationship Type="http://schemas.openxmlformats.org/officeDocument/2006/relationships/notesMaster" Target="/ppt/notesMasters/notesMaster1.xml" Id="R7c871a5ebbba42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98eb2e2764e38" /><Relationship Type="http://schemas.openxmlformats.org/officeDocument/2006/relationships/notesMaster" Target="/ppt/notesMasters/notesMaster1.xml" Id="Rb79787ecd09847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67dd7575ca4e7b" /><Relationship Type="http://schemas.openxmlformats.org/officeDocument/2006/relationships/notesMaster" Target="/ppt/notesMasters/notesMaster1.xml" Id="Rc1ef961c383d48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64aa64934546c7" /><Relationship Type="http://schemas.openxmlformats.org/officeDocument/2006/relationships/notesMaster" Target="/ppt/notesMasters/notesMaster1.xml" Id="Rd542bd7bc52e4d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14212e100a4a1f" /><Relationship Type="http://schemas.openxmlformats.org/officeDocument/2006/relationships/notesMaster" Target="/ppt/notesMasters/notesMaster1.xml" Id="Rececd4e98a7845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79f53716a8412b" /><Relationship Type="http://schemas.openxmlformats.org/officeDocument/2006/relationships/notesMaster" Target="/ppt/notesMasters/notesMaster1.xml" Id="R22c14e43ca124e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47bc82024f1420e" /><Relationship Type="http://schemas.openxmlformats.org/officeDocument/2006/relationships/notesMaster" Target="/ppt/notesMasters/notesMaster1.xml" Id="R18bfe405e9bb4d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a9ba2ab9b324bc3" /><Relationship Type="http://schemas.openxmlformats.org/officeDocument/2006/relationships/notesMaster" Target="/ppt/notesMasters/notesMaster1.xml" Id="R2ba59295039249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7e9ebc448948c7" /><Relationship Type="http://schemas.openxmlformats.org/officeDocument/2006/relationships/notesMaster" Target="/ppt/notesMasters/notesMaster1.xml" Id="Rac004b388e1d4fc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5d2da18d9e640c3" /><Relationship Type="http://schemas.openxmlformats.org/officeDocument/2006/relationships/notesMaster" Target="/ppt/notesMasters/notesMaster1.xml" Id="Rd985fce27cef43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4d598f4dae7428a" /><Relationship Type="http://schemas.openxmlformats.org/officeDocument/2006/relationships/notesMaster" Target="/ppt/notesMasters/notesMaster1.xml" Id="R0446eb3f540d421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4b6c017b7544dc" /><Relationship Type="http://schemas.openxmlformats.org/officeDocument/2006/relationships/notesMaster" Target="/ppt/notesMasters/notesMaster1.xml" Id="R73970fa9841b41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0e07b686ec48f2" /><Relationship Type="http://schemas.openxmlformats.org/officeDocument/2006/relationships/notesMaster" Target="/ppt/notesMasters/notesMaster1.xml" Id="Ra3b482f5cfbb48a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f9635841784357" /><Relationship Type="http://schemas.openxmlformats.org/officeDocument/2006/relationships/notesMaster" Target="/ppt/notesMasters/notesMaster1.xml" Id="R18eeba89c35d40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320e31f8ba492c" /><Relationship Type="http://schemas.openxmlformats.org/officeDocument/2006/relationships/notesMaster" Target="/ppt/notesMasters/notesMaster1.xml" Id="Rcb8c6a7db2c844e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57ac5933a54b90" /><Relationship Type="http://schemas.openxmlformats.org/officeDocument/2006/relationships/notesMaster" Target="/ppt/notesMasters/notesMaster1.xml" Id="Ra7194a3ca2da44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54a8b7d0c3439a" /><Relationship Type="http://schemas.openxmlformats.org/officeDocument/2006/relationships/notesMaster" Target="/ppt/notesMasters/notesMaster1.xml" Id="R8e09004bc47b4e7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039282352f447b" /><Relationship Type="http://schemas.openxmlformats.org/officeDocument/2006/relationships/notesMaster" Target="/ppt/notesMasters/notesMaster1.xml" Id="R0f14eeed84f74c0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efa481d0b704f4b" /><Relationship Type="http://schemas.openxmlformats.org/officeDocument/2006/relationships/notesMaster" Target="/ppt/notesMasters/notesMaster1.xml" Id="R3e9d940290d745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21438bb4834309" /><Relationship Type="http://schemas.openxmlformats.org/officeDocument/2006/relationships/notesMaster" Target="/ppt/notesMasters/notesMaster1.xml" Id="R131fef33babb4d9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0e91fc97264e8c" /><Relationship Type="http://schemas.openxmlformats.org/officeDocument/2006/relationships/notesMaster" Target="/ppt/notesMasters/notesMaster1.xml" Id="Rbfb838fe022949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0f283067fc64a83" /><Relationship Type="http://schemas.openxmlformats.org/officeDocument/2006/relationships/notesMaster" Target="/ppt/notesMasters/notesMaster1.xml" Id="R23d5cc120ece4c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this week moves from taste to a defensible system — numeric contrast checks for colour, stated roles and crops for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week: a restrained visual system is a set of decisions you can justify with numbers, not a mood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towns look intentional because a rule, not a preference, decided each colour. That is what a token system does for a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Tokens make a rebrand, a dark mode, or a contrast fix a one-line change instead of a find-and-replace across every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HSL turns 'make this a bit lighter' from guesswork into a single number change: raise L, leave H and 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hex value here is real, computed from the actual palette used across this deck's own chrome — nothing is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not approximations — this is the exact formula a browser's own accessibility tooling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deliverable of a real contrast audit against this course's own brand palette — the kind of check the studio task asks students to repeat on their own 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check their own studio palette against a colour-blindness simulator, not just a contrast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muted token cannot just be reused verbatim between modes — slate looks fine on cream (7.50:1) but fails on ink (2.00:1), so dark mode swaps it for line instead.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'after' image is a stand-in for a token set, not literally the SLOP1512 palette — the point is the discipline of a small, closed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Marble here is a genuine decorative photograph — nothing on this slide requires knowing what the marble looks 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aspect-ratio and object-fit solve two different problems: one reserves space, the other decides what gets cropped once space is 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object-position 50% 20% keeps the crop anchored near the top of the frame, which is where a face-safe crop usually needs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this slide to the previous one: the crop rule generalises, but the exact object-position number still needs to be tuned per aspect ratio.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srcset offers choices; sizes tells the browser which choice it needs. Without sizes, the browser assumes 100vw and over-downloads on narrow layouts.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srcset/sizes solves resolution switching for one image; picture/source solves format switching and art direction across genuinely different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aspect-ratio idea from the object-fit slide, now justified by an actual CLS score rather than just 'it looks nicer'.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Decide the role first. The wrong alt text for the right role (or the right words for the wrong role) both fail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alt text on this row is the literal string used earlier in this deck — not a hypothetical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if you removed this image, would a sighted reader lose information the alt text should replace? For a true hero image, usually yes.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four rules are why brand guides exist as documents, not folklore passed between designers.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mirrors exactly the two halves of this week's topic — a token system you can defend with numbers, and two images you can defend with a stated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rubric literally when reviewing studio submissions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six of eleven sourced images, each independently verified against its Wikimedia Commons file page before 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Remaining five of eleven sourced images. Every file was independently verified against its Commons licence tag before use, mirroring the source-record discipline this course asks of students.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back to Week 2's semantic-HTML foundation and forward to next week's type system — colour is one token category among several.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96ac7ac78f4d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aab7210f2048b9" /><Relationship Type="http://schemas.openxmlformats.org/officeDocument/2006/relationships/slideLayout" Target="/ppt/slideLayouts/slideLayout1.xml" Id="R52ecefcf829d4d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ecefcf829d4d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bd2a34030a4973" /><Relationship Type="http://schemas.openxmlformats.org/officeDocument/2006/relationships/image" Target="/ppt/media/image.jpeg" Id="R12d62a6ae7f14ef3" /><Relationship Type="http://schemas.openxmlformats.org/officeDocument/2006/relationships/notesSlide" Target="/ppt/notesSlides/notesSlide1.xml" Id="R49c959f1463145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aafc99db1f4c47" /><Relationship Type="http://schemas.openxmlformats.org/officeDocument/2006/relationships/notesSlide" Target="/ppt/notesSlides/notesSlide2.xml" Id="R8cc8d2dfcb704b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3cdd4394ba4ec5" /><Relationship Type="http://schemas.openxmlformats.org/officeDocument/2006/relationships/image" Target="/ppt/media/image2.jpeg" Id="R8dd34ab1eef94f5a" /><Relationship Type="http://schemas.openxmlformats.org/officeDocument/2006/relationships/image" Target="/ppt/media/image3.jpeg" Id="R01e974275e734a2b" /><Relationship Type="http://schemas.openxmlformats.org/officeDocument/2006/relationships/notesSlide" Target="/ppt/notesSlides/notesSlide3.xml" Id="Rd43fac04dca84b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79b28bc8854ce4" /><Relationship Type="http://schemas.openxmlformats.org/officeDocument/2006/relationships/notesSlide" Target="/ppt/notesSlides/notesSlide4.xml" Id="Rb4e38741cc3048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cc5efc1f8b44bd" /><Relationship Type="http://schemas.openxmlformats.org/officeDocument/2006/relationships/image" Target="/ppt/media/image.png" Id="Raf827659eb0549c2" /><Relationship Type="http://schemas.openxmlformats.org/officeDocument/2006/relationships/notesSlide" Target="/ppt/notesSlides/notesSlide5.xml" Id="R8edd6f5542d340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dbb9d889c64753" /><Relationship Type="http://schemas.openxmlformats.org/officeDocument/2006/relationships/notesSlide" Target="/ppt/notesSlides/notesSlide6.xml" Id="R6941961606864f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5f1ada5b2f4e37" /><Relationship Type="http://schemas.openxmlformats.org/officeDocument/2006/relationships/notesSlide" Target="/ppt/notesSlides/notesSlide7.xml" Id="R20658c5b26c84f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374ecbe0eb44ea" /><Relationship Type="http://schemas.openxmlformats.org/officeDocument/2006/relationships/notesSlide" Target="/ppt/notesSlides/notesSlide8.xml" Id="R24e6a882d4cd45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60a0067eb94b0a" /><Relationship Type="http://schemas.openxmlformats.org/officeDocument/2006/relationships/image" Target="/ppt/media/image2.png" Id="R632058f4778442a4" /><Relationship Type="http://schemas.openxmlformats.org/officeDocument/2006/relationships/notesSlide" Target="/ppt/notesSlides/notesSlide9.xml" Id="Rb5e0e2c7e8814f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5a94746e63405a" /><Relationship Type="http://schemas.openxmlformats.org/officeDocument/2006/relationships/notesSlide" Target="/ppt/notesSlides/notesSlide10.xml" Id="R53343af7ae2148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6691570eac41ae" /><Relationship Type="http://schemas.openxmlformats.org/officeDocument/2006/relationships/image" Target="/ppt/media/image4.jpeg" Id="Rcd9775ecb1b2434b" /><Relationship Type="http://schemas.openxmlformats.org/officeDocument/2006/relationships/image" Target="/ppt/media/image5.jpeg" Id="Rbc588ba32f0946b3" /><Relationship Type="http://schemas.openxmlformats.org/officeDocument/2006/relationships/notesSlide" Target="/ppt/notesSlides/notesSlide11.xml" Id="R4eb73d92ada645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42c91bd6f94e11" /><Relationship Type="http://schemas.openxmlformats.org/officeDocument/2006/relationships/image" Target="/ppt/media/image6.jpeg" Id="Rb4535a0f6b804998" /><Relationship Type="http://schemas.openxmlformats.org/officeDocument/2006/relationships/notesSlide" Target="/ppt/notesSlides/notesSlide12.xml" Id="R951fd6b7d1c24c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286c4e598b45f2" /><Relationship Type="http://schemas.openxmlformats.org/officeDocument/2006/relationships/notesSlide" Target="/ppt/notesSlides/notesSlide13.xml" Id="Rb264c101cac24c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8d01bbb197c4ddc" /><Relationship Type="http://schemas.openxmlformats.org/officeDocument/2006/relationships/image" Target="/ppt/media/image7.jpeg" Id="R7747f38243a04c9b" /><Relationship Type="http://schemas.openxmlformats.org/officeDocument/2006/relationships/notesSlide" Target="/ppt/notesSlides/notesSlide14.xml" Id="R400f0ffe692d43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ef2e1e517754c53" /><Relationship Type="http://schemas.openxmlformats.org/officeDocument/2006/relationships/image" Target="/ppt/media/image8.jpeg" Id="R0398dfffcba744b9" /><Relationship Type="http://schemas.openxmlformats.org/officeDocument/2006/relationships/notesSlide" Target="/ppt/notesSlides/notesSlide15.xml" Id="Rf9667fd8315840f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25116ac48bf4179" /><Relationship Type="http://schemas.openxmlformats.org/officeDocument/2006/relationships/notesSlide" Target="/ppt/notesSlides/notesSlide16.xml" Id="Rbbb8cc7411fa45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228b010194049e3" /><Relationship Type="http://schemas.openxmlformats.org/officeDocument/2006/relationships/notesSlide" Target="/ppt/notesSlides/notesSlide17.xml" Id="R8e226181c57748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fe68b2ff37b4e9d" /><Relationship Type="http://schemas.openxmlformats.org/officeDocument/2006/relationships/notesSlide" Target="/ppt/notesSlides/notesSlide18.xml" Id="Reba74d3dcc9441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85b03f5cdb049f7" /><Relationship Type="http://schemas.openxmlformats.org/officeDocument/2006/relationships/notesSlide" Target="/ppt/notesSlides/notesSlide19.xml" Id="R186ba870e70e4c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5c885a14fc4444" /><Relationship Type="http://schemas.openxmlformats.org/officeDocument/2006/relationships/notesSlide" Target="/ppt/notesSlides/notesSlide20.xml" Id="R204c11b9830a47a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f1a5a17fabd4422" /><Relationship Type="http://schemas.openxmlformats.org/officeDocument/2006/relationships/image" Target="/ppt/media/image9.jpeg" Id="Rd04fedc7b9704b42" /><Relationship Type="http://schemas.openxmlformats.org/officeDocument/2006/relationships/notesSlide" Target="/ppt/notesSlides/notesSlide21.xml" Id="R833dde8c9f4a42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eb9a89581a34a84" /><Relationship Type="http://schemas.openxmlformats.org/officeDocument/2006/relationships/notesSlide" Target="/ppt/notesSlides/notesSlide22.xml" Id="Ra2022a0d766f44c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b83459a7c46488d" /><Relationship Type="http://schemas.openxmlformats.org/officeDocument/2006/relationships/notesSlide" Target="/ppt/notesSlides/notesSlide23.xml" Id="Rf723d8f021cd45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6da71eb79f04d35" /><Relationship Type="http://schemas.openxmlformats.org/officeDocument/2006/relationships/notesSlide" Target="/ppt/notesSlides/notesSlide24.xml" Id="R26d076f916d74f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37c97cc1ce44b2d" /><Relationship Type="http://schemas.openxmlformats.org/officeDocument/2006/relationships/notesSlide" Target="/ppt/notesSlides/notesSlide25.xml" Id="Rdb195332299e42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71a23c14d04b34" /><Relationship Type="http://schemas.openxmlformats.org/officeDocument/2006/relationships/notesSlide" Target="/ppt/notesSlides/notesSlide26.xml" Id="R7641b95331a644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7261acc857048c1" /><Relationship Type="http://schemas.openxmlformats.org/officeDocument/2006/relationships/notesSlide" Target="/ppt/notesSlides/notesSlide27.xml" Id="R8b0158a81fb9484e" /></Relationships>
</file>

<file path=ppt/slides/slide1.xml><?xml version="1.0" encoding="utf-8"?>
<p:sld xmlns:p="http://schemas.openxmlformats.org/presentationml/2006/main">
  <p:cSld>
    <p:bg>
      <p:bgPr>
        <a:solidFill xmlns:a="http://schemas.openxmlformats.org/drawingml/2006/main">
          <a:srgbClr val="18212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65D71A-D00A-425C-947C-266D738A6C6C}"/>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FE2D9E-8853-4D02-A0FD-63C2A79BF40A}"/>
              </a:ext>
            </a:extLst>
          </p:cNvPr>
          <p:cNvSpPr>
            <a:spLocks xmlns:a="http://schemas.openxmlformats.org/drawingml/2006/main" noGrp="1"/>
          </p:cNvSpPr>
          <p:nvPr/>
        </p:nvSpPr>
        <p:spPr>
          <a:xfrm xmlns:a="http://schemas.openxmlformats.org/drawingml/2006/main">
            <a:off x="533400" y="552450"/>
            <a:ext cx="30480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F1DFC0"/>
                </a:solidFill>
                <a:latin typeface="Aptos"/>
                <a:ea typeface="Aptos"/>
                <a:cs typeface="Aptos"/>
              </a:defRPr>
            </a:pPr>
            <a:r>
              <a:rPr sz="1050" b="1">
                <a:solidFill>
                  <a:srgbClr val="F1DFC0"/>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9B19E322-814B-4673-9481-68C71E094E81}"/>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F1DFC0"/>
                </a:solidFill>
                <a:latin typeface="Aptos"/>
                <a:ea typeface="Aptos"/>
                <a:cs typeface="Aptos"/>
              </a:defRPr>
            </a:pPr>
            <a:r>
              <a:rPr sz="1050" b="1">
                <a:solidFill>
                  <a:srgbClr val="F1DFC0"/>
                </a:solidFill>
                <a:latin typeface="Aptos"/>
                <a:ea typeface="Aptos"/>
                <a:cs typeface="Apto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2d62a6ae7f14ef3"/>
          <a:srcRect xmlns:a="http://schemas.openxmlformats.org/drawingml/2006/main" l="11994" t="0" r="11994" b="0"/>
          <a:stretch xmlns:a="http://schemas.openxmlformats.org/drawingml/2006/main">
            <a:fillRect l="0" t="0" r="0" b="0"/>
          </a:stretch>
        </p:blipFill>
        <p:spPr>
          <a:xfrm xmlns:a="http://schemas.openxmlformats.org/drawingml/2006/main">
            <a:off x="6667500" y="1428750"/>
            <a:ext cx="4572000" cy="4000500"/>
          </a:xfrm>
          <a:prstGeom xmlns:a="http://schemas.openxmlformats.org/drawingml/2006/main" prst="roundRect">
            <a:avLst>
              <a:gd name="adj" fmla="val 2857"/>
            </a:avLst>
          </a:prstGeom>
        </p:spPr>
      </p:pic>
      <p:sp>
        <p:nvSpPr>
          <p:cNvPr id="5" name="">
            <a:extLst xmlns:a="http://schemas.openxmlformats.org/drawingml/2006/main">
              <a:ext uri="{FF2B5EF4-FFF2-40B4-BE49-F238E27FC236}">
                <a16:creationId xmlns:a16="http://schemas.microsoft.com/office/drawing/2014/main" id="{4A0FB90A-BA25-4CC1-8F6E-6828D433C919}"/>
              </a:ext>
            </a:extLst>
          </p:cNvPr>
          <p:cNvSpPr>
            <a:spLocks xmlns:a="http://schemas.openxmlformats.org/drawingml/2006/main" noGrp="1"/>
          </p:cNvSpPr>
          <p:nvPr/>
        </p:nvSpPr>
        <p:spPr>
          <a:xfrm xmlns:a="http://schemas.openxmlformats.org/drawingml/2006/main">
            <a:off x="533400" y="2095500"/>
            <a:ext cx="5715000" cy="1524000"/>
          </a:xfrm>
          <a:prstGeom xmlns:a="http://schemas.openxmlformats.org/drawingml/2006/main" prst="roundRect">
            <a:avLst>
              <a:gd name="adj" fmla="val 75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Colour, image</a:t>
            </a:r>
          </a:p>
          <a:p xmlns:a="http://schemas.openxmlformats.org/drawingml/2006/main">
            <a:pPr>
              <a:defRPr sz="3450" b="1">
                <a:solidFill>
                  <a:srgbClr val="FFFFFF"/>
                </a:solidFill>
                <a:latin typeface="Aptos"/>
                <a:ea typeface="Aptos"/>
                <a:cs typeface="Aptos"/>
              </a:defRPr>
            </a:pPr>
            <a:r>
              <a:rPr sz="3450" b="1">
                <a:solidFill>
                  <a:srgbClr val="FFFFFF"/>
                </a:solidFill>
                <a:latin typeface="Aptos"/>
                <a:ea typeface="Aptos"/>
                <a:cs typeface="Aptos"/>
              </a:rPr>
              <a:t>and identity</a:t>
            </a:r>
          </a:p>
        </p:txBody>
      </p:sp>
      <p:sp>
        <p:nvSpPr>
          <p:cNvPr id="6" name="">
            <a:extLst xmlns:a="http://schemas.openxmlformats.org/drawingml/2006/main">
              <a:ext uri="{FF2B5EF4-FFF2-40B4-BE49-F238E27FC236}">
                <a16:creationId xmlns:a16="http://schemas.microsoft.com/office/drawing/2014/main" id="{198E3C86-16CD-4DCB-9571-0FC2CF1D2C58}"/>
              </a:ext>
            </a:extLst>
          </p:cNvPr>
          <p:cNvSpPr>
            <a:spLocks xmlns:a="http://schemas.openxmlformats.org/drawingml/2006/main" noGrp="1"/>
          </p:cNvSpPr>
          <p:nvPr/>
        </p:nvSpPr>
        <p:spPr>
          <a:xfrm xmlns:a="http://schemas.openxmlformats.org/drawingml/2006/main">
            <a:off x="533400" y="3810000"/>
            <a:ext cx="5715000" cy="857250"/>
          </a:xfrm>
          <a:prstGeom xmlns:a="http://schemas.openxmlformats.org/drawingml/2006/main" prst="roundRect">
            <a:avLst>
              <a:gd name="adj" fmla="val 1333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D7D0C4"/>
                </a:solidFill>
                <a:latin typeface="Aptos"/>
                <a:ea typeface="Aptos"/>
                <a:cs typeface="Aptos"/>
              </a:defRPr>
            </a:pPr>
            <a:r>
              <a:rPr sz="1425" b="0">
                <a:solidFill>
                  <a:srgbClr val="D7D0C4"/>
                </a:solidFill>
                <a:latin typeface="Aptos"/>
                <a:ea typeface="Aptos"/>
                <a:cs typeface="Aptos"/>
              </a:rPr>
              <a:t>Building a restrained visual system, and preparing images with useful alternative text and appropriate crops.</a:t>
            </a:r>
          </a:p>
        </p:txBody>
      </p:sp>
      <p:sp>
        <p:nvSpPr>
          <p:cNvPr id="7" name="">
            <a:extLst xmlns:a="http://schemas.openxmlformats.org/drawingml/2006/main">
              <a:ext uri="{FF2B5EF4-FFF2-40B4-BE49-F238E27FC236}">
                <a16:creationId xmlns:a16="http://schemas.microsoft.com/office/drawing/2014/main" id="{97576A81-6D02-4C5B-ABCD-6A404B8DD2D7}"/>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33445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DAE4EB-5C96-4FE5-835F-01667F78C651}"/>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D7D0C4"/>
                </a:solidFill>
                <a:latin typeface="Aptos"/>
                <a:ea typeface="Aptos"/>
                <a:cs typeface="Aptos"/>
              </a:defRPr>
            </a:pPr>
            <a:r>
              <a:rPr sz="900" b="0">
                <a:solidFill>
                  <a:srgbClr val="D7D0C4"/>
                </a:solidFill>
                <a:latin typeface="Aptos"/>
                <a:ea typeface="Aptos"/>
                <a:cs typeface="Aptos"/>
              </a:rPr>
              <a:t>Web Design and Interactive Publishing</a:t>
            </a:r>
          </a:p>
        </p:txBody>
      </p:sp>
    </p:spTree>
    <p:extLst>
      <p:ext uri="{BB962C8B-B14F-4D97-AF65-F5344CB8AC3E}">
        <p14:creationId xmlns:p14="http://schemas.microsoft.com/office/powerpoint/2010/main" val="51259986"/>
      </p:ext>
    </p:extLst>
  </p:cSld>
</p:sld>
</file>

<file path=ppt/slides/slide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3999377-E9EC-42A5-9892-405CE0EC7060}"/>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D358FA-E7FF-4A07-8A5F-BBDEE6207D84}"/>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3D4DC43A-2F8F-4352-96F5-F03AAB4B3CA5}"/>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23618EE2-E320-4AA1-AD5E-DD9656CE6A18}"/>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Technical outcomes</a:t>
            </a:r>
          </a:p>
        </p:txBody>
      </p:sp>
      <p:sp>
        <p:nvSpPr>
          <p:cNvPr id="5" name="">
            <a:extLst xmlns:a="http://schemas.openxmlformats.org/drawingml/2006/main">
              <a:ext uri="{FF2B5EF4-FFF2-40B4-BE49-F238E27FC236}">
                <a16:creationId xmlns:a16="http://schemas.microsoft.com/office/drawing/2014/main" id="{763995F1-C018-477C-9114-08BAF18BC947}"/>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Colour, image and identity</a:t>
            </a:r>
          </a:p>
        </p:txBody>
      </p:sp>
      <p:sp>
        <p:nvSpPr>
          <p:cNvPr id="6" name="">
            <a:extLst xmlns:a="http://schemas.openxmlformats.org/drawingml/2006/main">
              <a:ext uri="{FF2B5EF4-FFF2-40B4-BE49-F238E27FC236}">
                <a16:creationId xmlns:a16="http://schemas.microsoft.com/office/drawing/2014/main" id="{D56F19D5-1E5D-416E-A457-5BB048AA04E9}"/>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D17E13-AE73-4395-8B87-197C6D115C0F}"/>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F951F1D5-A7A7-47E5-8925-C6CDE640483E}"/>
              </a:ext>
            </a:extLst>
          </p:cNvPr>
          <p:cNvSpPr>
            <a:spLocks xmlns:a="http://schemas.openxmlformats.org/drawingml/2006/main" noGrp="1"/>
          </p:cNvSpPr>
          <p:nvPr/>
        </p:nvSpPr>
        <p:spPr>
          <a:xfrm xmlns:a="http://schemas.openxmlformats.org/drawingml/2006/main">
            <a:off x="533400" y="2000250"/>
            <a:ext cx="3429000" cy="3810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7D0C4"/>
            </a:solidFill>
            <a:prstDash val="solid"/>
          </a:ln>
        </p:spPr>
      </p:sp>
      <p:sp>
        <p:nvSpPr>
          <p:cNvPr id="9" name="">
            <a:extLst xmlns:a="http://schemas.openxmlformats.org/drawingml/2006/main">
              <a:ext uri="{FF2B5EF4-FFF2-40B4-BE49-F238E27FC236}">
                <a16:creationId xmlns:a16="http://schemas.microsoft.com/office/drawing/2014/main" id="{45AAA47F-8BE5-4538-9575-A0F08E7EA765}"/>
              </a:ext>
            </a:extLst>
          </p:cNvPr>
          <p:cNvSpPr>
            <a:spLocks xmlns:a="http://schemas.openxmlformats.org/drawingml/2006/main" noGrp="1"/>
          </p:cNvSpPr>
          <p:nvPr/>
        </p:nvSpPr>
        <p:spPr>
          <a:xfrm xmlns:a="http://schemas.openxmlformats.org/drawingml/2006/main">
            <a:off x="533400" y="2000250"/>
            <a:ext cx="57150" cy="38100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62B0C67-F49F-4C54-8E32-89981838CAF1}"/>
              </a:ext>
            </a:extLst>
          </p:cNvPr>
          <p:cNvSpPr>
            <a:spLocks xmlns:a="http://schemas.openxmlformats.org/drawingml/2006/main" noGrp="1"/>
          </p:cNvSpPr>
          <p:nvPr/>
        </p:nvSpPr>
        <p:spPr>
          <a:xfrm xmlns:a="http://schemas.openxmlformats.org/drawingml/2006/main">
            <a:off x="762000" y="2152650"/>
            <a:ext cx="30099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Build a token system</a:t>
            </a:r>
          </a:p>
        </p:txBody>
      </p:sp>
      <p:sp>
        <p:nvSpPr>
          <p:cNvPr id="11" name="">
            <a:extLst xmlns:a="http://schemas.openxmlformats.org/drawingml/2006/main">
              <a:ext uri="{FF2B5EF4-FFF2-40B4-BE49-F238E27FC236}">
                <a16:creationId xmlns:a16="http://schemas.microsoft.com/office/drawing/2014/main" id="{5E3A63A5-9B83-48D7-8C3B-4D826BCA6AE6}"/>
              </a:ext>
            </a:extLst>
          </p:cNvPr>
          <p:cNvSpPr>
            <a:spLocks xmlns:a="http://schemas.openxmlformats.org/drawingml/2006/main" noGrp="1"/>
          </p:cNvSpPr>
          <p:nvPr/>
        </p:nvSpPr>
        <p:spPr>
          <a:xfrm xmlns:a="http://schemas.openxmlformats.org/drawingml/2006/main">
            <a:off x="762000" y="2457450"/>
            <a:ext cx="3009900" cy="3200400"/>
          </a:xfrm>
          <a:prstGeom xmlns:a="http://schemas.openxmlformats.org/drawingml/2006/main" prst="roundRect">
            <a:avLst>
              <a:gd name="adj" fmla="val 379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Define 5-7 semantic colour tokens in HSL, not scattered hex codes, and check every text/background pairing against WCAG contrast ratios.</a:t>
            </a:r>
          </a:p>
        </p:txBody>
      </p:sp>
      <p:sp>
        <p:nvSpPr>
          <p:cNvPr id="12" name="">
            <a:extLst xmlns:a="http://schemas.openxmlformats.org/drawingml/2006/main">
              <a:ext uri="{FF2B5EF4-FFF2-40B4-BE49-F238E27FC236}">
                <a16:creationId xmlns:a16="http://schemas.microsoft.com/office/drawing/2014/main" id="{E54525D8-8503-4C46-8FAF-6F6DEDABA746}"/>
              </a:ext>
            </a:extLst>
          </p:cNvPr>
          <p:cNvSpPr>
            <a:spLocks xmlns:a="http://schemas.openxmlformats.org/drawingml/2006/main" noGrp="1"/>
          </p:cNvSpPr>
          <p:nvPr/>
        </p:nvSpPr>
        <p:spPr>
          <a:xfrm xmlns:a="http://schemas.openxmlformats.org/drawingml/2006/main">
            <a:off x="4152900" y="2000250"/>
            <a:ext cx="3429000" cy="3810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888FF833-47E3-42EC-88FE-58CEE0C9400F}"/>
              </a:ext>
            </a:extLst>
          </p:cNvPr>
          <p:cNvSpPr>
            <a:spLocks xmlns:a="http://schemas.openxmlformats.org/drawingml/2006/main" noGrp="1"/>
          </p:cNvSpPr>
          <p:nvPr/>
        </p:nvSpPr>
        <p:spPr>
          <a:xfrm xmlns:a="http://schemas.openxmlformats.org/drawingml/2006/main">
            <a:off x="4152900" y="2000250"/>
            <a:ext cx="57150" cy="38100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DAAA94C-917F-4525-A874-6508A9FD7135}"/>
              </a:ext>
            </a:extLst>
          </p:cNvPr>
          <p:cNvSpPr>
            <a:spLocks xmlns:a="http://schemas.openxmlformats.org/drawingml/2006/main" noGrp="1"/>
          </p:cNvSpPr>
          <p:nvPr/>
        </p:nvSpPr>
        <p:spPr>
          <a:xfrm xmlns:a="http://schemas.openxmlformats.org/drawingml/2006/main">
            <a:off x="4381500" y="2152650"/>
            <a:ext cx="30099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Prepare real images</a:t>
            </a:r>
          </a:p>
        </p:txBody>
      </p:sp>
      <p:sp>
        <p:nvSpPr>
          <p:cNvPr id="15" name="">
            <a:extLst xmlns:a="http://schemas.openxmlformats.org/drawingml/2006/main">
              <a:ext uri="{FF2B5EF4-FFF2-40B4-BE49-F238E27FC236}">
                <a16:creationId xmlns:a16="http://schemas.microsoft.com/office/drawing/2014/main" id="{73C36A3A-1650-4198-B2BD-5193217651E4}"/>
              </a:ext>
            </a:extLst>
          </p:cNvPr>
          <p:cNvSpPr>
            <a:spLocks xmlns:a="http://schemas.openxmlformats.org/drawingml/2006/main" noGrp="1"/>
          </p:cNvSpPr>
          <p:nvPr/>
        </p:nvSpPr>
        <p:spPr>
          <a:xfrm xmlns:a="http://schemas.openxmlformats.org/drawingml/2006/main">
            <a:off x="4381500" y="2457450"/>
            <a:ext cx="3009900" cy="3200400"/>
          </a:xfrm>
          <a:prstGeom xmlns:a="http://schemas.openxmlformats.org/drawingml/2006/main" prst="roundRect">
            <a:avLst>
              <a:gd name="adj" fmla="val 379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Choose crops by role (hero, portrait, avatar, decorative) and reason about aspect-ratio, object-fit and Cumulative Layout Shift.</a:t>
            </a:r>
          </a:p>
        </p:txBody>
      </p:sp>
      <p:sp>
        <p:nvSpPr>
          <p:cNvPr id="16" name="">
            <a:extLst xmlns:a="http://schemas.openxmlformats.org/drawingml/2006/main">
              <a:ext uri="{FF2B5EF4-FFF2-40B4-BE49-F238E27FC236}">
                <a16:creationId xmlns:a16="http://schemas.microsoft.com/office/drawing/2014/main" id="{43E76D01-582C-498D-B794-41484381E982}"/>
              </a:ext>
            </a:extLst>
          </p:cNvPr>
          <p:cNvSpPr>
            <a:spLocks xmlns:a="http://schemas.openxmlformats.org/drawingml/2006/main" noGrp="1"/>
          </p:cNvSpPr>
          <p:nvPr/>
        </p:nvSpPr>
        <p:spPr>
          <a:xfrm xmlns:a="http://schemas.openxmlformats.org/drawingml/2006/main">
            <a:off x="7772400" y="2000250"/>
            <a:ext cx="3429000" cy="3810000"/>
          </a:xfrm>
          <a:prstGeom xmlns:a="http://schemas.openxmlformats.org/drawingml/2006/main" prst="roundRect">
            <a:avLst>
              <a:gd name="adj" fmla="val 3333"/>
            </a:avLst>
          </a:prstGeom>
          <a:solidFill xmlns:a="http://schemas.openxmlformats.org/drawingml/2006/main">
            <a:srgbClr val="FFFFFF"/>
          </a:solidFill>
          <a:ln xmlns:a="http://schemas.openxmlformats.org/drawingml/2006/main" w="9525">
            <a:solidFill>
              <a:srgbClr val="D7D0C4"/>
            </a:solidFill>
            <a:prstDash val="solid"/>
          </a:ln>
        </p:spPr>
      </p:sp>
      <p:sp>
        <p:nvSpPr>
          <p:cNvPr id="17" name="">
            <a:extLst xmlns:a="http://schemas.openxmlformats.org/drawingml/2006/main">
              <a:ext uri="{FF2B5EF4-FFF2-40B4-BE49-F238E27FC236}">
                <a16:creationId xmlns:a16="http://schemas.microsoft.com/office/drawing/2014/main" id="{E1964AAC-0D10-48B0-B5FB-89E0403DD487}"/>
              </a:ext>
            </a:extLst>
          </p:cNvPr>
          <p:cNvSpPr>
            <a:spLocks xmlns:a="http://schemas.openxmlformats.org/drawingml/2006/main" noGrp="1"/>
          </p:cNvSpPr>
          <p:nvPr/>
        </p:nvSpPr>
        <p:spPr>
          <a:xfrm xmlns:a="http://schemas.openxmlformats.org/drawingml/2006/main">
            <a:off x="7772400" y="2000250"/>
            <a:ext cx="57150" cy="38100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D563FF-269E-453E-804E-69168FD0D0A5}"/>
              </a:ext>
            </a:extLst>
          </p:cNvPr>
          <p:cNvSpPr>
            <a:spLocks xmlns:a="http://schemas.openxmlformats.org/drawingml/2006/main" noGrp="1"/>
          </p:cNvSpPr>
          <p:nvPr/>
        </p:nvSpPr>
        <p:spPr>
          <a:xfrm xmlns:a="http://schemas.openxmlformats.org/drawingml/2006/main">
            <a:off x="8001000" y="2152650"/>
            <a:ext cx="30099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Write useful alt text</a:t>
            </a:r>
          </a:p>
        </p:txBody>
      </p:sp>
      <p:sp>
        <p:nvSpPr>
          <p:cNvPr id="19" name="">
            <a:extLst xmlns:a="http://schemas.openxmlformats.org/drawingml/2006/main">
              <a:ext uri="{FF2B5EF4-FFF2-40B4-BE49-F238E27FC236}">
                <a16:creationId xmlns:a16="http://schemas.microsoft.com/office/drawing/2014/main" id="{DB2A2932-7D86-48E1-8139-43864A4EAC8E}"/>
              </a:ext>
            </a:extLst>
          </p:cNvPr>
          <p:cNvSpPr>
            <a:spLocks xmlns:a="http://schemas.openxmlformats.org/drawingml/2006/main" noGrp="1"/>
          </p:cNvSpPr>
          <p:nvPr/>
        </p:nvSpPr>
        <p:spPr>
          <a:xfrm xmlns:a="http://schemas.openxmlformats.org/drawingml/2006/main">
            <a:off x="8001000" y="2457450"/>
            <a:ext cx="3009900" cy="3200400"/>
          </a:xfrm>
          <a:prstGeom xmlns:a="http://schemas.openxmlformats.org/drawingml/2006/main" prst="roundRect">
            <a:avLst>
              <a:gd name="adj" fmla="val 379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Classify an image as decorative, informative, functional or complex before writing its alternative text.</a:t>
            </a:r>
          </a:p>
        </p:txBody>
      </p:sp>
    </p:spTree>
    <p:extLst>
      <p:ext uri="{BB962C8B-B14F-4D97-AF65-F5344CB8AC3E}">
        <p14:creationId xmlns:p14="http://schemas.microsoft.com/office/powerpoint/2010/main" val="1456099219"/>
      </p:ext>
    </p:extLst>
  </p:cSld>
</p:sld>
</file>

<file path=ppt/slides/slide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27F5A4-48A5-40EE-A9AA-ECC9A762DA91}"/>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DACD26-2316-46DD-855B-8D4839C9DC36}"/>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06E1EDE4-8EF4-43C6-BD75-2D2FB1A19E78}"/>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E32F515B-3712-4139-8DB1-7E1AD8E7DE30}"/>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From taste to a system</a:t>
            </a:r>
          </a:p>
        </p:txBody>
      </p:sp>
      <p:sp>
        <p:nvSpPr>
          <p:cNvPr id="5" name="">
            <a:extLst xmlns:a="http://schemas.openxmlformats.org/drawingml/2006/main">
              <a:ext uri="{FF2B5EF4-FFF2-40B4-BE49-F238E27FC236}">
                <a16:creationId xmlns:a16="http://schemas.microsoft.com/office/drawing/2014/main" id="{CC3E431D-E705-4DA7-BC17-1D78A2B90985}"/>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Two photographs, one idea</a:t>
            </a:r>
          </a:p>
        </p:txBody>
      </p:sp>
      <p:sp>
        <p:nvSpPr>
          <p:cNvPr id="6" name="">
            <a:extLst xmlns:a="http://schemas.openxmlformats.org/drawingml/2006/main">
              <a:ext uri="{FF2B5EF4-FFF2-40B4-BE49-F238E27FC236}">
                <a16:creationId xmlns:a16="http://schemas.microsoft.com/office/drawing/2014/main" id="{6D7F8729-B97B-4237-9717-E90C36114D3E}"/>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D2AF7A3-E64F-4BCF-8610-0D1E63C16F23}"/>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dd34ab1eef94f5a"/>
          <a:srcRect xmlns:a="http://schemas.openxmlformats.org/drawingml/2006/main" l="10625" t="0" r="10625" b="0"/>
          <a:stretch xmlns:a="http://schemas.openxmlformats.org/drawingml/2006/main">
            <a:fillRect l="0" t="0" r="0" b="0"/>
          </a:stretch>
        </p:blipFill>
        <p:spPr>
          <a:xfrm xmlns:a="http://schemas.openxmlformats.org/drawingml/2006/main">
            <a:off x="533400" y="2000250"/>
            <a:ext cx="5334000" cy="3810000"/>
          </a:xfrm>
          <a:prstGeom xmlns:a="http://schemas.openxmlformats.org/drawingml/2006/main" prst="roundRect">
            <a:avLst>
              <a:gd name="adj" fmla="val 3000"/>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1e974275e734a2b"/>
          <a:srcRect xmlns:a="http://schemas.openxmlformats.org/drawingml/2006/main" l="0" t="2709" r="0" b="2709"/>
          <a:stretch xmlns:a="http://schemas.openxmlformats.org/drawingml/2006/main">
            <a:fillRect l="0" t="0" r="0" b="0"/>
          </a:stretch>
        </p:blipFill>
        <p:spPr>
          <a:xfrm xmlns:a="http://schemas.openxmlformats.org/drawingml/2006/main">
            <a:off x="6324600" y="2000250"/>
            <a:ext cx="53340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A0018303-04B7-4454-A5DD-8E827AA6771D}"/>
              </a:ext>
            </a:extLst>
          </p:cNvPr>
          <p:cNvSpPr>
            <a:spLocks xmlns:a="http://schemas.openxmlformats.org/drawingml/2006/main" noGrp="1"/>
          </p:cNvSpPr>
          <p:nvPr/>
        </p:nvSpPr>
        <p:spPr>
          <a:xfrm xmlns:a="http://schemas.openxmlformats.org/drawingml/2006/main">
            <a:off x="533400" y="5962650"/>
            <a:ext cx="11125200" cy="952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0000"/>
          </a:bodyPr>
          <a:lstStyle xmlns:a="http://schemas.openxmlformats.org/drawingml/2006/main"/>
          <a:p xmlns:a="http://schemas.openxmlformats.org/drawingml/2006/main">
            <a:pPr>
              <a:defRPr sz="100" b="0">
                <a:solidFill>
                  <a:srgbClr val="F8F5EF"/>
                </a:solidFill>
                <a:latin typeface="Aptos"/>
                <a:ea typeface="Aptos"/>
                <a:cs typeface="Aptos"/>
              </a:defRPr>
            </a:pPr>
            <a:r>
              <a:rPr sz="100" b="0">
                <a:solidFill>
                  <a:srgbClr val="F8F5EF"/>
                </a:solidFill>
                <a:latin typeface="Aptos"/>
                <a:ea typeface="Aptos"/>
                <a:cs typeface="Aptos"/>
              </a:rPr>
              <a:t>Chefchaouen restrains itself to one hue family. Burano allows many hues, but a local rule still constrains which colour a house may take. Both are systems: a small, explainable rule set governs every colour decision, rather than choice made independently, slide by slide.</a:t>
            </a:r>
          </a:p>
        </p:txBody>
      </p:sp>
    </p:spTree>
    <p:extLst>
      <p:ext uri="{BB962C8B-B14F-4D97-AF65-F5344CB8AC3E}">
        <p14:creationId xmlns:p14="http://schemas.microsoft.com/office/powerpoint/2010/main" val="991594205"/>
      </p:ext>
    </p:extLst>
  </p:cSld>
</p:sld>
</file>

<file path=ppt/slides/slide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1046925-4FA5-4DD0-AB13-A0695C798F6E}"/>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A9E2F3-0A69-4218-988B-FD6C76A0EEDF}"/>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2A8B9143-826A-42A2-99F0-5A78F617694B}"/>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3EADA0AB-9714-4C49-9CEC-46B81D72944F}"/>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Why tokens, not scattered hex</a:t>
            </a:r>
          </a:p>
        </p:txBody>
      </p:sp>
      <p:sp>
        <p:nvSpPr>
          <p:cNvPr id="5" name="">
            <a:extLst xmlns:a="http://schemas.openxmlformats.org/drawingml/2006/main">
              <a:ext uri="{FF2B5EF4-FFF2-40B4-BE49-F238E27FC236}">
                <a16:creationId xmlns:a16="http://schemas.microsoft.com/office/drawing/2014/main" id="{93B9DE89-32E7-4859-A06C-C96A8E645CF9}"/>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Name the role, not the colour</a:t>
            </a:r>
          </a:p>
        </p:txBody>
      </p:sp>
      <p:sp>
        <p:nvSpPr>
          <p:cNvPr id="6" name="">
            <a:extLst xmlns:a="http://schemas.openxmlformats.org/drawingml/2006/main">
              <a:ext uri="{FF2B5EF4-FFF2-40B4-BE49-F238E27FC236}">
                <a16:creationId xmlns:a16="http://schemas.microsoft.com/office/drawing/2014/main" id="{456C85FC-3C60-401C-8F8C-6882CBC8B0E2}"/>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D082B-44C3-4714-BDD9-519F4C95B253}"/>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733190B2-3D10-492A-8935-FC7E04B97343}"/>
              </a:ext>
            </a:extLst>
          </p:cNvPr>
          <p:cNvSpPr>
            <a:spLocks xmlns:a="http://schemas.openxmlformats.org/drawingml/2006/main" noGrp="1"/>
          </p:cNvSpPr>
          <p:nvPr/>
        </p:nvSpPr>
        <p:spPr>
          <a:xfrm xmlns:a="http://schemas.openxmlformats.org/drawingml/2006/main">
            <a:off x="533400" y="2000250"/>
            <a:ext cx="10477500" cy="857250"/>
          </a:xfrm>
          <a:prstGeom xmlns:a="http://schemas.openxmlformats.org/drawingml/2006/main" prst="roundRect">
            <a:avLst>
              <a:gd name="adj" fmla="val 1333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8212A"/>
                </a:solidFill>
                <a:latin typeface="Aptos"/>
                <a:ea typeface="Aptos"/>
                <a:cs typeface="Aptos"/>
              </a:defRPr>
            </a:pPr>
            <a:r>
              <a:rPr sz="1500" b="0">
                <a:solidFill>
                  <a:srgbClr val="18212A"/>
                </a:solidFill>
                <a:latin typeface="Aptos"/>
                <a:ea typeface="Aptos"/>
                <a:cs typeface="Aptos"/>
              </a:rPr>
              <a:t>A hex code like #C7831A tells CSS what to paint. It says nothing about why. A design token adds a name for the role that colour plays: --color-accent, --color-text, --color-surface.</a:t>
            </a:r>
          </a:p>
        </p:txBody>
      </p:sp>
      <p:sp>
        <p:nvSpPr>
          <p:cNvPr id="9" name="">
            <a:extLst xmlns:a="http://schemas.openxmlformats.org/drawingml/2006/main">
              <a:ext uri="{FF2B5EF4-FFF2-40B4-BE49-F238E27FC236}">
                <a16:creationId xmlns:a16="http://schemas.microsoft.com/office/drawing/2014/main" id="{6DDB9E1F-E2D8-46EB-8F55-1EF87C714213}"/>
              </a:ext>
            </a:extLst>
          </p:cNvPr>
          <p:cNvSpPr>
            <a:spLocks xmlns:a="http://schemas.openxmlformats.org/drawingml/2006/main" noGrp="1"/>
          </p:cNvSpPr>
          <p:nvPr/>
        </p:nvSpPr>
        <p:spPr>
          <a:xfrm xmlns:a="http://schemas.openxmlformats.org/drawingml/2006/main">
            <a:off x="533400" y="3009900"/>
            <a:ext cx="11125200" cy="3048000"/>
          </a:xfrm>
          <a:prstGeom xmlns:a="http://schemas.openxmlformats.org/drawingml/2006/main" prst="roundRect">
            <a:avLst>
              <a:gd name="adj" fmla="val 3750"/>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 scattered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h1 { color: #18212A;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.btn { background: #C7831A;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.card { border: 1px solid #D7D0C4; }</a:t>
            </a:r>
          </a:p>
          <a:p xmlns:a="http://schemas.openxmlformats.org/drawingml/2006/main">
            <a:r>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 tokenised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:root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  --color-text: #18212A;</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  --color-accent: #C7831A;</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  --color-border: #D7D0C4;</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h1 { color: var(--color-text);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.btn { background: var(--color-accent); }</a:t>
            </a:r>
          </a:p>
          <a:p xmlns:a="http://schemas.openxmlformats.org/drawingml/2006/main">
            <a:pPr>
              <a:defRPr sz="1163" b="0">
                <a:solidFill>
                  <a:srgbClr val="EAF1F4"/>
                </a:solidFill>
                <a:latin typeface="Courier New"/>
                <a:ea typeface="Courier New"/>
                <a:cs typeface="Courier New"/>
              </a:defRPr>
            </a:pPr>
            <a:r>
              <a:rPr sz="1163" b="0">
                <a:solidFill>
                  <a:srgbClr val="EAF1F4"/>
                </a:solidFill>
                <a:latin typeface="Courier New"/>
                <a:ea typeface="Courier New"/>
                <a:cs typeface="Courier New"/>
              </a:rPr>
              <a:t>.card { border: 1px solid var(--color-border); }</a:t>
            </a:r>
          </a:p>
        </p:txBody>
      </p:sp>
    </p:spTree>
    <p:extLst>
      <p:ext uri="{BB962C8B-B14F-4D97-AF65-F5344CB8AC3E}">
        <p14:creationId xmlns:p14="http://schemas.microsoft.com/office/powerpoint/2010/main" val="1513647471"/>
      </p:ext>
    </p:extLst>
  </p:cSld>
</p:sld>
</file>

<file path=ppt/slides/slide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F0CC838-B5C0-49BC-8CE6-46FA6A6EE960}"/>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5FB456-883A-43B6-BC16-23565134DD78}"/>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94F4EBD8-9B17-4A9C-A203-43C60EB5B3D3}"/>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C88033B3-8606-4909-9631-88F85E3F8D78}"/>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HSL vs hex</a:t>
            </a:r>
          </a:p>
        </p:txBody>
      </p:sp>
      <p:sp>
        <p:nvSpPr>
          <p:cNvPr id="5" name="">
            <a:extLst xmlns:a="http://schemas.openxmlformats.org/drawingml/2006/main">
              <a:ext uri="{FF2B5EF4-FFF2-40B4-BE49-F238E27FC236}">
                <a16:creationId xmlns:a16="http://schemas.microsoft.com/office/drawing/2014/main" id="{AC0F8EFE-7284-4961-B118-0E6ADDE7265D}"/>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The same colour, two notations</a:t>
            </a:r>
          </a:p>
        </p:txBody>
      </p:sp>
      <p:sp>
        <p:nvSpPr>
          <p:cNvPr id="6" name="">
            <a:extLst xmlns:a="http://schemas.openxmlformats.org/drawingml/2006/main">
              <a:ext uri="{FF2B5EF4-FFF2-40B4-BE49-F238E27FC236}">
                <a16:creationId xmlns:a16="http://schemas.microsoft.com/office/drawing/2014/main" id="{E50207B7-438D-48CF-A627-CCC057203C52}"/>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264A25-6AD7-4530-BBC2-F3BE4FB82269}"/>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af827659eb0549c2"/>
          <a:srcRect xmlns:a="http://schemas.openxmlformats.org/drawingml/2006/main" l="5000" t="0" r="5000" b="0"/>
          <a:stretch xmlns:a="http://schemas.openxmlformats.org/drawingml/2006/main">
            <a:fillRect l="0" t="0" r="0" b="0"/>
          </a:stretch>
        </p:blipFill>
        <p:spPr>
          <a:xfrm xmlns:a="http://schemas.openxmlformats.org/drawingml/2006/main">
            <a:off x="533400" y="2000250"/>
            <a:ext cx="4572000" cy="3810000"/>
          </a:xfrm>
          <a:prstGeom xmlns:a="http://schemas.openxmlformats.org/drawingml/2006/main" prst="roundRect">
            <a:avLst>
              <a:gd name="adj" fmla="val 3000"/>
            </a:avLst>
          </a:prstGeom>
        </p:spPr>
      </p:pic>
      <p:sp>
        <p:nvSpPr>
          <p:cNvPr id="9" name="">
            <a:extLst xmlns:a="http://schemas.openxmlformats.org/drawingml/2006/main">
              <a:ext uri="{FF2B5EF4-FFF2-40B4-BE49-F238E27FC236}">
                <a16:creationId xmlns:a16="http://schemas.microsoft.com/office/drawing/2014/main" id="{DC2D1665-4859-4475-88F5-E247D18C522C}"/>
              </a:ext>
            </a:extLst>
          </p:cNvPr>
          <p:cNvSpPr>
            <a:spLocks xmlns:a="http://schemas.openxmlformats.org/drawingml/2006/main" noGrp="1"/>
          </p:cNvSpPr>
          <p:nvPr/>
        </p:nvSpPr>
        <p:spPr>
          <a:xfrm xmlns:a="http://schemas.openxmlformats.org/drawingml/2006/main">
            <a:off x="5410200" y="2000250"/>
            <a:ext cx="62484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1">
                <a:solidFill>
                  <a:srgbClr val="18212A"/>
                </a:solidFill>
                <a:latin typeface="Aptos"/>
                <a:ea typeface="Aptos"/>
                <a:cs typeface="Aptos"/>
              </a:defRPr>
            </a:pPr>
            <a:r>
              <a:rPr sz="1350" b="1">
                <a:solidFill>
                  <a:srgbClr val="18212A"/>
                </a:solidFill>
                <a:latin typeface="Aptos"/>
                <a:ea typeface="Aptos"/>
                <a:cs typeface="Aptos"/>
              </a:rPr>
              <a:t>hsl(36, 77%, 44%) is the SLOP1512 gold token. Hex hides three separate decisions inside six characters; HSL exposes them.</a:t>
            </a:r>
          </a:p>
        </p:txBody>
      </p:sp>
      <p:sp>
        <p:nvSpPr>
          <p:cNvPr id="10" name="">
            <a:extLst xmlns:a="http://schemas.openxmlformats.org/drawingml/2006/main">
              <a:ext uri="{FF2B5EF4-FFF2-40B4-BE49-F238E27FC236}">
                <a16:creationId xmlns:a16="http://schemas.microsoft.com/office/drawing/2014/main" id="{56624505-DB58-4700-A089-6EF2E6F42156}"/>
              </a:ext>
            </a:extLst>
          </p:cNvPr>
          <p:cNvSpPr>
            <a:spLocks xmlns:a="http://schemas.openxmlformats.org/drawingml/2006/main" noGrp="1"/>
          </p:cNvSpPr>
          <p:nvPr/>
        </p:nvSpPr>
        <p:spPr>
          <a:xfrm xmlns:a="http://schemas.openxmlformats.org/drawingml/2006/main">
            <a:off x="5410200" y="2724150"/>
            <a:ext cx="28575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1" name="">
            <a:extLst xmlns:a="http://schemas.openxmlformats.org/drawingml/2006/main">
              <a:ext uri="{FF2B5EF4-FFF2-40B4-BE49-F238E27FC236}">
                <a16:creationId xmlns:a16="http://schemas.microsoft.com/office/drawing/2014/main" id="{D57D7F0B-92C5-4F61-9DBE-8603B08F974D}"/>
              </a:ext>
            </a:extLst>
          </p:cNvPr>
          <p:cNvSpPr>
            <a:spLocks xmlns:a="http://schemas.openxmlformats.org/drawingml/2006/main" noGrp="1"/>
          </p:cNvSpPr>
          <p:nvPr/>
        </p:nvSpPr>
        <p:spPr>
          <a:xfrm xmlns:a="http://schemas.openxmlformats.org/drawingml/2006/main">
            <a:off x="5410200" y="27241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6329740-27E1-44A5-9B5A-21A960D5696C}"/>
              </a:ext>
            </a:extLst>
          </p:cNvPr>
          <p:cNvSpPr>
            <a:spLocks xmlns:a="http://schemas.openxmlformats.org/drawingml/2006/main" noGrp="1"/>
          </p:cNvSpPr>
          <p:nvPr/>
        </p:nvSpPr>
        <p:spPr>
          <a:xfrm xmlns:a="http://schemas.openxmlformats.org/drawingml/2006/main">
            <a:off x="5638800" y="2876550"/>
            <a:ext cx="24384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Hue (36°)</a:t>
            </a:r>
          </a:p>
        </p:txBody>
      </p:sp>
      <p:sp>
        <p:nvSpPr>
          <p:cNvPr id="13" name="">
            <a:extLst xmlns:a="http://schemas.openxmlformats.org/drawingml/2006/main">
              <a:ext uri="{FF2B5EF4-FFF2-40B4-BE49-F238E27FC236}">
                <a16:creationId xmlns:a16="http://schemas.microsoft.com/office/drawing/2014/main" id="{8B9DE660-9C2F-46B3-88E9-A334B9750391}"/>
              </a:ext>
            </a:extLst>
          </p:cNvPr>
          <p:cNvSpPr>
            <a:spLocks xmlns:a="http://schemas.openxmlformats.org/drawingml/2006/main" noGrp="1"/>
          </p:cNvSpPr>
          <p:nvPr/>
        </p:nvSpPr>
        <p:spPr>
          <a:xfrm xmlns:a="http://schemas.openxmlformats.org/drawingml/2006/main">
            <a:off x="5638800" y="3181350"/>
            <a:ext cx="24384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Position on the colour wheel. 36° sits between orange and amber.</a:t>
            </a:r>
          </a:p>
        </p:txBody>
      </p:sp>
      <p:sp>
        <p:nvSpPr>
          <p:cNvPr id="14" name="">
            <a:extLst xmlns:a="http://schemas.openxmlformats.org/drawingml/2006/main">
              <a:ext uri="{FF2B5EF4-FFF2-40B4-BE49-F238E27FC236}">
                <a16:creationId xmlns:a16="http://schemas.microsoft.com/office/drawing/2014/main" id="{F374F693-2877-41FD-B55D-DA2D19935CE1}"/>
              </a:ext>
            </a:extLst>
          </p:cNvPr>
          <p:cNvSpPr>
            <a:spLocks xmlns:a="http://schemas.openxmlformats.org/drawingml/2006/main" noGrp="1"/>
          </p:cNvSpPr>
          <p:nvPr/>
        </p:nvSpPr>
        <p:spPr>
          <a:xfrm xmlns:a="http://schemas.openxmlformats.org/drawingml/2006/main">
            <a:off x="8572500" y="2724150"/>
            <a:ext cx="30861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5" name="">
            <a:extLst xmlns:a="http://schemas.openxmlformats.org/drawingml/2006/main">
              <a:ext uri="{FF2B5EF4-FFF2-40B4-BE49-F238E27FC236}">
                <a16:creationId xmlns:a16="http://schemas.microsoft.com/office/drawing/2014/main" id="{77D0B6E0-9D9B-4507-A758-A09D1749BC16}"/>
              </a:ext>
            </a:extLst>
          </p:cNvPr>
          <p:cNvSpPr>
            <a:spLocks xmlns:a="http://schemas.openxmlformats.org/drawingml/2006/main" noGrp="1"/>
          </p:cNvSpPr>
          <p:nvPr/>
        </p:nvSpPr>
        <p:spPr>
          <a:xfrm xmlns:a="http://schemas.openxmlformats.org/drawingml/2006/main">
            <a:off x="8572500" y="27241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ADC743A-20F5-435B-856E-76D9C912EE4D}"/>
              </a:ext>
            </a:extLst>
          </p:cNvPr>
          <p:cNvSpPr>
            <a:spLocks xmlns:a="http://schemas.openxmlformats.org/drawingml/2006/main" noGrp="1"/>
          </p:cNvSpPr>
          <p:nvPr/>
        </p:nvSpPr>
        <p:spPr>
          <a:xfrm xmlns:a="http://schemas.openxmlformats.org/drawingml/2006/main">
            <a:off x="8801100" y="2876550"/>
            <a:ext cx="26670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Saturation (77%)</a:t>
            </a:r>
          </a:p>
        </p:txBody>
      </p:sp>
      <p:sp>
        <p:nvSpPr>
          <p:cNvPr id="17" name="">
            <a:extLst xmlns:a="http://schemas.openxmlformats.org/drawingml/2006/main">
              <a:ext uri="{FF2B5EF4-FFF2-40B4-BE49-F238E27FC236}">
                <a16:creationId xmlns:a16="http://schemas.microsoft.com/office/drawing/2014/main" id="{A9B50DEB-7A57-4D2A-A72F-49542ADB31B4}"/>
              </a:ext>
            </a:extLst>
          </p:cNvPr>
          <p:cNvSpPr>
            <a:spLocks xmlns:a="http://schemas.openxmlformats.org/drawingml/2006/main" noGrp="1"/>
          </p:cNvSpPr>
          <p:nvPr/>
        </p:nvSpPr>
        <p:spPr>
          <a:xfrm xmlns:a="http://schemas.openxmlformats.org/drawingml/2006/main">
            <a:off x="8801100" y="3181350"/>
            <a:ext cx="26670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Colourfulness. High saturation reads as vivid rather than muted.</a:t>
            </a:r>
          </a:p>
        </p:txBody>
      </p:sp>
      <p:sp>
        <p:nvSpPr>
          <p:cNvPr id="18" name="">
            <a:extLst xmlns:a="http://schemas.openxmlformats.org/drawingml/2006/main">
              <a:ext uri="{FF2B5EF4-FFF2-40B4-BE49-F238E27FC236}">
                <a16:creationId xmlns:a16="http://schemas.microsoft.com/office/drawing/2014/main" id="{84C1914B-FC2D-4A51-9779-6D53305C9BC2}"/>
              </a:ext>
            </a:extLst>
          </p:cNvPr>
          <p:cNvSpPr>
            <a:spLocks xmlns:a="http://schemas.openxmlformats.org/drawingml/2006/main" noGrp="1"/>
          </p:cNvSpPr>
          <p:nvPr/>
        </p:nvSpPr>
        <p:spPr>
          <a:xfrm xmlns:a="http://schemas.openxmlformats.org/drawingml/2006/main">
            <a:off x="5410200" y="4114800"/>
            <a:ext cx="28575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9" name="">
            <a:extLst xmlns:a="http://schemas.openxmlformats.org/drawingml/2006/main">
              <a:ext uri="{FF2B5EF4-FFF2-40B4-BE49-F238E27FC236}">
                <a16:creationId xmlns:a16="http://schemas.microsoft.com/office/drawing/2014/main" id="{BEC16AEF-E072-42D5-BB54-8EBD570E067A}"/>
              </a:ext>
            </a:extLst>
          </p:cNvPr>
          <p:cNvSpPr>
            <a:spLocks xmlns:a="http://schemas.openxmlformats.org/drawingml/2006/main" noGrp="1"/>
          </p:cNvSpPr>
          <p:nvPr/>
        </p:nvSpPr>
        <p:spPr>
          <a:xfrm xmlns:a="http://schemas.openxmlformats.org/drawingml/2006/main">
            <a:off x="5410200" y="41148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31705C-19D8-4C1B-8717-CE99A220E214}"/>
              </a:ext>
            </a:extLst>
          </p:cNvPr>
          <p:cNvSpPr>
            <a:spLocks xmlns:a="http://schemas.openxmlformats.org/drawingml/2006/main" noGrp="1"/>
          </p:cNvSpPr>
          <p:nvPr/>
        </p:nvSpPr>
        <p:spPr>
          <a:xfrm xmlns:a="http://schemas.openxmlformats.org/drawingml/2006/main">
            <a:off x="5638800" y="4267200"/>
            <a:ext cx="24384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Lightness (44%)</a:t>
            </a:r>
          </a:p>
        </p:txBody>
      </p:sp>
      <p:sp>
        <p:nvSpPr>
          <p:cNvPr id="21" name="">
            <a:extLst xmlns:a="http://schemas.openxmlformats.org/drawingml/2006/main">
              <a:ext uri="{FF2B5EF4-FFF2-40B4-BE49-F238E27FC236}">
                <a16:creationId xmlns:a16="http://schemas.microsoft.com/office/drawing/2014/main" id="{4D066E18-099B-45A0-9AEC-284C1AB2126C}"/>
              </a:ext>
            </a:extLst>
          </p:cNvPr>
          <p:cNvSpPr>
            <a:spLocks xmlns:a="http://schemas.openxmlformats.org/drawingml/2006/main" noGrp="1"/>
          </p:cNvSpPr>
          <p:nvPr/>
        </p:nvSpPr>
        <p:spPr>
          <a:xfrm xmlns:a="http://schemas.openxmlformats.org/drawingml/2006/main">
            <a:off x="5638800" y="4572000"/>
            <a:ext cx="24384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Distance from black to white. 44% is a mid-dark tone.</a:t>
            </a:r>
          </a:p>
        </p:txBody>
      </p:sp>
      <p:sp>
        <p:nvSpPr>
          <p:cNvPr id="22" name="">
            <a:extLst xmlns:a="http://schemas.openxmlformats.org/drawingml/2006/main">
              <a:ext uri="{FF2B5EF4-FFF2-40B4-BE49-F238E27FC236}">
                <a16:creationId xmlns:a16="http://schemas.microsoft.com/office/drawing/2014/main" id="{DD90ADB0-81D4-4EE9-B826-100A0DF3BAED}"/>
              </a:ext>
            </a:extLst>
          </p:cNvPr>
          <p:cNvSpPr>
            <a:spLocks xmlns:a="http://schemas.openxmlformats.org/drawingml/2006/main" noGrp="1"/>
          </p:cNvSpPr>
          <p:nvPr/>
        </p:nvSpPr>
        <p:spPr>
          <a:xfrm xmlns:a="http://schemas.openxmlformats.org/drawingml/2006/main">
            <a:off x="8572500" y="4114800"/>
            <a:ext cx="30861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23" name="">
            <a:extLst xmlns:a="http://schemas.openxmlformats.org/drawingml/2006/main">
              <a:ext uri="{FF2B5EF4-FFF2-40B4-BE49-F238E27FC236}">
                <a16:creationId xmlns:a16="http://schemas.microsoft.com/office/drawing/2014/main" id="{78FF7501-59BD-40CE-9FC4-22AB2FA22CDF}"/>
              </a:ext>
            </a:extLst>
          </p:cNvPr>
          <p:cNvSpPr>
            <a:spLocks xmlns:a="http://schemas.openxmlformats.org/drawingml/2006/main" noGrp="1"/>
          </p:cNvSpPr>
          <p:nvPr/>
        </p:nvSpPr>
        <p:spPr>
          <a:xfrm xmlns:a="http://schemas.openxmlformats.org/drawingml/2006/main">
            <a:off x="8572500" y="41148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70F59A-A937-4B13-A00B-BFD45D087CA0}"/>
              </a:ext>
            </a:extLst>
          </p:cNvPr>
          <p:cNvSpPr>
            <a:spLocks xmlns:a="http://schemas.openxmlformats.org/drawingml/2006/main" noGrp="1"/>
          </p:cNvSpPr>
          <p:nvPr/>
        </p:nvSpPr>
        <p:spPr>
          <a:xfrm xmlns:a="http://schemas.openxmlformats.org/drawingml/2006/main">
            <a:off x="8801100" y="4267200"/>
            <a:ext cx="26670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Why it matters</a:t>
            </a:r>
          </a:p>
        </p:txBody>
      </p:sp>
      <p:sp>
        <p:nvSpPr>
          <p:cNvPr id="25" name="">
            <a:extLst xmlns:a="http://schemas.openxmlformats.org/drawingml/2006/main">
              <a:ext uri="{FF2B5EF4-FFF2-40B4-BE49-F238E27FC236}">
                <a16:creationId xmlns:a16="http://schemas.microsoft.com/office/drawing/2014/main" id="{ED63FB72-2E51-4D00-9C08-F4E1D766BF06}"/>
              </a:ext>
            </a:extLst>
          </p:cNvPr>
          <p:cNvSpPr>
            <a:spLocks xmlns:a="http://schemas.openxmlformats.org/drawingml/2006/main" noGrp="1"/>
          </p:cNvSpPr>
          <p:nvPr/>
        </p:nvSpPr>
        <p:spPr>
          <a:xfrm xmlns:a="http://schemas.openxmlformats.org/drawingml/2006/main">
            <a:off x="8801100" y="4572000"/>
            <a:ext cx="26670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Need a lighter accent for dark mode? Raise lightness and keep hue and saturation fixed.</a:t>
            </a:r>
          </a:p>
        </p:txBody>
      </p:sp>
    </p:spTree>
    <p:extLst>
      <p:ext uri="{BB962C8B-B14F-4D97-AF65-F5344CB8AC3E}">
        <p14:creationId xmlns:p14="http://schemas.microsoft.com/office/powerpoint/2010/main" val="177029335"/>
      </p:ext>
    </p:extLst>
  </p:cSld>
</p:sld>
</file>

<file path=ppt/slides/slide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D9C5DCB-1CEE-40C9-88ED-1739C7460C93}"/>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E455EA-1F49-450C-829E-678B80482138}"/>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86F91B68-7B1B-4CA3-A94A-FD8815A5185C}"/>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D20362AF-198D-44C7-AA70-EFE2C195A758}"/>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Design tokens</a:t>
            </a:r>
          </a:p>
        </p:txBody>
      </p:sp>
      <p:sp>
        <p:nvSpPr>
          <p:cNvPr id="5" name="">
            <a:extLst xmlns:a="http://schemas.openxmlformats.org/drawingml/2006/main">
              <a:ext uri="{FF2B5EF4-FFF2-40B4-BE49-F238E27FC236}">
                <a16:creationId xmlns:a16="http://schemas.microsoft.com/office/drawing/2014/main" id="{B495844E-821F-4ABE-B711-707285AC60BE}"/>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The SLOP1512 token set</a:t>
            </a:r>
          </a:p>
        </p:txBody>
      </p:sp>
      <p:sp>
        <p:nvSpPr>
          <p:cNvPr id="6" name="">
            <a:extLst xmlns:a="http://schemas.openxmlformats.org/drawingml/2006/main">
              <a:ext uri="{FF2B5EF4-FFF2-40B4-BE49-F238E27FC236}">
                <a16:creationId xmlns:a16="http://schemas.microsoft.com/office/drawing/2014/main" id="{941AD86D-CB3C-43CD-9617-A914F9D7280C}"/>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85C6AC-7FEE-4186-9E6E-2C8F5D8FA527}"/>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84045A36-E12A-4023-AA1B-96E5F5F53B60}"/>
              </a:ext>
            </a:extLst>
          </p:cNvPr>
          <p:cNvSpPr>
            <a:spLocks xmlns:a="http://schemas.openxmlformats.org/drawingml/2006/main" noGrp="1"/>
          </p:cNvSpPr>
          <p:nvPr/>
        </p:nvSpPr>
        <p:spPr>
          <a:xfrm xmlns:a="http://schemas.openxmlformats.org/drawingml/2006/main">
            <a:off x="533400" y="1981200"/>
            <a:ext cx="11125200" cy="323850"/>
          </a:xfrm>
          <a:prstGeom xmlns:a="http://schemas.openxmlformats.org/drawingml/2006/main" prst="roundRect">
            <a:avLst>
              <a:gd name="adj" fmla="val 35294"/>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7E88C5B-A6E9-455A-9A62-0A1B98CE93A3}"/>
              </a:ext>
            </a:extLst>
          </p:cNvPr>
          <p:cNvSpPr>
            <a:spLocks xmlns:a="http://schemas.openxmlformats.org/drawingml/2006/main" noGrp="1"/>
          </p:cNvSpPr>
          <p:nvPr/>
        </p:nvSpPr>
        <p:spPr>
          <a:xfrm xmlns:a="http://schemas.openxmlformats.org/drawingml/2006/main">
            <a:off x="628650" y="203835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1">
                <a:solidFill>
                  <a:srgbClr val="FFFFFF"/>
                </a:solidFill>
                <a:latin typeface="Aptos"/>
                <a:ea typeface="Aptos"/>
                <a:cs typeface="Aptos"/>
              </a:defRPr>
            </a:pPr>
            <a:r>
              <a:rPr sz="1013" b="1">
                <a:solidFill>
                  <a:srgbClr val="FFFFFF"/>
                </a:solidFill>
                <a:latin typeface="Aptos"/>
                <a:ea typeface="Aptos"/>
                <a:cs typeface="Aptos"/>
              </a:rPr>
              <a:t>Token</a:t>
            </a:r>
          </a:p>
        </p:txBody>
      </p:sp>
      <p:sp>
        <p:nvSpPr>
          <p:cNvPr id="10" name="">
            <a:extLst xmlns:a="http://schemas.openxmlformats.org/drawingml/2006/main">
              <a:ext uri="{FF2B5EF4-FFF2-40B4-BE49-F238E27FC236}">
                <a16:creationId xmlns:a16="http://schemas.microsoft.com/office/drawing/2014/main" id="{8BB36C58-4CB5-451C-8630-33264E6BF16C}"/>
              </a:ext>
            </a:extLst>
          </p:cNvPr>
          <p:cNvSpPr>
            <a:spLocks xmlns:a="http://schemas.openxmlformats.org/drawingml/2006/main" noGrp="1"/>
          </p:cNvSpPr>
          <p:nvPr/>
        </p:nvSpPr>
        <p:spPr>
          <a:xfrm xmlns:a="http://schemas.openxmlformats.org/drawingml/2006/main">
            <a:off x="2819400" y="203835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1">
                <a:solidFill>
                  <a:srgbClr val="FFFFFF"/>
                </a:solidFill>
                <a:latin typeface="Aptos"/>
                <a:ea typeface="Aptos"/>
                <a:cs typeface="Aptos"/>
              </a:defRPr>
            </a:pPr>
            <a:r>
              <a:rPr sz="1013" b="1">
                <a:solidFill>
                  <a:srgbClr val="FFFFFF"/>
                </a:solidFill>
                <a:latin typeface="Aptos"/>
                <a:ea typeface="Aptos"/>
                <a:cs typeface="Aptos"/>
              </a:rPr>
              <a:t>Hex</a:t>
            </a:r>
          </a:p>
        </p:txBody>
      </p:sp>
      <p:sp>
        <p:nvSpPr>
          <p:cNvPr id="11" name="">
            <a:extLst xmlns:a="http://schemas.openxmlformats.org/drawingml/2006/main">
              <a:ext uri="{FF2B5EF4-FFF2-40B4-BE49-F238E27FC236}">
                <a16:creationId xmlns:a16="http://schemas.microsoft.com/office/drawing/2014/main" id="{BBEA6A9E-EA63-4C43-B5B0-AC6C683B15A5}"/>
              </a:ext>
            </a:extLst>
          </p:cNvPr>
          <p:cNvSpPr>
            <a:spLocks xmlns:a="http://schemas.openxmlformats.org/drawingml/2006/main" noGrp="1"/>
          </p:cNvSpPr>
          <p:nvPr/>
        </p:nvSpPr>
        <p:spPr>
          <a:xfrm xmlns:a="http://schemas.openxmlformats.org/drawingml/2006/main">
            <a:off x="4057650" y="203835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1">
                <a:solidFill>
                  <a:srgbClr val="FFFFFF"/>
                </a:solidFill>
                <a:latin typeface="Aptos"/>
                <a:ea typeface="Aptos"/>
                <a:cs typeface="Aptos"/>
              </a:defRPr>
            </a:pPr>
            <a:r>
              <a:rPr sz="1013" b="1">
                <a:solidFill>
                  <a:srgbClr val="FFFFFF"/>
                </a:solidFill>
                <a:latin typeface="Aptos"/>
                <a:ea typeface="Aptos"/>
                <a:cs typeface="Aptos"/>
              </a:rPr>
              <a:t>HSL</a:t>
            </a:r>
          </a:p>
        </p:txBody>
      </p:sp>
      <p:sp>
        <p:nvSpPr>
          <p:cNvPr id="12" name="">
            <a:extLst xmlns:a="http://schemas.openxmlformats.org/drawingml/2006/main">
              <a:ext uri="{FF2B5EF4-FFF2-40B4-BE49-F238E27FC236}">
                <a16:creationId xmlns:a16="http://schemas.microsoft.com/office/drawing/2014/main" id="{052100E7-C36B-46CC-8553-63B5EF6FA3FE}"/>
              </a:ext>
            </a:extLst>
          </p:cNvPr>
          <p:cNvSpPr>
            <a:spLocks xmlns:a="http://schemas.openxmlformats.org/drawingml/2006/main" noGrp="1"/>
          </p:cNvSpPr>
          <p:nvPr/>
        </p:nvSpPr>
        <p:spPr>
          <a:xfrm xmlns:a="http://schemas.openxmlformats.org/drawingml/2006/main">
            <a:off x="6915150" y="203835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1">
                <a:solidFill>
                  <a:srgbClr val="FFFFFF"/>
                </a:solidFill>
                <a:latin typeface="Aptos"/>
                <a:ea typeface="Aptos"/>
                <a:cs typeface="Aptos"/>
              </a:defRPr>
            </a:pPr>
            <a:r>
              <a:rPr sz="1013" b="1">
                <a:solidFill>
                  <a:srgbClr val="FFFFFF"/>
                </a:solidFill>
                <a:latin typeface="Aptos"/>
                <a:ea typeface="Aptos"/>
                <a:cs typeface="Aptos"/>
              </a:rPr>
              <a:t>Role</a:t>
            </a:r>
          </a:p>
        </p:txBody>
      </p:sp>
      <p:sp>
        <p:nvSpPr>
          <p:cNvPr id="13" name="">
            <a:extLst xmlns:a="http://schemas.openxmlformats.org/drawingml/2006/main">
              <a:ext uri="{FF2B5EF4-FFF2-40B4-BE49-F238E27FC236}">
                <a16:creationId xmlns:a16="http://schemas.microsoft.com/office/drawing/2014/main" id="{47F6293F-14F1-423C-B22F-54BDA95EF2EC}"/>
              </a:ext>
            </a:extLst>
          </p:cNvPr>
          <p:cNvSpPr>
            <a:spLocks xmlns:a="http://schemas.openxmlformats.org/drawingml/2006/main" noGrp="1"/>
          </p:cNvSpPr>
          <p:nvPr/>
        </p:nvSpPr>
        <p:spPr>
          <a:xfrm xmlns:a="http://schemas.openxmlformats.org/drawingml/2006/main">
            <a:off x="628650" y="236220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--color-ink</a:t>
            </a:r>
          </a:p>
        </p:txBody>
      </p:sp>
      <p:sp>
        <p:nvSpPr>
          <p:cNvPr id="14" name="">
            <a:extLst xmlns:a="http://schemas.openxmlformats.org/drawingml/2006/main">
              <a:ext uri="{FF2B5EF4-FFF2-40B4-BE49-F238E27FC236}">
                <a16:creationId xmlns:a16="http://schemas.microsoft.com/office/drawing/2014/main" id="{13A03FCD-547B-42B4-8CF2-726E8F68F05A}"/>
              </a:ext>
            </a:extLst>
          </p:cNvPr>
          <p:cNvSpPr>
            <a:spLocks xmlns:a="http://schemas.openxmlformats.org/drawingml/2006/main" noGrp="1"/>
          </p:cNvSpPr>
          <p:nvPr/>
        </p:nvSpPr>
        <p:spPr>
          <a:xfrm xmlns:a="http://schemas.openxmlformats.org/drawingml/2006/main">
            <a:off x="2819400" y="236220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#18212A</a:t>
            </a:r>
          </a:p>
        </p:txBody>
      </p:sp>
      <p:sp>
        <p:nvSpPr>
          <p:cNvPr id="15" name="">
            <a:extLst xmlns:a="http://schemas.openxmlformats.org/drawingml/2006/main">
              <a:ext uri="{FF2B5EF4-FFF2-40B4-BE49-F238E27FC236}">
                <a16:creationId xmlns:a16="http://schemas.microsoft.com/office/drawing/2014/main" id="{EF1C555A-A8B9-4A5E-927E-84F91B4CCDB7}"/>
              </a:ext>
            </a:extLst>
          </p:cNvPr>
          <p:cNvSpPr>
            <a:spLocks xmlns:a="http://schemas.openxmlformats.org/drawingml/2006/main" noGrp="1"/>
          </p:cNvSpPr>
          <p:nvPr/>
        </p:nvSpPr>
        <p:spPr>
          <a:xfrm xmlns:a="http://schemas.openxmlformats.org/drawingml/2006/main">
            <a:off x="4057650" y="236220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hsl(210, 27%, 13%)</a:t>
            </a:r>
          </a:p>
        </p:txBody>
      </p:sp>
      <p:sp>
        <p:nvSpPr>
          <p:cNvPr id="16" name="">
            <a:extLst xmlns:a="http://schemas.openxmlformats.org/drawingml/2006/main">
              <a:ext uri="{FF2B5EF4-FFF2-40B4-BE49-F238E27FC236}">
                <a16:creationId xmlns:a16="http://schemas.microsoft.com/office/drawing/2014/main" id="{397B0A69-AF2B-4643-AF3E-02DB96C1CBF1}"/>
              </a:ext>
            </a:extLst>
          </p:cNvPr>
          <p:cNvSpPr>
            <a:spLocks xmlns:a="http://schemas.openxmlformats.org/drawingml/2006/main" noGrp="1"/>
          </p:cNvSpPr>
          <p:nvPr/>
        </p:nvSpPr>
        <p:spPr>
          <a:xfrm xmlns:a="http://schemas.openxmlformats.org/drawingml/2006/main">
            <a:off x="6915150" y="236220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Primary text, dark surfaces</a:t>
            </a:r>
          </a:p>
        </p:txBody>
      </p:sp>
      <p:sp>
        <p:nvSpPr>
          <p:cNvPr id="17" name="">
            <a:extLst xmlns:a="http://schemas.openxmlformats.org/drawingml/2006/main">
              <a:ext uri="{FF2B5EF4-FFF2-40B4-BE49-F238E27FC236}">
                <a16:creationId xmlns:a16="http://schemas.microsoft.com/office/drawing/2014/main" id="{F0C771DE-11D2-4F9D-A742-39450DE19F1D}"/>
              </a:ext>
            </a:extLst>
          </p:cNvPr>
          <p:cNvSpPr>
            <a:spLocks xmlns:a="http://schemas.openxmlformats.org/drawingml/2006/main" noGrp="1"/>
          </p:cNvSpPr>
          <p:nvPr/>
        </p:nvSpPr>
        <p:spPr>
          <a:xfrm xmlns:a="http://schemas.openxmlformats.org/drawingml/2006/main">
            <a:off x="533400" y="26193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7EBA40-EE87-45F0-9ABF-99EC36436D69}"/>
              </a:ext>
            </a:extLst>
          </p:cNvPr>
          <p:cNvSpPr>
            <a:spLocks xmlns:a="http://schemas.openxmlformats.org/drawingml/2006/main" noGrp="1"/>
          </p:cNvSpPr>
          <p:nvPr/>
        </p:nvSpPr>
        <p:spPr>
          <a:xfrm xmlns:a="http://schemas.openxmlformats.org/drawingml/2006/main">
            <a:off x="628650" y="268605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--color-cream</a:t>
            </a:r>
          </a:p>
        </p:txBody>
      </p:sp>
      <p:sp>
        <p:nvSpPr>
          <p:cNvPr id="19" name="">
            <a:extLst xmlns:a="http://schemas.openxmlformats.org/drawingml/2006/main">
              <a:ext uri="{FF2B5EF4-FFF2-40B4-BE49-F238E27FC236}">
                <a16:creationId xmlns:a16="http://schemas.microsoft.com/office/drawing/2014/main" id="{72279285-2752-419C-9B8E-412C918BA582}"/>
              </a:ext>
            </a:extLst>
          </p:cNvPr>
          <p:cNvSpPr>
            <a:spLocks xmlns:a="http://schemas.openxmlformats.org/drawingml/2006/main" noGrp="1"/>
          </p:cNvSpPr>
          <p:nvPr/>
        </p:nvSpPr>
        <p:spPr>
          <a:xfrm xmlns:a="http://schemas.openxmlformats.org/drawingml/2006/main">
            <a:off x="2819400" y="268605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#F8F5EF</a:t>
            </a:r>
          </a:p>
        </p:txBody>
      </p:sp>
      <p:sp>
        <p:nvSpPr>
          <p:cNvPr id="20" name="">
            <a:extLst xmlns:a="http://schemas.openxmlformats.org/drawingml/2006/main">
              <a:ext uri="{FF2B5EF4-FFF2-40B4-BE49-F238E27FC236}">
                <a16:creationId xmlns:a16="http://schemas.microsoft.com/office/drawing/2014/main" id="{3041FEBB-B812-4803-A8A2-5398E114D5AD}"/>
              </a:ext>
            </a:extLst>
          </p:cNvPr>
          <p:cNvSpPr>
            <a:spLocks xmlns:a="http://schemas.openxmlformats.org/drawingml/2006/main" noGrp="1"/>
          </p:cNvSpPr>
          <p:nvPr/>
        </p:nvSpPr>
        <p:spPr>
          <a:xfrm xmlns:a="http://schemas.openxmlformats.org/drawingml/2006/main">
            <a:off x="4057650" y="268605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hsl(40, 39%, 95%)</a:t>
            </a:r>
          </a:p>
        </p:txBody>
      </p:sp>
      <p:sp>
        <p:nvSpPr>
          <p:cNvPr id="21" name="">
            <a:extLst xmlns:a="http://schemas.openxmlformats.org/drawingml/2006/main">
              <a:ext uri="{FF2B5EF4-FFF2-40B4-BE49-F238E27FC236}">
                <a16:creationId xmlns:a16="http://schemas.microsoft.com/office/drawing/2014/main" id="{4352ED6A-330C-4934-870B-827EB0ED6D2A}"/>
              </a:ext>
            </a:extLst>
          </p:cNvPr>
          <p:cNvSpPr>
            <a:spLocks xmlns:a="http://schemas.openxmlformats.org/drawingml/2006/main" noGrp="1"/>
          </p:cNvSpPr>
          <p:nvPr/>
        </p:nvSpPr>
        <p:spPr>
          <a:xfrm xmlns:a="http://schemas.openxmlformats.org/drawingml/2006/main">
            <a:off x="6915150" y="268605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Page background (light)</a:t>
            </a:r>
          </a:p>
        </p:txBody>
      </p:sp>
      <p:sp>
        <p:nvSpPr>
          <p:cNvPr id="22" name="">
            <a:extLst xmlns:a="http://schemas.openxmlformats.org/drawingml/2006/main">
              <a:ext uri="{FF2B5EF4-FFF2-40B4-BE49-F238E27FC236}">
                <a16:creationId xmlns:a16="http://schemas.microsoft.com/office/drawing/2014/main" id="{564E9C11-35E2-4A48-8813-89BD1D1BE0C2}"/>
              </a:ext>
            </a:extLst>
          </p:cNvPr>
          <p:cNvSpPr>
            <a:spLocks xmlns:a="http://schemas.openxmlformats.org/drawingml/2006/main" noGrp="1"/>
          </p:cNvSpPr>
          <p:nvPr/>
        </p:nvSpPr>
        <p:spPr>
          <a:xfrm xmlns:a="http://schemas.openxmlformats.org/drawingml/2006/main">
            <a:off x="533400" y="29432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83EDFE-FF0E-4828-A871-31914146DE4A}"/>
              </a:ext>
            </a:extLst>
          </p:cNvPr>
          <p:cNvSpPr>
            <a:spLocks xmlns:a="http://schemas.openxmlformats.org/drawingml/2006/main" noGrp="1"/>
          </p:cNvSpPr>
          <p:nvPr/>
        </p:nvSpPr>
        <p:spPr>
          <a:xfrm xmlns:a="http://schemas.openxmlformats.org/drawingml/2006/main">
            <a:off x="628650" y="300990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--color-gold</a:t>
            </a:r>
          </a:p>
        </p:txBody>
      </p:sp>
      <p:sp>
        <p:nvSpPr>
          <p:cNvPr id="24" name="">
            <a:extLst xmlns:a="http://schemas.openxmlformats.org/drawingml/2006/main">
              <a:ext uri="{FF2B5EF4-FFF2-40B4-BE49-F238E27FC236}">
                <a16:creationId xmlns:a16="http://schemas.microsoft.com/office/drawing/2014/main" id="{158D4B90-D399-49DF-879F-0CDBDB757E10}"/>
              </a:ext>
            </a:extLst>
          </p:cNvPr>
          <p:cNvSpPr>
            <a:spLocks xmlns:a="http://schemas.openxmlformats.org/drawingml/2006/main" noGrp="1"/>
          </p:cNvSpPr>
          <p:nvPr/>
        </p:nvSpPr>
        <p:spPr>
          <a:xfrm xmlns:a="http://schemas.openxmlformats.org/drawingml/2006/main">
            <a:off x="2819400" y="300990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#C7831A</a:t>
            </a:r>
          </a:p>
        </p:txBody>
      </p:sp>
      <p:sp>
        <p:nvSpPr>
          <p:cNvPr id="25" name="">
            <a:extLst xmlns:a="http://schemas.openxmlformats.org/drawingml/2006/main">
              <a:ext uri="{FF2B5EF4-FFF2-40B4-BE49-F238E27FC236}">
                <a16:creationId xmlns:a16="http://schemas.microsoft.com/office/drawing/2014/main" id="{8003404D-A3BB-46E6-85F0-F9F468C1D23B}"/>
              </a:ext>
            </a:extLst>
          </p:cNvPr>
          <p:cNvSpPr>
            <a:spLocks xmlns:a="http://schemas.openxmlformats.org/drawingml/2006/main" noGrp="1"/>
          </p:cNvSpPr>
          <p:nvPr/>
        </p:nvSpPr>
        <p:spPr>
          <a:xfrm xmlns:a="http://schemas.openxmlformats.org/drawingml/2006/main">
            <a:off x="4057650" y="300990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hsl(36, 77%, 44%)</a:t>
            </a:r>
          </a:p>
        </p:txBody>
      </p:sp>
      <p:sp>
        <p:nvSpPr>
          <p:cNvPr id="26" name="">
            <a:extLst xmlns:a="http://schemas.openxmlformats.org/drawingml/2006/main">
              <a:ext uri="{FF2B5EF4-FFF2-40B4-BE49-F238E27FC236}">
                <a16:creationId xmlns:a16="http://schemas.microsoft.com/office/drawing/2014/main" id="{0E6DF42C-AC92-4993-9CB7-61DE28E44907}"/>
              </a:ext>
            </a:extLst>
          </p:cNvPr>
          <p:cNvSpPr>
            <a:spLocks xmlns:a="http://schemas.openxmlformats.org/drawingml/2006/main" noGrp="1"/>
          </p:cNvSpPr>
          <p:nvPr/>
        </p:nvSpPr>
        <p:spPr>
          <a:xfrm xmlns:a="http://schemas.openxmlformats.org/drawingml/2006/main">
            <a:off x="6915150" y="300990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Accent — never as body text on cream</a:t>
            </a:r>
          </a:p>
        </p:txBody>
      </p:sp>
      <p:sp>
        <p:nvSpPr>
          <p:cNvPr id="27" name="">
            <a:extLst xmlns:a="http://schemas.openxmlformats.org/drawingml/2006/main">
              <a:ext uri="{FF2B5EF4-FFF2-40B4-BE49-F238E27FC236}">
                <a16:creationId xmlns:a16="http://schemas.microsoft.com/office/drawing/2014/main" id="{ED2F7561-7AA9-4A9D-8080-AA7AAA19496E}"/>
              </a:ext>
            </a:extLst>
          </p:cNvPr>
          <p:cNvSpPr>
            <a:spLocks xmlns:a="http://schemas.openxmlformats.org/drawingml/2006/main" noGrp="1"/>
          </p:cNvSpPr>
          <p:nvPr/>
        </p:nvSpPr>
        <p:spPr>
          <a:xfrm xmlns:a="http://schemas.openxmlformats.org/drawingml/2006/main">
            <a:off x="533400" y="32670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E5A8115-A413-4514-A30C-B081CCA1B3A2}"/>
              </a:ext>
            </a:extLst>
          </p:cNvPr>
          <p:cNvSpPr>
            <a:spLocks xmlns:a="http://schemas.openxmlformats.org/drawingml/2006/main" noGrp="1"/>
          </p:cNvSpPr>
          <p:nvPr/>
        </p:nvSpPr>
        <p:spPr>
          <a:xfrm xmlns:a="http://schemas.openxmlformats.org/drawingml/2006/main">
            <a:off x="628650" y="333375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--color-slate</a:t>
            </a:r>
          </a:p>
        </p:txBody>
      </p:sp>
      <p:sp>
        <p:nvSpPr>
          <p:cNvPr id="29" name="">
            <a:extLst xmlns:a="http://schemas.openxmlformats.org/drawingml/2006/main">
              <a:ext uri="{FF2B5EF4-FFF2-40B4-BE49-F238E27FC236}">
                <a16:creationId xmlns:a16="http://schemas.microsoft.com/office/drawing/2014/main" id="{6A42E98D-7A35-4F42-A171-873D9902526D}"/>
              </a:ext>
            </a:extLst>
          </p:cNvPr>
          <p:cNvSpPr>
            <a:spLocks xmlns:a="http://schemas.openxmlformats.org/drawingml/2006/main" noGrp="1"/>
          </p:cNvSpPr>
          <p:nvPr/>
        </p:nvSpPr>
        <p:spPr>
          <a:xfrm xmlns:a="http://schemas.openxmlformats.org/drawingml/2006/main">
            <a:off x="2819400" y="333375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#43515D</a:t>
            </a:r>
          </a:p>
        </p:txBody>
      </p:sp>
      <p:sp>
        <p:nvSpPr>
          <p:cNvPr id="30" name="">
            <a:extLst xmlns:a="http://schemas.openxmlformats.org/drawingml/2006/main">
              <a:ext uri="{FF2B5EF4-FFF2-40B4-BE49-F238E27FC236}">
                <a16:creationId xmlns:a16="http://schemas.microsoft.com/office/drawing/2014/main" id="{55662BED-33CD-495D-BC3B-F5B1AB007591}"/>
              </a:ext>
            </a:extLst>
          </p:cNvPr>
          <p:cNvSpPr>
            <a:spLocks xmlns:a="http://schemas.openxmlformats.org/drawingml/2006/main" noGrp="1"/>
          </p:cNvSpPr>
          <p:nvPr/>
        </p:nvSpPr>
        <p:spPr>
          <a:xfrm xmlns:a="http://schemas.openxmlformats.org/drawingml/2006/main">
            <a:off x="4057650" y="333375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hsl(208, 16%, 31%)</a:t>
            </a:r>
          </a:p>
        </p:txBody>
      </p:sp>
      <p:sp>
        <p:nvSpPr>
          <p:cNvPr id="31" name="">
            <a:extLst xmlns:a="http://schemas.openxmlformats.org/drawingml/2006/main">
              <a:ext uri="{FF2B5EF4-FFF2-40B4-BE49-F238E27FC236}">
                <a16:creationId xmlns:a16="http://schemas.microsoft.com/office/drawing/2014/main" id="{A132010E-17A0-41F9-9B45-0BE64C3E9722}"/>
              </a:ext>
            </a:extLst>
          </p:cNvPr>
          <p:cNvSpPr>
            <a:spLocks xmlns:a="http://schemas.openxmlformats.org/drawingml/2006/main" noGrp="1"/>
          </p:cNvSpPr>
          <p:nvPr/>
        </p:nvSpPr>
        <p:spPr>
          <a:xfrm xmlns:a="http://schemas.openxmlformats.org/drawingml/2006/main">
            <a:off x="6915150" y="333375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Secondary text, captions</a:t>
            </a:r>
          </a:p>
        </p:txBody>
      </p:sp>
      <p:sp>
        <p:nvSpPr>
          <p:cNvPr id="32" name="">
            <a:extLst xmlns:a="http://schemas.openxmlformats.org/drawingml/2006/main">
              <a:ext uri="{FF2B5EF4-FFF2-40B4-BE49-F238E27FC236}">
                <a16:creationId xmlns:a16="http://schemas.microsoft.com/office/drawing/2014/main" id="{83A5E649-6DBC-4E81-B846-6224E9F47A97}"/>
              </a:ext>
            </a:extLst>
          </p:cNvPr>
          <p:cNvSpPr>
            <a:spLocks xmlns:a="http://schemas.openxmlformats.org/drawingml/2006/main" noGrp="1"/>
          </p:cNvSpPr>
          <p:nvPr/>
        </p:nvSpPr>
        <p:spPr>
          <a:xfrm xmlns:a="http://schemas.openxmlformats.org/drawingml/2006/main">
            <a:off x="533400" y="35909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93D2487-A44E-421E-95DC-42446AA708F0}"/>
              </a:ext>
            </a:extLst>
          </p:cNvPr>
          <p:cNvSpPr>
            <a:spLocks xmlns:a="http://schemas.openxmlformats.org/drawingml/2006/main" noGrp="1"/>
          </p:cNvSpPr>
          <p:nvPr/>
        </p:nvSpPr>
        <p:spPr>
          <a:xfrm xmlns:a="http://schemas.openxmlformats.org/drawingml/2006/main">
            <a:off x="628650" y="365760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--color-line</a:t>
            </a:r>
          </a:p>
        </p:txBody>
      </p:sp>
      <p:sp>
        <p:nvSpPr>
          <p:cNvPr id="34" name="">
            <a:extLst xmlns:a="http://schemas.openxmlformats.org/drawingml/2006/main">
              <a:ext uri="{FF2B5EF4-FFF2-40B4-BE49-F238E27FC236}">
                <a16:creationId xmlns:a16="http://schemas.microsoft.com/office/drawing/2014/main" id="{B0606E29-790C-4E79-BCDC-A72AA24386E7}"/>
              </a:ext>
            </a:extLst>
          </p:cNvPr>
          <p:cNvSpPr>
            <a:spLocks xmlns:a="http://schemas.openxmlformats.org/drawingml/2006/main" noGrp="1"/>
          </p:cNvSpPr>
          <p:nvPr/>
        </p:nvSpPr>
        <p:spPr>
          <a:xfrm xmlns:a="http://schemas.openxmlformats.org/drawingml/2006/main">
            <a:off x="2819400" y="365760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#D7D0C4</a:t>
            </a:r>
          </a:p>
        </p:txBody>
      </p:sp>
      <p:sp>
        <p:nvSpPr>
          <p:cNvPr id="35" name="">
            <a:extLst xmlns:a="http://schemas.openxmlformats.org/drawingml/2006/main">
              <a:ext uri="{FF2B5EF4-FFF2-40B4-BE49-F238E27FC236}">
                <a16:creationId xmlns:a16="http://schemas.microsoft.com/office/drawing/2014/main" id="{00A0DAE9-A0BF-4247-92A7-90FF15A27899}"/>
              </a:ext>
            </a:extLst>
          </p:cNvPr>
          <p:cNvSpPr>
            <a:spLocks xmlns:a="http://schemas.openxmlformats.org/drawingml/2006/main" noGrp="1"/>
          </p:cNvSpPr>
          <p:nvPr/>
        </p:nvSpPr>
        <p:spPr>
          <a:xfrm xmlns:a="http://schemas.openxmlformats.org/drawingml/2006/main">
            <a:off x="4057650" y="365760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hsl(38, 19%, 81%)</a:t>
            </a:r>
          </a:p>
        </p:txBody>
      </p:sp>
      <p:sp>
        <p:nvSpPr>
          <p:cNvPr id="36" name="">
            <a:extLst xmlns:a="http://schemas.openxmlformats.org/drawingml/2006/main">
              <a:ext uri="{FF2B5EF4-FFF2-40B4-BE49-F238E27FC236}">
                <a16:creationId xmlns:a16="http://schemas.microsoft.com/office/drawing/2014/main" id="{12FEF0C8-543D-4FAB-A3FF-7AACF900E516}"/>
              </a:ext>
            </a:extLst>
          </p:cNvPr>
          <p:cNvSpPr>
            <a:spLocks xmlns:a="http://schemas.openxmlformats.org/drawingml/2006/main" noGrp="1"/>
          </p:cNvSpPr>
          <p:nvPr/>
        </p:nvSpPr>
        <p:spPr>
          <a:xfrm xmlns:a="http://schemas.openxmlformats.org/drawingml/2006/main">
            <a:off x="6915150" y="365760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Borders and rules only</a:t>
            </a:r>
          </a:p>
        </p:txBody>
      </p:sp>
      <p:sp>
        <p:nvSpPr>
          <p:cNvPr id="37" name="">
            <a:extLst xmlns:a="http://schemas.openxmlformats.org/drawingml/2006/main">
              <a:ext uri="{FF2B5EF4-FFF2-40B4-BE49-F238E27FC236}">
                <a16:creationId xmlns:a16="http://schemas.microsoft.com/office/drawing/2014/main" id="{005E12AE-931A-4975-903E-1D77FFEE661E}"/>
              </a:ext>
            </a:extLst>
          </p:cNvPr>
          <p:cNvSpPr>
            <a:spLocks xmlns:a="http://schemas.openxmlformats.org/drawingml/2006/main" noGrp="1"/>
          </p:cNvSpPr>
          <p:nvPr/>
        </p:nvSpPr>
        <p:spPr>
          <a:xfrm xmlns:a="http://schemas.openxmlformats.org/drawingml/2006/main">
            <a:off x="533400" y="39147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F458F6E-E13D-489B-89A5-5A80A5B0F1BE}"/>
              </a:ext>
            </a:extLst>
          </p:cNvPr>
          <p:cNvSpPr>
            <a:spLocks xmlns:a="http://schemas.openxmlformats.org/drawingml/2006/main" noGrp="1"/>
          </p:cNvSpPr>
          <p:nvPr/>
        </p:nvSpPr>
        <p:spPr>
          <a:xfrm xmlns:a="http://schemas.openxmlformats.org/drawingml/2006/main">
            <a:off x="628650" y="3981450"/>
            <a:ext cx="20383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--color-white</a:t>
            </a:r>
          </a:p>
        </p:txBody>
      </p:sp>
      <p:sp>
        <p:nvSpPr>
          <p:cNvPr id="39" name="">
            <a:extLst xmlns:a="http://schemas.openxmlformats.org/drawingml/2006/main">
              <a:ext uri="{FF2B5EF4-FFF2-40B4-BE49-F238E27FC236}">
                <a16:creationId xmlns:a16="http://schemas.microsoft.com/office/drawing/2014/main" id="{54BD8C94-9727-41BD-910B-3B7C6F8AEE7D}"/>
              </a:ext>
            </a:extLst>
          </p:cNvPr>
          <p:cNvSpPr>
            <a:spLocks xmlns:a="http://schemas.openxmlformats.org/drawingml/2006/main" noGrp="1"/>
          </p:cNvSpPr>
          <p:nvPr/>
        </p:nvSpPr>
        <p:spPr>
          <a:xfrm xmlns:a="http://schemas.openxmlformats.org/drawingml/2006/main">
            <a:off x="2819400" y="3981450"/>
            <a:ext cx="108585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#FFFFFF</a:t>
            </a:r>
          </a:p>
        </p:txBody>
      </p:sp>
      <p:sp>
        <p:nvSpPr>
          <p:cNvPr id="40" name="">
            <a:extLst xmlns:a="http://schemas.openxmlformats.org/drawingml/2006/main">
              <a:ext uri="{FF2B5EF4-FFF2-40B4-BE49-F238E27FC236}">
                <a16:creationId xmlns:a16="http://schemas.microsoft.com/office/drawing/2014/main" id="{CDD73D49-6AC1-4100-9CCD-D7DCD479E317}"/>
              </a:ext>
            </a:extLst>
          </p:cNvPr>
          <p:cNvSpPr>
            <a:spLocks xmlns:a="http://schemas.openxmlformats.org/drawingml/2006/main" noGrp="1"/>
          </p:cNvSpPr>
          <p:nvPr/>
        </p:nvSpPr>
        <p:spPr>
          <a:xfrm xmlns:a="http://schemas.openxmlformats.org/drawingml/2006/main">
            <a:off x="4057650" y="3981450"/>
            <a:ext cx="2705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hsl(0, 0%, 100%)</a:t>
            </a:r>
          </a:p>
        </p:txBody>
      </p:sp>
      <p:sp>
        <p:nvSpPr>
          <p:cNvPr id="41" name="">
            <a:extLst xmlns:a="http://schemas.openxmlformats.org/drawingml/2006/main">
              <a:ext uri="{FF2B5EF4-FFF2-40B4-BE49-F238E27FC236}">
                <a16:creationId xmlns:a16="http://schemas.microsoft.com/office/drawing/2014/main" id="{05F21DD7-0B5D-4ED4-BFFE-41D8F22335DF}"/>
              </a:ext>
            </a:extLst>
          </p:cNvPr>
          <p:cNvSpPr>
            <a:spLocks xmlns:a="http://schemas.openxmlformats.org/drawingml/2006/main" noGrp="1"/>
          </p:cNvSpPr>
          <p:nvPr/>
        </p:nvSpPr>
        <p:spPr>
          <a:xfrm xmlns:a="http://schemas.openxmlformats.org/drawingml/2006/main">
            <a:off x="6915150" y="3981450"/>
            <a:ext cx="4686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5475"/>
          </a:bodyPr>
          <a:lstStyle xmlns:a="http://schemas.openxmlformats.org/drawingml/2006/main"/>
          <a:p xmlns:a="http://schemas.openxmlformats.org/drawingml/2006/main">
            <a:pPr>
              <a:defRPr sz="1013" b="0">
                <a:solidFill>
                  <a:srgbClr val="18212A"/>
                </a:solidFill>
                <a:latin typeface="Aptos"/>
                <a:ea typeface="Aptos"/>
                <a:cs typeface="Aptos"/>
              </a:defRPr>
            </a:pPr>
            <a:r>
              <a:rPr sz="1013" b="0">
                <a:solidFill>
                  <a:srgbClr val="18212A"/>
                </a:solidFill>
                <a:latin typeface="Aptos"/>
                <a:ea typeface="Aptos"/>
                <a:cs typeface="Aptos"/>
              </a:rPr>
              <a:t>Cards on dark surfaces</a:t>
            </a:r>
          </a:p>
        </p:txBody>
      </p:sp>
      <p:sp>
        <p:nvSpPr>
          <p:cNvPr id="42" name="">
            <a:extLst xmlns:a="http://schemas.openxmlformats.org/drawingml/2006/main">
              <a:ext uri="{FF2B5EF4-FFF2-40B4-BE49-F238E27FC236}">
                <a16:creationId xmlns:a16="http://schemas.microsoft.com/office/drawing/2014/main" id="{E0DB8ED2-B53D-4221-B768-C720C84596A5}"/>
              </a:ext>
            </a:extLst>
          </p:cNvPr>
          <p:cNvSpPr>
            <a:spLocks xmlns:a="http://schemas.openxmlformats.org/drawingml/2006/main" noGrp="1"/>
          </p:cNvSpPr>
          <p:nvPr/>
        </p:nvSpPr>
        <p:spPr>
          <a:xfrm xmlns:a="http://schemas.openxmlformats.org/drawingml/2006/main">
            <a:off x="533400" y="42386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Tree>
    <p:extLst>
      <p:ext uri="{BB962C8B-B14F-4D97-AF65-F5344CB8AC3E}">
        <p14:creationId xmlns:p14="http://schemas.microsoft.com/office/powerpoint/2010/main" val="717135091"/>
      </p:ext>
    </p:extLst>
  </p:cSld>
</p:sld>
</file>

<file path=ppt/slides/slide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EDF4753-5018-4B85-99CE-612250E8E1B8}"/>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730580-FFF9-4AFE-836E-29758FF178E6}"/>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740F1BAA-B47A-4A26-AB7F-FC3CCA42F0B0}"/>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07</a:t>
            </a:r>
          </a:p>
        </p:txBody>
      </p:sp>
      <p:sp>
        <p:nvSpPr>
          <p:cNvPr id="4" name="">
            <a:extLst xmlns:a="http://schemas.openxmlformats.org/drawingml/2006/main">
              <a:ext uri="{FF2B5EF4-FFF2-40B4-BE49-F238E27FC236}">
                <a16:creationId xmlns:a16="http://schemas.microsoft.com/office/drawing/2014/main" id="{30AB7BFB-FD64-4328-A88D-413FAA94014B}"/>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WCAG contrast</a:t>
            </a:r>
          </a:p>
        </p:txBody>
      </p:sp>
      <p:sp>
        <p:nvSpPr>
          <p:cNvPr id="5" name="">
            <a:extLst xmlns:a="http://schemas.openxmlformats.org/drawingml/2006/main">
              <a:ext uri="{FF2B5EF4-FFF2-40B4-BE49-F238E27FC236}">
                <a16:creationId xmlns:a16="http://schemas.microsoft.com/office/drawing/2014/main" id="{613CF740-8BCB-4944-B6EB-4412A0288275}"/>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The maths behind 'readable'</a:t>
            </a:r>
          </a:p>
        </p:txBody>
      </p:sp>
      <p:sp>
        <p:nvSpPr>
          <p:cNvPr id="6" name="">
            <a:extLst xmlns:a="http://schemas.openxmlformats.org/drawingml/2006/main">
              <a:ext uri="{FF2B5EF4-FFF2-40B4-BE49-F238E27FC236}">
                <a16:creationId xmlns:a16="http://schemas.microsoft.com/office/drawing/2014/main" id="{BA75DEFF-AA2F-4B63-9269-252828F740D7}"/>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E8C050-2A0B-4A25-8BBF-90C87AC5BD63}"/>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1114F3EE-75DB-413B-8FD5-BE8AEE6CA052}"/>
              </a:ext>
            </a:extLst>
          </p:cNvPr>
          <p:cNvSpPr>
            <a:spLocks xmlns:a="http://schemas.openxmlformats.org/drawingml/2006/main" noGrp="1"/>
          </p:cNvSpPr>
          <p:nvPr/>
        </p:nvSpPr>
        <p:spPr>
          <a:xfrm xmlns:a="http://schemas.openxmlformats.org/drawingml/2006/main">
            <a:off x="533400" y="2000250"/>
            <a:ext cx="104775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6131"/>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Relative luminance (per sRGB channel c in [0,1]):</a:t>
            </a:r>
          </a:p>
        </p:txBody>
      </p:sp>
      <p:sp>
        <p:nvSpPr>
          <p:cNvPr id="9" name="">
            <a:extLst xmlns:a="http://schemas.openxmlformats.org/drawingml/2006/main">
              <a:ext uri="{FF2B5EF4-FFF2-40B4-BE49-F238E27FC236}">
                <a16:creationId xmlns:a16="http://schemas.microsoft.com/office/drawing/2014/main" id="{9CC87CF7-D218-48B7-A562-352F5220D120}"/>
              </a:ext>
            </a:extLst>
          </p:cNvPr>
          <p:cNvSpPr>
            <a:spLocks xmlns:a="http://schemas.openxmlformats.org/drawingml/2006/main" noGrp="1"/>
          </p:cNvSpPr>
          <p:nvPr/>
        </p:nvSpPr>
        <p:spPr>
          <a:xfrm xmlns:a="http://schemas.openxmlformats.org/drawingml/2006/main">
            <a:off x="533400" y="2324100"/>
            <a:ext cx="11125200" cy="1047750"/>
          </a:xfrm>
          <a:prstGeom xmlns:a="http://schemas.openxmlformats.org/drawingml/2006/main" prst="roundRect">
            <a:avLst>
              <a:gd name="adj" fmla="val 10909"/>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EAF1F4"/>
                </a:solidFill>
                <a:latin typeface="Courier New"/>
                <a:ea typeface="Courier New"/>
                <a:cs typeface="Courier New"/>
              </a:defRPr>
            </a:pPr>
            <a:r>
              <a:rPr sz="1200" b="0">
                <a:solidFill>
                  <a:srgbClr val="EAF1F4"/>
                </a:solidFill>
                <a:latin typeface="Courier New"/>
                <a:ea typeface="Courier New"/>
                <a:cs typeface="Courier New"/>
              </a:rPr>
              <a:t>c_lin = c / 12.92                          if c &lt;= 0.03928</a:t>
            </a:r>
          </a:p>
          <a:p xmlns:a="http://schemas.openxmlformats.org/drawingml/2006/main">
            <a:pPr>
              <a:defRPr sz="1200" b="0">
                <a:solidFill>
                  <a:srgbClr val="EAF1F4"/>
                </a:solidFill>
                <a:latin typeface="Courier New"/>
                <a:ea typeface="Courier New"/>
                <a:cs typeface="Courier New"/>
              </a:defRPr>
            </a:pPr>
            <a:r>
              <a:rPr sz="1200" b="0">
                <a:solidFill>
                  <a:srgbClr val="EAF1F4"/>
                </a:solidFill>
                <a:latin typeface="Courier New"/>
                <a:ea typeface="Courier New"/>
                <a:cs typeface="Courier New"/>
              </a:rPr>
              <a:t>c_lin = ((c + 0.055) / 1.055) ^ 2.4        otherwise</a:t>
            </a:r>
          </a:p>
          <a:p xmlns:a="http://schemas.openxmlformats.org/drawingml/2006/main">
            <a:r>
              <a:t/>
            </a:r>
          </a:p>
          <a:p xmlns:a="http://schemas.openxmlformats.org/drawingml/2006/main">
            <a:pPr>
              <a:defRPr sz="1200" b="0">
                <a:solidFill>
                  <a:srgbClr val="EAF1F4"/>
                </a:solidFill>
                <a:latin typeface="Courier New"/>
                <a:ea typeface="Courier New"/>
                <a:cs typeface="Courier New"/>
              </a:defRPr>
            </a:pPr>
            <a:r>
              <a:rPr sz="1200" b="0">
                <a:solidFill>
                  <a:srgbClr val="EAF1F4"/>
                </a:solidFill>
                <a:latin typeface="Courier New"/>
                <a:ea typeface="Courier New"/>
                <a:cs typeface="Courier New"/>
              </a:rPr>
              <a:t>L = 0.2126*R_lin + 0.7152*G_lin + 0.0722*B_lin</a:t>
            </a:r>
          </a:p>
        </p:txBody>
      </p:sp>
      <p:sp>
        <p:nvSpPr>
          <p:cNvPr id="10" name="">
            <a:extLst xmlns:a="http://schemas.openxmlformats.org/drawingml/2006/main">
              <a:ext uri="{FF2B5EF4-FFF2-40B4-BE49-F238E27FC236}">
                <a16:creationId xmlns:a16="http://schemas.microsoft.com/office/drawing/2014/main" id="{4B7D09D8-647F-4590-B282-5BBBAE4F71B9}"/>
              </a:ext>
            </a:extLst>
          </p:cNvPr>
          <p:cNvSpPr>
            <a:spLocks xmlns:a="http://schemas.openxmlformats.org/drawingml/2006/main" noGrp="1"/>
          </p:cNvSpPr>
          <p:nvPr/>
        </p:nvSpPr>
        <p:spPr>
          <a:xfrm xmlns:a="http://schemas.openxmlformats.org/drawingml/2006/main">
            <a:off x="533400" y="3543300"/>
            <a:ext cx="104775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6131"/>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Contrast ratio between the lighter and darker of two colours:</a:t>
            </a:r>
          </a:p>
        </p:txBody>
      </p:sp>
      <p:sp>
        <p:nvSpPr>
          <p:cNvPr id="11" name="">
            <a:extLst xmlns:a="http://schemas.openxmlformats.org/drawingml/2006/main">
              <a:ext uri="{FF2B5EF4-FFF2-40B4-BE49-F238E27FC236}">
                <a16:creationId xmlns:a16="http://schemas.microsoft.com/office/drawing/2014/main" id="{6BC1CB2F-FCF4-4DFA-A112-661B55D230BE}"/>
              </a:ext>
            </a:extLst>
          </p:cNvPr>
          <p:cNvSpPr>
            <a:spLocks xmlns:a="http://schemas.openxmlformats.org/drawingml/2006/main" noGrp="1"/>
          </p:cNvSpPr>
          <p:nvPr/>
        </p:nvSpPr>
        <p:spPr>
          <a:xfrm xmlns:a="http://schemas.openxmlformats.org/drawingml/2006/main">
            <a:off x="533400" y="3848100"/>
            <a:ext cx="11125200" cy="533400"/>
          </a:xfrm>
          <a:prstGeom xmlns:a="http://schemas.openxmlformats.org/drawingml/2006/main" prst="roundRect">
            <a:avLst>
              <a:gd name="adj" fmla="val 21429"/>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EAF1F4"/>
                </a:solidFill>
                <a:latin typeface="Courier New"/>
                <a:ea typeface="Courier New"/>
                <a:cs typeface="Courier New"/>
              </a:defRPr>
            </a:pPr>
            <a:r>
              <a:rPr sz="1200" b="0">
                <a:solidFill>
                  <a:srgbClr val="EAF1F4"/>
                </a:solidFill>
                <a:latin typeface="Courier New"/>
                <a:ea typeface="Courier New"/>
                <a:cs typeface="Courier New"/>
              </a:rPr>
              <a:t>contrast = (L_lighter + 0.05) / (L_darker + 0.05)</a:t>
            </a:r>
          </a:p>
        </p:txBody>
      </p:sp>
      <p:sp>
        <p:nvSpPr>
          <p:cNvPr id="12" name="">
            <a:extLst xmlns:a="http://schemas.openxmlformats.org/drawingml/2006/main">
              <a:ext uri="{FF2B5EF4-FFF2-40B4-BE49-F238E27FC236}">
                <a16:creationId xmlns:a16="http://schemas.microsoft.com/office/drawing/2014/main" id="{9073D85B-F4E2-47E7-8132-01972814F73D}"/>
              </a:ext>
            </a:extLst>
          </p:cNvPr>
          <p:cNvSpPr>
            <a:spLocks xmlns:a="http://schemas.openxmlformats.org/drawingml/2006/main" noGrp="1"/>
          </p:cNvSpPr>
          <p:nvPr/>
        </p:nvSpPr>
        <p:spPr>
          <a:xfrm xmlns:a="http://schemas.openxmlformats.org/drawingml/2006/main">
            <a:off x="533400" y="4610100"/>
            <a:ext cx="53911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D3F90F71-1067-47F5-9ECD-D60B6D707CAE}"/>
              </a:ext>
            </a:extLst>
          </p:cNvPr>
          <p:cNvSpPr>
            <a:spLocks xmlns:a="http://schemas.openxmlformats.org/drawingml/2006/main" noGrp="1"/>
          </p:cNvSpPr>
          <p:nvPr/>
        </p:nvSpPr>
        <p:spPr>
          <a:xfrm xmlns:a="http://schemas.openxmlformats.org/drawingml/2006/main">
            <a:off x="533400" y="46101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3E47CB3-B2E9-4C13-A80B-981BECBEE18C}"/>
              </a:ext>
            </a:extLst>
          </p:cNvPr>
          <p:cNvSpPr>
            <a:spLocks xmlns:a="http://schemas.openxmlformats.org/drawingml/2006/main" noGrp="1"/>
          </p:cNvSpPr>
          <p:nvPr/>
        </p:nvSpPr>
        <p:spPr>
          <a:xfrm xmlns:a="http://schemas.openxmlformats.org/drawingml/2006/main">
            <a:off x="762000" y="476250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4.5 : 1</a:t>
            </a:r>
          </a:p>
        </p:txBody>
      </p:sp>
      <p:sp>
        <p:nvSpPr>
          <p:cNvPr id="15" name="">
            <a:extLst xmlns:a="http://schemas.openxmlformats.org/drawingml/2006/main">
              <a:ext uri="{FF2B5EF4-FFF2-40B4-BE49-F238E27FC236}">
                <a16:creationId xmlns:a16="http://schemas.microsoft.com/office/drawing/2014/main" id="{3A6DA9C5-A537-4A89-8D39-EBDD61C23035}"/>
              </a:ext>
            </a:extLst>
          </p:cNvPr>
          <p:cNvSpPr>
            <a:spLocks xmlns:a="http://schemas.openxmlformats.org/drawingml/2006/main" noGrp="1"/>
          </p:cNvSpPr>
          <p:nvPr/>
        </p:nvSpPr>
        <p:spPr>
          <a:xfrm xmlns:a="http://schemas.openxmlformats.org/drawingml/2006/main">
            <a:off x="762000" y="5067300"/>
            <a:ext cx="497205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Minimum for normal body text (WCAG 2.1, SC 1.4.3).</a:t>
            </a:r>
          </a:p>
        </p:txBody>
      </p:sp>
      <p:sp>
        <p:nvSpPr>
          <p:cNvPr id="16" name="">
            <a:extLst xmlns:a="http://schemas.openxmlformats.org/drawingml/2006/main">
              <a:ext uri="{FF2B5EF4-FFF2-40B4-BE49-F238E27FC236}">
                <a16:creationId xmlns:a16="http://schemas.microsoft.com/office/drawing/2014/main" id="{21E301D4-AEA8-4D4F-9525-F94C3525A8EC}"/>
              </a:ext>
            </a:extLst>
          </p:cNvPr>
          <p:cNvSpPr>
            <a:spLocks xmlns:a="http://schemas.openxmlformats.org/drawingml/2006/main" noGrp="1"/>
          </p:cNvSpPr>
          <p:nvPr/>
        </p:nvSpPr>
        <p:spPr>
          <a:xfrm xmlns:a="http://schemas.openxmlformats.org/drawingml/2006/main">
            <a:off x="6153150" y="4610100"/>
            <a:ext cx="55054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7" name="">
            <a:extLst xmlns:a="http://schemas.openxmlformats.org/drawingml/2006/main">
              <a:ext uri="{FF2B5EF4-FFF2-40B4-BE49-F238E27FC236}">
                <a16:creationId xmlns:a16="http://schemas.microsoft.com/office/drawing/2014/main" id="{C4BB19B7-6F36-48AC-A3C7-E7AA62FB5ABA}"/>
              </a:ext>
            </a:extLst>
          </p:cNvPr>
          <p:cNvSpPr>
            <a:spLocks xmlns:a="http://schemas.openxmlformats.org/drawingml/2006/main" noGrp="1"/>
          </p:cNvSpPr>
          <p:nvPr/>
        </p:nvSpPr>
        <p:spPr>
          <a:xfrm xmlns:a="http://schemas.openxmlformats.org/drawingml/2006/main">
            <a:off x="6153150" y="46101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7E059ED-7BDE-44F7-985D-F4CDC3CF6FC6}"/>
              </a:ext>
            </a:extLst>
          </p:cNvPr>
          <p:cNvSpPr>
            <a:spLocks xmlns:a="http://schemas.openxmlformats.org/drawingml/2006/main" noGrp="1"/>
          </p:cNvSpPr>
          <p:nvPr/>
        </p:nvSpPr>
        <p:spPr>
          <a:xfrm xmlns:a="http://schemas.openxmlformats.org/drawingml/2006/main">
            <a:off x="6381750" y="476250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3 : 1</a:t>
            </a:r>
          </a:p>
        </p:txBody>
      </p:sp>
      <p:sp>
        <p:nvSpPr>
          <p:cNvPr id="19" name="">
            <a:extLst xmlns:a="http://schemas.openxmlformats.org/drawingml/2006/main">
              <a:ext uri="{FF2B5EF4-FFF2-40B4-BE49-F238E27FC236}">
                <a16:creationId xmlns:a16="http://schemas.microsoft.com/office/drawing/2014/main" id="{5659AB81-271B-4DF4-AF80-7139AD873528}"/>
              </a:ext>
            </a:extLst>
          </p:cNvPr>
          <p:cNvSpPr>
            <a:spLocks xmlns:a="http://schemas.openxmlformats.org/drawingml/2006/main" noGrp="1"/>
          </p:cNvSpPr>
          <p:nvPr/>
        </p:nvSpPr>
        <p:spPr>
          <a:xfrm xmlns:a="http://schemas.openxmlformats.org/drawingml/2006/main">
            <a:off x="6381750" y="5067300"/>
            <a:ext cx="508635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Minimum for large text (18pt, or 14pt bold) and for UI components / graphical objects (SC 1.4.11).</a:t>
            </a:r>
          </a:p>
        </p:txBody>
      </p:sp>
    </p:spTree>
    <p:extLst>
      <p:ext uri="{BB962C8B-B14F-4D97-AF65-F5344CB8AC3E}">
        <p14:creationId xmlns:p14="http://schemas.microsoft.com/office/powerpoint/2010/main" val="208761176"/>
      </p:ext>
    </p:extLst>
  </p:cSld>
</p:sld>
</file>

<file path=ppt/slides/slide8.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CEDFF03-8EDF-447E-B5FB-8BC8A69344D7}"/>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727C35-08F1-41E9-AAE2-0EFED99C3EC2}"/>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3693F2D8-64E8-4002-A2C2-28956B562FC2}"/>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61AE9007-E6C5-45B4-A751-8A6F468D7B97}"/>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Contrast, worked</a:t>
            </a:r>
          </a:p>
        </p:txBody>
      </p:sp>
      <p:sp>
        <p:nvSpPr>
          <p:cNvPr id="5" name="">
            <a:extLst xmlns:a="http://schemas.openxmlformats.org/drawingml/2006/main">
              <a:ext uri="{FF2B5EF4-FFF2-40B4-BE49-F238E27FC236}">
                <a16:creationId xmlns:a16="http://schemas.microsoft.com/office/drawing/2014/main" id="{1FEB6254-3AD2-4266-A6DE-D1B974A8D2BE}"/>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Which token pairs actually pass?</a:t>
            </a:r>
          </a:p>
        </p:txBody>
      </p:sp>
      <p:sp>
        <p:nvSpPr>
          <p:cNvPr id="6" name="">
            <a:extLst xmlns:a="http://schemas.openxmlformats.org/drawingml/2006/main">
              <a:ext uri="{FF2B5EF4-FFF2-40B4-BE49-F238E27FC236}">
                <a16:creationId xmlns:a16="http://schemas.microsoft.com/office/drawing/2014/main" id="{8D1D14EC-3F88-4155-982A-1D23F5BDD2AC}"/>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37ABEC-18A0-4E58-8ABA-8CB2B6F7B712}"/>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66099186-DE8E-48AC-96CB-78946C621FF5}"/>
              </a:ext>
            </a:extLst>
          </p:cNvPr>
          <p:cNvSpPr>
            <a:spLocks xmlns:a="http://schemas.openxmlformats.org/drawingml/2006/main" noGrp="1"/>
          </p:cNvSpPr>
          <p:nvPr/>
        </p:nvSpPr>
        <p:spPr>
          <a:xfrm xmlns:a="http://schemas.openxmlformats.org/drawingml/2006/main">
            <a:off x="533400" y="2000250"/>
            <a:ext cx="11125200" cy="323850"/>
          </a:xfrm>
          <a:prstGeom xmlns:a="http://schemas.openxmlformats.org/drawingml/2006/main" prst="roundRect">
            <a:avLst>
              <a:gd name="adj" fmla="val 35294"/>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BADE2D-F346-4502-B647-94BDB9DB9C5A}"/>
              </a:ext>
            </a:extLst>
          </p:cNvPr>
          <p:cNvSpPr>
            <a:spLocks xmlns:a="http://schemas.openxmlformats.org/drawingml/2006/main" noGrp="1"/>
          </p:cNvSpPr>
          <p:nvPr/>
        </p:nvSpPr>
        <p:spPr>
          <a:xfrm xmlns:a="http://schemas.openxmlformats.org/drawingml/2006/main">
            <a:off x="628650" y="205740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Pairing</a:t>
            </a:r>
          </a:p>
        </p:txBody>
      </p:sp>
      <p:sp>
        <p:nvSpPr>
          <p:cNvPr id="10" name="">
            <a:extLst xmlns:a="http://schemas.openxmlformats.org/drawingml/2006/main">
              <a:ext uri="{FF2B5EF4-FFF2-40B4-BE49-F238E27FC236}">
                <a16:creationId xmlns:a16="http://schemas.microsoft.com/office/drawing/2014/main" id="{C81FB0A2-222D-45C6-88CF-F6E868FCD12B}"/>
              </a:ext>
            </a:extLst>
          </p:cNvPr>
          <p:cNvSpPr>
            <a:spLocks xmlns:a="http://schemas.openxmlformats.org/drawingml/2006/main" noGrp="1"/>
          </p:cNvSpPr>
          <p:nvPr/>
        </p:nvSpPr>
        <p:spPr>
          <a:xfrm xmlns:a="http://schemas.openxmlformats.org/drawingml/2006/main">
            <a:off x="4629150" y="205740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Ratio</a:t>
            </a:r>
          </a:p>
        </p:txBody>
      </p:sp>
      <p:sp>
        <p:nvSpPr>
          <p:cNvPr id="11" name="">
            <a:extLst xmlns:a="http://schemas.openxmlformats.org/drawingml/2006/main">
              <a:ext uri="{FF2B5EF4-FFF2-40B4-BE49-F238E27FC236}">
                <a16:creationId xmlns:a16="http://schemas.microsoft.com/office/drawing/2014/main" id="{8D10F3B8-10A5-4EE2-806B-F81555C563BB}"/>
              </a:ext>
            </a:extLst>
          </p:cNvPr>
          <p:cNvSpPr>
            <a:spLocks xmlns:a="http://schemas.openxmlformats.org/drawingml/2006/main" noGrp="1"/>
          </p:cNvSpPr>
          <p:nvPr/>
        </p:nvSpPr>
        <p:spPr>
          <a:xfrm xmlns:a="http://schemas.openxmlformats.org/drawingml/2006/main">
            <a:off x="6153150" y="205740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4.5:1 text</a:t>
            </a:r>
          </a:p>
        </p:txBody>
      </p:sp>
      <p:sp>
        <p:nvSpPr>
          <p:cNvPr id="12" name="">
            <a:extLst xmlns:a="http://schemas.openxmlformats.org/drawingml/2006/main">
              <a:ext uri="{FF2B5EF4-FFF2-40B4-BE49-F238E27FC236}">
                <a16:creationId xmlns:a16="http://schemas.microsoft.com/office/drawing/2014/main" id="{598D2B30-D4BC-49B2-BA04-D05B5504133F}"/>
              </a:ext>
            </a:extLst>
          </p:cNvPr>
          <p:cNvSpPr>
            <a:spLocks xmlns:a="http://schemas.openxmlformats.org/drawingml/2006/main" noGrp="1"/>
          </p:cNvSpPr>
          <p:nvPr/>
        </p:nvSpPr>
        <p:spPr>
          <a:xfrm xmlns:a="http://schemas.openxmlformats.org/drawingml/2006/main">
            <a:off x="8439150" y="205740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3:1 large/UI</a:t>
            </a:r>
          </a:p>
        </p:txBody>
      </p:sp>
      <p:sp>
        <p:nvSpPr>
          <p:cNvPr id="13" name="">
            <a:extLst xmlns:a="http://schemas.openxmlformats.org/drawingml/2006/main">
              <a:ext uri="{FF2B5EF4-FFF2-40B4-BE49-F238E27FC236}">
                <a16:creationId xmlns:a16="http://schemas.microsoft.com/office/drawing/2014/main" id="{6E8C59F0-FE06-43EA-8B4F-D0253726B857}"/>
              </a:ext>
            </a:extLst>
          </p:cNvPr>
          <p:cNvSpPr>
            <a:spLocks xmlns:a="http://schemas.openxmlformats.org/drawingml/2006/main" noGrp="1"/>
          </p:cNvSpPr>
          <p:nvPr/>
        </p:nvSpPr>
        <p:spPr>
          <a:xfrm xmlns:a="http://schemas.openxmlformats.org/drawingml/2006/main">
            <a:off x="628650" y="238125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ink text / cream bg</a:t>
            </a:r>
          </a:p>
        </p:txBody>
      </p:sp>
      <p:sp>
        <p:nvSpPr>
          <p:cNvPr id="14" name="">
            <a:extLst xmlns:a="http://schemas.openxmlformats.org/drawingml/2006/main">
              <a:ext uri="{FF2B5EF4-FFF2-40B4-BE49-F238E27FC236}">
                <a16:creationId xmlns:a16="http://schemas.microsoft.com/office/drawing/2014/main" id="{295463C8-1F02-4C0E-B3F1-EC3A6505DABE}"/>
              </a:ext>
            </a:extLst>
          </p:cNvPr>
          <p:cNvSpPr>
            <a:spLocks xmlns:a="http://schemas.openxmlformats.org/drawingml/2006/main" noGrp="1"/>
          </p:cNvSpPr>
          <p:nvPr/>
        </p:nvSpPr>
        <p:spPr>
          <a:xfrm xmlns:a="http://schemas.openxmlformats.org/drawingml/2006/main">
            <a:off x="4629150" y="238125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14.96:1</a:t>
            </a:r>
          </a:p>
        </p:txBody>
      </p:sp>
      <p:sp>
        <p:nvSpPr>
          <p:cNvPr id="15" name="">
            <a:extLst xmlns:a="http://schemas.openxmlformats.org/drawingml/2006/main">
              <a:ext uri="{FF2B5EF4-FFF2-40B4-BE49-F238E27FC236}">
                <a16:creationId xmlns:a16="http://schemas.microsoft.com/office/drawing/2014/main" id="{D0128114-4121-46A6-B43D-D5CBA45A71C5}"/>
              </a:ext>
            </a:extLst>
          </p:cNvPr>
          <p:cNvSpPr>
            <a:spLocks xmlns:a="http://schemas.openxmlformats.org/drawingml/2006/main" noGrp="1"/>
          </p:cNvSpPr>
          <p:nvPr/>
        </p:nvSpPr>
        <p:spPr>
          <a:xfrm xmlns:a="http://schemas.openxmlformats.org/drawingml/2006/main">
            <a:off x="6153150" y="238125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16" name="">
            <a:extLst xmlns:a="http://schemas.openxmlformats.org/drawingml/2006/main">
              <a:ext uri="{FF2B5EF4-FFF2-40B4-BE49-F238E27FC236}">
                <a16:creationId xmlns:a16="http://schemas.microsoft.com/office/drawing/2014/main" id="{A85D33C1-7F00-470B-B087-C58A2C2D4DDB}"/>
              </a:ext>
            </a:extLst>
          </p:cNvPr>
          <p:cNvSpPr>
            <a:spLocks xmlns:a="http://schemas.openxmlformats.org/drawingml/2006/main" noGrp="1"/>
          </p:cNvSpPr>
          <p:nvPr/>
        </p:nvSpPr>
        <p:spPr>
          <a:xfrm xmlns:a="http://schemas.openxmlformats.org/drawingml/2006/main">
            <a:off x="8439150" y="238125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17" name="">
            <a:extLst xmlns:a="http://schemas.openxmlformats.org/drawingml/2006/main">
              <a:ext uri="{FF2B5EF4-FFF2-40B4-BE49-F238E27FC236}">
                <a16:creationId xmlns:a16="http://schemas.microsoft.com/office/drawing/2014/main" id="{D8CDD30D-0AD7-440D-BE84-F012D234B0FB}"/>
              </a:ext>
            </a:extLst>
          </p:cNvPr>
          <p:cNvSpPr>
            <a:spLocks xmlns:a="http://schemas.openxmlformats.org/drawingml/2006/main" noGrp="1"/>
          </p:cNvSpPr>
          <p:nvPr/>
        </p:nvSpPr>
        <p:spPr>
          <a:xfrm xmlns:a="http://schemas.openxmlformats.org/drawingml/2006/main">
            <a:off x="533400" y="26384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83198F4-7207-4286-949C-404200800814}"/>
              </a:ext>
            </a:extLst>
          </p:cNvPr>
          <p:cNvSpPr>
            <a:spLocks xmlns:a="http://schemas.openxmlformats.org/drawingml/2006/main" noGrp="1"/>
          </p:cNvSpPr>
          <p:nvPr/>
        </p:nvSpPr>
        <p:spPr>
          <a:xfrm xmlns:a="http://schemas.openxmlformats.org/drawingml/2006/main">
            <a:off x="628650" y="270510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slate text / cream bg</a:t>
            </a:r>
          </a:p>
        </p:txBody>
      </p:sp>
      <p:sp>
        <p:nvSpPr>
          <p:cNvPr id="19" name="">
            <a:extLst xmlns:a="http://schemas.openxmlformats.org/drawingml/2006/main">
              <a:ext uri="{FF2B5EF4-FFF2-40B4-BE49-F238E27FC236}">
                <a16:creationId xmlns:a16="http://schemas.microsoft.com/office/drawing/2014/main" id="{094662DA-5580-4B3B-B6EA-134CBA9A68D8}"/>
              </a:ext>
            </a:extLst>
          </p:cNvPr>
          <p:cNvSpPr>
            <a:spLocks xmlns:a="http://schemas.openxmlformats.org/drawingml/2006/main" noGrp="1"/>
          </p:cNvSpPr>
          <p:nvPr/>
        </p:nvSpPr>
        <p:spPr>
          <a:xfrm xmlns:a="http://schemas.openxmlformats.org/drawingml/2006/main">
            <a:off x="4629150" y="270510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7.50:1</a:t>
            </a:r>
          </a:p>
        </p:txBody>
      </p:sp>
      <p:sp>
        <p:nvSpPr>
          <p:cNvPr id="20" name="">
            <a:extLst xmlns:a="http://schemas.openxmlformats.org/drawingml/2006/main">
              <a:ext uri="{FF2B5EF4-FFF2-40B4-BE49-F238E27FC236}">
                <a16:creationId xmlns:a16="http://schemas.microsoft.com/office/drawing/2014/main" id="{E6645999-1DA7-4BD2-9302-627AB33C3FB1}"/>
              </a:ext>
            </a:extLst>
          </p:cNvPr>
          <p:cNvSpPr>
            <a:spLocks xmlns:a="http://schemas.openxmlformats.org/drawingml/2006/main" noGrp="1"/>
          </p:cNvSpPr>
          <p:nvPr/>
        </p:nvSpPr>
        <p:spPr>
          <a:xfrm xmlns:a="http://schemas.openxmlformats.org/drawingml/2006/main">
            <a:off x="6153150" y="270510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21" name="">
            <a:extLst xmlns:a="http://schemas.openxmlformats.org/drawingml/2006/main">
              <a:ext uri="{FF2B5EF4-FFF2-40B4-BE49-F238E27FC236}">
                <a16:creationId xmlns:a16="http://schemas.microsoft.com/office/drawing/2014/main" id="{67841EE7-38D0-4AA5-AD59-7EB4108C3084}"/>
              </a:ext>
            </a:extLst>
          </p:cNvPr>
          <p:cNvSpPr>
            <a:spLocks xmlns:a="http://schemas.openxmlformats.org/drawingml/2006/main" noGrp="1"/>
          </p:cNvSpPr>
          <p:nvPr/>
        </p:nvSpPr>
        <p:spPr>
          <a:xfrm xmlns:a="http://schemas.openxmlformats.org/drawingml/2006/main">
            <a:off x="8439150" y="270510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22" name="">
            <a:extLst xmlns:a="http://schemas.openxmlformats.org/drawingml/2006/main">
              <a:ext uri="{FF2B5EF4-FFF2-40B4-BE49-F238E27FC236}">
                <a16:creationId xmlns:a16="http://schemas.microsoft.com/office/drawing/2014/main" id="{8A17F375-ECF5-4180-8746-25F0A4EBD394}"/>
              </a:ext>
            </a:extLst>
          </p:cNvPr>
          <p:cNvSpPr>
            <a:spLocks xmlns:a="http://schemas.openxmlformats.org/drawingml/2006/main" noGrp="1"/>
          </p:cNvSpPr>
          <p:nvPr/>
        </p:nvSpPr>
        <p:spPr>
          <a:xfrm xmlns:a="http://schemas.openxmlformats.org/drawingml/2006/main">
            <a:off x="533400" y="29622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D593268-73B3-43CD-81C9-95A4FD5E095B}"/>
              </a:ext>
            </a:extLst>
          </p:cNvPr>
          <p:cNvSpPr>
            <a:spLocks xmlns:a="http://schemas.openxmlformats.org/drawingml/2006/main" noGrp="1"/>
          </p:cNvSpPr>
          <p:nvPr/>
        </p:nvSpPr>
        <p:spPr>
          <a:xfrm xmlns:a="http://schemas.openxmlformats.org/drawingml/2006/main">
            <a:off x="628650" y="302895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gold text / ink bg</a:t>
            </a:r>
          </a:p>
        </p:txBody>
      </p:sp>
      <p:sp>
        <p:nvSpPr>
          <p:cNvPr id="24" name="">
            <a:extLst xmlns:a="http://schemas.openxmlformats.org/drawingml/2006/main">
              <a:ext uri="{FF2B5EF4-FFF2-40B4-BE49-F238E27FC236}">
                <a16:creationId xmlns:a16="http://schemas.microsoft.com/office/drawing/2014/main" id="{9DA7A25A-444A-4982-A72F-092465AC5EB7}"/>
              </a:ext>
            </a:extLst>
          </p:cNvPr>
          <p:cNvSpPr>
            <a:spLocks xmlns:a="http://schemas.openxmlformats.org/drawingml/2006/main" noGrp="1"/>
          </p:cNvSpPr>
          <p:nvPr/>
        </p:nvSpPr>
        <p:spPr>
          <a:xfrm xmlns:a="http://schemas.openxmlformats.org/drawingml/2006/main">
            <a:off x="4629150" y="302895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5.19:1</a:t>
            </a:r>
          </a:p>
        </p:txBody>
      </p:sp>
      <p:sp>
        <p:nvSpPr>
          <p:cNvPr id="25" name="">
            <a:extLst xmlns:a="http://schemas.openxmlformats.org/drawingml/2006/main">
              <a:ext uri="{FF2B5EF4-FFF2-40B4-BE49-F238E27FC236}">
                <a16:creationId xmlns:a16="http://schemas.microsoft.com/office/drawing/2014/main" id="{C34A9CF7-9A4A-4A97-8458-6C0A621B552E}"/>
              </a:ext>
            </a:extLst>
          </p:cNvPr>
          <p:cNvSpPr>
            <a:spLocks xmlns:a="http://schemas.openxmlformats.org/drawingml/2006/main" noGrp="1"/>
          </p:cNvSpPr>
          <p:nvPr/>
        </p:nvSpPr>
        <p:spPr>
          <a:xfrm xmlns:a="http://schemas.openxmlformats.org/drawingml/2006/main">
            <a:off x="6153150" y="302895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26" name="">
            <a:extLst xmlns:a="http://schemas.openxmlformats.org/drawingml/2006/main">
              <a:ext uri="{FF2B5EF4-FFF2-40B4-BE49-F238E27FC236}">
                <a16:creationId xmlns:a16="http://schemas.microsoft.com/office/drawing/2014/main" id="{749ADF2B-2339-454C-8401-864EAAA0B8F4}"/>
              </a:ext>
            </a:extLst>
          </p:cNvPr>
          <p:cNvSpPr>
            <a:spLocks xmlns:a="http://schemas.openxmlformats.org/drawingml/2006/main" noGrp="1"/>
          </p:cNvSpPr>
          <p:nvPr/>
        </p:nvSpPr>
        <p:spPr>
          <a:xfrm xmlns:a="http://schemas.openxmlformats.org/drawingml/2006/main">
            <a:off x="8439150" y="302895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27" name="">
            <a:extLst xmlns:a="http://schemas.openxmlformats.org/drawingml/2006/main">
              <a:ext uri="{FF2B5EF4-FFF2-40B4-BE49-F238E27FC236}">
                <a16:creationId xmlns:a16="http://schemas.microsoft.com/office/drawing/2014/main" id="{F0A09BE7-AAED-4344-A410-D28B0727C9DF}"/>
              </a:ext>
            </a:extLst>
          </p:cNvPr>
          <p:cNvSpPr>
            <a:spLocks xmlns:a="http://schemas.openxmlformats.org/drawingml/2006/main" noGrp="1"/>
          </p:cNvSpPr>
          <p:nvPr/>
        </p:nvSpPr>
        <p:spPr>
          <a:xfrm xmlns:a="http://schemas.openxmlformats.org/drawingml/2006/main">
            <a:off x="533400" y="32861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549B4F3-4871-4D0D-BF75-4ADC46075EB7}"/>
              </a:ext>
            </a:extLst>
          </p:cNvPr>
          <p:cNvSpPr>
            <a:spLocks xmlns:a="http://schemas.openxmlformats.org/drawingml/2006/main" noGrp="1"/>
          </p:cNvSpPr>
          <p:nvPr/>
        </p:nvSpPr>
        <p:spPr>
          <a:xfrm xmlns:a="http://schemas.openxmlformats.org/drawingml/2006/main">
            <a:off x="628650" y="335280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gold text / cream bg</a:t>
            </a:r>
          </a:p>
        </p:txBody>
      </p:sp>
      <p:sp>
        <p:nvSpPr>
          <p:cNvPr id="29" name="">
            <a:extLst xmlns:a="http://schemas.openxmlformats.org/drawingml/2006/main">
              <a:ext uri="{FF2B5EF4-FFF2-40B4-BE49-F238E27FC236}">
                <a16:creationId xmlns:a16="http://schemas.microsoft.com/office/drawing/2014/main" id="{B46F62F1-1AC5-4EC3-AB71-E8C8E75E2D83}"/>
              </a:ext>
            </a:extLst>
          </p:cNvPr>
          <p:cNvSpPr>
            <a:spLocks xmlns:a="http://schemas.openxmlformats.org/drawingml/2006/main" noGrp="1"/>
          </p:cNvSpPr>
          <p:nvPr/>
        </p:nvSpPr>
        <p:spPr>
          <a:xfrm xmlns:a="http://schemas.openxmlformats.org/drawingml/2006/main">
            <a:off x="4629150" y="335280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2.88:1</a:t>
            </a:r>
          </a:p>
        </p:txBody>
      </p:sp>
      <p:sp>
        <p:nvSpPr>
          <p:cNvPr id="30" name="">
            <a:extLst xmlns:a="http://schemas.openxmlformats.org/drawingml/2006/main">
              <a:ext uri="{FF2B5EF4-FFF2-40B4-BE49-F238E27FC236}">
                <a16:creationId xmlns:a16="http://schemas.microsoft.com/office/drawing/2014/main" id="{FF439B8C-591B-4334-BD68-4B5FF7798E3E}"/>
              </a:ext>
            </a:extLst>
          </p:cNvPr>
          <p:cNvSpPr>
            <a:spLocks xmlns:a="http://schemas.openxmlformats.org/drawingml/2006/main" noGrp="1"/>
          </p:cNvSpPr>
          <p:nvPr/>
        </p:nvSpPr>
        <p:spPr>
          <a:xfrm xmlns:a="http://schemas.openxmlformats.org/drawingml/2006/main">
            <a:off x="6153150" y="335280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A3341E"/>
                </a:solidFill>
                <a:latin typeface="Aptos"/>
                <a:ea typeface="Aptos"/>
                <a:cs typeface="Aptos"/>
              </a:defRPr>
            </a:pPr>
            <a:r>
              <a:rPr sz="1050" b="1">
                <a:solidFill>
                  <a:srgbClr val="A3341E"/>
                </a:solidFill>
                <a:latin typeface="Aptos"/>
                <a:ea typeface="Aptos"/>
                <a:cs typeface="Aptos"/>
              </a:rPr>
              <a:t>FAIL</a:t>
            </a:r>
          </a:p>
        </p:txBody>
      </p:sp>
      <p:sp>
        <p:nvSpPr>
          <p:cNvPr id="31" name="">
            <a:extLst xmlns:a="http://schemas.openxmlformats.org/drawingml/2006/main">
              <a:ext uri="{FF2B5EF4-FFF2-40B4-BE49-F238E27FC236}">
                <a16:creationId xmlns:a16="http://schemas.microsoft.com/office/drawing/2014/main" id="{D82DC7F2-0E43-4CAB-85D3-AD2CDCB487D5}"/>
              </a:ext>
            </a:extLst>
          </p:cNvPr>
          <p:cNvSpPr>
            <a:spLocks xmlns:a="http://schemas.openxmlformats.org/drawingml/2006/main" noGrp="1"/>
          </p:cNvSpPr>
          <p:nvPr/>
        </p:nvSpPr>
        <p:spPr>
          <a:xfrm xmlns:a="http://schemas.openxmlformats.org/drawingml/2006/main">
            <a:off x="8439150" y="335280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A3341E"/>
                </a:solidFill>
                <a:latin typeface="Aptos"/>
                <a:ea typeface="Aptos"/>
                <a:cs typeface="Aptos"/>
              </a:defRPr>
            </a:pPr>
            <a:r>
              <a:rPr sz="1050" b="1">
                <a:solidFill>
                  <a:srgbClr val="A3341E"/>
                </a:solidFill>
                <a:latin typeface="Aptos"/>
                <a:ea typeface="Aptos"/>
                <a:cs typeface="Aptos"/>
              </a:rPr>
              <a:t>FAIL</a:t>
            </a:r>
          </a:p>
        </p:txBody>
      </p:sp>
      <p:sp>
        <p:nvSpPr>
          <p:cNvPr id="32" name="">
            <a:extLst xmlns:a="http://schemas.openxmlformats.org/drawingml/2006/main">
              <a:ext uri="{FF2B5EF4-FFF2-40B4-BE49-F238E27FC236}">
                <a16:creationId xmlns:a16="http://schemas.microsoft.com/office/drawing/2014/main" id="{9C0AD456-BA5E-48F3-B42D-05738232D549}"/>
              </a:ext>
            </a:extLst>
          </p:cNvPr>
          <p:cNvSpPr>
            <a:spLocks xmlns:a="http://schemas.openxmlformats.org/drawingml/2006/main" noGrp="1"/>
          </p:cNvSpPr>
          <p:nvPr/>
        </p:nvSpPr>
        <p:spPr>
          <a:xfrm xmlns:a="http://schemas.openxmlformats.org/drawingml/2006/main">
            <a:off x="533400" y="36099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49B2DC9-C074-4B85-ADB1-EE1CA3D73962}"/>
              </a:ext>
            </a:extLst>
          </p:cNvPr>
          <p:cNvSpPr>
            <a:spLocks xmlns:a="http://schemas.openxmlformats.org/drawingml/2006/main" noGrp="1"/>
          </p:cNvSpPr>
          <p:nvPr/>
        </p:nvSpPr>
        <p:spPr>
          <a:xfrm xmlns:a="http://schemas.openxmlformats.org/drawingml/2006/main">
            <a:off x="628650" y="367665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gold icon/border / white bg</a:t>
            </a:r>
          </a:p>
        </p:txBody>
      </p:sp>
      <p:sp>
        <p:nvSpPr>
          <p:cNvPr id="34" name="">
            <a:extLst xmlns:a="http://schemas.openxmlformats.org/drawingml/2006/main">
              <a:ext uri="{FF2B5EF4-FFF2-40B4-BE49-F238E27FC236}">
                <a16:creationId xmlns:a16="http://schemas.microsoft.com/office/drawing/2014/main" id="{E95A38EB-091B-4F47-A191-72DACA899FD2}"/>
              </a:ext>
            </a:extLst>
          </p:cNvPr>
          <p:cNvSpPr>
            <a:spLocks xmlns:a="http://schemas.openxmlformats.org/drawingml/2006/main" noGrp="1"/>
          </p:cNvSpPr>
          <p:nvPr/>
        </p:nvSpPr>
        <p:spPr>
          <a:xfrm xmlns:a="http://schemas.openxmlformats.org/drawingml/2006/main">
            <a:off x="4629150" y="367665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3.14:1</a:t>
            </a:r>
          </a:p>
        </p:txBody>
      </p:sp>
      <p:sp>
        <p:nvSpPr>
          <p:cNvPr id="35" name="">
            <a:extLst xmlns:a="http://schemas.openxmlformats.org/drawingml/2006/main">
              <a:ext uri="{FF2B5EF4-FFF2-40B4-BE49-F238E27FC236}">
                <a16:creationId xmlns:a16="http://schemas.microsoft.com/office/drawing/2014/main" id="{8057192C-810E-40DB-B5D0-78398E29B4F1}"/>
              </a:ext>
            </a:extLst>
          </p:cNvPr>
          <p:cNvSpPr>
            <a:spLocks xmlns:a="http://schemas.openxmlformats.org/drawingml/2006/main" noGrp="1"/>
          </p:cNvSpPr>
          <p:nvPr/>
        </p:nvSpPr>
        <p:spPr>
          <a:xfrm xmlns:a="http://schemas.openxmlformats.org/drawingml/2006/main">
            <a:off x="6153150" y="367665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A3341E"/>
                </a:solidFill>
                <a:latin typeface="Aptos"/>
                <a:ea typeface="Aptos"/>
                <a:cs typeface="Aptos"/>
              </a:defRPr>
            </a:pPr>
            <a:r>
              <a:rPr sz="1050" b="1">
                <a:solidFill>
                  <a:srgbClr val="A3341E"/>
                </a:solidFill>
                <a:latin typeface="Aptos"/>
                <a:ea typeface="Aptos"/>
                <a:cs typeface="Aptos"/>
              </a:rPr>
              <a:t>FAIL</a:t>
            </a:r>
          </a:p>
        </p:txBody>
      </p:sp>
      <p:sp>
        <p:nvSpPr>
          <p:cNvPr id="36" name="">
            <a:extLst xmlns:a="http://schemas.openxmlformats.org/drawingml/2006/main">
              <a:ext uri="{FF2B5EF4-FFF2-40B4-BE49-F238E27FC236}">
                <a16:creationId xmlns:a16="http://schemas.microsoft.com/office/drawing/2014/main" id="{1E4E0517-EEEB-40A0-90C1-37E844073D0B}"/>
              </a:ext>
            </a:extLst>
          </p:cNvPr>
          <p:cNvSpPr>
            <a:spLocks xmlns:a="http://schemas.openxmlformats.org/drawingml/2006/main" noGrp="1"/>
          </p:cNvSpPr>
          <p:nvPr/>
        </p:nvSpPr>
        <p:spPr>
          <a:xfrm xmlns:a="http://schemas.openxmlformats.org/drawingml/2006/main">
            <a:off x="8439150" y="367665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2E6B3E"/>
                </a:solidFill>
                <a:latin typeface="Aptos"/>
                <a:ea typeface="Aptos"/>
                <a:cs typeface="Aptos"/>
              </a:defRPr>
            </a:pPr>
            <a:r>
              <a:rPr sz="1050" b="1">
                <a:solidFill>
                  <a:srgbClr val="2E6B3E"/>
                </a:solidFill>
                <a:latin typeface="Aptos"/>
                <a:ea typeface="Aptos"/>
                <a:cs typeface="Aptos"/>
              </a:rPr>
              <a:t>PASS</a:t>
            </a:r>
          </a:p>
        </p:txBody>
      </p:sp>
      <p:sp>
        <p:nvSpPr>
          <p:cNvPr id="37" name="">
            <a:extLst xmlns:a="http://schemas.openxmlformats.org/drawingml/2006/main">
              <a:ext uri="{FF2B5EF4-FFF2-40B4-BE49-F238E27FC236}">
                <a16:creationId xmlns:a16="http://schemas.microsoft.com/office/drawing/2014/main" id="{495EC006-C35B-464F-B07F-C12358813380}"/>
              </a:ext>
            </a:extLst>
          </p:cNvPr>
          <p:cNvSpPr>
            <a:spLocks xmlns:a="http://schemas.openxmlformats.org/drawingml/2006/main" noGrp="1"/>
          </p:cNvSpPr>
          <p:nvPr/>
        </p:nvSpPr>
        <p:spPr>
          <a:xfrm xmlns:a="http://schemas.openxmlformats.org/drawingml/2006/main">
            <a:off x="533400" y="39338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2DFF8838-3143-4433-9C5C-722254F55B95}"/>
              </a:ext>
            </a:extLst>
          </p:cNvPr>
          <p:cNvSpPr>
            <a:spLocks xmlns:a="http://schemas.openxmlformats.org/drawingml/2006/main" noGrp="1"/>
          </p:cNvSpPr>
          <p:nvPr/>
        </p:nvSpPr>
        <p:spPr>
          <a:xfrm xmlns:a="http://schemas.openxmlformats.org/drawingml/2006/main">
            <a:off x="628650" y="4000500"/>
            <a:ext cx="38481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slate text / ink bg</a:t>
            </a:r>
          </a:p>
        </p:txBody>
      </p:sp>
      <p:sp>
        <p:nvSpPr>
          <p:cNvPr id="39" name="">
            <a:extLst xmlns:a="http://schemas.openxmlformats.org/drawingml/2006/main">
              <a:ext uri="{FF2B5EF4-FFF2-40B4-BE49-F238E27FC236}">
                <a16:creationId xmlns:a16="http://schemas.microsoft.com/office/drawing/2014/main" id="{4B01066D-861F-4926-8432-A22520F67D02}"/>
              </a:ext>
            </a:extLst>
          </p:cNvPr>
          <p:cNvSpPr>
            <a:spLocks xmlns:a="http://schemas.openxmlformats.org/drawingml/2006/main" noGrp="1"/>
          </p:cNvSpPr>
          <p:nvPr/>
        </p:nvSpPr>
        <p:spPr>
          <a:xfrm xmlns:a="http://schemas.openxmlformats.org/drawingml/2006/main">
            <a:off x="4629150" y="4000500"/>
            <a:ext cx="1371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2.00:1</a:t>
            </a:r>
          </a:p>
        </p:txBody>
      </p:sp>
      <p:sp>
        <p:nvSpPr>
          <p:cNvPr id="40" name="">
            <a:extLst xmlns:a="http://schemas.openxmlformats.org/drawingml/2006/main">
              <a:ext uri="{FF2B5EF4-FFF2-40B4-BE49-F238E27FC236}">
                <a16:creationId xmlns:a16="http://schemas.microsoft.com/office/drawing/2014/main" id="{A24D7EDF-40EB-4612-A97E-C2332027F5CD}"/>
              </a:ext>
            </a:extLst>
          </p:cNvPr>
          <p:cNvSpPr>
            <a:spLocks xmlns:a="http://schemas.openxmlformats.org/drawingml/2006/main" noGrp="1"/>
          </p:cNvSpPr>
          <p:nvPr/>
        </p:nvSpPr>
        <p:spPr>
          <a:xfrm xmlns:a="http://schemas.openxmlformats.org/drawingml/2006/main">
            <a:off x="6153150" y="4000500"/>
            <a:ext cx="21336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A3341E"/>
                </a:solidFill>
                <a:latin typeface="Aptos"/>
                <a:ea typeface="Aptos"/>
                <a:cs typeface="Aptos"/>
              </a:defRPr>
            </a:pPr>
            <a:r>
              <a:rPr sz="1050" b="1">
                <a:solidFill>
                  <a:srgbClr val="A3341E"/>
                </a:solidFill>
                <a:latin typeface="Aptos"/>
                <a:ea typeface="Aptos"/>
                <a:cs typeface="Aptos"/>
              </a:rPr>
              <a:t>FAIL</a:t>
            </a:r>
          </a:p>
        </p:txBody>
      </p:sp>
      <p:sp>
        <p:nvSpPr>
          <p:cNvPr id="41" name="">
            <a:extLst xmlns:a="http://schemas.openxmlformats.org/drawingml/2006/main">
              <a:ext uri="{FF2B5EF4-FFF2-40B4-BE49-F238E27FC236}">
                <a16:creationId xmlns:a16="http://schemas.microsoft.com/office/drawing/2014/main" id="{27C6A95D-21FB-4A2A-8BDC-75DCD8A97E41}"/>
              </a:ext>
            </a:extLst>
          </p:cNvPr>
          <p:cNvSpPr>
            <a:spLocks xmlns:a="http://schemas.openxmlformats.org/drawingml/2006/main" noGrp="1"/>
          </p:cNvSpPr>
          <p:nvPr/>
        </p:nvSpPr>
        <p:spPr>
          <a:xfrm xmlns:a="http://schemas.openxmlformats.org/drawingml/2006/main">
            <a:off x="8439150" y="4000500"/>
            <a:ext cx="31623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43873"/>
          </a:bodyPr>
          <a:lstStyle xmlns:a="http://schemas.openxmlformats.org/drawingml/2006/main"/>
          <a:p xmlns:a="http://schemas.openxmlformats.org/drawingml/2006/main">
            <a:pPr>
              <a:defRPr sz="1050" b="1">
                <a:solidFill>
                  <a:srgbClr val="A3341E"/>
                </a:solidFill>
                <a:latin typeface="Aptos"/>
                <a:ea typeface="Aptos"/>
                <a:cs typeface="Aptos"/>
              </a:defRPr>
            </a:pPr>
            <a:r>
              <a:rPr sz="1050" b="1">
                <a:solidFill>
                  <a:srgbClr val="A3341E"/>
                </a:solidFill>
                <a:latin typeface="Aptos"/>
                <a:ea typeface="Aptos"/>
                <a:cs typeface="Aptos"/>
              </a:rPr>
              <a:t>FAIL</a:t>
            </a:r>
          </a:p>
        </p:txBody>
      </p:sp>
      <p:sp>
        <p:nvSpPr>
          <p:cNvPr id="42" name="">
            <a:extLst xmlns:a="http://schemas.openxmlformats.org/drawingml/2006/main">
              <a:ext uri="{FF2B5EF4-FFF2-40B4-BE49-F238E27FC236}">
                <a16:creationId xmlns:a16="http://schemas.microsoft.com/office/drawing/2014/main" id="{47806F5F-50CD-4DB1-B367-06C32E8A2BC0}"/>
              </a:ext>
            </a:extLst>
          </p:cNvPr>
          <p:cNvSpPr>
            <a:spLocks xmlns:a="http://schemas.openxmlformats.org/drawingml/2006/main" noGrp="1"/>
          </p:cNvSpPr>
          <p:nvPr/>
        </p:nvSpPr>
        <p:spPr>
          <a:xfrm xmlns:a="http://schemas.openxmlformats.org/drawingml/2006/main">
            <a:off x="533400" y="42576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1872E8C-74E9-411F-A604-7F1C2E0AB037}"/>
              </a:ext>
            </a:extLst>
          </p:cNvPr>
          <p:cNvSpPr>
            <a:spLocks xmlns:a="http://schemas.openxmlformats.org/drawingml/2006/main" noGrp="1"/>
          </p:cNvSpPr>
          <p:nvPr/>
        </p:nvSpPr>
        <p:spPr>
          <a:xfrm xmlns:a="http://schemas.openxmlformats.org/drawingml/2006/main">
            <a:off x="533400" y="4419600"/>
            <a:ext cx="11125200" cy="1428750"/>
          </a:xfrm>
          <a:prstGeom xmlns:a="http://schemas.openxmlformats.org/drawingml/2006/main" prst="roundRect">
            <a:avLst>
              <a:gd name="adj" fmla="val 8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00" b="0">
                <a:solidFill>
                  <a:srgbClr val="43515D"/>
                </a:solidFill>
                <a:latin typeface="Aptos"/>
                <a:ea typeface="Aptos"/>
                <a:cs typeface="Aptos"/>
              </a:defRPr>
            </a:pPr>
            <a:r>
              <a:rPr sz="1200" b="0">
                <a:solidFill>
                  <a:srgbClr val="43515D"/>
                </a:solidFill>
                <a:latin typeface="Aptos"/>
                <a:ea typeface="Aptos"/>
                <a:cs typeface="Aptos"/>
              </a:rPr>
              <a:t>Finding: gold must never carry body text on cream (2.88:1). It is safe as text on ink (5.19:1), and safe as a large graphic/UI accent on white (3.14:1) — but not as white-background text.</a:t>
            </a:r>
          </a:p>
        </p:txBody>
      </p:sp>
    </p:spTree>
    <p:extLst>
      <p:ext uri="{BB962C8B-B14F-4D97-AF65-F5344CB8AC3E}">
        <p14:creationId xmlns:p14="http://schemas.microsoft.com/office/powerpoint/2010/main" val="1733240450"/>
      </p:ext>
    </p:extLst>
  </p:cSld>
</p:sld>
</file>

<file path=ppt/slides/slide9.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D78BA17-C4A1-4D85-9038-FFA4604B3035}"/>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4218B0-6097-4608-856D-C061A421BDDB}"/>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EF30F7D1-8F0F-4FBF-BD05-354F2B033CD8}"/>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7E5E13A8-F8BE-4EA5-87B0-C3F4AAC75F49}"/>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Colour-blindness pitfalls</a:t>
            </a:r>
          </a:p>
        </p:txBody>
      </p:sp>
      <p:sp>
        <p:nvSpPr>
          <p:cNvPr id="5" name="">
            <a:extLst xmlns:a="http://schemas.openxmlformats.org/drawingml/2006/main">
              <a:ext uri="{FF2B5EF4-FFF2-40B4-BE49-F238E27FC236}">
                <a16:creationId xmlns:a16="http://schemas.microsoft.com/office/drawing/2014/main" id="{E1EB856A-51B8-4AB3-AC22-0CB4C95BC5AD}"/>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Contrast is not colour vision</a:t>
            </a:r>
          </a:p>
        </p:txBody>
      </p:sp>
      <p:sp>
        <p:nvSpPr>
          <p:cNvPr id="6" name="">
            <a:extLst xmlns:a="http://schemas.openxmlformats.org/drawingml/2006/main">
              <a:ext uri="{FF2B5EF4-FFF2-40B4-BE49-F238E27FC236}">
                <a16:creationId xmlns:a16="http://schemas.microsoft.com/office/drawing/2014/main" id="{7A1839A6-3646-4E18-90AA-4683178784E2}"/>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223421A-91A2-467D-8F94-85E472229A90}"/>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32058f4778442a4"/>
          <a:srcRect xmlns:a="http://schemas.openxmlformats.org/drawingml/2006/main" l="0" t="0" r="0" b="0"/>
          <a:stretch xmlns:a="http://schemas.openxmlformats.org/drawingml/2006/main">
            <a:fillRect l="0" t="0" r="0" b="0"/>
          </a:stretch>
        </p:blipFill>
        <p:spPr>
          <a:xfrm xmlns:a="http://schemas.openxmlformats.org/drawingml/2006/main">
            <a:off x="533400" y="2000250"/>
            <a:ext cx="3810000" cy="3810000"/>
          </a:xfrm>
          <a:prstGeom xmlns:a="http://schemas.openxmlformats.org/drawingml/2006/main" prst="roundRect">
            <a:avLst>
              <a:gd name="adj" fmla="val 3000"/>
            </a:avLst>
          </a:prstGeom>
        </p:spPr>
      </p:pic>
      <p:sp>
        <p:nvSpPr>
          <p:cNvPr id="9" name="">
            <a:extLst xmlns:a="http://schemas.openxmlformats.org/drawingml/2006/main">
              <a:ext uri="{FF2B5EF4-FFF2-40B4-BE49-F238E27FC236}">
                <a16:creationId xmlns:a16="http://schemas.microsoft.com/office/drawing/2014/main" id="{243712EE-7408-4213-982A-7D6CAADD62A9}"/>
              </a:ext>
            </a:extLst>
          </p:cNvPr>
          <p:cNvSpPr>
            <a:spLocks xmlns:a="http://schemas.openxmlformats.org/drawingml/2006/main" noGrp="1"/>
          </p:cNvSpPr>
          <p:nvPr/>
        </p:nvSpPr>
        <p:spPr>
          <a:xfrm xmlns:a="http://schemas.openxmlformats.org/drawingml/2006/main">
            <a:off x="4648200" y="2000250"/>
            <a:ext cx="70104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1F8FCCD7-A6ED-4534-86A3-AAE1FCFFEE70}"/>
              </a:ext>
            </a:extLst>
          </p:cNvPr>
          <p:cNvSpPr>
            <a:spLocks xmlns:a="http://schemas.openxmlformats.org/drawingml/2006/main" noGrp="1"/>
          </p:cNvSpPr>
          <p:nvPr/>
        </p:nvSpPr>
        <p:spPr>
          <a:xfrm xmlns:a="http://schemas.openxmlformats.org/drawingml/2006/main">
            <a:off x="4648200" y="20002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BD59B76-50C3-422E-BC61-D0B193CC2B5B}"/>
              </a:ext>
            </a:extLst>
          </p:cNvPr>
          <p:cNvSpPr>
            <a:spLocks xmlns:a="http://schemas.openxmlformats.org/drawingml/2006/main" noGrp="1"/>
          </p:cNvSpPr>
          <p:nvPr/>
        </p:nvSpPr>
        <p:spPr>
          <a:xfrm xmlns:a="http://schemas.openxmlformats.org/drawingml/2006/main">
            <a:off x="4876800" y="2152650"/>
            <a:ext cx="65913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Protanopia / deuteranopia</a:t>
            </a:r>
          </a:p>
        </p:txBody>
      </p:sp>
      <p:sp>
        <p:nvSpPr>
          <p:cNvPr id="12" name="">
            <a:extLst xmlns:a="http://schemas.openxmlformats.org/drawingml/2006/main">
              <a:ext uri="{FF2B5EF4-FFF2-40B4-BE49-F238E27FC236}">
                <a16:creationId xmlns:a16="http://schemas.microsoft.com/office/drawing/2014/main" id="{4CA573E6-9389-44ED-8C74-8C9AE31BE99D}"/>
              </a:ext>
            </a:extLst>
          </p:cNvPr>
          <p:cNvSpPr>
            <a:spLocks xmlns:a="http://schemas.openxmlformats.org/drawingml/2006/main" noGrp="1"/>
          </p:cNvSpPr>
          <p:nvPr/>
        </p:nvSpPr>
        <p:spPr>
          <a:xfrm xmlns:a="http://schemas.openxmlformats.org/drawingml/2006/main">
            <a:off x="4876800" y="2457450"/>
            <a:ext cx="65913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Roughly 1 in 12 men and 1 in 200 women have reduced sensitivity to red or green. Red/green status pairs (error/success) can become indistinguishable.</a:t>
            </a:r>
          </a:p>
        </p:txBody>
      </p:sp>
      <p:sp>
        <p:nvSpPr>
          <p:cNvPr id="13" name="">
            <a:extLst xmlns:a="http://schemas.openxmlformats.org/drawingml/2006/main">
              <a:ext uri="{FF2B5EF4-FFF2-40B4-BE49-F238E27FC236}">
                <a16:creationId xmlns:a16="http://schemas.microsoft.com/office/drawing/2014/main" id="{5F3FB6FF-6BAC-4235-A242-3472BE8D7CA2}"/>
              </a:ext>
            </a:extLst>
          </p:cNvPr>
          <p:cNvSpPr>
            <a:spLocks xmlns:a="http://schemas.openxmlformats.org/drawingml/2006/main" noGrp="1"/>
          </p:cNvSpPr>
          <p:nvPr/>
        </p:nvSpPr>
        <p:spPr>
          <a:xfrm xmlns:a="http://schemas.openxmlformats.org/drawingml/2006/main">
            <a:off x="4648200" y="3390900"/>
            <a:ext cx="70104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4" name="">
            <a:extLst xmlns:a="http://schemas.openxmlformats.org/drawingml/2006/main">
              <a:ext uri="{FF2B5EF4-FFF2-40B4-BE49-F238E27FC236}">
                <a16:creationId xmlns:a16="http://schemas.microsoft.com/office/drawing/2014/main" id="{2DCF8467-7BCD-494D-9F9D-2D48E24DF8C0}"/>
              </a:ext>
            </a:extLst>
          </p:cNvPr>
          <p:cNvSpPr>
            <a:spLocks xmlns:a="http://schemas.openxmlformats.org/drawingml/2006/main" noGrp="1"/>
          </p:cNvSpPr>
          <p:nvPr/>
        </p:nvSpPr>
        <p:spPr>
          <a:xfrm xmlns:a="http://schemas.openxmlformats.org/drawingml/2006/main">
            <a:off x="4648200" y="33909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F6DE24B-058E-4000-84A9-7F9425F1709D}"/>
              </a:ext>
            </a:extLst>
          </p:cNvPr>
          <p:cNvSpPr>
            <a:spLocks xmlns:a="http://schemas.openxmlformats.org/drawingml/2006/main" noGrp="1"/>
          </p:cNvSpPr>
          <p:nvPr/>
        </p:nvSpPr>
        <p:spPr>
          <a:xfrm xmlns:a="http://schemas.openxmlformats.org/drawingml/2006/main">
            <a:off x="4876800" y="3543300"/>
            <a:ext cx="65913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The trap</a:t>
            </a:r>
          </a:p>
        </p:txBody>
      </p:sp>
      <p:sp>
        <p:nvSpPr>
          <p:cNvPr id="16" name="">
            <a:extLst xmlns:a="http://schemas.openxmlformats.org/drawingml/2006/main">
              <a:ext uri="{FF2B5EF4-FFF2-40B4-BE49-F238E27FC236}">
                <a16:creationId xmlns:a16="http://schemas.microsoft.com/office/drawing/2014/main" id="{AA012F2C-DD82-45B0-9565-3C033C865749}"/>
              </a:ext>
            </a:extLst>
          </p:cNvPr>
          <p:cNvSpPr>
            <a:spLocks xmlns:a="http://schemas.openxmlformats.org/drawingml/2006/main" noGrp="1"/>
          </p:cNvSpPr>
          <p:nvPr/>
        </p:nvSpPr>
        <p:spPr>
          <a:xfrm xmlns:a="http://schemas.openxmlformats.org/drawingml/2006/main">
            <a:off x="4876800" y="3848100"/>
            <a:ext cx="65913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A high WCAG contrast ratio only measures lightness difference. Red #C0392B and green #27AE60 can both pass 4.5:1 against white and still look identical to a deuteranope.</a:t>
            </a:r>
          </a:p>
        </p:txBody>
      </p:sp>
      <p:sp>
        <p:nvSpPr>
          <p:cNvPr id="17" name="">
            <a:extLst xmlns:a="http://schemas.openxmlformats.org/drawingml/2006/main">
              <a:ext uri="{FF2B5EF4-FFF2-40B4-BE49-F238E27FC236}">
                <a16:creationId xmlns:a16="http://schemas.microsoft.com/office/drawing/2014/main" id="{D892DD55-2B82-49F2-BF71-4E25000BB065}"/>
              </a:ext>
            </a:extLst>
          </p:cNvPr>
          <p:cNvSpPr>
            <a:spLocks xmlns:a="http://schemas.openxmlformats.org/drawingml/2006/main" noGrp="1"/>
          </p:cNvSpPr>
          <p:nvPr/>
        </p:nvSpPr>
        <p:spPr>
          <a:xfrm xmlns:a="http://schemas.openxmlformats.org/drawingml/2006/main">
            <a:off x="4648200" y="4781550"/>
            <a:ext cx="70104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8" name="">
            <a:extLst xmlns:a="http://schemas.openxmlformats.org/drawingml/2006/main">
              <a:ext uri="{FF2B5EF4-FFF2-40B4-BE49-F238E27FC236}">
                <a16:creationId xmlns:a16="http://schemas.microsoft.com/office/drawing/2014/main" id="{41FBB6A7-F955-447A-8C77-CF32B06E2021}"/>
              </a:ext>
            </a:extLst>
          </p:cNvPr>
          <p:cNvSpPr>
            <a:spLocks xmlns:a="http://schemas.openxmlformats.org/drawingml/2006/main" noGrp="1"/>
          </p:cNvSpPr>
          <p:nvPr/>
        </p:nvSpPr>
        <p:spPr>
          <a:xfrm xmlns:a="http://schemas.openxmlformats.org/drawingml/2006/main">
            <a:off x="4648200" y="47815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1ADC11-B69D-4757-80C8-C881480A6BB8}"/>
              </a:ext>
            </a:extLst>
          </p:cNvPr>
          <p:cNvSpPr>
            <a:spLocks xmlns:a="http://schemas.openxmlformats.org/drawingml/2006/main" noGrp="1"/>
          </p:cNvSpPr>
          <p:nvPr/>
        </p:nvSpPr>
        <p:spPr>
          <a:xfrm xmlns:a="http://schemas.openxmlformats.org/drawingml/2006/main">
            <a:off x="4876800" y="4933950"/>
            <a:ext cx="65913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The fix</a:t>
            </a:r>
          </a:p>
        </p:txBody>
      </p:sp>
      <p:sp>
        <p:nvSpPr>
          <p:cNvPr id="20" name="">
            <a:extLst xmlns:a="http://schemas.openxmlformats.org/drawingml/2006/main">
              <a:ext uri="{FF2B5EF4-FFF2-40B4-BE49-F238E27FC236}">
                <a16:creationId xmlns:a16="http://schemas.microsoft.com/office/drawing/2014/main" id="{27FFFD95-FF6A-4B94-9CFB-9DE9F19F9A2B}"/>
              </a:ext>
            </a:extLst>
          </p:cNvPr>
          <p:cNvSpPr>
            <a:spLocks xmlns:a="http://schemas.openxmlformats.org/drawingml/2006/main" noGrp="1"/>
          </p:cNvSpPr>
          <p:nvPr/>
        </p:nvSpPr>
        <p:spPr>
          <a:xfrm xmlns:a="http://schemas.openxmlformats.org/drawingml/2006/main">
            <a:off x="4876800" y="5238750"/>
            <a:ext cx="65913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Pair colour with a second channel: an icon, a pattern, an underline, or text ('Error:' / 'Saved') — never colour alone.</a:t>
            </a:r>
          </a:p>
        </p:txBody>
      </p:sp>
    </p:spTree>
    <p:extLst>
      <p:ext uri="{BB962C8B-B14F-4D97-AF65-F5344CB8AC3E}">
        <p14:creationId xmlns:p14="http://schemas.microsoft.com/office/powerpoint/2010/main" val="277009655"/>
      </p:ext>
    </p:extLst>
  </p:cSld>
</p:sld>
</file>

<file path=ppt/slides/slide10.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67914FF-58A6-428A-8E34-2D2332A99E79}"/>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367BED-8DA8-42BC-9E58-BBAC4DEF2CA3}"/>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7B32C77C-CAAB-4C0C-AC75-9F2540943D08}"/>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9016ACDB-8497-4CCA-97F3-6176F93463F4}"/>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Case study</a:t>
            </a:r>
          </a:p>
        </p:txBody>
      </p:sp>
      <p:sp>
        <p:nvSpPr>
          <p:cNvPr id="5" name="">
            <a:extLst xmlns:a="http://schemas.openxmlformats.org/drawingml/2006/main">
              <a:ext uri="{FF2B5EF4-FFF2-40B4-BE49-F238E27FC236}">
                <a16:creationId xmlns:a16="http://schemas.microsoft.com/office/drawing/2014/main" id="{E9CC1EE1-789A-4E83-94E4-8BA81FDC2A12}"/>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Dark-mode tokens: same roles, re-checked</a:t>
            </a:r>
          </a:p>
        </p:txBody>
      </p:sp>
      <p:sp>
        <p:nvSpPr>
          <p:cNvPr id="6" name="">
            <a:extLst xmlns:a="http://schemas.openxmlformats.org/drawingml/2006/main">
              <a:ext uri="{FF2B5EF4-FFF2-40B4-BE49-F238E27FC236}">
                <a16:creationId xmlns:a16="http://schemas.microsoft.com/office/drawing/2014/main" id="{5CFA8140-0F86-4560-9489-9186EE1A9DFB}"/>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D3E9F5-E41F-43B4-9387-B5323272B940}"/>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88D9AD03-4CCB-449A-9659-10AEE1F70D34}"/>
              </a:ext>
            </a:extLst>
          </p:cNvPr>
          <p:cNvSpPr>
            <a:spLocks xmlns:a="http://schemas.openxmlformats.org/drawingml/2006/main" noGrp="1"/>
          </p:cNvSpPr>
          <p:nvPr/>
        </p:nvSpPr>
        <p:spPr>
          <a:xfrm xmlns:a="http://schemas.openxmlformats.org/drawingml/2006/main">
            <a:off x="533400" y="2000250"/>
            <a:ext cx="10477500" cy="3810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18212A"/>
                </a:solidFill>
                <a:latin typeface="Aptos"/>
                <a:ea typeface="Aptos"/>
                <a:cs typeface="Aptos"/>
              </a:defRPr>
            </a:pPr>
            <a:r>
              <a:rPr sz="1350" b="0">
                <a:solidFill>
                  <a:srgbClr val="18212A"/>
                </a:solidFill>
                <a:latin typeface="Aptos"/>
                <a:ea typeface="Aptos"/>
                <a:cs typeface="Aptos"/>
              </a:rPr>
              <a:t>Dark mode is not 'invert everything' — it is re-pointing the same semantic roles at a palette that still passes contrast.</a:t>
            </a:r>
          </a:p>
        </p:txBody>
      </p:sp>
      <p:sp>
        <p:nvSpPr>
          <p:cNvPr id="9" name="">
            <a:extLst xmlns:a="http://schemas.openxmlformats.org/drawingml/2006/main">
              <a:ext uri="{FF2B5EF4-FFF2-40B4-BE49-F238E27FC236}">
                <a16:creationId xmlns:a16="http://schemas.microsoft.com/office/drawing/2014/main" id="{E831D85B-F067-4A91-A95F-695D8EF009E4}"/>
              </a:ext>
            </a:extLst>
          </p:cNvPr>
          <p:cNvSpPr>
            <a:spLocks xmlns:a="http://schemas.openxmlformats.org/drawingml/2006/main" noGrp="1"/>
          </p:cNvSpPr>
          <p:nvPr/>
        </p:nvSpPr>
        <p:spPr>
          <a:xfrm xmlns:a="http://schemas.openxmlformats.org/drawingml/2006/main">
            <a:off x="533400" y="2514600"/>
            <a:ext cx="3810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389"/>
          </a:bodyPr>
          <a:lstStyle xmlns:a="http://schemas.openxmlformats.org/drawingml/2006/main"/>
          <a:p xmlns:a="http://schemas.openxmlformats.org/drawingml/2006/main">
            <a:pPr>
              <a:defRPr sz="1200" b="1">
                <a:solidFill>
                  <a:srgbClr val="C7831A"/>
                </a:solidFill>
                <a:latin typeface="Aptos"/>
                <a:ea typeface="Aptos"/>
                <a:cs typeface="Aptos"/>
              </a:defRPr>
            </a:pPr>
            <a:r>
              <a:rPr sz="1200" b="1">
                <a:solidFill>
                  <a:srgbClr val="C7831A"/>
                </a:solidFill>
                <a:latin typeface="Aptos"/>
                <a:ea typeface="Aptos"/>
                <a:cs typeface="Aptos"/>
              </a:rPr>
              <a:t>Light mode</a:t>
            </a:r>
          </a:p>
        </p:txBody>
      </p:sp>
      <p:sp>
        <p:nvSpPr>
          <p:cNvPr id="10" name="">
            <a:extLst xmlns:a="http://schemas.openxmlformats.org/drawingml/2006/main">
              <a:ext uri="{FF2B5EF4-FFF2-40B4-BE49-F238E27FC236}">
                <a16:creationId xmlns:a16="http://schemas.microsoft.com/office/drawing/2014/main" id="{07BD3F32-6128-4705-9B70-3CFAEF6B013A}"/>
              </a:ext>
            </a:extLst>
          </p:cNvPr>
          <p:cNvSpPr>
            <a:spLocks xmlns:a="http://schemas.openxmlformats.org/drawingml/2006/main" noGrp="1"/>
          </p:cNvSpPr>
          <p:nvPr/>
        </p:nvSpPr>
        <p:spPr>
          <a:xfrm xmlns:a="http://schemas.openxmlformats.org/drawingml/2006/main">
            <a:off x="533400" y="2819400"/>
            <a:ext cx="1619250" cy="857250"/>
          </a:xfrm>
          <a:prstGeom xmlns:a="http://schemas.openxmlformats.org/drawingml/2006/main" prst="roundRect">
            <a:avLst>
              <a:gd name="adj" fmla="val 13333"/>
            </a:avLst>
          </a:prstGeom>
          <a:solidFill xmlns:a="http://schemas.openxmlformats.org/drawingml/2006/main">
            <a:srgbClr val="F8F5EF"/>
          </a:solidFill>
          <a:ln xmlns:a="http://schemas.openxmlformats.org/drawingml/2006/main" w="9525">
            <a:solidFill>
              <a:srgbClr val="D7D0C4"/>
            </a:solidFill>
            <a:prstDash val="solid"/>
          </a:ln>
        </p:spPr>
      </p:sp>
      <p:sp>
        <p:nvSpPr>
          <p:cNvPr id="11" name="">
            <a:extLst xmlns:a="http://schemas.openxmlformats.org/drawingml/2006/main">
              <a:ext uri="{FF2B5EF4-FFF2-40B4-BE49-F238E27FC236}">
                <a16:creationId xmlns:a16="http://schemas.microsoft.com/office/drawing/2014/main" id="{FAA5A432-8279-452D-86B7-1D05F9AC35A0}"/>
              </a:ext>
            </a:extLst>
          </p:cNvPr>
          <p:cNvSpPr>
            <a:spLocks xmlns:a="http://schemas.openxmlformats.org/drawingml/2006/main" noGrp="1"/>
          </p:cNvSpPr>
          <p:nvPr/>
        </p:nvSpPr>
        <p:spPr>
          <a:xfrm xmlns:a="http://schemas.openxmlformats.org/drawingml/2006/main">
            <a:off x="533400" y="3695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--color-bg</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(cream)</a:t>
            </a:r>
          </a:p>
        </p:txBody>
      </p:sp>
      <p:sp>
        <p:nvSpPr>
          <p:cNvPr id="12" name="">
            <a:extLst xmlns:a="http://schemas.openxmlformats.org/drawingml/2006/main">
              <a:ext uri="{FF2B5EF4-FFF2-40B4-BE49-F238E27FC236}">
                <a16:creationId xmlns:a16="http://schemas.microsoft.com/office/drawing/2014/main" id="{F5175498-0D3E-40F0-8667-2BA887D06C48}"/>
              </a:ext>
            </a:extLst>
          </p:cNvPr>
          <p:cNvSpPr>
            <a:spLocks xmlns:a="http://schemas.openxmlformats.org/drawingml/2006/main" noGrp="1"/>
          </p:cNvSpPr>
          <p:nvPr/>
        </p:nvSpPr>
        <p:spPr>
          <a:xfrm xmlns:a="http://schemas.openxmlformats.org/drawingml/2006/main">
            <a:off x="2343150" y="2819400"/>
            <a:ext cx="1619250" cy="857250"/>
          </a:xfrm>
          <a:prstGeom xmlns:a="http://schemas.openxmlformats.org/drawingml/2006/main" prst="roundRect">
            <a:avLst>
              <a:gd name="adj" fmla="val 13333"/>
            </a:avLst>
          </a:prstGeom>
          <a:solidFill xmlns:a="http://schemas.openxmlformats.org/drawingml/2006/main">
            <a:srgbClr val="18212A"/>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CF78A776-4C02-459A-B73C-CF541524D799}"/>
              </a:ext>
            </a:extLst>
          </p:cNvPr>
          <p:cNvSpPr>
            <a:spLocks xmlns:a="http://schemas.openxmlformats.org/drawingml/2006/main" noGrp="1"/>
          </p:cNvSpPr>
          <p:nvPr/>
        </p:nvSpPr>
        <p:spPr>
          <a:xfrm xmlns:a="http://schemas.openxmlformats.org/drawingml/2006/main">
            <a:off x="2343150" y="3695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--color-text</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(ink)</a:t>
            </a:r>
          </a:p>
        </p:txBody>
      </p:sp>
      <p:sp>
        <p:nvSpPr>
          <p:cNvPr id="14" name="">
            <a:extLst xmlns:a="http://schemas.openxmlformats.org/drawingml/2006/main">
              <a:ext uri="{FF2B5EF4-FFF2-40B4-BE49-F238E27FC236}">
                <a16:creationId xmlns:a16="http://schemas.microsoft.com/office/drawing/2014/main" id="{CF5F7BA4-9558-41D6-BE5A-C6C667B1780C}"/>
              </a:ext>
            </a:extLst>
          </p:cNvPr>
          <p:cNvSpPr>
            <a:spLocks xmlns:a="http://schemas.openxmlformats.org/drawingml/2006/main" noGrp="1"/>
          </p:cNvSpPr>
          <p:nvPr/>
        </p:nvSpPr>
        <p:spPr>
          <a:xfrm xmlns:a="http://schemas.openxmlformats.org/drawingml/2006/main">
            <a:off x="4152900" y="2819400"/>
            <a:ext cx="1619250" cy="857250"/>
          </a:xfrm>
          <a:prstGeom xmlns:a="http://schemas.openxmlformats.org/drawingml/2006/main" prst="roundRect">
            <a:avLst>
              <a:gd name="adj" fmla="val 13333"/>
            </a:avLst>
          </a:prstGeom>
          <a:solidFill xmlns:a="http://schemas.openxmlformats.org/drawingml/2006/main">
            <a:srgbClr val="43515D"/>
          </a:solidFill>
          <a:ln xmlns:a="http://schemas.openxmlformats.org/drawingml/2006/main" w="9525">
            <a:solidFill>
              <a:srgbClr val="D7D0C4"/>
            </a:solidFill>
            <a:prstDash val="solid"/>
          </a:ln>
        </p:spPr>
      </p:sp>
      <p:sp>
        <p:nvSpPr>
          <p:cNvPr id="15" name="">
            <a:extLst xmlns:a="http://schemas.openxmlformats.org/drawingml/2006/main">
              <a:ext uri="{FF2B5EF4-FFF2-40B4-BE49-F238E27FC236}">
                <a16:creationId xmlns:a16="http://schemas.microsoft.com/office/drawing/2014/main" id="{9ED444A0-B3F5-4659-ADBD-487A6521E88D}"/>
              </a:ext>
            </a:extLst>
          </p:cNvPr>
          <p:cNvSpPr>
            <a:spLocks xmlns:a="http://schemas.openxmlformats.org/drawingml/2006/main" noGrp="1"/>
          </p:cNvSpPr>
          <p:nvPr/>
        </p:nvSpPr>
        <p:spPr>
          <a:xfrm xmlns:a="http://schemas.openxmlformats.org/drawingml/2006/main">
            <a:off x="4152900" y="3695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--color-muted</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(slate)</a:t>
            </a:r>
          </a:p>
        </p:txBody>
      </p:sp>
      <p:sp>
        <p:nvSpPr>
          <p:cNvPr id="16" name="">
            <a:extLst xmlns:a="http://schemas.openxmlformats.org/drawingml/2006/main">
              <a:ext uri="{FF2B5EF4-FFF2-40B4-BE49-F238E27FC236}">
                <a16:creationId xmlns:a16="http://schemas.microsoft.com/office/drawing/2014/main" id="{8F0DEB5E-BF6D-4008-B121-47A8261E9BF6}"/>
              </a:ext>
            </a:extLst>
          </p:cNvPr>
          <p:cNvSpPr>
            <a:spLocks xmlns:a="http://schemas.openxmlformats.org/drawingml/2006/main" noGrp="1"/>
          </p:cNvSpPr>
          <p:nvPr/>
        </p:nvSpPr>
        <p:spPr>
          <a:xfrm xmlns:a="http://schemas.openxmlformats.org/drawingml/2006/main">
            <a:off x="533400" y="4038600"/>
            <a:ext cx="3810000" cy="2286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389"/>
          </a:bodyPr>
          <a:lstStyle xmlns:a="http://schemas.openxmlformats.org/drawingml/2006/main"/>
          <a:p xmlns:a="http://schemas.openxmlformats.org/drawingml/2006/main">
            <a:pPr>
              <a:defRPr sz="1200" b="1">
                <a:solidFill>
                  <a:srgbClr val="C7831A"/>
                </a:solidFill>
                <a:latin typeface="Aptos"/>
                <a:ea typeface="Aptos"/>
                <a:cs typeface="Aptos"/>
              </a:defRPr>
            </a:pPr>
            <a:r>
              <a:rPr sz="1200" b="1">
                <a:solidFill>
                  <a:srgbClr val="C7831A"/>
                </a:solidFill>
                <a:latin typeface="Aptos"/>
                <a:ea typeface="Aptos"/>
                <a:cs typeface="Aptos"/>
              </a:rPr>
              <a:t>Dark mode</a:t>
            </a:r>
          </a:p>
        </p:txBody>
      </p:sp>
      <p:sp>
        <p:nvSpPr>
          <p:cNvPr id="17" name="">
            <a:extLst xmlns:a="http://schemas.openxmlformats.org/drawingml/2006/main">
              <a:ext uri="{FF2B5EF4-FFF2-40B4-BE49-F238E27FC236}">
                <a16:creationId xmlns:a16="http://schemas.microsoft.com/office/drawing/2014/main" id="{5FD7CD85-12D4-4127-B033-E694A8CD45A3}"/>
              </a:ext>
            </a:extLst>
          </p:cNvPr>
          <p:cNvSpPr>
            <a:spLocks xmlns:a="http://schemas.openxmlformats.org/drawingml/2006/main" noGrp="1"/>
          </p:cNvSpPr>
          <p:nvPr/>
        </p:nvSpPr>
        <p:spPr>
          <a:xfrm xmlns:a="http://schemas.openxmlformats.org/drawingml/2006/main">
            <a:off x="533400" y="4343400"/>
            <a:ext cx="1619250" cy="857250"/>
          </a:xfrm>
          <a:prstGeom xmlns:a="http://schemas.openxmlformats.org/drawingml/2006/main" prst="roundRect">
            <a:avLst>
              <a:gd name="adj" fmla="val 13333"/>
            </a:avLst>
          </a:prstGeom>
          <a:solidFill xmlns:a="http://schemas.openxmlformats.org/drawingml/2006/main">
            <a:srgbClr val="18212A"/>
          </a:solidFill>
          <a:ln xmlns:a="http://schemas.openxmlformats.org/drawingml/2006/main" w="9525">
            <a:solidFill>
              <a:srgbClr val="D7D0C4"/>
            </a:solidFill>
            <a:prstDash val="solid"/>
          </a:ln>
        </p:spPr>
      </p:sp>
      <p:sp>
        <p:nvSpPr>
          <p:cNvPr id="18" name="">
            <a:extLst xmlns:a="http://schemas.openxmlformats.org/drawingml/2006/main">
              <a:ext uri="{FF2B5EF4-FFF2-40B4-BE49-F238E27FC236}">
                <a16:creationId xmlns:a16="http://schemas.microsoft.com/office/drawing/2014/main" id="{2372EB6F-C51B-40FE-84C2-3772FE9080A2}"/>
              </a:ext>
            </a:extLst>
          </p:cNvPr>
          <p:cNvSpPr>
            <a:spLocks xmlns:a="http://schemas.openxmlformats.org/drawingml/2006/main" noGrp="1"/>
          </p:cNvSpPr>
          <p:nvPr/>
        </p:nvSpPr>
        <p:spPr>
          <a:xfrm xmlns:a="http://schemas.openxmlformats.org/drawingml/2006/main">
            <a:off x="533400" y="5219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--color-bg</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(ink)</a:t>
            </a:r>
          </a:p>
        </p:txBody>
      </p:sp>
      <p:sp>
        <p:nvSpPr>
          <p:cNvPr id="19" name="">
            <a:extLst xmlns:a="http://schemas.openxmlformats.org/drawingml/2006/main">
              <a:ext uri="{FF2B5EF4-FFF2-40B4-BE49-F238E27FC236}">
                <a16:creationId xmlns:a16="http://schemas.microsoft.com/office/drawing/2014/main" id="{A720E3C8-1503-4F92-B2A6-9120DB35A2BE}"/>
              </a:ext>
            </a:extLst>
          </p:cNvPr>
          <p:cNvSpPr>
            <a:spLocks xmlns:a="http://schemas.openxmlformats.org/drawingml/2006/main" noGrp="1"/>
          </p:cNvSpPr>
          <p:nvPr/>
        </p:nvSpPr>
        <p:spPr>
          <a:xfrm xmlns:a="http://schemas.openxmlformats.org/drawingml/2006/main">
            <a:off x="2343150" y="4343400"/>
            <a:ext cx="1619250" cy="857250"/>
          </a:xfrm>
          <a:prstGeom xmlns:a="http://schemas.openxmlformats.org/drawingml/2006/main" prst="roundRect">
            <a:avLst>
              <a:gd name="adj" fmla="val 13333"/>
            </a:avLst>
          </a:prstGeom>
          <a:solidFill xmlns:a="http://schemas.openxmlformats.org/drawingml/2006/main">
            <a:srgbClr val="F8F5EF"/>
          </a:solidFill>
          <a:ln xmlns:a="http://schemas.openxmlformats.org/drawingml/2006/main" w="9525">
            <a:solidFill>
              <a:srgbClr val="D7D0C4"/>
            </a:solidFill>
            <a:prstDash val="solid"/>
          </a:ln>
        </p:spPr>
      </p:sp>
      <p:sp>
        <p:nvSpPr>
          <p:cNvPr id="20" name="">
            <a:extLst xmlns:a="http://schemas.openxmlformats.org/drawingml/2006/main">
              <a:ext uri="{FF2B5EF4-FFF2-40B4-BE49-F238E27FC236}">
                <a16:creationId xmlns:a16="http://schemas.microsoft.com/office/drawing/2014/main" id="{E0470E5A-825D-4E50-84D1-39F14A1E6387}"/>
              </a:ext>
            </a:extLst>
          </p:cNvPr>
          <p:cNvSpPr>
            <a:spLocks xmlns:a="http://schemas.openxmlformats.org/drawingml/2006/main" noGrp="1"/>
          </p:cNvSpPr>
          <p:nvPr/>
        </p:nvSpPr>
        <p:spPr>
          <a:xfrm xmlns:a="http://schemas.openxmlformats.org/drawingml/2006/main">
            <a:off x="2343150" y="5219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--color-text</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(cream)</a:t>
            </a:r>
          </a:p>
        </p:txBody>
      </p:sp>
      <p:sp>
        <p:nvSpPr>
          <p:cNvPr id="21" name="">
            <a:extLst xmlns:a="http://schemas.openxmlformats.org/drawingml/2006/main">
              <a:ext uri="{FF2B5EF4-FFF2-40B4-BE49-F238E27FC236}">
                <a16:creationId xmlns:a16="http://schemas.microsoft.com/office/drawing/2014/main" id="{301FEA47-3D5B-4DE4-818A-3287282716FF}"/>
              </a:ext>
            </a:extLst>
          </p:cNvPr>
          <p:cNvSpPr>
            <a:spLocks xmlns:a="http://schemas.openxmlformats.org/drawingml/2006/main" noGrp="1"/>
          </p:cNvSpPr>
          <p:nvPr/>
        </p:nvSpPr>
        <p:spPr>
          <a:xfrm xmlns:a="http://schemas.openxmlformats.org/drawingml/2006/main">
            <a:off x="4152900" y="4343400"/>
            <a:ext cx="1619250" cy="857250"/>
          </a:xfrm>
          <a:prstGeom xmlns:a="http://schemas.openxmlformats.org/drawingml/2006/main" prst="roundRect">
            <a:avLst>
              <a:gd name="adj" fmla="val 13333"/>
            </a:avLst>
          </a:prstGeom>
          <a:solidFill xmlns:a="http://schemas.openxmlformats.org/drawingml/2006/main">
            <a:srgbClr val="D7D0C4"/>
          </a:solidFill>
          <a:ln xmlns:a="http://schemas.openxmlformats.org/drawingml/2006/main" w="9525">
            <a:solidFill>
              <a:srgbClr val="D7D0C4"/>
            </a:solidFill>
            <a:prstDash val="solid"/>
          </a:ln>
        </p:spPr>
      </p:sp>
      <p:sp>
        <p:nvSpPr>
          <p:cNvPr id="22" name="">
            <a:extLst xmlns:a="http://schemas.openxmlformats.org/drawingml/2006/main">
              <a:ext uri="{FF2B5EF4-FFF2-40B4-BE49-F238E27FC236}">
                <a16:creationId xmlns:a16="http://schemas.microsoft.com/office/drawing/2014/main" id="{AB9EDFDC-C225-4AE5-A8CF-E8CD24F2099B}"/>
              </a:ext>
            </a:extLst>
          </p:cNvPr>
          <p:cNvSpPr>
            <a:spLocks xmlns:a="http://schemas.openxmlformats.org/drawingml/2006/main" noGrp="1"/>
          </p:cNvSpPr>
          <p:nvPr/>
        </p:nvSpPr>
        <p:spPr>
          <a:xfrm xmlns:a="http://schemas.openxmlformats.org/drawingml/2006/main">
            <a:off x="4152900" y="5219700"/>
            <a:ext cx="1619250" cy="1714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848"/>
          </a:bodyPr>
          <a:lstStyle xmlns:a="http://schemas.openxmlformats.org/drawingml/2006/main"/>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--color-muted</a:t>
            </a:r>
          </a:p>
          <a:p xmlns:a="http://schemas.openxmlformats.org/drawingml/2006/main">
            <a:pPr>
              <a:defRPr sz="825" b="0">
                <a:solidFill>
                  <a:srgbClr val="43515D"/>
                </a:solidFill>
                <a:latin typeface="Aptos"/>
                <a:ea typeface="Aptos"/>
                <a:cs typeface="Aptos"/>
              </a:defRPr>
            </a:pPr>
            <a:r>
              <a:rPr sz="825" b="0">
                <a:solidFill>
                  <a:srgbClr val="43515D"/>
                </a:solidFill>
                <a:latin typeface="Aptos"/>
                <a:ea typeface="Aptos"/>
                <a:cs typeface="Aptos"/>
              </a:rPr>
              <a:t>(line)</a:t>
            </a:r>
          </a:p>
        </p:txBody>
      </p:sp>
      <p:sp>
        <p:nvSpPr>
          <p:cNvPr id="23" name="">
            <a:extLst xmlns:a="http://schemas.openxmlformats.org/drawingml/2006/main">
              <a:ext uri="{FF2B5EF4-FFF2-40B4-BE49-F238E27FC236}">
                <a16:creationId xmlns:a16="http://schemas.microsoft.com/office/drawing/2014/main" id="{D02FD795-086C-4A9A-9E5D-8D488318E670}"/>
              </a:ext>
            </a:extLst>
          </p:cNvPr>
          <p:cNvSpPr>
            <a:spLocks xmlns:a="http://schemas.openxmlformats.org/drawingml/2006/main" noGrp="1"/>
          </p:cNvSpPr>
          <p:nvPr/>
        </p:nvSpPr>
        <p:spPr>
          <a:xfrm xmlns:a="http://schemas.openxmlformats.org/drawingml/2006/main">
            <a:off x="6286500" y="2514600"/>
            <a:ext cx="5372100" cy="2857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D7D0C4"/>
            </a:solidFill>
            <a:prstDash val="solid"/>
          </a:ln>
        </p:spPr>
      </p:sp>
      <p:sp>
        <p:nvSpPr>
          <p:cNvPr id="24" name="">
            <a:extLst xmlns:a="http://schemas.openxmlformats.org/drawingml/2006/main">
              <a:ext uri="{FF2B5EF4-FFF2-40B4-BE49-F238E27FC236}">
                <a16:creationId xmlns:a16="http://schemas.microsoft.com/office/drawing/2014/main" id="{56115279-2BD0-4BF5-B66B-76DD84295605}"/>
              </a:ext>
            </a:extLst>
          </p:cNvPr>
          <p:cNvSpPr>
            <a:spLocks xmlns:a="http://schemas.openxmlformats.org/drawingml/2006/main" noGrp="1"/>
          </p:cNvSpPr>
          <p:nvPr/>
        </p:nvSpPr>
        <p:spPr>
          <a:xfrm xmlns:a="http://schemas.openxmlformats.org/drawingml/2006/main">
            <a:off x="6286500" y="2514600"/>
            <a:ext cx="57150" cy="28575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80118EC-A36D-444D-B4AE-09BF90B56A4F}"/>
              </a:ext>
            </a:extLst>
          </p:cNvPr>
          <p:cNvSpPr>
            <a:spLocks xmlns:a="http://schemas.openxmlformats.org/drawingml/2006/main" noGrp="1"/>
          </p:cNvSpPr>
          <p:nvPr/>
        </p:nvSpPr>
        <p:spPr>
          <a:xfrm xmlns:a="http://schemas.openxmlformats.org/drawingml/2006/main">
            <a:off x="6515100" y="2667000"/>
            <a:ext cx="49530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Re-checked ratios</a:t>
            </a:r>
          </a:p>
        </p:txBody>
      </p:sp>
      <p:sp>
        <p:nvSpPr>
          <p:cNvPr id="26" name="">
            <a:extLst xmlns:a="http://schemas.openxmlformats.org/drawingml/2006/main">
              <a:ext uri="{FF2B5EF4-FFF2-40B4-BE49-F238E27FC236}">
                <a16:creationId xmlns:a16="http://schemas.microsoft.com/office/drawing/2014/main" id="{81FB3CBE-53B9-48D5-BF0E-4E79E5A091FC}"/>
              </a:ext>
            </a:extLst>
          </p:cNvPr>
          <p:cNvSpPr>
            <a:spLocks xmlns:a="http://schemas.openxmlformats.org/drawingml/2006/main" noGrp="1"/>
          </p:cNvSpPr>
          <p:nvPr/>
        </p:nvSpPr>
        <p:spPr>
          <a:xfrm xmlns:a="http://schemas.openxmlformats.org/drawingml/2006/main">
            <a:off x="6515100" y="2971800"/>
            <a:ext cx="4953000" cy="2247900"/>
          </a:xfrm>
          <a:prstGeom xmlns:a="http://schemas.openxmlformats.org/drawingml/2006/main" prst="roundRect">
            <a:avLst>
              <a:gd name="adj" fmla="val 5085"/>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Light: text/bg = ink/cream = 14.96:1.</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Dark: text/bg = cream/ink = 14.96:1 (same pair, reversed — ratio is symmetric).</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Dark muted: line/ink = 10.63:1 — safe for secondary text on dark, unlike slate/ink at 2.00:1.</a:t>
            </a:r>
          </a:p>
        </p:txBody>
      </p:sp>
    </p:spTree>
    <p:extLst>
      <p:ext uri="{BB962C8B-B14F-4D97-AF65-F5344CB8AC3E}">
        <p14:creationId xmlns:p14="http://schemas.microsoft.com/office/powerpoint/2010/main" val="1422374981"/>
      </p:ext>
    </p:extLst>
  </p:cSld>
</p:sld>
</file>

<file path=ppt/slides/slide11.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01A71D-1FDE-4F45-ABB0-07DF74D61CA8}"/>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EDA0B6-DB78-4084-98E6-6D5E83EB5810}"/>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0F390CB3-901E-4DBD-9E6E-205DEF202E9C}"/>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43D330CF-34CD-4392-8F46-8CD1BF730E0E}"/>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Before / after</a:t>
            </a:r>
          </a:p>
        </p:txBody>
      </p:sp>
      <p:sp>
        <p:nvSpPr>
          <p:cNvPr id="5" name="">
            <a:extLst xmlns:a="http://schemas.openxmlformats.org/drawingml/2006/main">
              <a:ext uri="{FF2B5EF4-FFF2-40B4-BE49-F238E27FC236}">
                <a16:creationId xmlns:a16="http://schemas.microsoft.com/office/drawing/2014/main" id="{409204D2-5BF8-4849-AFC8-1238A35E7AAB}"/>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An unrestrained board vs a token system</a:t>
            </a:r>
          </a:p>
        </p:txBody>
      </p:sp>
      <p:sp>
        <p:nvSpPr>
          <p:cNvPr id="6" name="">
            <a:extLst xmlns:a="http://schemas.openxmlformats.org/drawingml/2006/main">
              <a:ext uri="{FF2B5EF4-FFF2-40B4-BE49-F238E27FC236}">
                <a16:creationId xmlns:a16="http://schemas.microsoft.com/office/drawing/2014/main" id="{8FEDB2AA-C8C7-441A-88F3-E7E8ECCF230A}"/>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6CB1C04-33B7-4B84-91C2-FE473EB8C666}"/>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cd9775ecb1b2434b"/>
          <a:srcRect xmlns:a="http://schemas.openxmlformats.org/drawingml/2006/main" l="0" t="7109" r="0" b="7109"/>
          <a:stretch xmlns:a="http://schemas.openxmlformats.org/drawingml/2006/main">
            <a:fillRect l="0" t="0" r="0" b="0"/>
          </a:stretch>
        </p:blipFill>
        <p:spPr>
          <a:xfrm xmlns:a="http://schemas.openxmlformats.org/drawingml/2006/main">
            <a:off x="533400" y="2000250"/>
            <a:ext cx="5334000" cy="3048000"/>
          </a:xfrm>
          <a:prstGeom xmlns:a="http://schemas.openxmlformats.org/drawingml/2006/main" prst="roundRect">
            <a:avLst>
              <a:gd name="adj" fmla="val 3750"/>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c588ba32f0946b3"/>
          <a:srcRect xmlns:a="http://schemas.openxmlformats.org/drawingml/2006/main" l="32110" t="0" r="32110" b="0"/>
          <a:stretch xmlns:a="http://schemas.openxmlformats.org/drawingml/2006/main">
            <a:fillRect l="0" t="0" r="0" b="0"/>
          </a:stretch>
        </p:blipFill>
        <p:spPr>
          <a:xfrm xmlns:a="http://schemas.openxmlformats.org/drawingml/2006/main">
            <a:off x="6324600" y="2000250"/>
            <a:ext cx="5334000" cy="3048000"/>
          </a:xfrm>
          <a:prstGeom xmlns:a="http://schemas.openxmlformats.org/drawingml/2006/main" prst="roundRect">
            <a:avLst>
              <a:gd name="adj" fmla="val 3750"/>
            </a:avLst>
          </a:prstGeom>
        </p:spPr>
      </p:pic>
      <p:sp>
        <p:nvSpPr>
          <p:cNvPr id="10" name="">
            <a:extLst xmlns:a="http://schemas.openxmlformats.org/drawingml/2006/main">
              <a:ext uri="{FF2B5EF4-FFF2-40B4-BE49-F238E27FC236}">
                <a16:creationId xmlns:a16="http://schemas.microsoft.com/office/drawing/2014/main" id="{CD7008D6-BD5E-42AF-A814-218567B7F2C4}"/>
              </a:ext>
            </a:extLst>
          </p:cNvPr>
          <p:cNvSpPr>
            <a:spLocks xmlns:a="http://schemas.openxmlformats.org/drawingml/2006/main" noGrp="1"/>
          </p:cNvSpPr>
          <p:nvPr/>
        </p:nvSpPr>
        <p:spPr>
          <a:xfrm xmlns:a="http://schemas.openxmlformats.org/drawingml/2006/main">
            <a:off x="533400" y="5200650"/>
            <a:ext cx="11125200" cy="857250"/>
          </a:xfrm>
          <a:prstGeom xmlns:a="http://schemas.openxmlformats.org/drawingml/2006/main" prst="roundRect">
            <a:avLst>
              <a:gd name="adj" fmla="val 13333"/>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18212A"/>
                </a:solidFill>
                <a:latin typeface="Aptos"/>
                <a:ea typeface="Aptos"/>
                <a:cs typeface="Aptos"/>
              </a:defRPr>
            </a:pPr>
            <a:r>
              <a:rPr sz="1275" b="0">
                <a:solidFill>
                  <a:srgbClr val="18212A"/>
                </a:solidFill>
                <a:latin typeface="Aptos"/>
                <a:ea typeface="Aptos"/>
                <a:cs typeface="Aptos"/>
              </a:rPr>
              <a:t>Before: any of dozens of hues could appear anywhere, with no way to predict which pairing will occur next. After: exactly the tokens on the table three slides back, and nothing else — every colour decision traces back to one of six names.</a:t>
            </a:r>
          </a:p>
        </p:txBody>
      </p:sp>
    </p:spTree>
    <p:extLst>
      <p:ext uri="{BB962C8B-B14F-4D97-AF65-F5344CB8AC3E}">
        <p14:creationId xmlns:p14="http://schemas.microsoft.com/office/powerpoint/2010/main" val="1634107209"/>
      </p:ext>
    </p:extLst>
  </p:cSld>
</p:sld>
</file>

<file path=ppt/slides/slide1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A7EDDA7-C210-49E4-800B-D84FFF7047BD}"/>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6EFB4C8-98B2-4945-89E2-B666503449E9}"/>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8FB86931-A6CC-4497-AD23-F3AEB67F6332}"/>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12</a:t>
            </a:r>
          </a:p>
        </p:txBody>
      </p:sp>
      <p:sp>
        <p:nvSpPr>
          <p:cNvPr id="4" name="">
            <a:extLst xmlns:a="http://schemas.openxmlformats.org/drawingml/2006/main">
              <a:ext uri="{FF2B5EF4-FFF2-40B4-BE49-F238E27FC236}">
                <a16:creationId xmlns:a16="http://schemas.microsoft.com/office/drawing/2014/main" id="{2678D379-98BC-48F7-8D3C-B1FEE2BF029E}"/>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Image roles, recapped</a:t>
            </a:r>
          </a:p>
        </p:txBody>
      </p:sp>
      <p:sp>
        <p:nvSpPr>
          <p:cNvPr id="5" name="">
            <a:extLst xmlns:a="http://schemas.openxmlformats.org/drawingml/2006/main">
              <a:ext uri="{FF2B5EF4-FFF2-40B4-BE49-F238E27FC236}">
                <a16:creationId xmlns:a16="http://schemas.microsoft.com/office/drawing/2014/main" id="{D62F6215-3D04-4B39-A3E0-797074DA7EB5}"/>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Decorative, informative, functional, complex</a:t>
            </a:r>
          </a:p>
        </p:txBody>
      </p:sp>
      <p:sp>
        <p:nvSpPr>
          <p:cNvPr id="6" name="">
            <a:extLst xmlns:a="http://schemas.openxmlformats.org/drawingml/2006/main">
              <a:ext uri="{FF2B5EF4-FFF2-40B4-BE49-F238E27FC236}">
                <a16:creationId xmlns:a16="http://schemas.microsoft.com/office/drawing/2014/main" id="{DDA18214-C071-44B8-8C89-5D9EE7003A8E}"/>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3C50BEE-06D8-4209-BA95-D3A160BE9965}"/>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4535a0f6b804998"/>
          <a:srcRect xmlns:a="http://schemas.openxmlformats.org/drawingml/2006/main" l="658" t="0" r="658" b="0"/>
          <a:stretch xmlns:a="http://schemas.openxmlformats.org/drawingml/2006/main">
            <a:fillRect l="0" t="0" r="0" b="0"/>
          </a:stretch>
        </p:blipFill>
        <p:spPr>
          <a:xfrm xmlns:a="http://schemas.openxmlformats.org/drawingml/2006/main">
            <a:off x="533400" y="2000250"/>
            <a:ext cx="4762500" cy="3619500"/>
          </a:xfrm>
          <a:prstGeom xmlns:a="http://schemas.openxmlformats.org/drawingml/2006/main" prst="roundRect">
            <a:avLst>
              <a:gd name="adj" fmla="val 3158"/>
            </a:avLst>
          </a:prstGeom>
        </p:spPr>
      </p:pic>
      <p:sp>
        <p:nvSpPr>
          <p:cNvPr id="9" name="">
            <a:extLst xmlns:a="http://schemas.openxmlformats.org/drawingml/2006/main">
              <a:ext uri="{FF2B5EF4-FFF2-40B4-BE49-F238E27FC236}">
                <a16:creationId xmlns:a16="http://schemas.microsoft.com/office/drawing/2014/main" id="{267E6986-8945-46C3-B9C1-FFEA2E7E6C8C}"/>
              </a:ext>
            </a:extLst>
          </p:cNvPr>
          <p:cNvSpPr>
            <a:spLocks xmlns:a="http://schemas.openxmlformats.org/drawingml/2006/main" noGrp="1"/>
          </p:cNvSpPr>
          <p:nvPr/>
        </p:nvSpPr>
        <p:spPr>
          <a:xfrm xmlns:a="http://schemas.openxmlformats.org/drawingml/2006/main">
            <a:off x="5562600" y="2000250"/>
            <a:ext cx="60960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4C18CD66-A459-4706-823C-8112E0F56609}"/>
              </a:ext>
            </a:extLst>
          </p:cNvPr>
          <p:cNvSpPr>
            <a:spLocks xmlns:a="http://schemas.openxmlformats.org/drawingml/2006/main" noGrp="1"/>
          </p:cNvSpPr>
          <p:nvPr/>
        </p:nvSpPr>
        <p:spPr>
          <a:xfrm xmlns:a="http://schemas.openxmlformats.org/drawingml/2006/main">
            <a:off x="5562600" y="2000250"/>
            <a:ext cx="57150" cy="1619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C6B1929-EE22-4F72-9EFF-B8F4F7D59A6C}"/>
              </a:ext>
            </a:extLst>
          </p:cNvPr>
          <p:cNvSpPr>
            <a:spLocks xmlns:a="http://schemas.openxmlformats.org/drawingml/2006/main" noGrp="1"/>
          </p:cNvSpPr>
          <p:nvPr/>
        </p:nvSpPr>
        <p:spPr>
          <a:xfrm xmlns:a="http://schemas.openxmlformats.org/drawingml/2006/main">
            <a:off x="5791200" y="2152650"/>
            <a:ext cx="56769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Decorative</a:t>
            </a:r>
          </a:p>
        </p:txBody>
      </p:sp>
      <p:sp>
        <p:nvSpPr>
          <p:cNvPr id="12" name="">
            <a:extLst xmlns:a="http://schemas.openxmlformats.org/drawingml/2006/main">
              <a:ext uri="{FF2B5EF4-FFF2-40B4-BE49-F238E27FC236}">
                <a16:creationId xmlns:a16="http://schemas.microsoft.com/office/drawing/2014/main" id="{C5D95C9D-A7B0-4757-9F8B-B10C54DE575D}"/>
              </a:ext>
            </a:extLst>
          </p:cNvPr>
          <p:cNvSpPr>
            <a:spLocks xmlns:a="http://schemas.openxmlformats.org/drawingml/2006/main" noGrp="1"/>
          </p:cNvSpPr>
          <p:nvPr/>
        </p:nvSpPr>
        <p:spPr>
          <a:xfrm xmlns:a="http://schemas.openxmlformats.org/drawingml/2006/main">
            <a:off x="5791200" y="2457450"/>
            <a:ext cx="5676900" cy="1009650"/>
          </a:xfrm>
          <a:prstGeom xmlns:a="http://schemas.openxmlformats.org/drawingml/2006/main" prst="roundRect">
            <a:avLst>
              <a:gd name="adj" fmla="val 1132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The marble image above carries no information a reader needs — alt="" and it is skipped by assistive technology.</a:t>
            </a:r>
          </a:p>
        </p:txBody>
      </p:sp>
      <p:sp>
        <p:nvSpPr>
          <p:cNvPr id="13" name="">
            <a:extLst xmlns:a="http://schemas.openxmlformats.org/drawingml/2006/main">
              <a:ext uri="{FF2B5EF4-FFF2-40B4-BE49-F238E27FC236}">
                <a16:creationId xmlns:a16="http://schemas.microsoft.com/office/drawing/2014/main" id="{BF559FE6-2393-4F53-9BA4-4FC3B8C7DF9E}"/>
              </a:ext>
            </a:extLst>
          </p:cNvPr>
          <p:cNvSpPr>
            <a:spLocks xmlns:a="http://schemas.openxmlformats.org/drawingml/2006/main" noGrp="1"/>
          </p:cNvSpPr>
          <p:nvPr/>
        </p:nvSpPr>
        <p:spPr>
          <a:xfrm xmlns:a="http://schemas.openxmlformats.org/drawingml/2006/main">
            <a:off x="5562600" y="3771900"/>
            <a:ext cx="60960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7D0C4"/>
            </a:solidFill>
            <a:prstDash val="solid"/>
          </a:ln>
        </p:spPr>
      </p:sp>
      <p:sp>
        <p:nvSpPr>
          <p:cNvPr id="14" name="">
            <a:extLst xmlns:a="http://schemas.openxmlformats.org/drawingml/2006/main">
              <a:ext uri="{FF2B5EF4-FFF2-40B4-BE49-F238E27FC236}">
                <a16:creationId xmlns:a16="http://schemas.microsoft.com/office/drawing/2014/main" id="{B609673D-2196-4408-819F-10A38D574295}"/>
              </a:ext>
            </a:extLst>
          </p:cNvPr>
          <p:cNvSpPr>
            <a:spLocks xmlns:a="http://schemas.openxmlformats.org/drawingml/2006/main" noGrp="1"/>
          </p:cNvSpPr>
          <p:nvPr/>
        </p:nvSpPr>
        <p:spPr>
          <a:xfrm xmlns:a="http://schemas.openxmlformats.org/drawingml/2006/main">
            <a:off x="5562600" y="3771900"/>
            <a:ext cx="57150" cy="1619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2EC761-06AC-43C0-82C8-6E1E3123C133}"/>
              </a:ext>
            </a:extLst>
          </p:cNvPr>
          <p:cNvSpPr>
            <a:spLocks xmlns:a="http://schemas.openxmlformats.org/drawingml/2006/main" noGrp="1"/>
          </p:cNvSpPr>
          <p:nvPr/>
        </p:nvSpPr>
        <p:spPr>
          <a:xfrm xmlns:a="http://schemas.openxmlformats.org/drawingml/2006/main">
            <a:off x="5791200" y="3924300"/>
            <a:ext cx="56769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Informative</a:t>
            </a:r>
          </a:p>
        </p:txBody>
      </p:sp>
      <p:sp>
        <p:nvSpPr>
          <p:cNvPr id="16" name="">
            <a:extLst xmlns:a="http://schemas.openxmlformats.org/drawingml/2006/main">
              <a:ext uri="{FF2B5EF4-FFF2-40B4-BE49-F238E27FC236}">
                <a16:creationId xmlns:a16="http://schemas.microsoft.com/office/drawing/2014/main" id="{9E442BD3-FBC6-4B33-BFB5-72711C729B10}"/>
              </a:ext>
            </a:extLst>
          </p:cNvPr>
          <p:cNvSpPr>
            <a:spLocks xmlns:a="http://schemas.openxmlformats.org/drawingml/2006/main" noGrp="1"/>
          </p:cNvSpPr>
          <p:nvPr/>
        </p:nvSpPr>
        <p:spPr>
          <a:xfrm xmlns:a="http://schemas.openxmlformats.org/drawingml/2006/main">
            <a:off x="5791200" y="4229100"/>
            <a:ext cx="5676900" cy="1009650"/>
          </a:xfrm>
          <a:prstGeom xmlns:a="http://schemas.openxmlformats.org/drawingml/2006/main" prst="roundRect">
            <a:avLst>
              <a:gd name="adj" fmla="val 1132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The HSL cylinder diagram earlier this deck communicates real content — its alt text described hue, saturation and lightness.</a:t>
            </a:r>
          </a:p>
        </p:txBody>
      </p:sp>
      <p:sp>
        <p:nvSpPr>
          <p:cNvPr id="17" name="">
            <a:extLst xmlns:a="http://schemas.openxmlformats.org/drawingml/2006/main">
              <a:ext uri="{FF2B5EF4-FFF2-40B4-BE49-F238E27FC236}">
                <a16:creationId xmlns:a16="http://schemas.microsoft.com/office/drawing/2014/main" id="{B83FBADC-E8DF-467F-8F97-3F1F0D5E3F63}"/>
              </a:ext>
            </a:extLst>
          </p:cNvPr>
          <p:cNvSpPr>
            <a:spLocks xmlns:a="http://schemas.openxmlformats.org/drawingml/2006/main" noGrp="1"/>
          </p:cNvSpPr>
          <p:nvPr/>
        </p:nvSpPr>
        <p:spPr>
          <a:xfrm xmlns:a="http://schemas.openxmlformats.org/drawingml/2006/main">
            <a:off x="5562600" y="5600700"/>
            <a:ext cx="6096000" cy="762000"/>
          </a:xfrm>
          <a:prstGeom xmlns:a="http://schemas.openxmlformats.org/drawingml/2006/main" prst="roundRect">
            <a:avLst>
              <a:gd name="adj" fmla="val 15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125" b="0">
                <a:solidFill>
                  <a:srgbClr val="43515D"/>
                </a:solidFill>
                <a:latin typeface="Aptos"/>
                <a:ea typeface="Aptos"/>
                <a:cs typeface="Aptos"/>
              </a:defRPr>
            </a:pPr>
            <a:r>
              <a:rPr sz="1125" b="0">
                <a:solidFill>
                  <a:srgbClr val="43515D"/>
                </a:solidFill>
                <a:latin typeface="Aptos"/>
                <a:ea typeface="Aptos"/>
                <a:cs typeface="Aptos"/>
              </a:rPr>
              <a:t>Functional images (icon-only buttons) describe the action they trigger. Complex images (charts, diagrams with detail) need a short alt plus a longer text description nearby.</a:t>
            </a:r>
          </a:p>
        </p:txBody>
      </p:sp>
    </p:spTree>
    <p:extLst>
      <p:ext uri="{BB962C8B-B14F-4D97-AF65-F5344CB8AC3E}">
        <p14:creationId xmlns:p14="http://schemas.microsoft.com/office/powerpoint/2010/main" val="834822920"/>
      </p:ext>
    </p:extLst>
  </p:cSld>
</p:sld>
</file>

<file path=ppt/slides/slide1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95E2904-4CFB-41D1-8C30-2E2BFEA86BF8}"/>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1797BD-2DC8-47D7-B23B-2BB41E1A6ADF}"/>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EB59500F-3B47-453D-BF5C-C4F4B31956CC}"/>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CD059F38-EBF5-4E13-8EFE-78D3AA6F5840}"/>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Crop and fit</a:t>
            </a:r>
          </a:p>
        </p:txBody>
      </p:sp>
      <p:sp>
        <p:nvSpPr>
          <p:cNvPr id="5" name="">
            <a:extLst xmlns:a="http://schemas.openxmlformats.org/drawingml/2006/main">
              <a:ext uri="{FF2B5EF4-FFF2-40B4-BE49-F238E27FC236}">
                <a16:creationId xmlns:a16="http://schemas.microsoft.com/office/drawing/2014/main" id="{1A7BF8E7-E933-40AF-A5BD-ECCC60464287}"/>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object-fit and aspect-ratio</a:t>
            </a:r>
          </a:p>
        </p:txBody>
      </p:sp>
      <p:sp>
        <p:nvSpPr>
          <p:cNvPr id="6" name="">
            <a:extLst xmlns:a="http://schemas.openxmlformats.org/drawingml/2006/main">
              <a:ext uri="{FF2B5EF4-FFF2-40B4-BE49-F238E27FC236}">
                <a16:creationId xmlns:a16="http://schemas.microsoft.com/office/drawing/2014/main" id="{36800E6F-155F-46D4-8B39-9037A8F168D7}"/>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2A36705-DF5E-4CEE-9889-07A3E5D91E8B}"/>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94DC2EA0-61F7-4C59-904E-C6B6992F6044}"/>
              </a:ext>
            </a:extLst>
          </p:cNvPr>
          <p:cNvSpPr>
            <a:spLocks xmlns:a="http://schemas.openxmlformats.org/drawingml/2006/main" noGrp="1"/>
          </p:cNvSpPr>
          <p:nvPr/>
        </p:nvSpPr>
        <p:spPr>
          <a:xfrm xmlns:a="http://schemas.openxmlformats.org/drawingml/2006/main">
            <a:off x="533400" y="2000250"/>
            <a:ext cx="11125200" cy="1619250"/>
          </a:xfrm>
          <a:prstGeom xmlns:a="http://schemas.openxmlformats.org/drawingml/2006/main" prst="roundRect">
            <a:avLst>
              <a:gd name="adj" fmla="val 7059"/>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.card-media {</a:t>
            </a:r>
          </a:p>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  aspect-ratio: 16 / 9;</a:t>
            </a:r>
          </a:p>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  width: 100%;</a:t>
            </a:r>
          </a:p>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  object-fit: cover;</a:t>
            </a:r>
          </a:p>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  object-position: 50% 30%;</a:t>
            </a:r>
          </a:p>
          <a:p xmlns:a="http://schemas.openxmlformats.org/drawingml/2006/main">
            <a:pPr>
              <a:defRPr sz="1425" b="0">
                <a:solidFill>
                  <a:srgbClr val="EAF1F4"/>
                </a:solidFill>
                <a:latin typeface="Courier New"/>
                <a:ea typeface="Courier New"/>
                <a:cs typeface="Courier New"/>
              </a:defRPr>
            </a:pPr>
            <a:r>
              <a:rPr sz="1425" b="0">
                <a:solidFill>
                  <a:srgbClr val="EAF1F4"/>
                </a:solidFill>
                <a:latin typeface="Courier New"/>
                <a:ea typeface="Courier New"/>
                <a:cs typeface="Courier New"/>
              </a:rPr>
              <a:t>}</a:t>
            </a:r>
          </a:p>
        </p:txBody>
      </p:sp>
      <p:sp>
        <p:nvSpPr>
          <p:cNvPr id="9" name="">
            <a:extLst xmlns:a="http://schemas.openxmlformats.org/drawingml/2006/main">
              <a:ext uri="{FF2B5EF4-FFF2-40B4-BE49-F238E27FC236}">
                <a16:creationId xmlns:a16="http://schemas.microsoft.com/office/drawing/2014/main" id="{48CA5681-E4FA-452D-BA69-7B3356544288}"/>
              </a:ext>
            </a:extLst>
          </p:cNvPr>
          <p:cNvSpPr>
            <a:spLocks xmlns:a="http://schemas.openxmlformats.org/drawingml/2006/main" noGrp="1"/>
          </p:cNvSpPr>
          <p:nvPr/>
        </p:nvSpPr>
        <p:spPr>
          <a:xfrm xmlns:a="http://schemas.openxmlformats.org/drawingml/2006/main">
            <a:off x="533400" y="3810000"/>
            <a:ext cx="5391150" cy="2152650"/>
          </a:xfrm>
          <a:prstGeom xmlns:a="http://schemas.openxmlformats.org/drawingml/2006/main" prst="roundRect">
            <a:avLst>
              <a:gd name="adj" fmla="val 5310"/>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8029315C-A79E-4FF0-92ED-1E3223ECFF29}"/>
              </a:ext>
            </a:extLst>
          </p:cNvPr>
          <p:cNvSpPr>
            <a:spLocks xmlns:a="http://schemas.openxmlformats.org/drawingml/2006/main" noGrp="1"/>
          </p:cNvSpPr>
          <p:nvPr/>
        </p:nvSpPr>
        <p:spPr>
          <a:xfrm xmlns:a="http://schemas.openxmlformats.org/drawingml/2006/main">
            <a:off x="533400" y="3810000"/>
            <a:ext cx="57150" cy="21526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51A5EF-7A62-4A88-ABC3-4E6162F9966D}"/>
              </a:ext>
            </a:extLst>
          </p:cNvPr>
          <p:cNvSpPr>
            <a:spLocks xmlns:a="http://schemas.openxmlformats.org/drawingml/2006/main" noGrp="1"/>
          </p:cNvSpPr>
          <p:nvPr/>
        </p:nvSpPr>
        <p:spPr>
          <a:xfrm xmlns:a="http://schemas.openxmlformats.org/drawingml/2006/main">
            <a:off x="762000" y="396240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aspect-ratio</a:t>
            </a:r>
          </a:p>
        </p:txBody>
      </p:sp>
      <p:sp>
        <p:nvSpPr>
          <p:cNvPr id="12" name="">
            <a:extLst xmlns:a="http://schemas.openxmlformats.org/drawingml/2006/main">
              <a:ext uri="{FF2B5EF4-FFF2-40B4-BE49-F238E27FC236}">
                <a16:creationId xmlns:a16="http://schemas.microsoft.com/office/drawing/2014/main" id="{F34DD8DB-7F90-4621-8700-B7D9673687FE}"/>
              </a:ext>
            </a:extLst>
          </p:cNvPr>
          <p:cNvSpPr>
            <a:spLocks xmlns:a="http://schemas.openxmlformats.org/drawingml/2006/main" noGrp="1"/>
          </p:cNvSpPr>
          <p:nvPr/>
        </p:nvSpPr>
        <p:spPr>
          <a:xfrm xmlns:a="http://schemas.openxmlformats.org/drawingml/2006/main">
            <a:off x="762000" y="4267200"/>
            <a:ext cx="4972050" cy="1543050"/>
          </a:xfrm>
          <a:prstGeom xmlns:a="http://schemas.openxmlformats.org/drawingml/2006/main" prst="roundRect">
            <a:avLst>
              <a:gd name="adj" fmla="val 740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Reserves the box's shape before the image loads. Prevents the surrounding layout from resizing when the file arrives.</a:t>
            </a:r>
          </a:p>
        </p:txBody>
      </p:sp>
      <p:sp>
        <p:nvSpPr>
          <p:cNvPr id="13" name="">
            <a:extLst xmlns:a="http://schemas.openxmlformats.org/drawingml/2006/main">
              <a:ext uri="{FF2B5EF4-FFF2-40B4-BE49-F238E27FC236}">
                <a16:creationId xmlns:a16="http://schemas.microsoft.com/office/drawing/2014/main" id="{812DF9B6-DEA4-403B-8432-ABFD67B81287}"/>
              </a:ext>
            </a:extLst>
          </p:cNvPr>
          <p:cNvSpPr>
            <a:spLocks xmlns:a="http://schemas.openxmlformats.org/drawingml/2006/main" noGrp="1"/>
          </p:cNvSpPr>
          <p:nvPr/>
        </p:nvSpPr>
        <p:spPr>
          <a:xfrm xmlns:a="http://schemas.openxmlformats.org/drawingml/2006/main">
            <a:off x="6153150" y="3810000"/>
            <a:ext cx="5505450" cy="2152650"/>
          </a:xfrm>
          <a:prstGeom xmlns:a="http://schemas.openxmlformats.org/drawingml/2006/main" prst="roundRect">
            <a:avLst>
              <a:gd name="adj" fmla="val 5310"/>
            </a:avLst>
          </a:prstGeom>
          <a:solidFill xmlns:a="http://schemas.openxmlformats.org/drawingml/2006/main">
            <a:srgbClr val="FFFFFF"/>
          </a:solidFill>
          <a:ln xmlns:a="http://schemas.openxmlformats.org/drawingml/2006/main" w="9525">
            <a:solidFill>
              <a:srgbClr val="D7D0C4"/>
            </a:solidFill>
            <a:prstDash val="solid"/>
          </a:ln>
        </p:spPr>
      </p:sp>
      <p:sp>
        <p:nvSpPr>
          <p:cNvPr id="14" name="">
            <a:extLst xmlns:a="http://schemas.openxmlformats.org/drawingml/2006/main">
              <a:ext uri="{FF2B5EF4-FFF2-40B4-BE49-F238E27FC236}">
                <a16:creationId xmlns:a16="http://schemas.microsoft.com/office/drawing/2014/main" id="{8B05BA43-02AE-4224-A0F6-A69C923623BE}"/>
              </a:ext>
            </a:extLst>
          </p:cNvPr>
          <p:cNvSpPr>
            <a:spLocks xmlns:a="http://schemas.openxmlformats.org/drawingml/2006/main" noGrp="1"/>
          </p:cNvSpPr>
          <p:nvPr/>
        </p:nvSpPr>
        <p:spPr>
          <a:xfrm xmlns:a="http://schemas.openxmlformats.org/drawingml/2006/main">
            <a:off x="6153150" y="3810000"/>
            <a:ext cx="57150" cy="21526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1CC3C4-D499-4EF8-972B-A724611AC6B2}"/>
              </a:ext>
            </a:extLst>
          </p:cNvPr>
          <p:cNvSpPr>
            <a:spLocks xmlns:a="http://schemas.openxmlformats.org/drawingml/2006/main" noGrp="1"/>
          </p:cNvSpPr>
          <p:nvPr/>
        </p:nvSpPr>
        <p:spPr>
          <a:xfrm xmlns:a="http://schemas.openxmlformats.org/drawingml/2006/main">
            <a:off x="6381750" y="396240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object-fit: cover</a:t>
            </a:r>
          </a:p>
        </p:txBody>
      </p:sp>
      <p:sp>
        <p:nvSpPr>
          <p:cNvPr id="16" name="">
            <a:extLst xmlns:a="http://schemas.openxmlformats.org/drawingml/2006/main">
              <a:ext uri="{FF2B5EF4-FFF2-40B4-BE49-F238E27FC236}">
                <a16:creationId xmlns:a16="http://schemas.microsoft.com/office/drawing/2014/main" id="{A3E1AE92-7BC2-49B2-A8B0-5965D859518B}"/>
              </a:ext>
            </a:extLst>
          </p:cNvPr>
          <p:cNvSpPr>
            <a:spLocks xmlns:a="http://schemas.openxmlformats.org/drawingml/2006/main" noGrp="1"/>
          </p:cNvSpPr>
          <p:nvPr/>
        </p:nvSpPr>
        <p:spPr>
          <a:xfrm xmlns:a="http://schemas.openxmlformats.org/drawingml/2006/main">
            <a:off x="6381750" y="4267200"/>
            <a:ext cx="5086350" cy="1543050"/>
          </a:xfrm>
          <a:prstGeom xmlns:a="http://schemas.openxmlformats.org/drawingml/2006/main" prst="roundRect">
            <a:avLst>
              <a:gd name="adj" fmla="val 740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Fills the box, cropping overflow. object-position chooses which part of the image survives the crop.</a:t>
            </a:r>
          </a:p>
        </p:txBody>
      </p:sp>
    </p:spTree>
    <p:extLst>
      <p:ext uri="{BB962C8B-B14F-4D97-AF65-F5344CB8AC3E}">
        <p14:creationId xmlns:p14="http://schemas.microsoft.com/office/powerpoint/2010/main" val="1935896646"/>
      </p:ext>
    </p:extLst>
  </p:cSld>
</p:sld>
</file>

<file path=ppt/slides/slide1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4AA0BA4-5984-483C-90EA-916F536B48D1}"/>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A72B00-931B-414B-9223-891CD91C19D5}"/>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DC075CA2-ED58-4419-BD1E-BF5628B0FE90}"/>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FD95B151-D146-4118-BB3F-D12147BAD471}"/>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Crop decisions</a:t>
            </a:r>
          </a:p>
        </p:txBody>
      </p:sp>
      <p:sp>
        <p:nvSpPr>
          <p:cNvPr id="5" name="">
            <a:extLst xmlns:a="http://schemas.openxmlformats.org/drawingml/2006/main">
              <a:ext uri="{FF2B5EF4-FFF2-40B4-BE49-F238E27FC236}">
                <a16:creationId xmlns:a16="http://schemas.microsoft.com/office/drawing/2014/main" id="{3033F65C-17C6-4C58-9786-717617C7EEDD}"/>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Portrait crop: keep the subject, lose the noise</a:t>
            </a:r>
          </a:p>
        </p:txBody>
      </p:sp>
      <p:sp>
        <p:nvSpPr>
          <p:cNvPr id="6" name="">
            <a:extLst xmlns:a="http://schemas.openxmlformats.org/drawingml/2006/main">
              <a:ext uri="{FF2B5EF4-FFF2-40B4-BE49-F238E27FC236}">
                <a16:creationId xmlns:a16="http://schemas.microsoft.com/office/drawing/2014/main" id="{46262257-BB42-436B-8E38-D50F190AA7F9}"/>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7E8CDEB-906F-4701-A03B-0C273C9E8E65}"/>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747f38243a04c9b"/>
          <a:srcRect xmlns:a="http://schemas.openxmlformats.org/drawingml/2006/main" l="15152" t="0" r="15152" b="0"/>
          <a:stretch xmlns:a="http://schemas.openxmlformats.org/drawingml/2006/main">
            <a:fillRect l="0" t="0" r="0" b="0"/>
          </a:stretch>
        </p:blipFill>
        <p:spPr>
          <a:xfrm xmlns:a="http://schemas.openxmlformats.org/drawingml/2006/main">
            <a:off x="533400" y="1809750"/>
            <a:ext cx="4381500" cy="4191000"/>
          </a:xfrm>
          <a:prstGeom xmlns:a="http://schemas.openxmlformats.org/drawingml/2006/main" prst="roundRect">
            <a:avLst>
              <a:gd name="adj" fmla="val 2727"/>
            </a:avLst>
          </a:prstGeom>
        </p:spPr>
      </p:pic>
      <p:sp>
        <p:nvSpPr>
          <p:cNvPr id="9" name="">
            <a:extLst xmlns:a="http://schemas.openxmlformats.org/drawingml/2006/main">
              <a:ext uri="{FF2B5EF4-FFF2-40B4-BE49-F238E27FC236}">
                <a16:creationId xmlns:a16="http://schemas.microsoft.com/office/drawing/2014/main" id="{2C3B4F4E-D1DC-440D-9508-87128C6CF912}"/>
              </a:ext>
            </a:extLst>
          </p:cNvPr>
          <p:cNvSpPr>
            <a:spLocks xmlns:a="http://schemas.openxmlformats.org/drawingml/2006/main" noGrp="1"/>
          </p:cNvSpPr>
          <p:nvPr/>
        </p:nvSpPr>
        <p:spPr>
          <a:xfrm xmlns:a="http://schemas.openxmlformats.org/drawingml/2006/main">
            <a:off x="5257800" y="2000250"/>
            <a:ext cx="640080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23E71F29-6176-4F07-997D-4966C054346E}"/>
              </a:ext>
            </a:extLst>
          </p:cNvPr>
          <p:cNvSpPr>
            <a:spLocks xmlns:a="http://schemas.openxmlformats.org/drawingml/2006/main" noGrp="1"/>
          </p:cNvSpPr>
          <p:nvPr/>
        </p:nvSpPr>
        <p:spPr>
          <a:xfrm xmlns:a="http://schemas.openxmlformats.org/drawingml/2006/main">
            <a:off x="5257800" y="2000250"/>
            <a:ext cx="57150" cy="18097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D78474-32AF-45CF-93A0-A7832A346C9B}"/>
              </a:ext>
            </a:extLst>
          </p:cNvPr>
          <p:cNvSpPr>
            <a:spLocks xmlns:a="http://schemas.openxmlformats.org/drawingml/2006/main" noGrp="1"/>
          </p:cNvSpPr>
          <p:nvPr/>
        </p:nvSpPr>
        <p:spPr>
          <a:xfrm xmlns:a="http://schemas.openxmlformats.org/drawingml/2006/main">
            <a:off x="5486400" y="2152650"/>
            <a:ext cx="59817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The rule</a:t>
            </a:r>
          </a:p>
        </p:txBody>
      </p:sp>
      <p:sp>
        <p:nvSpPr>
          <p:cNvPr id="12" name="">
            <a:extLst xmlns:a="http://schemas.openxmlformats.org/drawingml/2006/main">
              <a:ext uri="{FF2B5EF4-FFF2-40B4-BE49-F238E27FC236}">
                <a16:creationId xmlns:a16="http://schemas.microsoft.com/office/drawing/2014/main" id="{A44473E0-254F-4FE2-8E82-D4F993ACB918}"/>
              </a:ext>
            </a:extLst>
          </p:cNvPr>
          <p:cNvSpPr>
            <a:spLocks xmlns:a="http://schemas.openxmlformats.org/drawingml/2006/main" noGrp="1"/>
          </p:cNvSpPr>
          <p:nvPr/>
        </p:nvSpPr>
        <p:spPr>
          <a:xfrm xmlns:a="http://schemas.openxmlformats.org/drawingml/2006/main">
            <a:off x="5486400" y="2457450"/>
            <a:ext cx="5981700" cy="1200150"/>
          </a:xfrm>
          <a:prstGeom xmlns:a="http://schemas.openxmlformats.org/drawingml/2006/main" prst="roundRect">
            <a:avLst>
              <a:gd name="adj" fmla="val 9524"/>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Crop so the eyes sit on the upper third line, not the exact centre. A face-safe crop keeps eyes, not the chin or hairline, as the anchor point when the box is later resized.</a:t>
            </a:r>
          </a:p>
        </p:txBody>
      </p:sp>
      <p:sp>
        <p:nvSpPr>
          <p:cNvPr id="13" name="">
            <a:extLst xmlns:a="http://schemas.openxmlformats.org/drawingml/2006/main">
              <a:ext uri="{FF2B5EF4-FFF2-40B4-BE49-F238E27FC236}">
                <a16:creationId xmlns:a16="http://schemas.microsoft.com/office/drawing/2014/main" id="{044F44AE-4866-4E7B-8EAE-5C8D75B43B4E}"/>
              </a:ext>
            </a:extLst>
          </p:cNvPr>
          <p:cNvSpPr>
            <a:spLocks xmlns:a="http://schemas.openxmlformats.org/drawingml/2006/main" noGrp="1"/>
          </p:cNvSpPr>
          <p:nvPr/>
        </p:nvSpPr>
        <p:spPr>
          <a:xfrm xmlns:a="http://schemas.openxmlformats.org/drawingml/2006/main">
            <a:off x="5257800" y="4000500"/>
            <a:ext cx="6400800" cy="1619250"/>
          </a:xfrm>
          <a:prstGeom xmlns:a="http://schemas.openxmlformats.org/drawingml/2006/main" prst="roundRect">
            <a:avLst>
              <a:gd name="adj" fmla="val 7059"/>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img.avatar-wide {</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aspect-ratio: 4 / 5;</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object-fit: cover;</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object-position: 50% 20%;</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a:t>
            </a:r>
          </a:p>
        </p:txBody>
      </p:sp>
    </p:spTree>
    <p:extLst>
      <p:ext uri="{BB962C8B-B14F-4D97-AF65-F5344CB8AC3E}">
        <p14:creationId xmlns:p14="http://schemas.microsoft.com/office/powerpoint/2010/main" val="1845167709"/>
      </p:ext>
    </p:extLst>
  </p:cSld>
</p:sld>
</file>

<file path=ppt/slides/slide1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A7714A1-ABFD-469F-BC55-19989EBD055F}"/>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57178B-EE10-41BC-999B-30A9D3799359}"/>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7B2908E5-DD09-4FAD-AEF4-BD6C291EE096}"/>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15</a:t>
            </a:r>
          </a:p>
        </p:txBody>
      </p:sp>
      <p:sp>
        <p:nvSpPr>
          <p:cNvPr id="4" name="">
            <a:extLst xmlns:a="http://schemas.openxmlformats.org/drawingml/2006/main">
              <a:ext uri="{FF2B5EF4-FFF2-40B4-BE49-F238E27FC236}">
                <a16:creationId xmlns:a16="http://schemas.microsoft.com/office/drawing/2014/main" id="{1C22B398-FAA4-4537-B9C3-2E1E6ADA2EEB}"/>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Crop decisions</a:t>
            </a:r>
          </a:p>
        </p:txBody>
      </p:sp>
      <p:sp>
        <p:nvSpPr>
          <p:cNvPr id="5" name="">
            <a:extLst xmlns:a="http://schemas.openxmlformats.org/drawingml/2006/main">
              <a:ext uri="{FF2B5EF4-FFF2-40B4-BE49-F238E27FC236}">
                <a16:creationId xmlns:a16="http://schemas.microsoft.com/office/drawing/2014/main" id="{BF709CA4-EDB0-4D9A-A075-E90197985F3E}"/>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Square avatar: a tighter ratio, same logic</a:t>
            </a:r>
          </a:p>
        </p:txBody>
      </p:sp>
      <p:sp>
        <p:nvSpPr>
          <p:cNvPr id="6" name="">
            <a:extLst xmlns:a="http://schemas.openxmlformats.org/drawingml/2006/main">
              <a:ext uri="{FF2B5EF4-FFF2-40B4-BE49-F238E27FC236}">
                <a16:creationId xmlns:a16="http://schemas.microsoft.com/office/drawing/2014/main" id="{C7F2EC9A-42E7-4AE0-855D-40EF7FB07DC3}"/>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B306EE-1FF4-4488-AB5C-66723F47F8A3}"/>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398dfffcba744b9"/>
          <a:srcRect xmlns:a="http://schemas.openxmlformats.org/drawingml/2006/main" l="16900" t="0" r="16900" b="0"/>
          <a:stretch xmlns:a="http://schemas.openxmlformats.org/drawingml/2006/main">
            <a:fillRect l="0" t="0" r="0" b="0"/>
          </a:stretch>
        </p:blipFill>
        <p:spPr>
          <a:xfrm xmlns:a="http://schemas.openxmlformats.org/drawingml/2006/main">
            <a:off x="533400" y="1809750"/>
            <a:ext cx="3619500" cy="3619500"/>
          </a:xfrm>
          <a:prstGeom xmlns:a="http://schemas.openxmlformats.org/drawingml/2006/main" prst="roundRect">
            <a:avLst>
              <a:gd name="adj" fmla="val 3158"/>
            </a:avLst>
          </a:prstGeom>
        </p:spPr>
      </p:pic>
      <p:sp>
        <p:nvSpPr>
          <p:cNvPr id="9" name="">
            <a:extLst xmlns:a="http://schemas.openxmlformats.org/drawingml/2006/main">
              <a:ext uri="{FF2B5EF4-FFF2-40B4-BE49-F238E27FC236}">
                <a16:creationId xmlns:a16="http://schemas.microsoft.com/office/drawing/2014/main" id="{4238890C-1F5C-4435-B6E6-8E38C53DACAF}"/>
              </a:ext>
            </a:extLst>
          </p:cNvPr>
          <p:cNvSpPr>
            <a:spLocks xmlns:a="http://schemas.openxmlformats.org/drawingml/2006/main" noGrp="1"/>
          </p:cNvSpPr>
          <p:nvPr/>
        </p:nvSpPr>
        <p:spPr>
          <a:xfrm xmlns:a="http://schemas.openxmlformats.org/drawingml/2006/main">
            <a:off x="4533900" y="2000250"/>
            <a:ext cx="712470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32F1587A-AD9E-45F9-97AA-EB66AAFE2038}"/>
              </a:ext>
            </a:extLst>
          </p:cNvPr>
          <p:cNvSpPr>
            <a:spLocks xmlns:a="http://schemas.openxmlformats.org/drawingml/2006/main" noGrp="1"/>
          </p:cNvSpPr>
          <p:nvPr/>
        </p:nvSpPr>
        <p:spPr>
          <a:xfrm xmlns:a="http://schemas.openxmlformats.org/drawingml/2006/main">
            <a:off x="4533900" y="2000250"/>
            <a:ext cx="57150" cy="1619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8D6927-CC1B-45D2-AA17-85136E065D99}"/>
              </a:ext>
            </a:extLst>
          </p:cNvPr>
          <p:cNvSpPr>
            <a:spLocks xmlns:a="http://schemas.openxmlformats.org/drawingml/2006/main" noGrp="1"/>
          </p:cNvSpPr>
          <p:nvPr/>
        </p:nvSpPr>
        <p:spPr>
          <a:xfrm xmlns:a="http://schemas.openxmlformats.org/drawingml/2006/main">
            <a:off x="4762500" y="2152650"/>
            <a:ext cx="67056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Why square is harder</a:t>
            </a:r>
          </a:p>
        </p:txBody>
      </p:sp>
      <p:sp>
        <p:nvSpPr>
          <p:cNvPr id="12" name="">
            <a:extLst xmlns:a="http://schemas.openxmlformats.org/drawingml/2006/main">
              <a:ext uri="{FF2B5EF4-FFF2-40B4-BE49-F238E27FC236}">
                <a16:creationId xmlns:a16="http://schemas.microsoft.com/office/drawing/2014/main" id="{396E3B71-AE12-4CBE-A232-044DECE50692}"/>
              </a:ext>
            </a:extLst>
          </p:cNvPr>
          <p:cNvSpPr>
            <a:spLocks xmlns:a="http://schemas.openxmlformats.org/drawingml/2006/main" noGrp="1"/>
          </p:cNvSpPr>
          <p:nvPr/>
        </p:nvSpPr>
        <p:spPr>
          <a:xfrm xmlns:a="http://schemas.openxmlformats.org/drawingml/2006/main">
            <a:off x="4762500" y="2457450"/>
            <a:ext cx="6705600" cy="1009650"/>
          </a:xfrm>
          <a:prstGeom xmlns:a="http://schemas.openxmlformats.org/drawingml/2006/main" prst="roundRect">
            <a:avLst>
              <a:gd name="adj" fmla="val 1132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A 1:1 crop leaves less room than 4:5 — the same face-safe rule now has to compete with cropping in from both sides, not just top and bottom.</a:t>
            </a:r>
          </a:p>
        </p:txBody>
      </p:sp>
      <p:sp>
        <p:nvSpPr>
          <p:cNvPr id="13" name="">
            <a:extLst xmlns:a="http://schemas.openxmlformats.org/drawingml/2006/main">
              <a:ext uri="{FF2B5EF4-FFF2-40B4-BE49-F238E27FC236}">
                <a16:creationId xmlns:a16="http://schemas.microsoft.com/office/drawing/2014/main" id="{179F0666-E2C0-4E57-AA09-45A3C41A47C0}"/>
              </a:ext>
            </a:extLst>
          </p:cNvPr>
          <p:cNvSpPr>
            <a:spLocks xmlns:a="http://schemas.openxmlformats.org/drawingml/2006/main" noGrp="1"/>
          </p:cNvSpPr>
          <p:nvPr/>
        </p:nvSpPr>
        <p:spPr>
          <a:xfrm xmlns:a="http://schemas.openxmlformats.org/drawingml/2006/main">
            <a:off x="4533900" y="3771900"/>
            <a:ext cx="7124700" cy="1619250"/>
          </a:xfrm>
          <a:prstGeom xmlns:a="http://schemas.openxmlformats.org/drawingml/2006/main" prst="roundRect">
            <a:avLst>
              <a:gd name="adj" fmla="val 7059"/>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img.avatar-square {</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aspect-ratio: 1 / 1;</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object-fit: cover;</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object-position: 50% 25%;</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a:t>
            </a:r>
          </a:p>
        </p:txBody>
      </p:sp>
      <p:sp>
        <p:nvSpPr>
          <p:cNvPr id="14" name="">
            <a:extLst xmlns:a="http://schemas.openxmlformats.org/drawingml/2006/main">
              <a:ext uri="{FF2B5EF4-FFF2-40B4-BE49-F238E27FC236}">
                <a16:creationId xmlns:a16="http://schemas.microsoft.com/office/drawing/2014/main" id="{066E8FFC-C1FC-4CF8-8D9F-4A26E743D982}"/>
              </a:ext>
            </a:extLst>
          </p:cNvPr>
          <p:cNvSpPr>
            <a:spLocks xmlns:a="http://schemas.openxmlformats.org/drawingml/2006/main" noGrp="1"/>
          </p:cNvSpPr>
          <p:nvPr/>
        </p:nvSpPr>
        <p:spPr>
          <a:xfrm xmlns:a="http://schemas.openxmlformats.org/drawingml/2006/main">
            <a:off x="4533900" y="5581650"/>
            <a:ext cx="71247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125" b="0">
                <a:solidFill>
                  <a:srgbClr val="43515D"/>
                </a:solidFill>
                <a:latin typeface="Aptos"/>
                <a:ea typeface="Aptos"/>
                <a:cs typeface="Aptos"/>
              </a:defRPr>
            </a:pPr>
            <a:r>
              <a:rPr sz="1125" b="0">
                <a:solidFill>
                  <a:srgbClr val="43515D"/>
                </a:solidFill>
                <a:latin typeface="Aptos"/>
                <a:ea typeface="Aptos"/>
                <a:cs typeface="Aptos"/>
              </a:rPr>
              <a:t>Same object-position idea, moved slightly further up to compensate for the narrower box.</a:t>
            </a:r>
          </a:p>
        </p:txBody>
      </p:sp>
    </p:spTree>
    <p:extLst>
      <p:ext uri="{BB962C8B-B14F-4D97-AF65-F5344CB8AC3E}">
        <p14:creationId xmlns:p14="http://schemas.microsoft.com/office/powerpoint/2010/main" val="271784477"/>
      </p:ext>
    </p:extLst>
  </p:cSld>
</p:sld>
</file>

<file path=ppt/slides/slide1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726507-86F4-4513-88A6-0D9B0D3956A7}"/>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10DA41-2239-48E7-BF27-EF036326AE78}"/>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C5C94163-CC2A-4504-BF3F-9C6C600F605E}"/>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16</a:t>
            </a:r>
          </a:p>
        </p:txBody>
      </p:sp>
      <p:sp>
        <p:nvSpPr>
          <p:cNvPr id="4" name="">
            <a:extLst xmlns:a="http://schemas.openxmlformats.org/drawingml/2006/main">
              <a:ext uri="{FF2B5EF4-FFF2-40B4-BE49-F238E27FC236}">
                <a16:creationId xmlns:a16="http://schemas.microsoft.com/office/drawing/2014/main" id="{F3100301-B3DA-4DB8-82C5-6CE704927B9D}"/>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Responsive images</a:t>
            </a:r>
          </a:p>
        </p:txBody>
      </p:sp>
      <p:sp>
        <p:nvSpPr>
          <p:cNvPr id="5" name="">
            <a:extLst xmlns:a="http://schemas.openxmlformats.org/drawingml/2006/main">
              <a:ext uri="{FF2B5EF4-FFF2-40B4-BE49-F238E27FC236}">
                <a16:creationId xmlns:a16="http://schemas.microsoft.com/office/drawing/2014/main" id="{D9D32C57-6306-44DD-A19E-396D6FF7EC52}"/>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srcset and sizes</a:t>
            </a:r>
          </a:p>
        </p:txBody>
      </p:sp>
      <p:sp>
        <p:nvSpPr>
          <p:cNvPr id="6" name="">
            <a:extLst xmlns:a="http://schemas.openxmlformats.org/drawingml/2006/main">
              <a:ext uri="{FF2B5EF4-FFF2-40B4-BE49-F238E27FC236}">
                <a16:creationId xmlns:a16="http://schemas.microsoft.com/office/drawing/2014/main" id="{A997CAE5-3E06-460B-B4DB-B367520F3BE2}"/>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FE0D1B-E09B-472C-9055-DB06109B7DDF}"/>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67CB3821-6185-42EA-A7FE-2E56C28291C1}"/>
              </a:ext>
            </a:extLst>
          </p:cNvPr>
          <p:cNvSpPr>
            <a:spLocks xmlns:a="http://schemas.openxmlformats.org/drawingml/2006/main" noGrp="1"/>
          </p:cNvSpPr>
          <p:nvPr/>
        </p:nvSpPr>
        <p:spPr>
          <a:xfrm xmlns:a="http://schemas.openxmlformats.org/drawingml/2006/main">
            <a:off x="533400" y="2000250"/>
            <a:ext cx="11125200" cy="2476500"/>
          </a:xfrm>
          <a:prstGeom xmlns:a="http://schemas.openxmlformats.org/drawingml/2006/main" prst="roundRect">
            <a:avLst>
              <a:gd name="adj" fmla="val 4615"/>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&lt;img</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src="hero-800.jpg"</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srcset="hero-480.jpg 480w,</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hero-800.jpg 800w,</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hero-1600.jpg 1600w"</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sizes="(min-width: 60em) 33vw, 100vw"</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alt="…"&gt;</a:t>
            </a:r>
          </a:p>
        </p:txBody>
      </p:sp>
      <p:sp>
        <p:nvSpPr>
          <p:cNvPr id="9" name="">
            <a:extLst xmlns:a="http://schemas.openxmlformats.org/drawingml/2006/main">
              <a:ext uri="{FF2B5EF4-FFF2-40B4-BE49-F238E27FC236}">
                <a16:creationId xmlns:a16="http://schemas.microsoft.com/office/drawing/2014/main" id="{2FCBD166-246C-4C49-9AAF-CBFBB0F2B1D0}"/>
              </a:ext>
            </a:extLst>
          </p:cNvPr>
          <p:cNvSpPr>
            <a:spLocks xmlns:a="http://schemas.openxmlformats.org/drawingml/2006/main" noGrp="1"/>
          </p:cNvSpPr>
          <p:nvPr/>
        </p:nvSpPr>
        <p:spPr>
          <a:xfrm xmlns:a="http://schemas.openxmlformats.org/drawingml/2006/main">
            <a:off x="533400" y="4667250"/>
            <a:ext cx="111252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EBD5E5EA-716E-4EE7-87E0-81A9D807C268}"/>
              </a:ext>
            </a:extLst>
          </p:cNvPr>
          <p:cNvSpPr>
            <a:spLocks xmlns:a="http://schemas.openxmlformats.org/drawingml/2006/main" noGrp="1"/>
          </p:cNvSpPr>
          <p:nvPr/>
        </p:nvSpPr>
        <p:spPr>
          <a:xfrm xmlns:a="http://schemas.openxmlformats.org/drawingml/2006/main">
            <a:off x="533400" y="46672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C27E768-F32D-4D07-9492-0E6E5D47EF89}"/>
              </a:ext>
            </a:extLst>
          </p:cNvPr>
          <p:cNvSpPr>
            <a:spLocks xmlns:a="http://schemas.openxmlformats.org/drawingml/2006/main" noGrp="1"/>
          </p:cNvSpPr>
          <p:nvPr/>
        </p:nvSpPr>
        <p:spPr>
          <a:xfrm xmlns:a="http://schemas.openxmlformats.org/drawingml/2006/main">
            <a:off x="762000" y="4819650"/>
            <a:ext cx="107061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How the browser decides</a:t>
            </a:r>
          </a:p>
        </p:txBody>
      </p:sp>
      <p:sp>
        <p:nvSpPr>
          <p:cNvPr id="12" name="">
            <a:extLst xmlns:a="http://schemas.openxmlformats.org/drawingml/2006/main">
              <a:ext uri="{FF2B5EF4-FFF2-40B4-BE49-F238E27FC236}">
                <a16:creationId xmlns:a16="http://schemas.microsoft.com/office/drawing/2014/main" id="{4219794F-350C-4BBB-AC9D-0D49C3D0C099}"/>
              </a:ext>
            </a:extLst>
          </p:cNvPr>
          <p:cNvSpPr>
            <a:spLocks xmlns:a="http://schemas.openxmlformats.org/drawingml/2006/main" noGrp="1"/>
          </p:cNvSpPr>
          <p:nvPr/>
        </p:nvSpPr>
        <p:spPr>
          <a:xfrm xmlns:a="http://schemas.openxmlformats.org/drawingml/2006/main">
            <a:off x="762000" y="5124450"/>
            <a:ext cx="10706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srcset lists candidate files with their real pixel width (480w). sizes tells the browser how wide the image will actually be laid out at the current viewport, so it can pick the smallest file that is still sharp enough — before it knows the final layout.</a:t>
            </a:r>
          </a:p>
        </p:txBody>
      </p:sp>
    </p:spTree>
    <p:extLst>
      <p:ext uri="{BB962C8B-B14F-4D97-AF65-F5344CB8AC3E}">
        <p14:creationId xmlns:p14="http://schemas.microsoft.com/office/powerpoint/2010/main" val="425286857"/>
      </p:ext>
    </p:extLst>
  </p:cSld>
</p:sld>
</file>

<file path=ppt/slides/slide1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D4737BC-F99C-4CB8-BA8E-C7B602C84763}"/>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0641CE-537B-4C8E-A48B-7B989384CD20}"/>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84CD4E0D-9C0C-470B-B15D-4F1EEC6D8CC0}"/>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17</a:t>
            </a:r>
          </a:p>
        </p:txBody>
      </p:sp>
      <p:sp>
        <p:nvSpPr>
          <p:cNvPr id="4" name="">
            <a:extLst xmlns:a="http://schemas.openxmlformats.org/drawingml/2006/main">
              <a:ext uri="{FF2B5EF4-FFF2-40B4-BE49-F238E27FC236}">
                <a16:creationId xmlns:a16="http://schemas.microsoft.com/office/drawing/2014/main" id="{4B3AE89A-D61C-4014-9FC8-46867795B9E3}"/>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Responsive images</a:t>
            </a:r>
          </a:p>
        </p:txBody>
      </p:sp>
      <p:sp>
        <p:nvSpPr>
          <p:cNvPr id="5" name="">
            <a:extLst xmlns:a="http://schemas.openxmlformats.org/drawingml/2006/main">
              <a:ext uri="{FF2B5EF4-FFF2-40B4-BE49-F238E27FC236}">
                <a16:creationId xmlns:a16="http://schemas.microsoft.com/office/drawing/2014/main" id="{F353B90B-CB1A-4787-BCD0-682F5D092FE5}"/>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picture/source: art direction and modern formats</a:t>
            </a:r>
          </a:p>
        </p:txBody>
      </p:sp>
      <p:sp>
        <p:nvSpPr>
          <p:cNvPr id="6" name="">
            <a:extLst xmlns:a="http://schemas.openxmlformats.org/drawingml/2006/main">
              <a:ext uri="{FF2B5EF4-FFF2-40B4-BE49-F238E27FC236}">
                <a16:creationId xmlns:a16="http://schemas.microsoft.com/office/drawing/2014/main" id="{AACD514F-B3B3-4DDF-A12C-18DAA08B4514}"/>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0826D0-1DEF-485B-8246-11F687AAABE4}"/>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8FF40342-4996-4CB3-A212-78E89AC5459C}"/>
              </a:ext>
            </a:extLst>
          </p:cNvPr>
          <p:cNvSpPr>
            <a:spLocks xmlns:a="http://schemas.openxmlformats.org/drawingml/2006/main" noGrp="1"/>
          </p:cNvSpPr>
          <p:nvPr/>
        </p:nvSpPr>
        <p:spPr>
          <a:xfrm xmlns:a="http://schemas.openxmlformats.org/drawingml/2006/main">
            <a:off x="533400" y="2000250"/>
            <a:ext cx="11125200" cy="2095500"/>
          </a:xfrm>
          <a:prstGeom xmlns:a="http://schemas.openxmlformats.org/drawingml/2006/main" prst="roundRect">
            <a:avLst>
              <a:gd name="adj" fmla="val 5455"/>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&lt;picture&gt;</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&lt;source type="image/avif" srcset="hero.avif"&gt;</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&lt;source type="image/webp" srcset="hero.webp"&gt;</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  &lt;img src="hero.jpg" alt="…" width="1600" height="900"&gt;</a:t>
            </a:r>
          </a:p>
          <a:p xmlns:a="http://schemas.openxmlformats.org/drawingml/2006/main">
            <a:pPr>
              <a:defRPr sz="1350" b="0">
                <a:solidFill>
                  <a:srgbClr val="EAF1F4"/>
                </a:solidFill>
                <a:latin typeface="Courier New"/>
                <a:ea typeface="Courier New"/>
                <a:cs typeface="Courier New"/>
              </a:defRPr>
            </a:pPr>
            <a:r>
              <a:rPr sz="1350" b="0">
                <a:solidFill>
                  <a:srgbClr val="EAF1F4"/>
                </a:solidFill>
                <a:latin typeface="Courier New"/>
                <a:ea typeface="Courier New"/>
                <a:cs typeface="Courier New"/>
              </a:rPr>
              <a:t>&lt;/picture&gt;</a:t>
            </a:r>
          </a:p>
        </p:txBody>
      </p:sp>
      <p:sp>
        <p:nvSpPr>
          <p:cNvPr id="9" name="">
            <a:extLst xmlns:a="http://schemas.openxmlformats.org/drawingml/2006/main">
              <a:ext uri="{FF2B5EF4-FFF2-40B4-BE49-F238E27FC236}">
                <a16:creationId xmlns:a16="http://schemas.microsoft.com/office/drawing/2014/main" id="{21A45785-72F1-4878-A2EE-3FA459356F48}"/>
              </a:ext>
            </a:extLst>
          </p:cNvPr>
          <p:cNvSpPr>
            <a:spLocks xmlns:a="http://schemas.openxmlformats.org/drawingml/2006/main" noGrp="1"/>
          </p:cNvSpPr>
          <p:nvPr/>
        </p:nvSpPr>
        <p:spPr>
          <a:xfrm xmlns:a="http://schemas.openxmlformats.org/drawingml/2006/main">
            <a:off x="533400" y="4286250"/>
            <a:ext cx="53911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520C32A6-3BAA-4143-A2E6-8CD6DB63078D}"/>
              </a:ext>
            </a:extLst>
          </p:cNvPr>
          <p:cNvSpPr>
            <a:spLocks xmlns:a="http://schemas.openxmlformats.org/drawingml/2006/main" noGrp="1"/>
          </p:cNvSpPr>
          <p:nvPr/>
        </p:nvSpPr>
        <p:spPr>
          <a:xfrm xmlns:a="http://schemas.openxmlformats.org/drawingml/2006/main">
            <a:off x="533400" y="4286250"/>
            <a:ext cx="57150" cy="1619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82E83C-9CE6-4EB9-B04E-D4A33D25E53B}"/>
              </a:ext>
            </a:extLst>
          </p:cNvPr>
          <p:cNvSpPr>
            <a:spLocks xmlns:a="http://schemas.openxmlformats.org/drawingml/2006/main" noGrp="1"/>
          </p:cNvSpPr>
          <p:nvPr/>
        </p:nvSpPr>
        <p:spPr>
          <a:xfrm xmlns:a="http://schemas.openxmlformats.org/drawingml/2006/main">
            <a:off x="762000" y="443865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Format fallback</a:t>
            </a:r>
          </a:p>
        </p:txBody>
      </p:sp>
      <p:sp>
        <p:nvSpPr>
          <p:cNvPr id="12" name="">
            <a:extLst xmlns:a="http://schemas.openxmlformats.org/drawingml/2006/main">
              <a:ext uri="{FF2B5EF4-FFF2-40B4-BE49-F238E27FC236}">
                <a16:creationId xmlns:a16="http://schemas.microsoft.com/office/drawing/2014/main" id="{31AED9F9-94ED-46CF-8AF6-861A332C3C1A}"/>
              </a:ext>
            </a:extLst>
          </p:cNvPr>
          <p:cNvSpPr>
            <a:spLocks xmlns:a="http://schemas.openxmlformats.org/drawingml/2006/main" noGrp="1"/>
          </p:cNvSpPr>
          <p:nvPr/>
        </p:nvSpPr>
        <p:spPr>
          <a:xfrm xmlns:a="http://schemas.openxmlformats.org/drawingml/2006/main">
            <a:off x="762000" y="4743450"/>
            <a:ext cx="4972050" cy="1009650"/>
          </a:xfrm>
          <a:prstGeom xmlns:a="http://schemas.openxmlformats.org/drawingml/2006/main" prst="roundRect">
            <a:avLst>
              <a:gd name="adj" fmla="val 1132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The browser picks the first &lt;source&gt; it can decode. AVIF and WebP are typically 25-50% smaller than JPEG at equal visual quality; the &lt;img&gt; is the guaranteed fallback.</a:t>
            </a:r>
          </a:p>
        </p:txBody>
      </p:sp>
      <p:sp>
        <p:nvSpPr>
          <p:cNvPr id="13" name="">
            <a:extLst xmlns:a="http://schemas.openxmlformats.org/drawingml/2006/main">
              <a:ext uri="{FF2B5EF4-FFF2-40B4-BE49-F238E27FC236}">
                <a16:creationId xmlns:a16="http://schemas.microsoft.com/office/drawing/2014/main" id="{877603D6-65C8-4038-873A-BBA19044F1B6}"/>
              </a:ext>
            </a:extLst>
          </p:cNvPr>
          <p:cNvSpPr>
            <a:spLocks xmlns:a="http://schemas.openxmlformats.org/drawingml/2006/main" noGrp="1"/>
          </p:cNvSpPr>
          <p:nvPr/>
        </p:nvSpPr>
        <p:spPr>
          <a:xfrm xmlns:a="http://schemas.openxmlformats.org/drawingml/2006/main">
            <a:off x="6153150" y="4286250"/>
            <a:ext cx="5505450" cy="1619250"/>
          </a:xfrm>
          <a:prstGeom xmlns:a="http://schemas.openxmlformats.org/drawingml/2006/main" prst="roundRect">
            <a:avLst>
              <a:gd name="adj" fmla="val 7059"/>
            </a:avLst>
          </a:prstGeom>
          <a:solidFill xmlns:a="http://schemas.openxmlformats.org/drawingml/2006/main">
            <a:srgbClr val="FFFFFF"/>
          </a:solidFill>
          <a:ln xmlns:a="http://schemas.openxmlformats.org/drawingml/2006/main" w="9525">
            <a:solidFill>
              <a:srgbClr val="D7D0C4"/>
            </a:solidFill>
            <a:prstDash val="solid"/>
          </a:ln>
        </p:spPr>
      </p:sp>
      <p:sp>
        <p:nvSpPr>
          <p:cNvPr id="14" name="">
            <a:extLst xmlns:a="http://schemas.openxmlformats.org/drawingml/2006/main">
              <a:ext uri="{FF2B5EF4-FFF2-40B4-BE49-F238E27FC236}">
                <a16:creationId xmlns:a16="http://schemas.microsoft.com/office/drawing/2014/main" id="{7E0116F4-2395-4AB2-BD6C-3BDB94C1D5A6}"/>
              </a:ext>
            </a:extLst>
          </p:cNvPr>
          <p:cNvSpPr>
            <a:spLocks xmlns:a="http://schemas.openxmlformats.org/drawingml/2006/main" noGrp="1"/>
          </p:cNvSpPr>
          <p:nvPr/>
        </p:nvSpPr>
        <p:spPr>
          <a:xfrm xmlns:a="http://schemas.openxmlformats.org/drawingml/2006/main">
            <a:off x="6153150" y="4286250"/>
            <a:ext cx="57150" cy="1619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150BCA2-EC50-46AC-BA84-697FCF148AA7}"/>
              </a:ext>
            </a:extLst>
          </p:cNvPr>
          <p:cNvSpPr>
            <a:spLocks xmlns:a="http://schemas.openxmlformats.org/drawingml/2006/main" noGrp="1"/>
          </p:cNvSpPr>
          <p:nvPr/>
        </p:nvSpPr>
        <p:spPr>
          <a:xfrm xmlns:a="http://schemas.openxmlformats.org/drawingml/2006/main">
            <a:off x="6381750" y="443865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Art direction</a:t>
            </a:r>
          </a:p>
        </p:txBody>
      </p:sp>
      <p:sp>
        <p:nvSpPr>
          <p:cNvPr id="16" name="">
            <a:extLst xmlns:a="http://schemas.openxmlformats.org/drawingml/2006/main">
              <a:ext uri="{FF2B5EF4-FFF2-40B4-BE49-F238E27FC236}">
                <a16:creationId xmlns:a16="http://schemas.microsoft.com/office/drawing/2014/main" id="{4E7F791B-E5C2-40EA-802E-2CB4DB794B8A}"/>
              </a:ext>
            </a:extLst>
          </p:cNvPr>
          <p:cNvSpPr>
            <a:spLocks xmlns:a="http://schemas.openxmlformats.org/drawingml/2006/main" noGrp="1"/>
          </p:cNvSpPr>
          <p:nvPr/>
        </p:nvSpPr>
        <p:spPr>
          <a:xfrm xmlns:a="http://schemas.openxmlformats.org/drawingml/2006/main">
            <a:off x="6381750" y="4743450"/>
            <a:ext cx="5086350" cy="1009650"/>
          </a:xfrm>
          <a:prstGeom xmlns:a="http://schemas.openxmlformats.org/drawingml/2006/main" prst="roundRect">
            <a:avLst>
              <a:gd name="adj" fmla="val 1132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picture/source can also swap to a different crop (not just a format) at a breakpoint — a portrait crop on mobile, a wide crop on desktop, from the same &lt;img&gt; alt text.</a:t>
            </a:r>
          </a:p>
        </p:txBody>
      </p:sp>
    </p:spTree>
    <p:extLst>
      <p:ext uri="{BB962C8B-B14F-4D97-AF65-F5344CB8AC3E}">
        <p14:creationId xmlns:p14="http://schemas.microsoft.com/office/powerpoint/2010/main" val="466266853"/>
      </p:ext>
    </p:extLst>
  </p:cSld>
</p:sld>
</file>

<file path=ppt/slides/slide18.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BEFE90-C036-4D9D-80C4-37D63B6F93CA}"/>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A2F194-44FD-43E9-A08F-68FAC55C87EB}"/>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2C00D7B9-58B0-46E7-92E9-E16B6E130414}"/>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E4920B23-26FB-4D41-9652-590CBDBDCC9C}"/>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Cumulative Layout Shift</a:t>
            </a:r>
          </a:p>
        </p:txBody>
      </p:sp>
      <p:sp>
        <p:nvSpPr>
          <p:cNvPr id="5" name="">
            <a:extLst xmlns:a="http://schemas.openxmlformats.org/drawingml/2006/main">
              <a:ext uri="{FF2B5EF4-FFF2-40B4-BE49-F238E27FC236}">
                <a16:creationId xmlns:a16="http://schemas.microsoft.com/office/drawing/2014/main" id="{4EB56DF1-6FE2-4534-9365-F0827D2FE5D2}"/>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Reserve the space before the image loads</a:t>
            </a:r>
          </a:p>
        </p:txBody>
      </p:sp>
      <p:sp>
        <p:nvSpPr>
          <p:cNvPr id="6" name="">
            <a:extLst xmlns:a="http://schemas.openxmlformats.org/drawingml/2006/main">
              <a:ext uri="{FF2B5EF4-FFF2-40B4-BE49-F238E27FC236}">
                <a16:creationId xmlns:a16="http://schemas.microsoft.com/office/drawing/2014/main" id="{5985B755-F3AC-4EF5-A945-8095F1D17B92}"/>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6BBA8AA-BF0D-4CF9-A371-C8D7C597F5F8}"/>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B64D0BE0-F095-4EC0-AE43-E52BA148FE55}"/>
              </a:ext>
            </a:extLst>
          </p:cNvPr>
          <p:cNvSpPr>
            <a:spLocks xmlns:a="http://schemas.openxmlformats.org/drawingml/2006/main" noGrp="1"/>
          </p:cNvSpPr>
          <p:nvPr/>
        </p:nvSpPr>
        <p:spPr>
          <a:xfrm xmlns:a="http://schemas.openxmlformats.org/drawingml/2006/main">
            <a:off x="533400" y="2000250"/>
            <a:ext cx="10477500" cy="285750"/>
          </a:xfrm>
          <a:prstGeom xmlns:a="http://schemas.openxmlformats.org/drawingml/2006/main" prst="roundRect">
            <a:avLst>
              <a:gd name="adj" fmla="val 40000"/>
            </a:avLst>
          </a:prstGeom>
          <a:noFill xmlns:a="http://schemas.openxmlformats.org/drawingml/2006/main"/>
          <a:ln xmlns:a="http://schemas.openxmlformats.org/drawingml/2006/main" w="0">
            <a:noFill/>
            <a:prstDash val="solid"/>
          </a:ln>
        </p:spPr>
        <p:txBody>
          <a:bodyPr xmlns:a="http://schemas.openxmlformats.org/drawingml/2006/main">
            <a:normAutofit fontScale="55711"/>
          </a:bodyPr>
          <a:lstStyle xmlns:a="http://schemas.openxmlformats.org/drawingml/2006/main"/>
          <a:p xmlns:a="http://schemas.openxmlformats.org/drawingml/2006/main">
            <a:pPr>
              <a:defRPr sz="1500" b="1">
                <a:solidFill>
                  <a:srgbClr val="18212A"/>
                </a:solidFill>
                <a:latin typeface="Aptos"/>
                <a:ea typeface="Aptos"/>
                <a:cs typeface="Aptos"/>
              </a:defRPr>
            </a:pPr>
            <a:r>
              <a:rPr sz="1500" b="1">
                <a:solidFill>
                  <a:srgbClr val="18212A"/>
                </a:solidFill>
                <a:latin typeface="Aptos"/>
                <a:ea typeface="Aptos"/>
                <a:cs typeface="Aptos"/>
              </a:rPr>
              <a:t>Layout shift score = impact fraction × distance fraction</a:t>
            </a:r>
          </a:p>
        </p:txBody>
      </p:sp>
      <p:sp>
        <p:nvSpPr>
          <p:cNvPr id="9" name="">
            <a:extLst xmlns:a="http://schemas.openxmlformats.org/drawingml/2006/main">
              <a:ext uri="{FF2B5EF4-FFF2-40B4-BE49-F238E27FC236}">
                <a16:creationId xmlns:a16="http://schemas.microsoft.com/office/drawing/2014/main" id="{033949CC-E02E-4DA8-8BFA-5F7A3A1B02E3}"/>
              </a:ext>
            </a:extLst>
          </p:cNvPr>
          <p:cNvSpPr>
            <a:spLocks xmlns:a="http://schemas.openxmlformats.org/drawingml/2006/main" noGrp="1"/>
          </p:cNvSpPr>
          <p:nvPr/>
        </p:nvSpPr>
        <p:spPr>
          <a:xfrm xmlns:a="http://schemas.openxmlformats.org/drawingml/2006/main">
            <a:off x="533400" y="2381250"/>
            <a:ext cx="11125200" cy="1809750"/>
          </a:xfrm>
          <a:prstGeom xmlns:a="http://schemas.openxmlformats.org/drawingml/2006/main" prst="roundRect">
            <a:avLst>
              <a:gd name="adj" fmla="val 6316"/>
            </a:avLst>
          </a:prstGeom>
          <a:solidFill xmlns:a="http://schemas.openxmlformats.org/drawingml/2006/main">
            <a:srgbClr val="1D2733"/>
          </a:solidFill>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275" b="0">
                <a:solidFill>
                  <a:srgbClr val="EAF1F4"/>
                </a:solidFill>
                <a:latin typeface="Courier New"/>
                <a:ea typeface="Courier New"/>
                <a:cs typeface="Courier New"/>
              </a:defRPr>
            </a:pPr>
            <a:r>
              <a:rPr sz="1275" b="0">
                <a:solidFill>
                  <a:srgbClr val="EAF1F4"/>
                </a:solidFill>
                <a:latin typeface="Courier New"/>
                <a:ea typeface="Courier New"/>
                <a:cs typeface="Courier New"/>
              </a:rPr>
              <a:t>Example: an image box covers 60% of the viewport.</a:t>
            </a:r>
          </a:p>
          <a:p xmlns:a="http://schemas.openxmlformats.org/drawingml/2006/main">
            <a:pPr>
              <a:defRPr sz="1275" b="0">
                <a:solidFill>
                  <a:srgbClr val="EAF1F4"/>
                </a:solidFill>
                <a:latin typeface="Courier New"/>
                <a:ea typeface="Courier New"/>
                <a:cs typeface="Courier New"/>
              </a:defRPr>
            </a:pPr>
            <a:r>
              <a:rPr sz="1275" b="0">
                <a:solidFill>
                  <a:srgbClr val="EAF1F4"/>
                </a:solidFill>
                <a:latin typeface="Courier New"/>
                <a:ea typeface="Courier New"/>
                <a:cs typeface="Courier New"/>
              </a:rPr>
              <a:t>It loads late and pushes content down by 180px in a 900px viewport.</a:t>
            </a:r>
          </a:p>
          <a:p xmlns:a="http://schemas.openxmlformats.org/drawingml/2006/main">
            <a:r>
              <a:t/>
            </a:r>
          </a:p>
          <a:p xmlns:a="http://schemas.openxmlformats.org/drawingml/2006/main">
            <a:pPr>
              <a:defRPr sz="1275" b="0">
                <a:solidFill>
                  <a:srgbClr val="EAF1F4"/>
                </a:solidFill>
                <a:latin typeface="Courier New"/>
                <a:ea typeface="Courier New"/>
                <a:cs typeface="Courier New"/>
              </a:defRPr>
            </a:pPr>
            <a:r>
              <a:rPr sz="1275" b="0">
                <a:solidFill>
                  <a:srgbClr val="EAF1F4"/>
                </a:solidFill>
                <a:latin typeface="Courier New"/>
                <a:ea typeface="Courier New"/>
                <a:cs typeface="Courier New"/>
              </a:rPr>
              <a:t>impact fraction  = 0.60</a:t>
            </a:r>
          </a:p>
          <a:p xmlns:a="http://schemas.openxmlformats.org/drawingml/2006/main">
            <a:pPr>
              <a:defRPr sz="1275" b="0">
                <a:solidFill>
                  <a:srgbClr val="EAF1F4"/>
                </a:solidFill>
                <a:latin typeface="Courier New"/>
                <a:ea typeface="Courier New"/>
                <a:cs typeface="Courier New"/>
              </a:defRPr>
            </a:pPr>
            <a:r>
              <a:rPr sz="1275" b="0">
                <a:solidFill>
                  <a:srgbClr val="EAF1F4"/>
                </a:solidFill>
                <a:latin typeface="Courier New"/>
                <a:ea typeface="Courier New"/>
                <a:cs typeface="Courier New"/>
              </a:rPr>
              <a:t>distance fraction = 180 / 900 = 0.20</a:t>
            </a:r>
          </a:p>
          <a:p xmlns:a="http://schemas.openxmlformats.org/drawingml/2006/main">
            <a:pPr>
              <a:defRPr sz="1275" b="0">
                <a:solidFill>
                  <a:srgbClr val="EAF1F4"/>
                </a:solidFill>
                <a:latin typeface="Courier New"/>
                <a:ea typeface="Courier New"/>
                <a:cs typeface="Courier New"/>
              </a:defRPr>
            </a:pPr>
            <a:r>
              <a:rPr sz="1275" b="0">
                <a:solidFill>
                  <a:srgbClr val="EAF1F4"/>
                </a:solidFill>
                <a:latin typeface="Courier New"/>
                <a:ea typeface="Courier New"/>
                <a:cs typeface="Courier New"/>
              </a:rPr>
              <a:t>layout shift score = 0.60 * 0.20 = 0.12</a:t>
            </a:r>
          </a:p>
        </p:txBody>
      </p:sp>
      <p:sp>
        <p:nvSpPr>
          <p:cNvPr id="10" name="">
            <a:extLst xmlns:a="http://schemas.openxmlformats.org/drawingml/2006/main">
              <a:ext uri="{FF2B5EF4-FFF2-40B4-BE49-F238E27FC236}">
                <a16:creationId xmlns:a16="http://schemas.microsoft.com/office/drawing/2014/main" id="{CA36BF14-79DA-4719-8BD2-402A54C96DE7}"/>
              </a:ext>
            </a:extLst>
          </p:cNvPr>
          <p:cNvSpPr>
            <a:spLocks xmlns:a="http://schemas.openxmlformats.org/drawingml/2006/main" noGrp="1"/>
          </p:cNvSpPr>
          <p:nvPr/>
        </p:nvSpPr>
        <p:spPr>
          <a:xfrm xmlns:a="http://schemas.openxmlformats.org/drawingml/2006/main">
            <a:off x="533400" y="4362450"/>
            <a:ext cx="11125200" cy="1524000"/>
          </a:xfrm>
          <a:prstGeom xmlns:a="http://schemas.openxmlformats.org/drawingml/2006/main" prst="roundRect">
            <a:avLst>
              <a:gd name="adj" fmla="val 7500"/>
            </a:avLst>
          </a:prstGeom>
          <a:solidFill xmlns:a="http://schemas.openxmlformats.org/drawingml/2006/main">
            <a:srgbClr val="FFFFFF"/>
          </a:solidFill>
          <a:ln xmlns:a="http://schemas.openxmlformats.org/drawingml/2006/main" w="9525">
            <a:solidFill>
              <a:srgbClr val="D7D0C4"/>
            </a:solidFill>
            <a:prstDash val="solid"/>
          </a:ln>
        </p:spPr>
      </p:sp>
      <p:sp>
        <p:nvSpPr>
          <p:cNvPr id="11" name="">
            <a:extLst xmlns:a="http://schemas.openxmlformats.org/drawingml/2006/main">
              <a:ext uri="{FF2B5EF4-FFF2-40B4-BE49-F238E27FC236}">
                <a16:creationId xmlns:a16="http://schemas.microsoft.com/office/drawing/2014/main" id="{C28DF5CE-9AC9-42E6-9864-A558EAF4E3F8}"/>
              </a:ext>
            </a:extLst>
          </p:cNvPr>
          <p:cNvSpPr>
            <a:spLocks xmlns:a="http://schemas.openxmlformats.org/drawingml/2006/main" noGrp="1"/>
          </p:cNvSpPr>
          <p:nvPr/>
        </p:nvSpPr>
        <p:spPr>
          <a:xfrm xmlns:a="http://schemas.openxmlformats.org/drawingml/2006/main">
            <a:off x="533400" y="4362450"/>
            <a:ext cx="57150" cy="15240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2A85FCA-4DC4-4A9A-8BEF-A9E3CF89A991}"/>
              </a:ext>
            </a:extLst>
          </p:cNvPr>
          <p:cNvSpPr>
            <a:spLocks xmlns:a="http://schemas.openxmlformats.org/drawingml/2006/main" noGrp="1"/>
          </p:cNvSpPr>
          <p:nvPr/>
        </p:nvSpPr>
        <p:spPr>
          <a:xfrm xmlns:a="http://schemas.openxmlformats.org/drawingml/2006/main">
            <a:off x="762000" y="4514850"/>
            <a:ext cx="107061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The fix</a:t>
            </a:r>
          </a:p>
        </p:txBody>
      </p:sp>
      <p:sp>
        <p:nvSpPr>
          <p:cNvPr id="13" name="">
            <a:extLst xmlns:a="http://schemas.openxmlformats.org/drawingml/2006/main">
              <a:ext uri="{FF2B5EF4-FFF2-40B4-BE49-F238E27FC236}">
                <a16:creationId xmlns:a16="http://schemas.microsoft.com/office/drawing/2014/main" id="{324BA73D-8F9F-4A01-84EF-30C526753AB1}"/>
              </a:ext>
            </a:extLst>
          </p:cNvPr>
          <p:cNvSpPr>
            <a:spLocks xmlns:a="http://schemas.openxmlformats.org/drawingml/2006/main" noGrp="1"/>
          </p:cNvSpPr>
          <p:nvPr/>
        </p:nvSpPr>
        <p:spPr>
          <a:xfrm xmlns:a="http://schemas.openxmlformats.org/drawingml/2006/main">
            <a:off x="762000" y="4819650"/>
            <a:ext cx="10706100" cy="914400"/>
          </a:xfrm>
          <a:prstGeom xmlns:a="http://schemas.openxmlformats.org/drawingml/2006/main" prst="roundRect">
            <a:avLst>
              <a:gd name="adj" fmla="val 125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Give the &lt;img&gt; explicit width and height attributes (or a CSS aspect-ratio). The browser then reserves 180px of space immediately, so impact fraction on load becomes 0 and no shift occurs — a single score of 0.12 already exceeds the 0.1 'good' CLS threshold, so this is not a minor issue.</a:t>
            </a:r>
          </a:p>
        </p:txBody>
      </p:sp>
    </p:spTree>
    <p:extLst>
      <p:ext uri="{BB962C8B-B14F-4D97-AF65-F5344CB8AC3E}">
        <p14:creationId xmlns:p14="http://schemas.microsoft.com/office/powerpoint/2010/main" val="1108580224"/>
      </p:ext>
    </p:extLst>
  </p:cSld>
</p:sld>
</file>

<file path=ppt/slides/slide19.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C5E9261-AEC8-4B83-A3AB-AA9D254F167D}"/>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91191F-A107-42B8-9BFF-DB05CECD3900}"/>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EE1A584B-7E44-4F28-9FFF-0C39F31A5531}"/>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EA055FF1-11B7-46A9-AE00-D39EC864FB9C}"/>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Alt text</a:t>
            </a:r>
          </a:p>
        </p:txBody>
      </p:sp>
      <p:sp>
        <p:nvSpPr>
          <p:cNvPr id="5" name="">
            <a:extLst xmlns:a="http://schemas.openxmlformats.org/drawingml/2006/main">
              <a:ext uri="{FF2B5EF4-FFF2-40B4-BE49-F238E27FC236}">
                <a16:creationId xmlns:a16="http://schemas.microsoft.com/office/drawing/2014/main" id="{59D3571B-BF49-4FCB-9D66-F2010C62909F}"/>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A decision tree before you write anything</a:t>
            </a:r>
          </a:p>
        </p:txBody>
      </p:sp>
      <p:sp>
        <p:nvSpPr>
          <p:cNvPr id="6" name="">
            <a:extLst xmlns:a="http://schemas.openxmlformats.org/drawingml/2006/main">
              <a:ext uri="{FF2B5EF4-FFF2-40B4-BE49-F238E27FC236}">
                <a16:creationId xmlns:a16="http://schemas.microsoft.com/office/drawing/2014/main" id="{9A9E76B0-8E1C-42B6-A7AD-C2A5E69D792C}"/>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4426A3-652D-4C19-A72B-8D726DDAB51D}"/>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376BA49F-CF5A-4A32-95A0-0CC466238ECF}"/>
              </a:ext>
            </a:extLst>
          </p:cNvPr>
          <p:cNvSpPr>
            <a:spLocks xmlns:a="http://schemas.openxmlformats.org/drawingml/2006/main" noGrp="1"/>
          </p:cNvSpPr>
          <p:nvPr/>
        </p:nvSpPr>
        <p:spPr>
          <a:xfrm xmlns:a="http://schemas.openxmlformats.org/drawingml/2006/main">
            <a:off x="533400" y="2038350"/>
            <a:ext cx="11125200" cy="323850"/>
          </a:xfrm>
          <a:prstGeom xmlns:a="http://schemas.openxmlformats.org/drawingml/2006/main" prst="roundRect">
            <a:avLst>
              <a:gd name="adj" fmla="val 35294"/>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E7B5ED0-3E23-4EEA-9883-05F509DF7F40}"/>
              </a:ext>
            </a:extLst>
          </p:cNvPr>
          <p:cNvSpPr>
            <a:spLocks xmlns:a="http://schemas.openxmlformats.org/drawingml/2006/main" noGrp="1"/>
          </p:cNvSpPr>
          <p:nvPr/>
        </p:nvSpPr>
        <p:spPr>
          <a:xfrm xmlns:a="http://schemas.openxmlformats.org/drawingml/2006/main">
            <a:off x="628650" y="2095500"/>
            <a:ext cx="1943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Role</a:t>
            </a:r>
          </a:p>
        </p:txBody>
      </p:sp>
      <p:sp>
        <p:nvSpPr>
          <p:cNvPr id="10" name="">
            <a:extLst xmlns:a="http://schemas.openxmlformats.org/drawingml/2006/main">
              <a:ext uri="{FF2B5EF4-FFF2-40B4-BE49-F238E27FC236}">
                <a16:creationId xmlns:a16="http://schemas.microsoft.com/office/drawing/2014/main" id="{E59C59FE-7F10-46D9-AD77-7F45121A301A}"/>
              </a:ext>
            </a:extLst>
          </p:cNvPr>
          <p:cNvSpPr>
            <a:spLocks xmlns:a="http://schemas.openxmlformats.org/drawingml/2006/main" noGrp="1"/>
          </p:cNvSpPr>
          <p:nvPr/>
        </p:nvSpPr>
        <p:spPr>
          <a:xfrm xmlns:a="http://schemas.openxmlformats.org/drawingml/2006/main">
            <a:off x="2724150" y="2095500"/>
            <a:ext cx="44196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Alt text rule</a:t>
            </a:r>
          </a:p>
        </p:txBody>
      </p:sp>
      <p:sp>
        <p:nvSpPr>
          <p:cNvPr id="11" name="">
            <a:extLst xmlns:a="http://schemas.openxmlformats.org/drawingml/2006/main">
              <a:ext uri="{FF2B5EF4-FFF2-40B4-BE49-F238E27FC236}">
                <a16:creationId xmlns:a16="http://schemas.microsoft.com/office/drawing/2014/main" id="{E3AF7729-45C9-4B38-8E82-879C9EC7F19B}"/>
              </a:ext>
            </a:extLst>
          </p:cNvPr>
          <p:cNvSpPr>
            <a:spLocks xmlns:a="http://schemas.openxmlformats.org/drawingml/2006/main" noGrp="1"/>
          </p:cNvSpPr>
          <p:nvPr/>
        </p:nvSpPr>
        <p:spPr>
          <a:xfrm xmlns:a="http://schemas.openxmlformats.org/drawingml/2006/main">
            <a:off x="7296150" y="2095500"/>
            <a:ext cx="4305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1">
                <a:solidFill>
                  <a:srgbClr val="FFFFFF"/>
                </a:solidFill>
                <a:latin typeface="Aptos"/>
                <a:ea typeface="Aptos"/>
                <a:cs typeface="Aptos"/>
              </a:defRPr>
            </a:pPr>
            <a:r>
              <a:rPr sz="1050" b="1">
                <a:solidFill>
                  <a:srgbClr val="FFFFFF"/>
                </a:solidFill>
                <a:latin typeface="Aptos"/>
                <a:ea typeface="Aptos"/>
                <a:cs typeface="Aptos"/>
              </a:rPr>
              <a:t>Example</a:t>
            </a:r>
          </a:p>
        </p:txBody>
      </p:sp>
      <p:sp>
        <p:nvSpPr>
          <p:cNvPr id="12" name="">
            <a:extLst xmlns:a="http://schemas.openxmlformats.org/drawingml/2006/main">
              <a:ext uri="{FF2B5EF4-FFF2-40B4-BE49-F238E27FC236}">
                <a16:creationId xmlns:a16="http://schemas.microsoft.com/office/drawing/2014/main" id="{D478746E-2745-4AC3-ACE4-66B43D8C05D0}"/>
              </a:ext>
            </a:extLst>
          </p:cNvPr>
          <p:cNvSpPr>
            <a:spLocks xmlns:a="http://schemas.openxmlformats.org/drawingml/2006/main" noGrp="1"/>
          </p:cNvSpPr>
          <p:nvPr/>
        </p:nvSpPr>
        <p:spPr>
          <a:xfrm xmlns:a="http://schemas.openxmlformats.org/drawingml/2006/main">
            <a:off x="628650" y="2419350"/>
            <a:ext cx="1943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Decorative</a:t>
            </a:r>
          </a:p>
        </p:txBody>
      </p:sp>
      <p:sp>
        <p:nvSpPr>
          <p:cNvPr id="13" name="">
            <a:extLst xmlns:a="http://schemas.openxmlformats.org/drawingml/2006/main">
              <a:ext uri="{FF2B5EF4-FFF2-40B4-BE49-F238E27FC236}">
                <a16:creationId xmlns:a16="http://schemas.microsoft.com/office/drawing/2014/main" id="{ABC57535-094C-45D8-B858-200C076C0B7B}"/>
              </a:ext>
            </a:extLst>
          </p:cNvPr>
          <p:cNvSpPr>
            <a:spLocks xmlns:a="http://schemas.openxmlformats.org/drawingml/2006/main" noGrp="1"/>
          </p:cNvSpPr>
          <p:nvPr/>
        </p:nvSpPr>
        <p:spPr>
          <a:xfrm xmlns:a="http://schemas.openxmlformats.org/drawingml/2006/main">
            <a:off x="2724150" y="2419350"/>
            <a:ext cx="44196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alt="" (empty, but present)</a:t>
            </a:r>
          </a:p>
        </p:txBody>
      </p:sp>
      <p:sp>
        <p:nvSpPr>
          <p:cNvPr id="14" name="">
            <a:extLst xmlns:a="http://schemas.openxmlformats.org/drawingml/2006/main">
              <a:ext uri="{FF2B5EF4-FFF2-40B4-BE49-F238E27FC236}">
                <a16:creationId xmlns:a16="http://schemas.microsoft.com/office/drawing/2014/main" id="{BB6F824C-EF40-4E08-9A97-183D1D0A431E}"/>
              </a:ext>
            </a:extLst>
          </p:cNvPr>
          <p:cNvSpPr>
            <a:spLocks xmlns:a="http://schemas.openxmlformats.org/drawingml/2006/main" noGrp="1"/>
          </p:cNvSpPr>
          <p:nvPr/>
        </p:nvSpPr>
        <p:spPr>
          <a:xfrm xmlns:a="http://schemas.openxmlformats.org/drawingml/2006/main">
            <a:off x="7296150" y="2419350"/>
            <a:ext cx="4305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Background texture, marble photo</a:t>
            </a:r>
          </a:p>
        </p:txBody>
      </p:sp>
      <p:sp>
        <p:nvSpPr>
          <p:cNvPr id="15" name="">
            <a:extLst xmlns:a="http://schemas.openxmlformats.org/drawingml/2006/main">
              <a:ext uri="{FF2B5EF4-FFF2-40B4-BE49-F238E27FC236}">
                <a16:creationId xmlns:a16="http://schemas.microsoft.com/office/drawing/2014/main" id="{22728B37-7A97-4514-805C-1C387361B4C2}"/>
              </a:ext>
            </a:extLst>
          </p:cNvPr>
          <p:cNvSpPr>
            <a:spLocks xmlns:a="http://schemas.openxmlformats.org/drawingml/2006/main" noGrp="1"/>
          </p:cNvSpPr>
          <p:nvPr/>
        </p:nvSpPr>
        <p:spPr>
          <a:xfrm xmlns:a="http://schemas.openxmlformats.org/drawingml/2006/main">
            <a:off x="533400" y="30194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05511A4-9209-4806-901C-323C0E0FDCA8}"/>
              </a:ext>
            </a:extLst>
          </p:cNvPr>
          <p:cNvSpPr>
            <a:spLocks xmlns:a="http://schemas.openxmlformats.org/drawingml/2006/main" noGrp="1"/>
          </p:cNvSpPr>
          <p:nvPr/>
        </p:nvSpPr>
        <p:spPr>
          <a:xfrm xmlns:a="http://schemas.openxmlformats.org/drawingml/2006/main">
            <a:off x="628650" y="3086100"/>
            <a:ext cx="1943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Informative</a:t>
            </a:r>
          </a:p>
        </p:txBody>
      </p:sp>
      <p:sp>
        <p:nvSpPr>
          <p:cNvPr id="17" name="">
            <a:extLst xmlns:a="http://schemas.openxmlformats.org/drawingml/2006/main">
              <a:ext uri="{FF2B5EF4-FFF2-40B4-BE49-F238E27FC236}">
                <a16:creationId xmlns:a16="http://schemas.microsoft.com/office/drawing/2014/main" id="{595C10FA-888C-403A-92D6-A1BD150DB606}"/>
              </a:ext>
            </a:extLst>
          </p:cNvPr>
          <p:cNvSpPr>
            <a:spLocks xmlns:a="http://schemas.openxmlformats.org/drawingml/2006/main" noGrp="1"/>
          </p:cNvSpPr>
          <p:nvPr/>
        </p:nvSpPr>
        <p:spPr>
          <a:xfrm xmlns:a="http://schemas.openxmlformats.org/drawingml/2006/main">
            <a:off x="2724150" y="3086100"/>
            <a:ext cx="44196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Describe what a sighted reader learns</a:t>
            </a:r>
          </a:p>
        </p:txBody>
      </p:sp>
      <p:sp>
        <p:nvSpPr>
          <p:cNvPr id="18" name="">
            <a:extLst xmlns:a="http://schemas.openxmlformats.org/drawingml/2006/main">
              <a:ext uri="{FF2B5EF4-FFF2-40B4-BE49-F238E27FC236}">
                <a16:creationId xmlns:a16="http://schemas.microsoft.com/office/drawing/2014/main" id="{05E6B4C8-461A-4F6F-AD1C-4493ECA5F488}"/>
              </a:ext>
            </a:extLst>
          </p:cNvPr>
          <p:cNvSpPr>
            <a:spLocks xmlns:a="http://schemas.openxmlformats.org/drawingml/2006/main" noGrp="1"/>
          </p:cNvSpPr>
          <p:nvPr/>
        </p:nvSpPr>
        <p:spPr>
          <a:xfrm xmlns:a="http://schemas.openxmlformats.org/drawingml/2006/main">
            <a:off x="7296150" y="3086100"/>
            <a:ext cx="4305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"HSL colour model shown as a cylinder…"</a:t>
            </a:r>
          </a:p>
        </p:txBody>
      </p:sp>
      <p:sp>
        <p:nvSpPr>
          <p:cNvPr id="19" name="">
            <a:extLst xmlns:a="http://schemas.openxmlformats.org/drawingml/2006/main">
              <a:ext uri="{FF2B5EF4-FFF2-40B4-BE49-F238E27FC236}">
                <a16:creationId xmlns:a16="http://schemas.microsoft.com/office/drawing/2014/main" id="{20E7EB11-B957-4FD4-841D-318DF4B5A853}"/>
              </a:ext>
            </a:extLst>
          </p:cNvPr>
          <p:cNvSpPr>
            <a:spLocks xmlns:a="http://schemas.openxmlformats.org/drawingml/2006/main" noGrp="1"/>
          </p:cNvSpPr>
          <p:nvPr/>
        </p:nvSpPr>
        <p:spPr>
          <a:xfrm xmlns:a="http://schemas.openxmlformats.org/drawingml/2006/main">
            <a:off x="533400" y="36861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EC3521A-02EB-4C12-BC72-17005CA431F3}"/>
              </a:ext>
            </a:extLst>
          </p:cNvPr>
          <p:cNvSpPr>
            <a:spLocks xmlns:a="http://schemas.openxmlformats.org/drawingml/2006/main" noGrp="1"/>
          </p:cNvSpPr>
          <p:nvPr/>
        </p:nvSpPr>
        <p:spPr>
          <a:xfrm xmlns:a="http://schemas.openxmlformats.org/drawingml/2006/main">
            <a:off x="628650" y="3752850"/>
            <a:ext cx="1943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Functional</a:t>
            </a:r>
          </a:p>
        </p:txBody>
      </p:sp>
      <p:sp>
        <p:nvSpPr>
          <p:cNvPr id="21" name="">
            <a:extLst xmlns:a="http://schemas.openxmlformats.org/drawingml/2006/main">
              <a:ext uri="{FF2B5EF4-FFF2-40B4-BE49-F238E27FC236}">
                <a16:creationId xmlns:a16="http://schemas.microsoft.com/office/drawing/2014/main" id="{BEF9FD46-70B3-42FF-986F-32A33845C5DA}"/>
              </a:ext>
            </a:extLst>
          </p:cNvPr>
          <p:cNvSpPr>
            <a:spLocks xmlns:a="http://schemas.openxmlformats.org/drawingml/2006/main" noGrp="1"/>
          </p:cNvSpPr>
          <p:nvPr/>
        </p:nvSpPr>
        <p:spPr>
          <a:xfrm xmlns:a="http://schemas.openxmlformats.org/drawingml/2006/main">
            <a:off x="2724150" y="3752850"/>
            <a:ext cx="44196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Describe the action, not the picture</a:t>
            </a:r>
          </a:p>
        </p:txBody>
      </p:sp>
      <p:sp>
        <p:nvSpPr>
          <p:cNvPr id="22" name="">
            <a:extLst xmlns:a="http://schemas.openxmlformats.org/drawingml/2006/main">
              <a:ext uri="{FF2B5EF4-FFF2-40B4-BE49-F238E27FC236}">
                <a16:creationId xmlns:a16="http://schemas.microsoft.com/office/drawing/2014/main" id="{C23A53A1-AED2-44B9-9479-B7D1EC9FAE21}"/>
              </a:ext>
            </a:extLst>
          </p:cNvPr>
          <p:cNvSpPr>
            <a:spLocks xmlns:a="http://schemas.openxmlformats.org/drawingml/2006/main" noGrp="1"/>
          </p:cNvSpPr>
          <p:nvPr/>
        </p:nvSpPr>
        <p:spPr>
          <a:xfrm xmlns:a="http://schemas.openxmlformats.org/drawingml/2006/main">
            <a:off x="7296150" y="3752850"/>
            <a:ext cx="4305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"Search" for a magnifying-glass icon button</a:t>
            </a:r>
          </a:p>
        </p:txBody>
      </p:sp>
      <p:sp>
        <p:nvSpPr>
          <p:cNvPr id="23" name="">
            <a:extLst xmlns:a="http://schemas.openxmlformats.org/drawingml/2006/main">
              <a:ext uri="{FF2B5EF4-FFF2-40B4-BE49-F238E27FC236}">
                <a16:creationId xmlns:a16="http://schemas.microsoft.com/office/drawing/2014/main" id="{C7EF0745-A050-4B72-9615-181978731E88}"/>
              </a:ext>
            </a:extLst>
          </p:cNvPr>
          <p:cNvSpPr>
            <a:spLocks xmlns:a="http://schemas.openxmlformats.org/drawingml/2006/main" noGrp="1"/>
          </p:cNvSpPr>
          <p:nvPr/>
        </p:nvSpPr>
        <p:spPr>
          <a:xfrm xmlns:a="http://schemas.openxmlformats.org/drawingml/2006/main">
            <a:off x="533400" y="43529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9399914-99CB-4506-BF4D-3C1D9C3C56D8}"/>
              </a:ext>
            </a:extLst>
          </p:cNvPr>
          <p:cNvSpPr>
            <a:spLocks xmlns:a="http://schemas.openxmlformats.org/drawingml/2006/main" noGrp="1"/>
          </p:cNvSpPr>
          <p:nvPr/>
        </p:nvSpPr>
        <p:spPr>
          <a:xfrm xmlns:a="http://schemas.openxmlformats.org/drawingml/2006/main">
            <a:off x="628650" y="4419600"/>
            <a:ext cx="1943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Complex</a:t>
            </a:r>
          </a:p>
        </p:txBody>
      </p:sp>
      <p:sp>
        <p:nvSpPr>
          <p:cNvPr id="25" name="">
            <a:extLst xmlns:a="http://schemas.openxmlformats.org/drawingml/2006/main">
              <a:ext uri="{FF2B5EF4-FFF2-40B4-BE49-F238E27FC236}">
                <a16:creationId xmlns:a16="http://schemas.microsoft.com/office/drawing/2014/main" id="{C65A1AC2-F848-41D6-8163-D75D74FA5763}"/>
              </a:ext>
            </a:extLst>
          </p:cNvPr>
          <p:cNvSpPr>
            <a:spLocks xmlns:a="http://schemas.openxmlformats.org/drawingml/2006/main" noGrp="1"/>
          </p:cNvSpPr>
          <p:nvPr/>
        </p:nvSpPr>
        <p:spPr>
          <a:xfrm xmlns:a="http://schemas.openxmlformats.org/drawingml/2006/main">
            <a:off x="2724150" y="4419600"/>
            <a:ext cx="44196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Short alt + adjacent long description</a:t>
            </a:r>
          </a:p>
        </p:txBody>
      </p:sp>
      <p:sp>
        <p:nvSpPr>
          <p:cNvPr id="26" name="">
            <a:extLst xmlns:a="http://schemas.openxmlformats.org/drawingml/2006/main">
              <a:ext uri="{FF2B5EF4-FFF2-40B4-BE49-F238E27FC236}">
                <a16:creationId xmlns:a16="http://schemas.microsoft.com/office/drawing/2014/main" id="{D5B766BF-95DD-4EB4-9C5E-BBDAE5267360}"/>
              </a:ext>
            </a:extLst>
          </p:cNvPr>
          <p:cNvSpPr>
            <a:spLocks xmlns:a="http://schemas.openxmlformats.org/drawingml/2006/main" noGrp="1"/>
          </p:cNvSpPr>
          <p:nvPr/>
        </p:nvSpPr>
        <p:spPr>
          <a:xfrm xmlns:a="http://schemas.openxmlformats.org/drawingml/2006/main">
            <a:off x="7296150" y="4419600"/>
            <a:ext cx="4305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50" b="0">
                <a:solidFill>
                  <a:srgbClr val="18212A"/>
                </a:solidFill>
                <a:latin typeface="Aptos"/>
                <a:ea typeface="Aptos"/>
                <a:cs typeface="Aptos"/>
              </a:defRPr>
            </a:pPr>
            <a:r>
              <a:rPr sz="1050" b="0">
                <a:solidFill>
                  <a:srgbClr val="18212A"/>
                </a:solidFill>
                <a:latin typeface="Aptos"/>
                <a:ea typeface="Aptos"/>
                <a:cs typeface="Aptos"/>
              </a:rPr>
              <a:t>A chart: alt names the trend, caption gives the data</a:t>
            </a:r>
          </a:p>
        </p:txBody>
      </p:sp>
      <p:sp>
        <p:nvSpPr>
          <p:cNvPr id="27" name="">
            <a:extLst xmlns:a="http://schemas.openxmlformats.org/drawingml/2006/main">
              <a:ext uri="{FF2B5EF4-FFF2-40B4-BE49-F238E27FC236}">
                <a16:creationId xmlns:a16="http://schemas.microsoft.com/office/drawing/2014/main" id="{5AC33F0F-FD41-4AA2-A00A-86FA9537783B}"/>
              </a:ext>
            </a:extLst>
          </p:cNvPr>
          <p:cNvSpPr>
            <a:spLocks xmlns:a="http://schemas.openxmlformats.org/drawingml/2006/main" noGrp="1"/>
          </p:cNvSpPr>
          <p:nvPr/>
        </p:nvSpPr>
        <p:spPr>
          <a:xfrm xmlns:a="http://schemas.openxmlformats.org/drawingml/2006/main">
            <a:off x="533400" y="50196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Tree>
    <p:extLst>
      <p:ext uri="{BB962C8B-B14F-4D97-AF65-F5344CB8AC3E}">
        <p14:creationId xmlns:p14="http://schemas.microsoft.com/office/powerpoint/2010/main" val="2007065436"/>
      </p:ext>
    </p:extLst>
  </p:cSld>
</p:sld>
</file>

<file path=ppt/slides/slide20.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23EE596-B4A0-42BE-8B95-876C4DBCCD5E}"/>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164C37-B56E-43E4-8C56-17D954A417A9}"/>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53A65759-858E-473C-84E6-05A45785ED96}"/>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4122D407-E80F-45C3-98F9-B0841C671B0D}"/>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Alt text, worked</a:t>
            </a:r>
          </a:p>
        </p:txBody>
      </p:sp>
      <p:sp>
        <p:nvSpPr>
          <p:cNvPr id="5" name="">
            <a:extLst xmlns:a="http://schemas.openxmlformats.org/drawingml/2006/main">
              <a:ext uri="{FF2B5EF4-FFF2-40B4-BE49-F238E27FC236}">
                <a16:creationId xmlns:a16="http://schemas.microsoft.com/office/drawing/2014/main" id="{FA89C04D-50DF-4710-B1E4-BF399483507A}"/>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Four of this deck's own images</a:t>
            </a:r>
          </a:p>
        </p:txBody>
      </p:sp>
      <p:sp>
        <p:nvSpPr>
          <p:cNvPr id="6" name="">
            <a:extLst xmlns:a="http://schemas.openxmlformats.org/drawingml/2006/main">
              <a:ext uri="{FF2B5EF4-FFF2-40B4-BE49-F238E27FC236}">
                <a16:creationId xmlns:a16="http://schemas.microsoft.com/office/drawing/2014/main" id="{9B9B2F8A-8EEA-4234-8266-8E93F2C970F0}"/>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C31266-DDC6-4176-9572-F5DF23850903}"/>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A5507EF9-2EC9-4B1A-80D7-6829D12215E5}"/>
              </a:ext>
            </a:extLst>
          </p:cNvPr>
          <p:cNvSpPr>
            <a:spLocks xmlns:a="http://schemas.openxmlformats.org/drawingml/2006/main" noGrp="1"/>
          </p:cNvSpPr>
          <p:nvPr/>
        </p:nvSpPr>
        <p:spPr>
          <a:xfrm xmlns:a="http://schemas.openxmlformats.org/drawingml/2006/main">
            <a:off x="533400" y="2038350"/>
            <a:ext cx="11125200" cy="285750"/>
          </a:xfrm>
          <a:prstGeom xmlns:a="http://schemas.openxmlformats.org/drawingml/2006/main" prst="roundRect">
            <a:avLst>
              <a:gd name="adj" fmla="val 40000"/>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27AE9D6-E635-4D35-A596-3E4A0D3539C0}"/>
              </a:ext>
            </a:extLst>
          </p:cNvPr>
          <p:cNvSpPr>
            <a:spLocks xmlns:a="http://schemas.openxmlformats.org/drawingml/2006/main" noGrp="1"/>
          </p:cNvSpPr>
          <p:nvPr/>
        </p:nvSpPr>
        <p:spPr>
          <a:xfrm xmlns:a="http://schemas.openxmlformats.org/drawingml/2006/main">
            <a:off x="628650" y="2076450"/>
            <a:ext cx="19431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1">
                <a:solidFill>
                  <a:srgbClr val="FFFFFF"/>
                </a:solidFill>
                <a:latin typeface="Aptos"/>
                <a:ea typeface="Aptos"/>
                <a:cs typeface="Aptos"/>
              </a:defRPr>
            </a:pPr>
            <a:r>
              <a:rPr sz="938" b="1">
                <a:solidFill>
                  <a:srgbClr val="FFFFFF"/>
                </a:solidFill>
                <a:latin typeface="Aptos"/>
                <a:ea typeface="Aptos"/>
                <a:cs typeface="Aptos"/>
              </a:rPr>
              <a:t>Image</a:t>
            </a:r>
          </a:p>
        </p:txBody>
      </p:sp>
      <p:sp>
        <p:nvSpPr>
          <p:cNvPr id="10" name="">
            <a:extLst xmlns:a="http://schemas.openxmlformats.org/drawingml/2006/main">
              <a:ext uri="{FF2B5EF4-FFF2-40B4-BE49-F238E27FC236}">
                <a16:creationId xmlns:a16="http://schemas.microsoft.com/office/drawing/2014/main" id="{D9B377C9-83A5-46B0-A0D1-024139020BC6}"/>
              </a:ext>
            </a:extLst>
          </p:cNvPr>
          <p:cNvSpPr>
            <a:spLocks xmlns:a="http://schemas.openxmlformats.org/drawingml/2006/main" noGrp="1"/>
          </p:cNvSpPr>
          <p:nvPr/>
        </p:nvSpPr>
        <p:spPr>
          <a:xfrm xmlns:a="http://schemas.openxmlformats.org/drawingml/2006/main">
            <a:off x="2724150" y="2076450"/>
            <a:ext cx="13716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1">
                <a:solidFill>
                  <a:srgbClr val="FFFFFF"/>
                </a:solidFill>
                <a:latin typeface="Aptos"/>
                <a:ea typeface="Aptos"/>
                <a:cs typeface="Aptos"/>
              </a:defRPr>
            </a:pPr>
            <a:r>
              <a:rPr sz="938" b="1">
                <a:solidFill>
                  <a:srgbClr val="FFFFFF"/>
                </a:solidFill>
                <a:latin typeface="Aptos"/>
                <a:ea typeface="Aptos"/>
                <a:cs typeface="Aptos"/>
              </a:rPr>
              <a:t>Role</a:t>
            </a:r>
          </a:p>
        </p:txBody>
      </p:sp>
      <p:sp>
        <p:nvSpPr>
          <p:cNvPr id="11" name="">
            <a:extLst xmlns:a="http://schemas.openxmlformats.org/drawingml/2006/main">
              <a:ext uri="{FF2B5EF4-FFF2-40B4-BE49-F238E27FC236}">
                <a16:creationId xmlns:a16="http://schemas.microsoft.com/office/drawing/2014/main" id="{363A2650-02BC-47BD-97D8-7EDC68E0C026}"/>
              </a:ext>
            </a:extLst>
          </p:cNvPr>
          <p:cNvSpPr>
            <a:spLocks xmlns:a="http://schemas.openxmlformats.org/drawingml/2006/main" noGrp="1"/>
          </p:cNvSpPr>
          <p:nvPr/>
        </p:nvSpPr>
        <p:spPr>
          <a:xfrm xmlns:a="http://schemas.openxmlformats.org/drawingml/2006/main">
            <a:off x="4248150" y="2076450"/>
            <a:ext cx="73533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1">
                <a:solidFill>
                  <a:srgbClr val="FFFFFF"/>
                </a:solidFill>
                <a:latin typeface="Aptos"/>
                <a:ea typeface="Aptos"/>
                <a:cs typeface="Aptos"/>
              </a:defRPr>
            </a:pPr>
            <a:r>
              <a:rPr sz="938" b="1">
                <a:solidFill>
                  <a:srgbClr val="FFFFFF"/>
                </a:solidFill>
                <a:latin typeface="Aptos"/>
                <a:ea typeface="Aptos"/>
                <a:cs typeface="Aptos"/>
              </a:rPr>
              <a:t>Alt text used in this deck</a:t>
            </a:r>
          </a:p>
        </p:txBody>
      </p:sp>
      <p:sp>
        <p:nvSpPr>
          <p:cNvPr id="12" name="">
            <a:extLst xmlns:a="http://schemas.openxmlformats.org/drawingml/2006/main">
              <a:ext uri="{FF2B5EF4-FFF2-40B4-BE49-F238E27FC236}">
                <a16:creationId xmlns:a16="http://schemas.microsoft.com/office/drawing/2014/main" id="{A21B1B9B-20B6-4F4A-92B3-400777076D9C}"/>
              </a:ext>
            </a:extLst>
          </p:cNvPr>
          <p:cNvSpPr>
            <a:spLocks xmlns:a="http://schemas.openxmlformats.org/drawingml/2006/main" noGrp="1"/>
          </p:cNvSpPr>
          <p:nvPr/>
        </p:nvSpPr>
        <p:spPr>
          <a:xfrm xmlns:a="http://schemas.openxmlformats.org/drawingml/2006/main">
            <a:off x="628650" y="2362200"/>
            <a:ext cx="19431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Chefchaouen street</a:t>
            </a:r>
          </a:p>
        </p:txBody>
      </p:sp>
      <p:sp>
        <p:nvSpPr>
          <p:cNvPr id="13" name="">
            <a:extLst xmlns:a="http://schemas.openxmlformats.org/drawingml/2006/main">
              <a:ext uri="{FF2B5EF4-FFF2-40B4-BE49-F238E27FC236}">
                <a16:creationId xmlns:a16="http://schemas.microsoft.com/office/drawing/2014/main" id="{8EE1FA9F-44EB-432F-A652-ACE909F4F870}"/>
              </a:ext>
            </a:extLst>
          </p:cNvPr>
          <p:cNvSpPr>
            <a:spLocks xmlns:a="http://schemas.openxmlformats.org/drawingml/2006/main" noGrp="1"/>
          </p:cNvSpPr>
          <p:nvPr/>
        </p:nvSpPr>
        <p:spPr>
          <a:xfrm xmlns:a="http://schemas.openxmlformats.org/drawingml/2006/main">
            <a:off x="2724150" y="2362200"/>
            <a:ext cx="13716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Informative</a:t>
            </a:r>
          </a:p>
        </p:txBody>
      </p:sp>
      <p:sp>
        <p:nvSpPr>
          <p:cNvPr id="14" name="">
            <a:extLst xmlns:a="http://schemas.openxmlformats.org/drawingml/2006/main">
              <a:ext uri="{FF2B5EF4-FFF2-40B4-BE49-F238E27FC236}">
                <a16:creationId xmlns:a16="http://schemas.microsoft.com/office/drawing/2014/main" id="{AB43E4C7-F8E7-4AD2-9ADE-22C87ED47B1B}"/>
              </a:ext>
            </a:extLst>
          </p:cNvPr>
          <p:cNvSpPr>
            <a:spLocks xmlns:a="http://schemas.openxmlformats.org/drawingml/2006/main" noGrp="1"/>
          </p:cNvSpPr>
          <p:nvPr/>
        </p:nvSpPr>
        <p:spPr>
          <a:xfrm xmlns:a="http://schemas.openxmlformats.org/drawingml/2006/main">
            <a:off x="4248150" y="2362200"/>
            <a:ext cx="73533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"Narrow street in Chefchaouen, Morocco, its walls and stairs painted in closely related shades of blue."</a:t>
            </a:r>
          </a:p>
        </p:txBody>
      </p:sp>
      <p:sp>
        <p:nvSpPr>
          <p:cNvPr id="15" name="">
            <a:extLst xmlns:a="http://schemas.openxmlformats.org/drawingml/2006/main">
              <a:ext uri="{FF2B5EF4-FFF2-40B4-BE49-F238E27FC236}">
                <a16:creationId xmlns:a16="http://schemas.microsoft.com/office/drawing/2014/main" id="{A71C281B-746F-4487-BF3B-0438DA550E5E}"/>
              </a:ext>
            </a:extLst>
          </p:cNvPr>
          <p:cNvSpPr>
            <a:spLocks xmlns:a="http://schemas.openxmlformats.org/drawingml/2006/main" noGrp="1"/>
          </p:cNvSpPr>
          <p:nvPr/>
        </p:nvSpPr>
        <p:spPr>
          <a:xfrm xmlns:a="http://schemas.openxmlformats.org/drawingml/2006/main">
            <a:off x="533400" y="30956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1C005EC-B8BB-47CA-ABDE-10C1024B0539}"/>
              </a:ext>
            </a:extLst>
          </p:cNvPr>
          <p:cNvSpPr>
            <a:spLocks xmlns:a="http://schemas.openxmlformats.org/drawingml/2006/main" noGrp="1"/>
          </p:cNvSpPr>
          <p:nvPr/>
        </p:nvSpPr>
        <p:spPr>
          <a:xfrm xmlns:a="http://schemas.openxmlformats.org/drawingml/2006/main">
            <a:off x="628650" y="3143250"/>
            <a:ext cx="19431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Ishihara plate</a:t>
            </a:r>
          </a:p>
        </p:txBody>
      </p:sp>
      <p:sp>
        <p:nvSpPr>
          <p:cNvPr id="17" name="">
            <a:extLst xmlns:a="http://schemas.openxmlformats.org/drawingml/2006/main">
              <a:ext uri="{FF2B5EF4-FFF2-40B4-BE49-F238E27FC236}">
                <a16:creationId xmlns:a16="http://schemas.microsoft.com/office/drawing/2014/main" id="{C2CAB113-9D51-4B0D-A24F-27678756440A}"/>
              </a:ext>
            </a:extLst>
          </p:cNvPr>
          <p:cNvSpPr>
            <a:spLocks xmlns:a="http://schemas.openxmlformats.org/drawingml/2006/main" noGrp="1"/>
          </p:cNvSpPr>
          <p:nvPr/>
        </p:nvSpPr>
        <p:spPr>
          <a:xfrm xmlns:a="http://schemas.openxmlformats.org/drawingml/2006/main">
            <a:off x="2724150" y="3143250"/>
            <a:ext cx="13716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Informative</a:t>
            </a:r>
          </a:p>
        </p:txBody>
      </p:sp>
      <p:sp>
        <p:nvSpPr>
          <p:cNvPr id="18" name="">
            <a:extLst xmlns:a="http://schemas.openxmlformats.org/drawingml/2006/main">
              <a:ext uri="{FF2B5EF4-FFF2-40B4-BE49-F238E27FC236}">
                <a16:creationId xmlns:a16="http://schemas.microsoft.com/office/drawing/2014/main" id="{E09B4C31-28D0-45D3-88DC-673660985F1B}"/>
              </a:ext>
            </a:extLst>
          </p:cNvPr>
          <p:cNvSpPr>
            <a:spLocks xmlns:a="http://schemas.openxmlformats.org/drawingml/2006/main" noGrp="1"/>
          </p:cNvSpPr>
          <p:nvPr/>
        </p:nvSpPr>
        <p:spPr>
          <a:xfrm xmlns:a="http://schemas.openxmlformats.org/drawingml/2006/main">
            <a:off x="4248150" y="3143250"/>
            <a:ext cx="73533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"Ishihara colour-vision test plate: a numeral formed from dots that share lightness but differ in hue…"</a:t>
            </a:r>
          </a:p>
        </p:txBody>
      </p:sp>
      <p:sp>
        <p:nvSpPr>
          <p:cNvPr id="19" name="">
            <a:extLst xmlns:a="http://schemas.openxmlformats.org/drawingml/2006/main">
              <a:ext uri="{FF2B5EF4-FFF2-40B4-BE49-F238E27FC236}">
                <a16:creationId xmlns:a16="http://schemas.microsoft.com/office/drawing/2014/main" id="{BDF098B8-01D4-4F3C-9C59-51989FA272A8}"/>
              </a:ext>
            </a:extLst>
          </p:cNvPr>
          <p:cNvSpPr>
            <a:spLocks xmlns:a="http://schemas.openxmlformats.org/drawingml/2006/main" noGrp="1"/>
          </p:cNvSpPr>
          <p:nvPr/>
        </p:nvSpPr>
        <p:spPr>
          <a:xfrm xmlns:a="http://schemas.openxmlformats.org/drawingml/2006/main">
            <a:off x="533400" y="38766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3CF3A30-4429-4AA7-8F48-6DD188059585}"/>
              </a:ext>
            </a:extLst>
          </p:cNvPr>
          <p:cNvSpPr>
            <a:spLocks xmlns:a="http://schemas.openxmlformats.org/drawingml/2006/main" noGrp="1"/>
          </p:cNvSpPr>
          <p:nvPr/>
        </p:nvSpPr>
        <p:spPr>
          <a:xfrm xmlns:a="http://schemas.openxmlformats.org/drawingml/2006/main">
            <a:off x="628650" y="3924300"/>
            <a:ext cx="19431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HSL cylinder diagram</a:t>
            </a:r>
          </a:p>
        </p:txBody>
      </p:sp>
      <p:sp>
        <p:nvSpPr>
          <p:cNvPr id="21" name="">
            <a:extLst xmlns:a="http://schemas.openxmlformats.org/drawingml/2006/main">
              <a:ext uri="{FF2B5EF4-FFF2-40B4-BE49-F238E27FC236}">
                <a16:creationId xmlns:a16="http://schemas.microsoft.com/office/drawing/2014/main" id="{CA911332-A8AB-45D6-9D25-93A12B4118A6}"/>
              </a:ext>
            </a:extLst>
          </p:cNvPr>
          <p:cNvSpPr>
            <a:spLocks xmlns:a="http://schemas.openxmlformats.org/drawingml/2006/main" noGrp="1"/>
          </p:cNvSpPr>
          <p:nvPr/>
        </p:nvSpPr>
        <p:spPr>
          <a:xfrm xmlns:a="http://schemas.openxmlformats.org/drawingml/2006/main">
            <a:off x="2724150" y="3924300"/>
            <a:ext cx="13716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Informative</a:t>
            </a:r>
          </a:p>
        </p:txBody>
      </p:sp>
      <p:sp>
        <p:nvSpPr>
          <p:cNvPr id="22" name="">
            <a:extLst xmlns:a="http://schemas.openxmlformats.org/drawingml/2006/main">
              <a:ext uri="{FF2B5EF4-FFF2-40B4-BE49-F238E27FC236}">
                <a16:creationId xmlns:a16="http://schemas.microsoft.com/office/drawing/2014/main" id="{D831E0CF-863A-466F-A2B5-F97455AEB762}"/>
              </a:ext>
            </a:extLst>
          </p:cNvPr>
          <p:cNvSpPr>
            <a:spLocks xmlns:a="http://schemas.openxmlformats.org/drawingml/2006/main" noGrp="1"/>
          </p:cNvSpPr>
          <p:nvPr/>
        </p:nvSpPr>
        <p:spPr>
          <a:xfrm xmlns:a="http://schemas.openxmlformats.org/drawingml/2006/main">
            <a:off x="4248150" y="3924300"/>
            <a:ext cx="73533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"Diagram of the HSL colour model drawn as a cylinder: hue around the rim, saturation from centre outward, lightness bottom to top."</a:t>
            </a:r>
          </a:p>
        </p:txBody>
      </p:sp>
      <p:sp>
        <p:nvSpPr>
          <p:cNvPr id="23" name="">
            <a:extLst xmlns:a="http://schemas.openxmlformats.org/drawingml/2006/main">
              <a:ext uri="{FF2B5EF4-FFF2-40B4-BE49-F238E27FC236}">
                <a16:creationId xmlns:a16="http://schemas.microsoft.com/office/drawing/2014/main" id="{0C102180-4F7B-4D4A-A8C3-3BE3484EB314}"/>
              </a:ext>
            </a:extLst>
          </p:cNvPr>
          <p:cNvSpPr>
            <a:spLocks xmlns:a="http://schemas.openxmlformats.org/drawingml/2006/main" noGrp="1"/>
          </p:cNvSpPr>
          <p:nvPr/>
        </p:nvSpPr>
        <p:spPr>
          <a:xfrm xmlns:a="http://schemas.openxmlformats.org/drawingml/2006/main">
            <a:off x="533400" y="46577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D350EB8-CF23-4D87-8AC6-0DDA87F955D0}"/>
              </a:ext>
            </a:extLst>
          </p:cNvPr>
          <p:cNvSpPr>
            <a:spLocks xmlns:a="http://schemas.openxmlformats.org/drawingml/2006/main" noGrp="1"/>
          </p:cNvSpPr>
          <p:nvPr/>
        </p:nvSpPr>
        <p:spPr>
          <a:xfrm xmlns:a="http://schemas.openxmlformats.org/drawingml/2006/main">
            <a:off x="628650" y="4705350"/>
            <a:ext cx="19431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Marble close-up</a:t>
            </a:r>
          </a:p>
        </p:txBody>
      </p:sp>
      <p:sp>
        <p:nvSpPr>
          <p:cNvPr id="25" name="">
            <a:extLst xmlns:a="http://schemas.openxmlformats.org/drawingml/2006/main">
              <a:ext uri="{FF2B5EF4-FFF2-40B4-BE49-F238E27FC236}">
                <a16:creationId xmlns:a16="http://schemas.microsoft.com/office/drawing/2014/main" id="{2AA2563B-3F8C-49F0-A472-6CADEF948832}"/>
              </a:ext>
            </a:extLst>
          </p:cNvPr>
          <p:cNvSpPr>
            <a:spLocks xmlns:a="http://schemas.openxmlformats.org/drawingml/2006/main" noGrp="1"/>
          </p:cNvSpPr>
          <p:nvPr/>
        </p:nvSpPr>
        <p:spPr>
          <a:xfrm xmlns:a="http://schemas.openxmlformats.org/drawingml/2006/main">
            <a:off x="2724150" y="4705350"/>
            <a:ext cx="13716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Decorative</a:t>
            </a:r>
          </a:p>
        </p:txBody>
      </p:sp>
      <p:sp>
        <p:nvSpPr>
          <p:cNvPr id="26" name="">
            <a:extLst xmlns:a="http://schemas.openxmlformats.org/drawingml/2006/main">
              <a:ext uri="{FF2B5EF4-FFF2-40B4-BE49-F238E27FC236}">
                <a16:creationId xmlns:a16="http://schemas.microsoft.com/office/drawing/2014/main" id="{B91D9C02-AE3F-4AC3-BF6B-B7749D6A5826}"/>
              </a:ext>
            </a:extLst>
          </p:cNvPr>
          <p:cNvSpPr>
            <a:spLocks xmlns:a="http://schemas.openxmlformats.org/drawingml/2006/main" noGrp="1"/>
          </p:cNvSpPr>
          <p:nvPr/>
        </p:nvSpPr>
        <p:spPr>
          <a:xfrm xmlns:a="http://schemas.openxmlformats.org/drawingml/2006/main">
            <a:off x="4248150" y="4705350"/>
            <a:ext cx="7353300" cy="723900"/>
          </a:xfrm>
          <a:prstGeom xmlns:a="http://schemas.openxmlformats.org/drawingml/2006/main" prst="roundRect">
            <a:avLst>
              <a:gd name="adj" fmla="val 1578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38" b="0">
                <a:solidFill>
                  <a:srgbClr val="18212A"/>
                </a:solidFill>
                <a:latin typeface="Aptos"/>
                <a:ea typeface="Aptos"/>
                <a:cs typeface="Aptos"/>
              </a:defRPr>
            </a:pPr>
            <a:r>
              <a:rPr sz="938" b="0">
                <a:solidFill>
                  <a:srgbClr val="18212A"/>
                </a:solidFill>
                <a:latin typeface="Aptos"/>
                <a:ea typeface="Aptos"/>
                <a:cs typeface="Aptos"/>
              </a:rPr>
              <a:t>alt="" — the image is used only as visual texture on the image-roles slide</a:t>
            </a:r>
          </a:p>
        </p:txBody>
      </p:sp>
      <p:sp>
        <p:nvSpPr>
          <p:cNvPr id="27" name="">
            <a:extLst xmlns:a="http://schemas.openxmlformats.org/drawingml/2006/main">
              <a:ext uri="{FF2B5EF4-FFF2-40B4-BE49-F238E27FC236}">
                <a16:creationId xmlns:a16="http://schemas.microsoft.com/office/drawing/2014/main" id="{8FE1E405-81A8-40E6-9912-9B2B18CC4E04}"/>
              </a:ext>
            </a:extLst>
          </p:cNvPr>
          <p:cNvSpPr>
            <a:spLocks xmlns:a="http://schemas.openxmlformats.org/drawingml/2006/main" noGrp="1"/>
          </p:cNvSpPr>
          <p:nvPr/>
        </p:nvSpPr>
        <p:spPr>
          <a:xfrm xmlns:a="http://schemas.openxmlformats.org/drawingml/2006/main">
            <a:off x="533400" y="54387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Tree>
    <p:extLst>
      <p:ext uri="{BB962C8B-B14F-4D97-AF65-F5344CB8AC3E}">
        <p14:creationId xmlns:p14="http://schemas.microsoft.com/office/powerpoint/2010/main" val="842266126"/>
      </p:ext>
    </p:extLst>
  </p:cSld>
</p:sld>
</file>

<file path=ppt/slides/slide21.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D2EC0A-1D7C-4C05-A19F-FB372C2B40BC}"/>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B73D54-B97A-41E8-A712-E3791088F7AA}"/>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BD01471E-029D-4D98-8873-4AE637FC482C}"/>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D0982700-9019-49DE-A024-F70EC7A1B23D}"/>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Alt text for identity imagery</a:t>
            </a:r>
          </a:p>
        </p:txBody>
      </p:sp>
      <p:sp>
        <p:nvSpPr>
          <p:cNvPr id="5" name="">
            <a:extLst xmlns:a="http://schemas.openxmlformats.org/drawingml/2006/main">
              <a:ext uri="{FF2B5EF4-FFF2-40B4-BE49-F238E27FC236}">
                <a16:creationId xmlns:a16="http://schemas.microsoft.com/office/drawing/2014/main" id="{EFC97861-BCB7-420C-AEC4-491E432479B0}"/>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Hero and brand images are still informative</a:t>
            </a:r>
          </a:p>
        </p:txBody>
      </p:sp>
      <p:sp>
        <p:nvSpPr>
          <p:cNvPr id="6" name="">
            <a:extLst xmlns:a="http://schemas.openxmlformats.org/drawingml/2006/main">
              <a:ext uri="{FF2B5EF4-FFF2-40B4-BE49-F238E27FC236}">
                <a16:creationId xmlns:a16="http://schemas.microsoft.com/office/drawing/2014/main" id="{72967E65-E28D-41CD-90A1-B9AC8897DBCA}"/>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5316B3-75E4-4D11-9756-E1A1A4E3A84D}"/>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04fedc7b9704b42"/>
          <a:srcRect xmlns:a="http://schemas.openxmlformats.org/drawingml/2006/main" l="18509" t="0" r="18509" b="0"/>
          <a:stretch xmlns:a="http://schemas.openxmlformats.org/drawingml/2006/main">
            <a:fillRect l="0" t="0" r="0" b="0"/>
          </a:stretch>
        </p:blipFill>
        <p:spPr>
          <a:xfrm xmlns:a="http://schemas.openxmlformats.org/drawingml/2006/main">
            <a:off x="533400" y="2000250"/>
            <a:ext cx="6667500" cy="3810000"/>
          </a:xfrm>
          <a:prstGeom xmlns:a="http://schemas.openxmlformats.org/drawingml/2006/main" prst="roundRect">
            <a:avLst>
              <a:gd name="adj" fmla="val 3000"/>
            </a:avLst>
          </a:prstGeom>
        </p:spPr>
      </p:pic>
      <p:sp>
        <p:nvSpPr>
          <p:cNvPr id="9" name="">
            <a:extLst xmlns:a="http://schemas.openxmlformats.org/drawingml/2006/main">
              <a:ext uri="{FF2B5EF4-FFF2-40B4-BE49-F238E27FC236}">
                <a16:creationId xmlns:a16="http://schemas.microsoft.com/office/drawing/2014/main" id="{3BF4DF49-3DE7-420A-938A-20AA557AE4BE}"/>
              </a:ext>
            </a:extLst>
          </p:cNvPr>
          <p:cNvSpPr>
            <a:spLocks xmlns:a="http://schemas.openxmlformats.org/drawingml/2006/main" noGrp="1"/>
          </p:cNvSpPr>
          <p:nvPr/>
        </p:nvSpPr>
        <p:spPr>
          <a:xfrm xmlns:a="http://schemas.openxmlformats.org/drawingml/2006/main">
            <a:off x="7429500" y="2000250"/>
            <a:ext cx="4229100" cy="3810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D7D0C4"/>
            </a:solidFill>
            <a:prstDash val="solid"/>
          </a:ln>
        </p:spPr>
      </p:sp>
      <p:sp>
        <p:nvSpPr>
          <p:cNvPr id="10" name="">
            <a:extLst xmlns:a="http://schemas.openxmlformats.org/drawingml/2006/main">
              <a:ext uri="{FF2B5EF4-FFF2-40B4-BE49-F238E27FC236}">
                <a16:creationId xmlns:a16="http://schemas.microsoft.com/office/drawing/2014/main" id="{C653B86F-EEB1-4825-9952-FA4495DD7EA5}"/>
              </a:ext>
            </a:extLst>
          </p:cNvPr>
          <p:cNvSpPr>
            <a:spLocks xmlns:a="http://schemas.openxmlformats.org/drawingml/2006/main" noGrp="1"/>
          </p:cNvSpPr>
          <p:nvPr/>
        </p:nvSpPr>
        <p:spPr>
          <a:xfrm xmlns:a="http://schemas.openxmlformats.org/drawingml/2006/main">
            <a:off x="7429500" y="2000250"/>
            <a:ext cx="57150" cy="38100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AF8C227-4B7E-4D74-9D99-70A1E0A7A472}"/>
              </a:ext>
            </a:extLst>
          </p:cNvPr>
          <p:cNvSpPr>
            <a:spLocks xmlns:a="http://schemas.openxmlformats.org/drawingml/2006/main" noGrp="1"/>
          </p:cNvSpPr>
          <p:nvPr/>
        </p:nvSpPr>
        <p:spPr>
          <a:xfrm xmlns:a="http://schemas.openxmlformats.org/drawingml/2006/main">
            <a:off x="7658100" y="2152650"/>
            <a:ext cx="38100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The temptation</a:t>
            </a:r>
          </a:p>
        </p:txBody>
      </p:sp>
      <p:sp>
        <p:nvSpPr>
          <p:cNvPr id="12" name="">
            <a:extLst xmlns:a="http://schemas.openxmlformats.org/drawingml/2006/main">
              <a:ext uri="{FF2B5EF4-FFF2-40B4-BE49-F238E27FC236}">
                <a16:creationId xmlns:a16="http://schemas.microsoft.com/office/drawing/2014/main" id="{0D24F2FD-420E-4187-AEC8-467BA077B6BA}"/>
              </a:ext>
            </a:extLst>
          </p:cNvPr>
          <p:cNvSpPr>
            <a:spLocks xmlns:a="http://schemas.openxmlformats.org/drawingml/2006/main" noGrp="1"/>
          </p:cNvSpPr>
          <p:nvPr/>
        </p:nvSpPr>
        <p:spPr>
          <a:xfrm xmlns:a="http://schemas.openxmlformats.org/drawingml/2006/main">
            <a:off x="7658100" y="2457450"/>
            <a:ext cx="3810000" cy="3200400"/>
          </a:xfrm>
          <a:prstGeom xmlns:a="http://schemas.openxmlformats.org/drawingml/2006/main" prst="roundRect">
            <a:avLst>
              <a:gd name="adj" fmla="val 3571"/>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Hero banners feel decorative, so it is tempting to leave alt="". But if the image sets the tone for the page (a course, a brand, a place), a screen-reader user loses that context entirely.</a:t>
            </a:r>
          </a:p>
          <a:p xmlns:a="http://schemas.openxmlformats.org/drawingml/2006/main">
            <a:r>
              <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Write alt text that names the scene, the way a caption would — not a mood ('breathtaking view'), and not a repeat of the heading text next to it.</a:t>
            </a:r>
          </a:p>
        </p:txBody>
      </p:sp>
    </p:spTree>
    <p:extLst>
      <p:ext uri="{BB962C8B-B14F-4D97-AF65-F5344CB8AC3E}">
        <p14:creationId xmlns:p14="http://schemas.microsoft.com/office/powerpoint/2010/main" val="1140508172"/>
      </p:ext>
    </p:extLst>
  </p:cSld>
</p:sld>
</file>

<file path=ppt/slides/slide22.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6324C1-C3AC-4839-B13F-C48DE0EC2F3A}"/>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25F1D3-F756-496B-800D-333B79204B02}"/>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3A558AEA-4C12-4F29-949F-B889B0732B77}"/>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71C1B44F-2E93-4655-882B-5D88202D2B31}"/>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Identity</a:t>
            </a:r>
          </a:p>
        </p:txBody>
      </p:sp>
      <p:sp>
        <p:nvSpPr>
          <p:cNvPr id="5" name="">
            <a:extLst xmlns:a="http://schemas.openxmlformats.org/drawingml/2006/main">
              <a:ext uri="{FF2B5EF4-FFF2-40B4-BE49-F238E27FC236}">
                <a16:creationId xmlns:a16="http://schemas.microsoft.com/office/drawing/2014/main" id="{517AF689-8D47-4886-A963-D0DE6EDC5613}"/>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Logo and brand-mark treatment rules</a:t>
            </a:r>
          </a:p>
        </p:txBody>
      </p:sp>
      <p:sp>
        <p:nvSpPr>
          <p:cNvPr id="6" name="">
            <a:extLst xmlns:a="http://schemas.openxmlformats.org/drawingml/2006/main">
              <a:ext uri="{FF2B5EF4-FFF2-40B4-BE49-F238E27FC236}">
                <a16:creationId xmlns:a16="http://schemas.microsoft.com/office/drawing/2014/main" id="{9F484192-257A-4A86-B25B-7AD2A128B54E}"/>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96801B9-5CC5-4CBF-A44E-DC3D06273612}"/>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36EC6BBF-6817-4DC3-93B8-86C587548488}"/>
              </a:ext>
            </a:extLst>
          </p:cNvPr>
          <p:cNvSpPr>
            <a:spLocks xmlns:a="http://schemas.openxmlformats.org/drawingml/2006/main" noGrp="1"/>
          </p:cNvSpPr>
          <p:nvPr/>
        </p:nvSpPr>
        <p:spPr>
          <a:xfrm xmlns:a="http://schemas.openxmlformats.org/drawingml/2006/main">
            <a:off x="533400" y="2000250"/>
            <a:ext cx="53911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0C4"/>
            </a:solidFill>
            <a:prstDash val="solid"/>
          </a:ln>
        </p:spPr>
      </p:sp>
      <p:sp>
        <p:nvSpPr>
          <p:cNvPr id="9" name="">
            <a:extLst xmlns:a="http://schemas.openxmlformats.org/drawingml/2006/main">
              <a:ext uri="{FF2B5EF4-FFF2-40B4-BE49-F238E27FC236}">
                <a16:creationId xmlns:a16="http://schemas.microsoft.com/office/drawing/2014/main" id="{DBD243CF-723D-40DD-96A9-BDC857DB2820}"/>
              </a:ext>
            </a:extLst>
          </p:cNvPr>
          <p:cNvSpPr>
            <a:spLocks xmlns:a="http://schemas.openxmlformats.org/drawingml/2006/main" noGrp="1"/>
          </p:cNvSpPr>
          <p:nvPr/>
        </p:nvSpPr>
        <p:spPr>
          <a:xfrm xmlns:a="http://schemas.openxmlformats.org/drawingml/2006/main">
            <a:off x="533400" y="2000250"/>
            <a:ext cx="57150" cy="18097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9A6B4A-D7DC-4858-B6A3-E571E2050F56}"/>
              </a:ext>
            </a:extLst>
          </p:cNvPr>
          <p:cNvSpPr>
            <a:spLocks xmlns:a="http://schemas.openxmlformats.org/drawingml/2006/main" noGrp="1"/>
          </p:cNvSpPr>
          <p:nvPr/>
        </p:nvSpPr>
        <p:spPr>
          <a:xfrm xmlns:a="http://schemas.openxmlformats.org/drawingml/2006/main">
            <a:off x="762000" y="215265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Clear space</a:t>
            </a:r>
          </a:p>
        </p:txBody>
      </p:sp>
      <p:sp>
        <p:nvSpPr>
          <p:cNvPr id="11" name="">
            <a:extLst xmlns:a="http://schemas.openxmlformats.org/drawingml/2006/main">
              <a:ext uri="{FF2B5EF4-FFF2-40B4-BE49-F238E27FC236}">
                <a16:creationId xmlns:a16="http://schemas.microsoft.com/office/drawing/2014/main" id="{0AF09BE0-20A0-45DC-98A6-5332F9EFD3D9}"/>
              </a:ext>
            </a:extLst>
          </p:cNvPr>
          <p:cNvSpPr>
            <a:spLocks xmlns:a="http://schemas.openxmlformats.org/drawingml/2006/main" noGrp="1"/>
          </p:cNvSpPr>
          <p:nvPr/>
        </p:nvSpPr>
        <p:spPr>
          <a:xfrm xmlns:a="http://schemas.openxmlformats.org/drawingml/2006/main">
            <a:off x="762000" y="2457450"/>
            <a:ext cx="4972050" cy="1200150"/>
          </a:xfrm>
          <a:prstGeom xmlns:a="http://schemas.openxmlformats.org/drawingml/2006/main" prst="roundRect">
            <a:avLst>
              <a:gd name="adj" fmla="val 9524"/>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Reserve a margin around the mark at least equal to the height of its own smallest element. Never let text or other graphics enter that margin.</a:t>
            </a:r>
          </a:p>
        </p:txBody>
      </p:sp>
      <p:sp>
        <p:nvSpPr>
          <p:cNvPr id="12" name="">
            <a:extLst xmlns:a="http://schemas.openxmlformats.org/drawingml/2006/main">
              <a:ext uri="{FF2B5EF4-FFF2-40B4-BE49-F238E27FC236}">
                <a16:creationId xmlns:a16="http://schemas.microsoft.com/office/drawing/2014/main" id="{3BE9931B-1C3C-4529-84FB-74265B3DBDB4}"/>
              </a:ext>
            </a:extLst>
          </p:cNvPr>
          <p:cNvSpPr>
            <a:spLocks xmlns:a="http://schemas.openxmlformats.org/drawingml/2006/main" noGrp="1"/>
          </p:cNvSpPr>
          <p:nvPr/>
        </p:nvSpPr>
        <p:spPr>
          <a:xfrm xmlns:a="http://schemas.openxmlformats.org/drawingml/2006/main">
            <a:off x="6153150" y="2000250"/>
            <a:ext cx="55054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1C60F29B-90F1-48E1-B618-04A8999779C8}"/>
              </a:ext>
            </a:extLst>
          </p:cNvPr>
          <p:cNvSpPr>
            <a:spLocks xmlns:a="http://schemas.openxmlformats.org/drawingml/2006/main" noGrp="1"/>
          </p:cNvSpPr>
          <p:nvPr/>
        </p:nvSpPr>
        <p:spPr>
          <a:xfrm xmlns:a="http://schemas.openxmlformats.org/drawingml/2006/main">
            <a:off x="6153150" y="2000250"/>
            <a:ext cx="57150" cy="18097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4148FC4-0A95-477C-95B3-32789B88D547}"/>
              </a:ext>
            </a:extLst>
          </p:cNvPr>
          <p:cNvSpPr>
            <a:spLocks xmlns:a="http://schemas.openxmlformats.org/drawingml/2006/main" noGrp="1"/>
          </p:cNvSpPr>
          <p:nvPr/>
        </p:nvSpPr>
        <p:spPr>
          <a:xfrm xmlns:a="http://schemas.openxmlformats.org/drawingml/2006/main">
            <a:off x="6381750" y="215265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Minimum size</a:t>
            </a:r>
          </a:p>
        </p:txBody>
      </p:sp>
      <p:sp>
        <p:nvSpPr>
          <p:cNvPr id="15" name="">
            <a:extLst xmlns:a="http://schemas.openxmlformats.org/drawingml/2006/main">
              <a:ext uri="{FF2B5EF4-FFF2-40B4-BE49-F238E27FC236}">
                <a16:creationId xmlns:a16="http://schemas.microsoft.com/office/drawing/2014/main" id="{F27EDB5A-5C22-44A5-9F9A-B685C805BD7A}"/>
              </a:ext>
            </a:extLst>
          </p:cNvPr>
          <p:cNvSpPr>
            <a:spLocks xmlns:a="http://schemas.openxmlformats.org/drawingml/2006/main" noGrp="1"/>
          </p:cNvSpPr>
          <p:nvPr/>
        </p:nvSpPr>
        <p:spPr>
          <a:xfrm xmlns:a="http://schemas.openxmlformats.org/drawingml/2006/main">
            <a:off x="6381750" y="2457450"/>
            <a:ext cx="5086350" cy="1200150"/>
          </a:xfrm>
          <a:prstGeom xmlns:a="http://schemas.openxmlformats.org/drawingml/2006/main" prst="roundRect">
            <a:avLst>
              <a:gd name="adj" fmla="val 9524"/>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Below a stated minimum width, fine details in a mark disappear or merge. State the minimum in the brand guide, not by trial and error each time.</a:t>
            </a:r>
          </a:p>
        </p:txBody>
      </p:sp>
      <p:sp>
        <p:nvSpPr>
          <p:cNvPr id="16" name="">
            <a:extLst xmlns:a="http://schemas.openxmlformats.org/drawingml/2006/main">
              <a:ext uri="{FF2B5EF4-FFF2-40B4-BE49-F238E27FC236}">
                <a16:creationId xmlns:a16="http://schemas.microsoft.com/office/drawing/2014/main" id="{CEACB01D-54CB-4340-A8B6-DF5342E637FA}"/>
              </a:ext>
            </a:extLst>
          </p:cNvPr>
          <p:cNvSpPr>
            <a:spLocks xmlns:a="http://schemas.openxmlformats.org/drawingml/2006/main" noGrp="1"/>
          </p:cNvSpPr>
          <p:nvPr/>
        </p:nvSpPr>
        <p:spPr>
          <a:xfrm xmlns:a="http://schemas.openxmlformats.org/drawingml/2006/main">
            <a:off x="533400" y="3962400"/>
            <a:ext cx="53911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0C4"/>
            </a:solidFill>
            <a:prstDash val="solid"/>
          </a:ln>
        </p:spPr>
      </p:sp>
      <p:sp>
        <p:nvSpPr>
          <p:cNvPr id="17" name="">
            <a:extLst xmlns:a="http://schemas.openxmlformats.org/drawingml/2006/main">
              <a:ext uri="{FF2B5EF4-FFF2-40B4-BE49-F238E27FC236}">
                <a16:creationId xmlns:a16="http://schemas.microsoft.com/office/drawing/2014/main" id="{212AA1E4-A404-45FD-AE0C-689EAB593A13}"/>
              </a:ext>
            </a:extLst>
          </p:cNvPr>
          <p:cNvSpPr>
            <a:spLocks xmlns:a="http://schemas.openxmlformats.org/drawingml/2006/main" noGrp="1"/>
          </p:cNvSpPr>
          <p:nvPr/>
        </p:nvSpPr>
        <p:spPr>
          <a:xfrm xmlns:a="http://schemas.openxmlformats.org/drawingml/2006/main">
            <a:off x="533400" y="3962400"/>
            <a:ext cx="57150" cy="18097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6485ACC-3145-4523-9E92-346C125A5A55}"/>
              </a:ext>
            </a:extLst>
          </p:cNvPr>
          <p:cNvSpPr>
            <a:spLocks xmlns:a="http://schemas.openxmlformats.org/drawingml/2006/main" noGrp="1"/>
          </p:cNvSpPr>
          <p:nvPr/>
        </p:nvSpPr>
        <p:spPr>
          <a:xfrm xmlns:a="http://schemas.openxmlformats.org/drawingml/2006/main">
            <a:off x="762000" y="411480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Do not recolour</a:t>
            </a:r>
          </a:p>
        </p:txBody>
      </p:sp>
      <p:sp>
        <p:nvSpPr>
          <p:cNvPr id="19" name="">
            <a:extLst xmlns:a="http://schemas.openxmlformats.org/drawingml/2006/main">
              <a:ext uri="{FF2B5EF4-FFF2-40B4-BE49-F238E27FC236}">
                <a16:creationId xmlns:a16="http://schemas.microsoft.com/office/drawing/2014/main" id="{C088A978-9E9D-4BBE-AF20-BC01FBABB151}"/>
              </a:ext>
            </a:extLst>
          </p:cNvPr>
          <p:cNvSpPr>
            <a:spLocks xmlns:a="http://schemas.openxmlformats.org/drawingml/2006/main" noGrp="1"/>
          </p:cNvSpPr>
          <p:nvPr/>
        </p:nvSpPr>
        <p:spPr>
          <a:xfrm xmlns:a="http://schemas.openxmlformats.org/drawingml/2006/main">
            <a:off x="762000" y="4419600"/>
            <a:ext cx="4972050" cy="1200150"/>
          </a:xfrm>
          <a:prstGeom xmlns:a="http://schemas.openxmlformats.org/drawingml/2006/main" prst="roundRect">
            <a:avLst>
              <a:gd name="adj" fmla="val 9524"/>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A mark's colours are part of its identity. Recolouring it to 'match the page' undermines the one thing a logo is supposed to do: stay recognisable.</a:t>
            </a:r>
          </a:p>
        </p:txBody>
      </p:sp>
      <p:sp>
        <p:nvSpPr>
          <p:cNvPr id="20" name="">
            <a:extLst xmlns:a="http://schemas.openxmlformats.org/drawingml/2006/main">
              <a:ext uri="{FF2B5EF4-FFF2-40B4-BE49-F238E27FC236}">
                <a16:creationId xmlns:a16="http://schemas.microsoft.com/office/drawing/2014/main" id="{D36E2D51-3FF0-47B2-A3E9-151B95E25287}"/>
              </a:ext>
            </a:extLst>
          </p:cNvPr>
          <p:cNvSpPr>
            <a:spLocks xmlns:a="http://schemas.openxmlformats.org/drawingml/2006/main" noGrp="1"/>
          </p:cNvSpPr>
          <p:nvPr/>
        </p:nvSpPr>
        <p:spPr>
          <a:xfrm xmlns:a="http://schemas.openxmlformats.org/drawingml/2006/main">
            <a:off x="6153150" y="3962400"/>
            <a:ext cx="5505450" cy="1809750"/>
          </a:xfrm>
          <a:prstGeom xmlns:a="http://schemas.openxmlformats.org/drawingml/2006/main" prst="roundRect">
            <a:avLst>
              <a:gd name="adj" fmla="val 6316"/>
            </a:avLst>
          </a:prstGeom>
          <a:solidFill xmlns:a="http://schemas.openxmlformats.org/drawingml/2006/main">
            <a:srgbClr val="FFFFFF"/>
          </a:solidFill>
          <a:ln xmlns:a="http://schemas.openxmlformats.org/drawingml/2006/main" w="9525">
            <a:solidFill>
              <a:srgbClr val="D7D0C4"/>
            </a:solidFill>
            <a:prstDash val="solid"/>
          </a:ln>
        </p:spPr>
      </p:sp>
      <p:sp>
        <p:nvSpPr>
          <p:cNvPr id="21" name="">
            <a:extLst xmlns:a="http://schemas.openxmlformats.org/drawingml/2006/main">
              <a:ext uri="{FF2B5EF4-FFF2-40B4-BE49-F238E27FC236}">
                <a16:creationId xmlns:a16="http://schemas.microsoft.com/office/drawing/2014/main" id="{78B83907-B1EA-43DB-BC26-D3DA87A6988C}"/>
              </a:ext>
            </a:extLst>
          </p:cNvPr>
          <p:cNvSpPr>
            <a:spLocks xmlns:a="http://schemas.openxmlformats.org/drawingml/2006/main" noGrp="1"/>
          </p:cNvSpPr>
          <p:nvPr/>
        </p:nvSpPr>
        <p:spPr>
          <a:xfrm xmlns:a="http://schemas.openxmlformats.org/drawingml/2006/main">
            <a:off x="6153150" y="3962400"/>
            <a:ext cx="57150" cy="18097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CE405EF-D047-4527-9AF7-A19A9594213D}"/>
              </a:ext>
            </a:extLst>
          </p:cNvPr>
          <p:cNvSpPr>
            <a:spLocks xmlns:a="http://schemas.openxmlformats.org/drawingml/2006/main" noGrp="1"/>
          </p:cNvSpPr>
          <p:nvPr/>
        </p:nvSpPr>
        <p:spPr>
          <a:xfrm xmlns:a="http://schemas.openxmlformats.org/drawingml/2006/main">
            <a:off x="6381750" y="411480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Contrast against backgrounds</a:t>
            </a:r>
          </a:p>
        </p:txBody>
      </p:sp>
      <p:sp>
        <p:nvSpPr>
          <p:cNvPr id="23" name="">
            <a:extLst xmlns:a="http://schemas.openxmlformats.org/drawingml/2006/main">
              <a:ext uri="{FF2B5EF4-FFF2-40B4-BE49-F238E27FC236}">
                <a16:creationId xmlns:a16="http://schemas.microsoft.com/office/drawing/2014/main" id="{DE31A4EE-EA7A-4EBD-8158-141E5981556D}"/>
              </a:ext>
            </a:extLst>
          </p:cNvPr>
          <p:cNvSpPr>
            <a:spLocks xmlns:a="http://schemas.openxmlformats.org/drawingml/2006/main" noGrp="1"/>
          </p:cNvSpPr>
          <p:nvPr/>
        </p:nvSpPr>
        <p:spPr>
          <a:xfrm xmlns:a="http://schemas.openxmlformats.org/drawingml/2006/main">
            <a:off x="6381750" y="4419600"/>
            <a:ext cx="5086350" cy="1200150"/>
          </a:xfrm>
          <a:prstGeom xmlns:a="http://schemas.openxmlformats.org/drawingml/2006/main" prst="roundRect">
            <a:avLst>
              <a:gd name="adj" fmla="val 9524"/>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Provide light and dark variants of the mark rather than placing one variant on a background it was not designed for — apply the same 3:1 UI-component threshold from earlier.</a:t>
            </a:r>
          </a:p>
        </p:txBody>
      </p:sp>
    </p:spTree>
    <p:extLst>
      <p:ext uri="{BB962C8B-B14F-4D97-AF65-F5344CB8AC3E}">
        <p14:creationId xmlns:p14="http://schemas.microsoft.com/office/powerpoint/2010/main" val="1503593551"/>
      </p:ext>
    </p:extLst>
  </p:cSld>
</p:sld>
</file>

<file path=ppt/slides/slide23.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E33A471-F722-418A-8B43-C125CE202C6B}"/>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F16F6F-A237-4170-9543-960C57852EF7}"/>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3F98DCDF-E794-4B6C-847B-3535D65E8D07}"/>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1087F18F-C54C-4051-B319-3B3E0A4A3527}"/>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Studio task</a:t>
            </a:r>
          </a:p>
        </p:txBody>
      </p:sp>
      <p:sp>
        <p:nvSpPr>
          <p:cNvPr id="5" name="">
            <a:extLst xmlns:a="http://schemas.openxmlformats.org/drawingml/2006/main">
              <a:ext uri="{FF2B5EF4-FFF2-40B4-BE49-F238E27FC236}">
                <a16:creationId xmlns:a16="http://schemas.microsoft.com/office/drawing/2014/main" id="{2D481B20-2C64-401F-B257-97D27D61038A}"/>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Build your own restrained system</a:t>
            </a:r>
          </a:p>
        </p:txBody>
      </p:sp>
      <p:sp>
        <p:nvSpPr>
          <p:cNvPr id="6" name="">
            <a:extLst xmlns:a="http://schemas.openxmlformats.org/drawingml/2006/main">
              <a:ext uri="{FF2B5EF4-FFF2-40B4-BE49-F238E27FC236}">
                <a16:creationId xmlns:a16="http://schemas.microsoft.com/office/drawing/2014/main" id="{F08CF4FD-7CA9-4938-BF7E-77338CFBBAB1}"/>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E26505-E5C2-434C-A344-38FB8E118308}"/>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FC4C1E96-9124-4E94-BDB4-56626A007825}"/>
              </a:ext>
            </a:extLst>
          </p:cNvPr>
          <p:cNvSpPr>
            <a:spLocks xmlns:a="http://schemas.openxmlformats.org/drawingml/2006/main" noGrp="1"/>
          </p:cNvSpPr>
          <p:nvPr/>
        </p:nvSpPr>
        <p:spPr>
          <a:xfrm xmlns:a="http://schemas.openxmlformats.org/drawingml/2006/main">
            <a:off x="533400" y="2000250"/>
            <a:ext cx="111252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9" name="">
            <a:extLst xmlns:a="http://schemas.openxmlformats.org/drawingml/2006/main">
              <a:ext uri="{FF2B5EF4-FFF2-40B4-BE49-F238E27FC236}">
                <a16:creationId xmlns:a16="http://schemas.microsoft.com/office/drawing/2014/main" id="{E57FE900-60E6-4402-B231-E0830E70DC15}"/>
              </a:ext>
            </a:extLst>
          </p:cNvPr>
          <p:cNvSpPr>
            <a:spLocks xmlns:a="http://schemas.openxmlformats.org/drawingml/2006/main" noGrp="1"/>
          </p:cNvSpPr>
          <p:nvPr/>
        </p:nvSpPr>
        <p:spPr>
          <a:xfrm xmlns:a="http://schemas.openxmlformats.org/drawingml/2006/main">
            <a:off x="533400" y="20002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F262EE-9374-40D6-B043-22F3AC4884BC}"/>
              </a:ext>
            </a:extLst>
          </p:cNvPr>
          <p:cNvSpPr>
            <a:spLocks xmlns:a="http://schemas.openxmlformats.org/drawingml/2006/main" noGrp="1"/>
          </p:cNvSpPr>
          <p:nvPr/>
        </p:nvSpPr>
        <p:spPr>
          <a:xfrm xmlns:a="http://schemas.openxmlformats.org/drawingml/2006/main">
            <a:off x="762000" y="2152650"/>
            <a:ext cx="107061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Part 1 — tokens</a:t>
            </a:r>
          </a:p>
        </p:txBody>
      </p:sp>
      <p:sp>
        <p:nvSpPr>
          <p:cNvPr id="11" name="">
            <a:extLst xmlns:a="http://schemas.openxmlformats.org/drawingml/2006/main">
              <a:ext uri="{FF2B5EF4-FFF2-40B4-BE49-F238E27FC236}">
                <a16:creationId xmlns:a16="http://schemas.microsoft.com/office/drawing/2014/main" id="{F1F3A56E-2BBE-4F65-AA0A-8C545B7E72AE}"/>
              </a:ext>
            </a:extLst>
          </p:cNvPr>
          <p:cNvSpPr>
            <a:spLocks xmlns:a="http://schemas.openxmlformats.org/drawingml/2006/main" noGrp="1"/>
          </p:cNvSpPr>
          <p:nvPr/>
        </p:nvSpPr>
        <p:spPr>
          <a:xfrm xmlns:a="http://schemas.openxmlformats.org/drawingml/2006/main">
            <a:off x="762000" y="2457450"/>
            <a:ext cx="10706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Define 5-7 semantic colour tokens (not raw hex scattered through your CSS). Check every text/background pairing you actually use against the correct WCAG threshold (4.5:1 body text, 3:1 large text/UI). Provide both a light and a dark variant.</a:t>
            </a:r>
          </a:p>
        </p:txBody>
      </p:sp>
      <p:sp>
        <p:nvSpPr>
          <p:cNvPr id="12" name="">
            <a:extLst xmlns:a="http://schemas.openxmlformats.org/drawingml/2006/main">
              <a:ext uri="{FF2B5EF4-FFF2-40B4-BE49-F238E27FC236}">
                <a16:creationId xmlns:a16="http://schemas.microsoft.com/office/drawing/2014/main" id="{E5A0A9F6-7D45-428F-86DB-C5F54DF67AB1}"/>
              </a:ext>
            </a:extLst>
          </p:cNvPr>
          <p:cNvSpPr>
            <a:spLocks xmlns:a="http://schemas.openxmlformats.org/drawingml/2006/main" noGrp="1"/>
          </p:cNvSpPr>
          <p:nvPr/>
        </p:nvSpPr>
        <p:spPr>
          <a:xfrm xmlns:a="http://schemas.openxmlformats.org/drawingml/2006/main">
            <a:off x="533400" y="3390900"/>
            <a:ext cx="111252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62E57062-D6DB-4DD3-A280-B409F67802DE}"/>
              </a:ext>
            </a:extLst>
          </p:cNvPr>
          <p:cNvSpPr>
            <a:spLocks xmlns:a="http://schemas.openxmlformats.org/drawingml/2006/main" noGrp="1"/>
          </p:cNvSpPr>
          <p:nvPr/>
        </p:nvSpPr>
        <p:spPr>
          <a:xfrm xmlns:a="http://schemas.openxmlformats.org/drawingml/2006/main">
            <a:off x="533400" y="339090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C663F7-7A83-44B7-AE89-69F1927B3D1F}"/>
              </a:ext>
            </a:extLst>
          </p:cNvPr>
          <p:cNvSpPr>
            <a:spLocks xmlns:a="http://schemas.openxmlformats.org/drawingml/2006/main" noGrp="1"/>
          </p:cNvSpPr>
          <p:nvPr/>
        </p:nvSpPr>
        <p:spPr>
          <a:xfrm xmlns:a="http://schemas.openxmlformats.org/drawingml/2006/main">
            <a:off x="762000" y="3543300"/>
            <a:ext cx="107061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Part 2 — images</a:t>
            </a:r>
          </a:p>
        </p:txBody>
      </p:sp>
      <p:sp>
        <p:nvSpPr>
          <p:cNvPr id="15" name="">
            <a:extLst xmlns:a="http://schemas.openxmlformats.org/drawingml/2006/main">
              <a:ext uri="{FF2B5EF4-FFF2-40B4-BE49-F238E27FC236}">
                <a16:creationId xmlns:a16="http://schemas.microsoft.com/office/drawing/2014/main" id="{FDF93267-0BB6-498A-A9FC-F373E5DDD702}"/>
              </a:ext>
            </a:extLst>
          </p:cNvPr>
          <p:cNvSpPr>
            <a:spLocks xmlns:a="http://schemas.openxmlformats.org/drawingml/2006/main" noGrp="1"/>
          </p:cNvSpPr>
          <p:nvPr/>
        </p:nvSpPr>
        <p:spPr>
          <a:xfrm xmlns:a="http://schemas.openxmlformats.org/drawingml/2006/main">
            <a:off x="762000" y="3848100"/>
            <a:ext cx="10706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Select two real images for your own page. For each: state its role (decorative/informative/functional/complex), choose a crop and aspect-ratio with a stated reason, and write alt text that matches its role.</a:t>
            </a:r>
          </a:p>
        </p:txBody>
      </p:sp>
      <p:sp>
        <p:nvSpPr>
          <p:cNvPr id="16" name="">
            <a:extLst xmlns:a="http://schemas.openxmlformats.org/drawingml/2006/main">
              <a:ext uri="{FF2B5EF4-FFF2-40B4-BE49-F238E27FC236}">
                <a16:creationId xmlns:a16="http://schemas.microsoft.com/office/drawing/2014/main" id="{65ABB546-25E3-43A1-B252-27CDF0ED5A86}"/>
              </a:ext>
            </a:extLst>
          </p:cNvPr>
          <p:cNvSpPr>
            <a:spLocks xmlns:a="http://schemas.openxmlformats.org/drawingml/2006/main" noGrp="1"/>
          </p:cNvSpPr>
          <p:nvPr/>
        </p:nvSpPr>
        <p:spPr>
          <a:xfrm xmlns:a="http://schemas.openxmlformats.org/drawingml/2006/main">
            <a:off x="533400" y="4781550"/>
            <a:ext cx="1112520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9525">
            <a:solidFill>
              <a:srgbClr val="D7D0C4"/>
            </a:solidFill>
            <a:prstDash val="solid"/>
          </a:ln>
        </p:spPr>
      </p:sp>
      <p:sp>
        <p:nvSpPr>
          <p:cNvPr id="17" name="">
            <a:extLst xmlns:a="http://schemas.openxmlformats.org/drawingml/2006/main">
              <a:ext uri="{FF2B5EF4-FFF2-40B4-BE49-F238E27FC236}">
                <a16:creationId xmlns:a16="http://schemas.microsoft.com/office/drawing/2014/main" id="{8DCD0E47-BE87-4302-BBC5-B4FB655D2DC4}"/>
              </a:ext>
            </a:extLst>
          </p:cNvPr>
          <p:cNvSpPr>
            <a:spLocks xmlns:a="http://schemas.openxmlformats.org/drawingml/2006/main" noGrp="1"/>
          </p:cNvSpPr>
          <p:nvPr/>
        </p:nvSpPr>
        <p:spPr>
          <a:xfrm xmlns:a="http://schemas.openxmlformats.org/drawingml/2006/main">
            <a:off x="533400" y="4781550"/>
            <a:ext cx="57150" cy="12382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4001689-0DEB-463E-9C7B-B3A97C2A5FED}"/>
              </a:ext>
            </a:extLst>
          </p:cNvPr>
          <p:cNvSpPr>
            <a:spLocks xmlns:a="http://schemas.openxmlformats.org/drawingml/2006/main" noGrp="1"/>
          </p:cNvSpPr>
          <p:nvPr/>
        </p:nvSpPr>
        <p:spPr>
          <a:xfrm xmlns:a="http://schemas.openxmlformats.org/drawingml/2006/main">
            <a:off x="762000" y="4933950"/>
            <a:ext cx="1070610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Part 3 — evidence</a:t>
            </a:r>
          </a:p>
        </p:txBody>
      </p:sp>
      <p:sp>
        <p:nvSpPr>
          <p:cNvPr id="19" name="">
            <a:extLst xmlns:a="http://schemas.openxmlformats.org/drawingml/2006/main">
              <a:ext uri="{FF2B5EF4-FFF2-40B4-BE49-F238E27FC236}">
                <a16:creationId xmlns:a16="http://schemas.microsoft.com/office/drawing/2014/main" id="{094A5DA4-43CD-46CC-AC86-A92EB5DFD069}"/>
              </a:ext>
            </a:extLst>
          </p:cNvPr>
          <p:cNvSpPr>
            <a:spLocks xmlns:a="http://schemas.openxmlformats.org/drawingml/2006/main" noGrp="1"/>
          </p:cNvSpPr>
          <p:nvPr/>
        </p:nvSpPr>
        <p:spPr>
          <a:xfrm xmlns:a="http://schemas.openxmlformats.org/drawingml/2006/main">
            <a:off x="762000" y="5238750"/>
            <a:ext cx="10706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Record: the token table with hex + HSL + contrast ratio; the source, licence and access date for each image; and the final alt text you chose, with one sentence justifying it.</a:t>
            </a:r>
          </a:p>
        </p:txBody>
      </p:sp>
    </p:spTree>
    <p:extLst>
      <p:ext uri="{BB962C8B-B14F-4D97-AF65-F5344CB8AC3E}">
        <p14:creationId xmlns:p14="http://schemas.microsoft.com/office/powerpoint/2010/main" val="1652108527"/>
      </p:ext>
    </p:extLst>
  </p:cSld>
</p:sld>
</file>

<file path=ppt/slides/slide24.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AF2733C-F9D1-4EBE-B356-E0F755D52904}"/>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3A1BD5-621F-4AEB-AAFC-F7F7D1F01C81}"/>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678D3759-4C0F-47FF-AB7E-240D3BF2989C}"/>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24</a:t>
            </a:r>
          </a:p>
        </p:txBody>
      </p:sp>
      <p:sp>
        <p:nvSpPr>
          <p:cNvPr id="4" name="">
            <a:extLst xmlns:a="http://schemas.openxmlformats.org/drawingml/2006/main">
              <a:ext uri="{FF2B5EF4-FFF2-40B4-BE49-F238E27FC236}">
                <a16:creationId xmlns:a16="http://schemas.microsoft.com/office/drawing/2014/main" id="{AA8E971E-C968-4839-A026-F964C55A1762}"/>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Studio task</a:t>
            </a:r>
          </a:p>
        </p:txBody>
      </p:sp>
      <p:sp>
        <p:nvSpPr>
          <p:cNvPr id="5" name="">
            <a:extLst xmlns:a="http://schemas.openxmlformats.org/drawingml/2006/main">
              <a:ext uri="{FF2B5EF4-FFF2-40B4-BE49-F238E27FC236}">
                <a16:creationId xmlns:a16="http://schemas.microsoft.com/office/drawing/2014/main" id="{1D82BB77-F87A-44F9-BA8D-6A48F8B52B1C}"/>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Rubric</a:t>
            </a:r>
          </a:p>
        </p:txBody>
      </p:sp>
      <p:sp>
        <p:nvSpPr>
          <p:cNvPr id="6" name="">
            <a:extLst xmlns:a="http://schemas.openxmlformats.org/drawingml/2006/main">
              <a:ext uri="{FF2B5EF4-FFF2-40B4-BE49-F238E27FC236}">
                <a16:creationId xmlns:a16="http://schemas.microsoft.com/office/drawing/2014/main" id="{85FDE0C4-C4B7-40E9-B80B-99A060DF4DAB}"/>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D4E22DC-44D7-4F97-9C63-D0E21209B6B9}"/>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1147D87A-5750-4B31-8CD3-C05A5CD4326A}"/>
              </a:ext>
            </a:extLst>
          </p:cNvPr>
          <p:cNvSpPr>
            <a:spLocks xmlns:a="http://schemas.openxmlformats.org/drawingml/2006/main" noGrp="1"/>
          </p:cNvSpPr>
          <p:nvPr/>
        </p:nvSpPr>
        <p:spPr>
          <a:xfrm xmlns:a="http://schemas.openxmlformats.org/drawingml/2006/main">
            <a:off x="533400" y="2038350"/>
            <a:ext cx="11125200" cy="304800"/>
          </a:xfrm>
          <a:prstGeom xmlns:a="http://schemas.openxmlformats.org/drawingml/2006/main" prst="roundRect">
            <a:avLst>
              <a:gd name="adj" fmla="val 37500"/>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480578-179C-4D78-BCB4-12F20141983C}"/>
              </a:ext>
            </a:extLst>
          </p:cNvPr>
          <p:cNvSpPr>
            <a:spLocks xmlns:a="http://schemas.openxmlformats.org/drawingml/2006/main" noGrp="1"/>
          </p:cNvSpPr>
          <p:nvPr/>
        </p:nvSpPr>
        <p:spPr>
          <a:xfrm xmlns:a="http://schemas.openxmlformats.org/drawingml/2006/main">
            <a:off x="628650" y="20859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1">
                <a:solidFill>
                  <a:srgbClr val="FFFFFF"/>
                </a:solidFill>
                <a:latin typeface="Aptos"/>
                <a:ea typeface="Aptos"/>
                <a:cs typeface="Aptos"/>
              </a:defRPr>
            </a:pPr>
            <a:r>
              <a:rPr sz="1088" b="1">
                <a:solidFill>
                  <a:srgbClr val="FFFFFF"/>
                </a:solidFill>
                <a:latin typeface="Aptos"/>
                <a:ea typeface="Aptos"/>
                <a:cs typeface="Aptos"/>
              </a:rPr>
              <a:t>Criterion</a:t>
            </a:r>
          </a:p>
        </p:txBody>
      </p:sp>
      <p:sp>
        <p:nvSpPr>
          <p:cNvPr id="10" name="">
            <a:extLst xmlns:a="http://schemas.openxmlformats.org/drawingml/2006/main">
              <a:ext uri="{FF2B5EF4-FFF2-40B4-BE49-F238E27FC236}">
                <a16:creationId xmlns:a16="http://schemas.microsoft.com/office/drawing/2014/main" id="{3240913D-6295-457B-9EF5-AD0FCD9873AA}"/>
              </a:ext>
            </a:extLst>
          </p:cNvPr>
          <p:cNvSpPr>
            <a:spLocks xmlns:a="http://schemas.openxmlformats.org/drawingml/2006/main" noGrp="1"/>
          </p:cNvSpPr>
          <p:nvPr/>
        </p:nvSpPr>
        <p:spPr>
          <a:xfrm xmlns:a="http://schemas.openxmlformats.org/drawingml/2006/main">
            <a:off x="3867150" y="20859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1">
                <a:solidFill>
                  <a:srgbClr val="FFFFFF"/>
                </a:solidFill>
                <a:latin typeface="Aptos"/>
                <a:ea typeface="Aptos"/>
                <a:cs typeface="Aptos"/>
              </a:defRPr>
            </a:pPr>
            <a:r>
              <a:rPr sz="1088" b="1">
                <a:solidFill>
                  <a:srgbClr val="FFFFFF"/>
                </a:solidFill>
                <a:latin typeface="Aptos"/>
                <a:ea typeface="Aptos"/>
                <a:cs typeface="Aptos"/>
              </a:rPr>
              <a:t>What passes</a:t>
            </a:r>
          </a:p>
        </p:txBody>
      </p:sp>
      <p:sp>
        <p:nvSpPr>
          <p:cNvPr id="11" name="">
            <a:extLst xmlns:a="http://schemas.openxmlformats.org/drawingml/2006/main">
              <a:ext uri="{FF2B5EF4-FFF2-40B4-BE49-F238E27FC236}">
                <a16:creationId xmlns:a16="http://schemas.microsoft.com/office/drawing/2014/main" id="{D5FAE243-041F-446B-8E6E-FC578C2A28EC}"/>
              </a:ext>
            </a:extLst>
          </p:cNvPr>
          <p:cNvSpPr>
            <a:spLocks xmlns:a="http://schemas.openxmlformats.org/drawingml/2006/main" noGrp="1"/>
          </p:cNvSpPr>
          <p:nvPr/>
        </p:nvSpPr>
        <p:spPr>
          <a:xfrm xmlns:a="http://schemas.openxmlformats.org/drawingml/2006/main">
            <a:off x="628650" y="23907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Token discipline</a:t>
            </a:r>
          </a:p>
        </p:txBody>
      </p:sp>
      <p:sp>
        <p:nvSpPr>
          <p:cNvPr id="12" name="">
            <a:extLst xmlns:a="http://schemas.openxmlformats.org/drawingml/2006/main">
              <a:ext uri="{FF2B5EF4-FFF2-40B4-BE49-F238E27FC236}">
                <a16:creationId xmlns:a16="http://schemas.microsoft.com/office/drawing/2014/main" id="{9697C271-E5E2-4E21-A8DB-45E8B1ADDF32}"/>
              </a:ext>
            </a:extLst>
          </p:cNvPr>
          <p:cNvSpPr>
            <a:spLocks xmlns:a="http://schemas.openxmlformats.org/drawingml/2006/main" noGrp="1"/>
          </p:cNvSpPr>
          <p:nvPr/>
        </p:nvSpPr>
        <p:spPr>
          <a:xfrm xmlns:a="http://schemas.openxmlformats.org/drawingml/2006/main">
            <a:off x="3867150" y="23907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5-7 named tokens used consistently; no stray hex values in the final CSS</a:t>
            </a:r>
          </a:p>
        </p:txBody>
      </p:sp>
      <p:sp>
        <p:nvSpPr>
          <p:cNvPr id="13" name="">
            <a:extLst xmlns:a="http://schemas.openxmlformats.org/drawingml/2006/main">
              <a:ext uri="{FF2B5EF4-FFF2-40B4-BE49-F238E27FC236}">
                <a16:creationId xmlns:a16="http://schemas.microsoft.com/office/drawing/2014/main" id="{5517CAE2-5F3D-4319-A4D3-5D2E040E08D1}"/>
              </a:ext>
            </a:extLst>
          </p:cNvPr>
          <p:cNvSpPr>
            <a:spLocks xmlns:a="http://schemas.openxmlformats.org/drawingml/2006/main" noGrp="1"/>
          </p:cNvSpPr>
          <p:nvPr/>
        </p:nvSpPr>
        <p:spPr>
          <a:xfrm xmlns:a="http://schemas.openxmlformats.org/drawingml/2006/main">
            <a:off x="533400" y="30575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43D760-B459-49F6-B9E8-9BD9AB323343}"/>
              </a:ext>
            </a:extLst>
          </p:cNvPr>
          <p:cNvSpPr>
            <a:spLocks xmlns:a="http://schemas.openxmlformats.org/drawingml/2006/main" noGrp="1"/>
          </p:cNvSpPr>
          <p:nvPr/>
        </p:nvSpPr>
        <p:spPr>
          <a:xfrm xmlns:a="http://schemas.openxmlformats.org/drawingml/2006/main">
            <a:off x="628650" y="31146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Contrast evidence</a:t>
            </a:r>
          </a:p>
        </p:txBody>
      </p:sp>
      <p:sp>
        <p:nvSpPr>
          <p:cNvPr id="15" name="">
            <a:extLst xmlns:a="http://schemas.openxmlformats.org/drawingml/2006/main">
              <a:ext uri="{FF2B5EF4-FFF2-40B4-BE49-F238E27FC236}">
                <a16:creationId xmlns:a16="http://schemas.microsoft.com/office/drawing/2014/main" id="{F9060F8D-F94F-4224-BAEE-95D9D6068B1A}"/>
              </a:ext>
            </a:extLst>
          </p:cNvPr>
          <p:cNvSpPr>
            <a:spLocks xmlns:a="http://schemas.openxmlformats.org/drawingml/2006/main" noGrp="1"/>
          </p:cNvSpPr>
          <p:nvPr/>
        </p:nvSpPr>
        <p:spPr>
          <a:xfrm xmlns:a="http://schemas.openxmlformats.org/drawingml/2006/main">
            <a:off x="3867150" y="31146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Every real text/background pairing checked against the correct threshold, with the ratio shown</a:t>
            </a:r>
          </a:p>
        </p:txBody>
      </p:sp>
      <p:sp>
        <p:nvSpPr>
          <p:cNvPr id="16" name="">
            <a:extLst xmlns:a="http://schemas.openxmlformats.org/drawingml/2006/main">
              <a:ext uri="{FF2B5EF4-FFF2-40B4-BE49-F238E27FC236}">
                <a16:creationId xmlns:a16="http://schemas.microsoft.com/office/drawing/2014/main" id="{4E9DBEE9-5D34-4A2F-B1BD-39887CDC60D1}"/>
              </a:ext>
            </a:extLst>
          </p:cNvPr>
          <p:cNvSpPr>
            <a:spLocks xmlns:a="http://schemas.openxmlformats.org/drawingml/2006/main" noGrp="1"/>
          </p:cNvSpPr>
          <p:nvPr/>
        </p:nvSpPr>
        <p:spPr>
          <a:xfrm xmlns:a="http://schemas.openxmlformats.org/drawingml/2006/main">
            <a:off x="533400" y="37814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927D0DA-A897-47D0-8FF9-25BB34CBACE0}"/>
              </a:ext>
            </a:extLst>
          </p:cNvPr>
          <p:cNvSpPr>
            <a:spLocks xmlns:a="http://schemas.openxmlformats.org/drawingml/2006/main" noGrp="1"/>
          </p:cNvSpPr>
          <p:nvPr/>
        </p:nvSpPr>
        <p:spPr>
          <a:xfrm xmlns:a="http://schemas.openxmlformats.org/drawingml/2006/main">
            <a:off x="628650" y="38385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Crop justification</a:t>
            </a:r>
          </a:p>
        </p:txBody>
      </p:sp>
      <p:sp>
        <p:nvSpPr>
          <p:cNvPr id="18" name="">
            <a:extLst xmlns:a="http://schemas.openxmlformats.org/drawingml/2006/main">
              <a:ext uri="{FF2B5EF4-FFF2-40B4-BE49-F238E27FC236}">
                <a16:creationId xmlns:a16="http://schemas.microsoft.com/office/drawing/2014/main" id="{D914E809-5D7E-487C-A506-96FA30A6AA7F}"/>
              </a:ext>
            </a:extLst>
          </p:cNvPr>
          <p:cNvSpPr>
            <a:spLocks xmlns:a="http://schemas.openxmlformats.org/drawingml/2006/main" noGrp="1"/>
          </p:cNvSpPr>
          <p:nvPr/>
        </p:nvSpPr>
        <p:spPr>
          <a:xfrm xmlns:a="http://schemas.openxmlformats.org/drawingml/2006/main">
            <a:off x="3867150" y="38385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Aspect-ratio and object-position chosen for a stated reason, not left at defaults</a:t>
            </a:r>
          </a:p>
        </p:txBody>
      </p:sp>
      <p:sp>
        <p:nvSpPr>
          <p:cNvPr id="19" name="">
            <a:extLst xmlns:a="http://schemas.openxmlformats.org/drawingml/2006/main">
              <a:ext uri="{FF2B5EF4-FFF2-40B4-BE49-F238E27FC236}">
                <a16:creationId xmlns:a16="http://schemas.microsoft.com/office/drawing/2014/main" id="{973A07BC-B850-448C-A03C-2505404E80F2}"/>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B0C6983-5781-4828-AB91-232A91FD99B3}"/>
              </a:ext>
            </a:extLst>
          </p:cNvPr>
          <p:cNvSpPr>
            <a:spLocks xmlns:a="http://schemas.openxmlformats.org/drawingml/2006/main" noGrp="1"/>
          </p:cNvSpPr>
          <p:nvPr/>
        </p:nvSpPr>
        <p:spPr>
          <a:xfrm xmlns:a="http://schemas.openxmlformats.org/drawingml/2006/main">
            <a:off x="628650" y="45624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Alt text fit</a:t>
            </a:r>
          </a:p>
        </p:txBody>
      </p:sp>
      <p:sp>
        <p:nvSpPr>
          <p:cNvPr id="21" name="">
            <a:extLst xmlns:a="http://schemas.openxmlformats.org/drawingml/2006/main">
              <a:ext uri="{FF2B5EF4-FFF2-40B4-BE49-F238E27FC236}">
                <a16:creationId xmlns:a16="http://schemas.microsoft.com/office/drawing/2014/main" id="{159C333C-C310-4301-8197-AD5E507B4FE7}"/>
              </a:ext>
            </a:extLst>
          </p:cNvPr>
          <p:cNvSpPr>
            <a:spLocks xmlns:a="http://schemas.openxmlformats.org/drawingml/2006/main" noGrp="1"/>
          </p:cNvSpPr>
          <p:nvPr/>
        </p:nvSpPr>
        <p:spPr>
          <a:xfrm xmlns:a="http://schemas.openxmlformats.org/drawingml/2006/main">
            <a:off x="3867150" y="45624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Alt text matches the declared role (decorative/informative/functional/complex)</a:t>
            </a:r>
          </a:p>
        </p:txBody>
      </p:sp>
      <p:sp>
        <p:nvSpPr>
          <p:cNvPr id="22" name="">
            <a:extLst xmlns:a="http://schemas.openxmlformats.org/drawingml/2006/main">
              <a:ext uri="{FF2B5EF4-FFF2-40B4-BE49-F238E27FC236}">
                <a16:creationId xmlns:a16="http://schemas.microsoft.com/office/drawing/2014/main" id="{152CAB12-4D31-4D6F-A524-01BE9DA0340E}"/>
              </a:ext>
            </a:extLst>
          </p:cNvPr>
          <p:cNvSpPr>
            <a:spLocks xmlns:a="http://schemas.openxmlformats.org/drawingml/2006/main" noGrp="1"/>
          </p:cNvSpPr>
          <p:nvPr/>
        </p:nvSpPr>
        <p:spPr>
          <a:xfrm xmlns:a="http://schemas.openxmlformats.org/drawingml/2006/main">
            <a:off x="533400" y="52292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69685AE-E4F3-4778-A712-61B3CB21B59A}"/>
              </a:ext>
            </a:extLst>
          </p:cNvPr>
          <p:cNvSpPr>
            <a:spLocks xmlns:a="http://schemas.openxmlformats.org/drawingml/2006/main" noGrp="1"/>
          </p:cNvSpPr>
          <p:nvPr/>
        </p:nvSpPr>
        <p:spPr>
          <a:xfrm xmlns:a="http://schemas.openxmlformats.org/drawingml/2006/main">
            <a:off x="628650" y="5286375"/>
            <a:ext cx="30861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Source record</a:t>
            </a:r>
          </a:p>
        </p:txBody>
      </p:sp>
      <p:sp>
        <p:nvSpPr>
          <p:cNvPr id="24" name="">
            <a:extLst xmlns:a="http://schemas.openxmlformats.org/drawingml/2006/main">
              <a:ext uri="{FF2B5EF4-FFF2-40B4-BE49-F238E27FC236}">
                <a16:creationId xmlns:a16="http://schemas.microsoft.com/office/drawing/2014/main" id="{BD50B4A5-6E88-4F06-ABBE-53EF0405FCC5}"/>
              </a:ext>
            </a:extLst>
          </p:cNvPr>
          <p:cNvSpPr>
            <a:spLocks xmlns:a="http://schemas.openxmlformats.org/drawingml/2006/main" noGrp="1"/>
          </p:cNvSpPr>
          <p:nvPr/>
        </p:nvSpPr>
        <p:spPr>
          <a:xfrm xmlns:a="http://schemas.openxmlformats.org/drawingml/2006/main">
            <a:off x="3867150" y="5286375"/>
            <a:ext cx="7734300" cy="571500"/>
          </a:xfrm>
          <a:prstGeom xmlns:a="http://schemas.openxmlformats.org/drawingml/2006/main" prst="roundRect">
            <a:avLst>
              <a:gd name="adj" fmla="val 2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88" b="0">
                <a:solidFill>
                  <a:srgbClr val="18212A"/>
                </a:solidFill>
                <a:latin typeface="Aptos"/>
                <a:ea typeface="Aptos"/>
                <a:cs typeface="Aptos"/>
              </a:defRPr>
            </a:pPr>
            <a:r>
              <a:rPr sz="1088" b="0">
                <a:solidFill>
                  <a:srgbClr val="18212A"/>
                </a:solidFill>
                <a:latin typeface="Aptos"/>
                <a:ea typeface="Aptos"/>
                <a:cs typeface="Aptos"/>
              </a:rPr>
              <a:t>Licence, author and access date recorded for every real image used</a:t>
            </a:r>
          </a:p>
        </p:txBody>
      </p:sp>
      <p:sp>
        <p:nvSpPr>
          <p:cNvPr id="25" name="">
            <a:extLst xmlns:a="http://schemas.openxmlformats.org/drawingml/2006/main">
              <a:ext uri="{FF2B5EF4-FFF2-40B4-BE49-F238E27FC236}">
                <a16:creationId xmlns:a16="http://schemas.microsoft.com/office/drawing/2014/main" id="{AAE6BF7B-CB6B-438F-9B70-ED499A233603}"/>
              </a:ext>
            </a:extLst>
          </p:cNvPr>
          <p:cNvSpPr>
            <a:spLocks xmlns:a="http://schemas.openxmlformats.org/drawingml/2006/main" noGrp="1"/>
          </p:cNvSpPr>
          <p:nvPr/>
        </p:nvSpPr>
        <p:spPr>
          <a:xfrm xmlns:a="http://schemas.openxmlformats.org/drawingml/2006/main">
            <a:off x="533400" y="59531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Tree>
    <p:extLst>
      <p:ext uri="{BB962C8B-B14F-4D97-AF65-F5344CB8AC3E}">
        <p14:creationId xmlns:p14="http://schemas.microsoft.com/office/powerpoint/2010/main" val="615222590"/>
      </p:ext>
    </p:extLst>
  </p:cSld>
</p:sld>
</file>

<file path=ppt/slides/slide25.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4EFA7A1-FB2C-417A-BE3B-4BED58645F4A}"/>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8F6C56-D5DA-481A-B662-116D39E09442}"/>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94C6F5BF-CBCD-4EFB-8429-369003DC2205}"/>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D276D0D2-C10B-4A19-A72D-30CA0CD247DD}"/>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Source record</a:t>
            </a:r>
          </a:p>
        </p:txBody>
      </p:sp>
      <p:sp>
        <p:nvSpPr>
          <p:cNvPr id="5" name="">
            <a:extLst xmlns:a="http://schemas.openxmlformats.org/drawingml/2006/main">
              <a:ext uri="{FF2B5EF4-FFF2-40B4-BE49-F238E27FC236}">
                <a16:creationId xmlns:a16="http://schemas.microsoft.com/office/drawing/2014/main" id="{9D9B15B0-447F-4292-9D05-242CC9AC08A8}"/>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Images used in this deck (1 of 2)</a:t>
            </a:r>
          </a:p>
        </p:txBody>
      </p:sp>
      <p:sp>
        <p:nvSpPr>
          <p:cNvPr id="6" name="">
            <a:extLst xmlns:a="http://schemas.openxmlformats.org/drawingml/2006/main">
              <a:ext uri="{FF2B5EF4-FFF2-40B4-BE49-F238E27FC236}">
                <a16:creationId xmlns:a16="http://schemas.microsoft.com/office/drawing/2014/main" id="{55B507A5-8743-4B24-B4FA-F3A3758647DE}"/>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C2C1769-9E78-42DE-A382-37C60717DE74}"/>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D9690676-A0C3-457E-99D4-F04F0E2EECBB}"/>
              </a:ext>
            </a:extLst>
          </p:cNvPr>
          <p:cNvSpPr>
            <a:spLocks xmlns:a="http://schemas.openxmlformats.org/drawingml/2006/main" noGrp="1"/>
          </p:cNvSpPr>
          <p:nvPr/>
        </p:nvSpPr>
        <p:spPr>
          <a:xfrm xmlns:a="http://schemas.openxmlformats.org/drawingml/2006/main">
            <a:off x="533400" y="1905000"/>
            <a:ext cx="11125200" cy="285750"/>
          </a:xfrm>
          <a:prstGeom xmlns:a="http://schemas.openxmlformats.org/drawingml/2006/main" prst="roundRect">
            <a:avLst>
              <a:gd name="adj" fmla="val 40000"/>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69C358-5FDE-45BE-88DA-28D4A59D3CDB}"/>
              </a:ext>
            </a:extLst>
          </p:cNvPr>
          <p:cNvSpPr>
            <a:spLocks xmlns:a="http://schemas.openxmlformats.org/drawingml/2006/main" noGrp="1"/>
          </p:cNvSpPr>
          <p:nvPr/>
        </p:nvSpPr>
        <p:spPr>
          <a:xfrm xmlns:a="http://schemas.openxmlformats.org/drawingml/2006/main">
            <a:off x="628650" y="19431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File / local name</a:t>
            </a:r>
          </a:p>
        </p:txBody>
      </p:sp>
      <p:sp>
        <p:nvSpPr>
          <p:cNvPr id="10" name="">
            <a:extLst xmlns:a="http://schemas.openxmlformats.org/drawingml/2006/main">
              <a:ext uri="{FF2B5EF4-FFF2-40B4-BE49-F238E27FC236}">
                <a16:creationId xmlns:a16="http://schemas.microsoft.com/office/drawing/2014/main" id="{31FECC45-04C7-4A94-9E00-A2BF90C81F81}"/>
              </a:ext>
            </a:extLst>
          </p:cNvPr>
          <p:cNvSpPr>
            <a:spLocks xmlns:a="http://schemas.openxmlformats.org/drawingml/2006/main" noGrp="1"/>
          </p:cNvSpPr>
          <p:nvPr/>
        </p:nvSpPr>
        <p:spPr>
          <a:xfrm xmlns:a="http://schemas.openxmlformats.org/drawingml/2006/main">
            <a:off x="2724150" y="19431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Wikimedia Commons source</a:t>
            </a:r>
          </a:p>
        </p:txBody>
      </p:sp>
      <p:sp>
        <p:nvSpPr>
          <p:cNvPr id="11" name="">
            <a:extLst xmlns:a="http://schemas.openxmlformats.org/drawingml/2006/main">
              <a:ext uri="{FF2B5EF4-FFF2-40B4-BE49-F238E27FC236}">
                <a16:creationId xmlns:a16="http://schemas.microsoft.com/office/drawing/2014/main" id="{A70C71E2-5071-49F3-BABB-1CB0436B2325}"/>
              </a:ext>
            </a:extLst>
          </p:cNvPr>
          <p:cNvSpPr>
            <a:spLocks xmlns:a="http://schemas.openxmlformats.org/drawingml/2006/main" noGrp="1"/>
          </p:cNvSpPr>
          <p:nvPr/>
        </p:nvSpPr>
        <p:spPr>
          <a:xfrm xmlns:a="http://schemas.openxmlformats.org/drawingml/2006/main">
            <a:off x="8629650" y="19431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Licence · author</a:t>
            </a:r>
          </a:p>
        </p:txBody>
      </p:sp>
      <p:sp>
        <p:nvSpPr>
          <p:cNvPr id="12" name="">
            <a:extLst xmlns:a="http://schemas.openxmlformats.org/drawingml/2006/main">
              <a:ext uri="{FF2B5EF4-FFF2-40B4-BE49-F238E27FC236}">
                <a16:creationId xmlns:a16="http://schemas.microsoft.com/office/drawing/2014/main" id="{5C6051E1-884B-4CD7-89F5-288E4CC967AA}"/>
              </a:ext>
            </a:extLst>
          </p:cNvPr>
          <p:cNvSpPr>
            <a:spLocks xmlns:a="http://schemas.openxmlformats.org/drawingml/2006/main" noGrp="1"/>
          </p:cNvSpPr>
          <p:nvPr/>
        </p:nvSpPr>
        <p:spPr>
          <a:xfrm xmlns:a="http://schemas.openxmlformats.org/drawingml/2006/main">
            <a:off x="628650" y="22288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w5-chefchaouen.jpg</a:t>
            </a:r>
          </a:p>
        </p:txBody>
      </p:sp>
      <p:sp>
        <p:nvSpPr>
          <p:cNvPr id="13" name="">
            <a:extLst xmlns:a="http://schemas.openxmlformats.org/drawingml/2006/main">
              <a:ext uri="{FF2B5EF4-FFF2-40B4-BE49-F238E27FC236}">
                <a16:creationId xmlns:a16="http://schemas.microsoft.com/office/drawing/2014/main" id="{9BC072A4-229E-4F89-BC65-C2516DBC1254}"/>
              </a:ext>
            </a:extLst>
          </p:cNvPr>
          <p:cNvSpPr>
            <a:spLocks xmlns:a="http://schemas.openxmlformats.org/drawingml/2006/main" noGrp="1"/>
          </p:cNvSpPr>
          <p:nvPr/>
        </p:nvSpPr>
        <p:spPr>
          <a:xfrm xmlns:a="http://schemas.openxmlformats.org/drawingml/2006/main">
            <a:off x="2724150" y="22288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Chefchaouen, Morocco (Unsplash).jpg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https://commons.wikimedia.org/wiki/File:Chefchaouen,_Morocco_(Unsplash).jpg</a:t>
            </a:r>
          </a:p>
        </p:txBody>
      </p:sp>
      <p:sp>
        <p:nvSpPr>
          <p:cNvPr id="14" name="">
            <a:extLst xmlns:a="http://schemas.openxmlformats.org/drawingml/2006/main">
              <a:ext uri="{FF2B5EF4-FFF2-40B4-BE49-F238E27FC236}">
                <a16:creationId xmlns:a16="http://schemas.microsoft.com/office/drawing/2014/main" id="{20D63DE8-22E3-4CDE-8746-5BB1CA99E534}"/>
              </a:ext>
            </a:extLst>
          </p:cNvPr>
          <p:cNvSpPr>
            <a:spLocks xmlns:a="http://schemas.openxmlformats.org/drawingml/2006/main" noGrp="1"/>
          </p:cNvSpPr>
          <p:nvPr/>
        </p:nvSpPr>
        <p:spPr>
          <a:xfrm xmlns:a="http://schemas.openxmlformats.org/drawingml/2006/main">
            <a:off x="8629650" y="22288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CC0 1.0 Universal · Azer Koçulu</a:t>
            </a:r>
          </a:p>
        </p:txBody>
      </p:sp>
      <p:sp>
        <p:nvSpPr>
          <p:cNvPr id="15" name="">
            <a:extLst xmlns:a="http://schemas.openxmlformats.org/drawingml/2006/main">
              <a:ext uri="{FF2B5EF4-FFF2-40B4-BE49-F238E27FC236}">
                <a16:creationId xmlns:a16="http://schemas.microsoft.com/office/drawing/2014/main" id="{1C454023-A1AF-417D-87FF-EA2990B0EA0A}"/>
              </a:ext>
            </a:extLst>
          </p:cNvPr>
          <p:cNvSpPr>
            <a:spLocks xmlns:a="http://schemas.openxmlformats.org/drawingml/2006/main" noGrp="1"/>
          </p:cNvSpPr>
          <p:nvPr/>
        </p:nvSpPr>
        <p:spPr>
          <a:xfrm xmlns:a="http://schemas.openxmlformats.org/drawingml/2006/main">
            <a:off x="533400" y="28860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93C7EB5-C973-4433-84AD-4B5BC2897995}"/>
              </a:ext>
            </a:extLst>
          </p:cNvPr>
          <p:cNvSpPr>
            <a:spLocks xmlns:a="http://schemas.openxmlformats.org/drawingml/2006/main" noGrp="1"/>
          </p:cNvSpPr>
          <p:nvPr/>
        </p:nvSpPr>
        <p:spPr>
          <a:xfrm xmlns:a="http://schemas.openxmlformats.org/drawingml/2006/main">
            <a:off x="628650" y="29337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w5-burano.jpg</a:t>
            </a:r>
          </a:p>
        </p:txBody>
      </p:sp>
      <p:sp>
        <p:nvSpPr>
          <p:cNvPr id="17" name="">
            <a:extLst xmlns:a="http://schemas.openxmlformats.org/drawingml/2006/main">
              <a:ext uri="{FF2B5EF4-FFF2-40B4-BE49-F238E27FC236}">
                <a16:creationId xmlns:a16="http://schemas.microsoft.com/office/drawing/2014/main" id="{B569A752-7A88-470C-B66F-2BDABA9D8775}"/>
              </a:ext>
            </a:extLst>
          </p:cNvPr>
          <p:cNvSpPr>
            <a:spLocks xmlns:a="http://schemas.openxmlformats.org/drawingml/2006/main" noGrp="1"/>
          </p:cNvSpPr>
          <p:nvPr/>
        </p:nvSpPr>
        <p:spPr>
          <a:xfrm xmlns:a="http://schemas.openxmlformats.org/drawingml/2006/main">
            <a:off x="2724150" y="29337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Burano Houses (8492557865).jpg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https://commons.wikimedia.org/wiki/File:Burano_Houses_(8492557865).jpg</a:t>
            </a:r>
          </a:p>
        </p:txBody>
      </p:sp>
      <p:sp>
        <p:nvSpPr>
          <p:cNvPr id="18" name="">
            <a:extLst xmlns:a="http://schemas.openxmlformats.org/drawingml/2006/main">
              <a:ext uri="{FF2B5EF4-FFF2-40B4-BE49-F238E27FC236}">
                <a16:creationId xmlns:a16="http://schemas.microsoft.com/office/drawing/2014/main" id="{574739BB-4B0C-47D6-BC64-7C1F193C88FD}"/>
              </a:ext>
            </a:extLst>
          </p:cNvPr>
          <p:cNvSpPr>
            <a:spLocks xmlns:a="http://schemas.openxmlformats.org/drawingml/2006/main" noGrp="1"/>
          </p:cNvSpPr>
          <p:nvPr/>
        </p:nvSpPr>
        <p:spPr>
          <a:xfrm xmlns:a="http://schemas.openxmlformats.org/drawingml/2006/main">
            <a:off x="8629650" y="29337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 2.0 · Paul VanDerWerf</a:t>
            </a:r>
          </a:p>
        </p:txBody>
      </p:sp>
      <p:sp>
        <p:nvSpPr>
          <p:cNvPr id="19" name="">
            <a:extLst xmlns:a="http://schemas.openxmlformats.org/drawingml/2006/main">
              <a:ext uri="{FF2B5EF4-FFF2-40B4-BE49-F238E27FC236}">
                <a16:creationId xmlns:a16="http://schemas.microsoft.com/office/drawing/2014/main" id="{585FBEEE-EC5F-4E64-BAFC-2F063941B00D}"/>
              </a:ext>
            </a:extLst>
          </p:cNvPr>
          <p:cNvSpPr>
            <a:spLocks xmlns:a="http://schemas.openxmlformats.org/drawingml/2006/main" noGrp="1"/>
          </p:cNvSpPr>
          <p:nvPr/>
        </p:nvSpPr>
        <p:spPr>
          <a:xfrm xmlns:a="http://schemas.openxmlformats.org/drawingml/2006/main">
            <a:off x="533400" y="35909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F9819B6-D062-4E86-87F9-BC314931F625}"/>
              </a:ext>
            </a:extLst>
          </p:cNvPr>
          <p:cNvSpPr>
            <a:spLocks xmlns:a="http://schemas.openxmlformats.org/drawingml/2006/main" noGrp="1"/>
          </p:cNvSpPr>
          <p:nvPr/>
        </p:nvSpPr>
        <p:spPr>
          <a:xfrm xmlns:a="http://schemas.openxmlformats.org/drawingml/2006/main">
            <a:off x="628650" y="36385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w5-hsl-cylinder.png</a:t>
            </a:r>
          </a:p>
        </p:txBody>
      </p:sp>
      <p:sp>
        <p:nvSpPr>
          <p:cNvPr id="21" name="">
            <a:extLst xmlns:a="http://schemas.openxmlformats.org/drawingml/2006/main">
              <a:ext uri="{FF2B5EF4-FFF2-40B4-BE49-F238E27FC236}">
                <a16:creationId xmlns:a16="http://schemas.microsoft.com/office/drawing/2014/main" id="{6BF94352-10FB-409C-A947-75DD252276C5}"/>
              </a:ext>
            </a:extLst>
          </p:cNvPr>
          <p:cNvSpPr>
            <a:spLocks xmlns:a="http://schemas.openxmlformats.org/drawingml/2006/main" noGrp="1"/>
          </p:cNvSpPr>
          <p:nvPr/>
        </p:nvSpPr>
        <p:spPr>
          <a:xfrm xmlns:a="http://schemas.openxmlformats.org/drawingml/2006/main">
            <a:off x="2724150" y="36385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HSL color solid cylinder saturation gray.png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https://commons.wikimedia.org/wiki/File:HSL_color_solid_cylinder_saturation_gray.png</a:t>
            </a:r>
          </a:p>
        </p:txBody>
      </p:sp>
      <p:sp>
        <p:nvSpPr>
          <p:cNvPr id="22" name="">
            <a:extLst xmlns:a="http://schemas.openxmlformats.org/drawingml/2006/main">
              <a:ext uri="{FF2B5EF4-FFF2-40B4-BE49-F238E27FC236}">
                <a16:creationId xmlns:a16="http://schemas.microsoft.com/office/drawing/2014/main" id="{0D6D678E-E737-4865-A5F7-8E24C67292DE}"/>
              </a:ext>
            </a:extLst>
          </p:cNvPr>
          <p:cNvSpPr>
            <a:spLocks xmlns:a="http://schemas.openxmlformats.org/drawingml/2006/main" noGrp="1"/>
          </p:cNvSpPr>
          <p:nvPr/>
        </p:nvSpPr>
        <p:spPr>
          <a:xfrm xmlns:a="http://schemas.openxmlformats.org/drawingml/2006/main">
            <a:off x="8629650" y="36385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3.0 · SharkD</a:t>
            </a:r>
          </a:p>
        </p:txBody>
      </p:sp>
      <p:sp>
        <p:nvSpPr>
          <p:cNvPr id="23" name="">
            <a:extLst xmlns:a="http://schemas.openxmlformats.org/drawingml/2006/main">
              <a:ext uri="{FF2B5EF4-FFF2-40B4-BE49-F238E27FC236}">
                <a16:creationId xmlns:a16="http://schemas.microsoft.com/office/drawing/2014/main" id="{477CC15F-8420-449F-A1C6-4C2F8F68A450}"/>
              </a:ext>
            </a:extLst>
          </p:cNvPr>
          <p:cNvSpPr>
            <a:spLocks xmlns:a="http://schemas.openxmlformats.org/drawingml/2006/main" noGrp="1"/>
          </p:cNvSpPr>
          <p:nvPr/>
        </p:nvSpPr>
        <p:spPr>
          <a:xfrm xmlns:a="http://schemas.openxmlformats.org/drawingml/2006/main">
            <a:off x="533400" y="42957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0B9309B-0F17-4A4A-B964-4096811B8ADD}"/>
              </a:ext>
            </a:extLst>
          </p:cNvPr>
          <p:cNvSpPr>
            <a:spLocks xmlns:a="http://schemas.openxmlformats.org/drawingml/2006/main" noGrp="1"/>
          </p:cNvSpPr>
          <p:nvPr/>
        </p:nvSpPr>
        <p:spPr>
          <a:xfrm xmlns:a="http://schemas.openxmlformats.org/drawingml/2006/main">
            <a:off x="628650" y="43434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w5-ishihara.png</a:t>
            </a:r>
          </a:p>
        </p:txBody>
      </p:sp>
      <p:sp>
        <p:nvSpPr>
          <p:cNvPr id="25" name="">
            <a:extLst xmlns:a="http://schemas.openxmlformats.org/drawingml/2006/main">
              <a:ext uri="{FF2B5EF4-FFF2-40B4-BE49-F238E27FC236}">
                <a16:creationId xmlns:a16="http://schemas.microsoft.com/office/drawing/2014/main" id="{BC29BDED-9FEA-4AC1-9E48-B88A26600D00}"/>
              </a:ext>
            </a:extLst>
          </p:cNvPr>
          <p:cNvSpPr>
            <a:spLocks xmlns:a="http://schemas.openxmlformats.org/drawingml/2006/main" noGrp="1"/>
          </p:cNvSpPr>
          <p:nvPr/>
        </p:nvSpPr>
        <p:spPr>
          <a:xfrm xmlns:a="http://schemas.openxmlformats.org/drawingml/2006/main">
            <a:off x="2724150" y="43434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Ishihara-Test.svg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https://commons.wikimedia.org/wiki/File:Ishihara-Test.svg</a:t>
            </a:r>
          </a:p>
        </p:txBody>
      </p:sp>
      <p:sp>
        <p:nvSpPr>
          <p:cNvPr id="26" name="">
            <a:extLst xmlns:a="http://schemas.openxmlformats.org/drawingml/2006/main">
              <a:ext uri="{FF2B5EF4-FFF2-40B4-BE49-F238E27FC236}">
                <a16:creationId xmlns:a16="http://schemas.microsoft.com/office/drawing/2014/main" id="{DA35E38B-3B08-4D6A-9A86-8CE7AE64087B}"/>
              </a:ext>
            </a:extLst>
          </p:cNvPr>
          <p:cNvSpPr>
            <a:spLocks xmlns:a="http://schemas.openxmlformats.org/drawingml/2006/main" noGrp="1"/>
          </p:cNvSpPr>
          <p:nvPr/>
        </p:nvSpPr>
        <p:spPr>
          <a:xfrm xmlns:a="http://schemas.openxmlformats.org/drawingml/2006/main">
            <a:off x="8629650" y="43434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3.0 · Dan-yell</a:t>
            </a:r>
          </a:p>
        </p:txBody>
      </p:sp>
      <p:sp>
        <p:nvSpPr>
          <p:cNvPr id="27" name="">
            <a:extLst xmlns:a="http://schemas.openxmlformats.org/drawingml/2006/main">
              <a:ext uri="{FF2B5EF4-FFF2-40B4-BE49-F238E27FC236}">
                <a16:creationId xmlns:a16="http://schemas.microsoft.com/office/drawing/2014/main" id="{142BFB53-6E84-4203-A952-6EF95E806DD6}"/>
              </a:ext>
            </a:extLst>
          </p:cNvPr>
          <p:cNvSpPr>
            <a:spLocks xmlns:a="http://schemas.openxmlformats.org/drawingml/2006/main" noGrp="1"/>
          </p:cNvSpPr>
          <p:nvPr/>
        </p:nvSpPr>
        <p:spPr>
          <a:xfrm xmlns:a="http://schemas.openxmlformats.org/drawingml/2006/main">
            <a:off x="533400" y="50006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3450D65-F734-46A8-8DC2-E45E51CFBC44}"/>
              </a:ext>
            </a:extLst>
          </p:cNvPr>
          <p:cNvSpPr>
            <a:spLocks xmlns:a="http://schemas.openxmlformats.org/drawingml/2006/main" noGrp="1"/>
          </p:cNvSpPr>
          <p:nvPr/>
        </p:nvSpPr>
        <p:spPr>
          <a:xfrm xmlns:a="http://schemas.openxmlformats.org/drawingml/2006/main">
            <a:off x="628650" y="50482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w5-face-portrait.jpg</a:t>
            </a:r>
          </a:p>
        </p:txBody>
      </p:sp>
      <p:sp>
        <p:nvSpPr>
          <p:cNvPr id="29" name="">
            <a:extLst xmlns:a="http://schemas.openxmlformats.org/drawingml/2006/main">
              <a:ext uri="{FF2B5EF4-FFF2-40B4-BE49-F238E27FC236}">
                <a16:creationId xmlns:a16="http://schemas.microsoft.com/office/drawing/2014/main" id="{FF6E3A0A-5252-4B66-85C9-43B7A75F2433}"/>
              </a:ext>
            </a:extLst>
          </p:cNvPr>
          <p:cNvSpPr>
            <a:spLocks xmlns:a="http://schemas.openxmlformats.org/drawingml/2006/main" noGrp="1"/>
          </p:cNvSpPr>
          <p:nvPr/>
        </p:nvSpPr>
        <p:spPr>
          <a:xfrm xmlns:a="http://schemas.openxmlformats.org/drawingml/2006/main">
            <a:off x="2724150" y="50482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Face portrait (Unsplash).jpg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https://commons.wikimedia.org/wiki/File:Face_portrait_(Unsplash).jpg</a:t>
            </a:r>
          </a:p>
        </p:txBody>
      </p:sp>
      <p:sp>
        <p:nvSpPr>
          <p:cNvPr id="30" name="">
            <a:extLst xmlns:a="http://schemas.openxmlformats.org/drawingml/2006/main">
              <a:ext uri="{FF2B5EF4-FFF2-40B4-BE49-F238E27FC236}">
                <a16:creationId xmlns:a16="http://schemas.microsoft.com/office/drawing/2014/main" id="{3B89BE2C-24DA-4C12-964A-102D4414D271}"/>
              </a:ext>
            </a:extLst>
          </p:cNvPr>
          <p:cNvSpPr>
            <a:spLocks xmlns:a="http://schemas.openxmlformats.org/drawingml/2006/main" noGrp="1"/>
          </p:cNvSpPr>
          <p:nvPr/>
        </p:nvSpPr>
        <p:spPr>
          <a:xfrm xmlns:a="http://schemas.openxmlformats.org/drawingml/2006/main">
            <a:off x="8629650" y="50482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CC0 1.0 Universal · William Stitt</a:t>
            </a:r>
          </a:p>
        </p:txBody>
      </p:sp>
      <p:sp>
        <p:nvSpPr>
          <p:cNvPr id="31" name="">
            <a:extLst xmlns:a="http://schemas.openxmlformats.org/drawingml/2006/main">
              <a:ext uri="{FF2B5EF4-FFF2-40B4-BE49-F238E27FC236}">
                <a16:creationId xmlns:a16="http://schemas.microsoft.com/office/drawing/2014/main" id="{86BCD85F-6FA7-43D9-A786-B7FFBFD1103E}"/>
              </a:ext>
            </a:extLst>
          </p:cNvPr>
          <p:cNvSpPr>
            <a:spLocks xmlns:a="http://schemas.openxmlformats.org/drawingml/2006/main" noGrp="1"/>
          </p:cNvSpPr>
          <p:nvPr/>
        </p:nvSpPr>
        <p:spPr>
          <a:xfrm xmlns:a="http://schemas.openxmlformats.org/drawingml/2006/main">
            <a:off x="533400" y="57054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07F9CCF-71E4-4443-B37E-4FB6529E2805}"/>
              </a:ext>
            </a:extLst>
          </p:cNvPr>
          <p:cNvSpPr>
            <a:spLocks xmlns:a="http://schemas.openxmlformats.org/drawingml/2006/main" noGrp="1"/>
          </p:cNvSpPr>
          <p:nvPr/>
        </p:nvSpPr>
        <p:spPr>
          <a:xfrm xmlns:a="http://schemas.openxmlformats.org/drawingml/2006/main">
            <a:off x="628650" y="57531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w5-headshot.jpg</a:t>
            </a:r>
          </a:p>
        </p:txBody>
      </p:sp>
      <p:sp>
        <p:nvSpPr>
          <p:cNvPr id="33" name="">
            <a:extLst xmlns:a="http://schemas.openxmlformats.org/drawingml/2006/main">
              <a:ext uri="{FF2B5EF4-FFF2-40B4-BE49-F238E27FC236}">
                <a16:creationId xmlns:a16="http://schemas.microsoft.com/office/drawing/2014/main" id="{D88E5B5A-B8E2-48A3-8EC8-46AE6149DA4C}"/>
              </a:ext>
            </a:extLst>
          </p:cNvPr>
          <p:cNvSpPr>
            <a:spLocks xmlns:a="http://schemas.openxmlformats.org/drawingml/2006/main" noGrp="1"/>
          </p:cNvSpPr>
          <p:nvPr/>
        </p:nvSpPr>
        <p:spPr>
          <a:xfrm xmlns:a="http://schemas.openxmlformats.org/drawingml/2006/main">
            <a:off x="2724150" y="57531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Headshot.jpg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https://commons.wikimedia.org/wiki/File:Headshot.jpg</a:t>
            </a:r>
          </a:p>
        </p:txBody>
      </p:sp>
      <p:sp>
        <p:nvSpPr>
          <p:cNvPr id="34" name="">
            <a:extLst xmlns:a="http://schemas.openxmlformats.org/drawingml/2006/main">
              <a:ext uri="{FF2B5EF4-FFF2-40B4-BE49-F238E27FC236}">
                <a16:creationId xmlns:a16="http://schemas.microsoft.com/office/drawing/2014/main" id="{4A30DBD1-9F33-41B3-B867-A5A5A9205E00}"/>
              </a:ext>
            </a:extLst>
          </p:cNvPr>
          <p:cNvSpPr>
            <a:spLocks xmlns:a="http://schemas.openxmlformats.org/drawingml/2006/main" noGrp="1"/>
          </p:cNvSpPr>
          <p:nvPr/>
        </p:nvSpPr>
        <p:spPr>
          <a:xfrm xmlns:a="http://schemas.openxmlformats.org/drawingml/2006/main">
            <a:off x="8629650" y="57531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CC0 1.0 Universal · John A. Hollansworth Jr.</a:t>
            </a:r>
          </a:p>
        </p:txBody>
      </p:sp>
      <p:sp>
        <p:nvSpPr>
          <p:cNvPr id="35" name="">
            <a:extLst xmlns:a="http://schemas.openxmlformats.org/drawingml/2006/main">
              <a:ext uri="{FF2B5EF4-FFF2-40B4-BE49-F238E27FC236}">
                <a16:creationId xmlns:a16="http://schemas.microsoft.com/office/drawing/2014/main" id="{9947ABCB-F740-4EC8-95DC-B0A4185B0E22}"/>
              </a:ext>
            </a:extLst>
          </p:cNvPr>
          <p:cNvSpPr>
            <a:spLocks xmlns:a="http://schemas.openxmlformats.org/drawingml/2006/main" noGrp="1"/>
          </p:cNvSpPr>
          <p:nvPr/>
        </p:nvSpPr>
        <p:spPr>
          <a:xfrm xmlns:a="http://schemas.openxmlformats.org/drawingml/2006/main">
            <a:off x="533400" y="64103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A79B46F-CE5A-4F17-9370-387B55D01709}"/>
              </a:ext>
            </a:extLst>
          </p:cNvPr>
          <p:cNvSpPr>
            <a:spLocks xmlns:a="http://schemas.openxmlformats.org/drawingml/2006/main" noGrp="1"/>
          </p:cNvSpPr>
          <p:nvPr/>
        </p:nvSpPr>
        <p:spPr>
          <a:xfrm xmlns:a="http://schemas.openxmlformats.org/drawingml/2006/main">
            <a:off x="533400" y="6305550"/>
            <a:ext cx="8572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1543"/>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All images accessed 13 September 2026. Continued on next slide.</a:t>
            </a:r>
          </a:p>
        </p:txBody>
      </p:sp>
    </p:spTree>
    <p:extLst>
      <p:ext uri="{BB962C8B-B14F-4D97-AF65-F5344CB8AC3E}">
        <p14:creationId xmlns:p14="http://schemas.microsoft.com/office/powerpoint/2010/main" val="1708671813"/>
      </p:ext>
    </p:extLst>
  </p:cSld>
</p:sld>
</file>

<file path=ppt/slides/slide26.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0DB3923-1F08-4BD9-9B3C-EA5F1EE80D41}"/>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AC38A4-2D0F-49F5-AE63-8B83D0DE378B}"/>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0CE2AF6A-91D0-438F-9B8E-3E73E051400B}"/>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91A7C2D9-1DDC-4DD4-95F0-7D582318024C}"/>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Source record</a:t>
            </a:r>
          </a:p>
        </p:txBody>
      </p:sp>
      <p:sp>
        <p:nvSpPr>
          <p:cNvPr id="5" name="">
            <a:extLst xmlns:a="http://schemas.openxmlformats.org/drawingml/2006/main">
              <a:ext uri="{FF2B5EF4-FFF2-40B4-BE49-F238E27FC236}">
                <a16:creationId xmlns:a16="http://schemas.microsoft.com/office/drawing/2014/main" id="{72C4E296-980A-42DE-9F32-E9F81C109893}"/>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Images used in this deck (2 of 2)</a:t>
            </a:r>
          </a:p>
        </p:txBody>
      </p:sp>
      <p:sp>
        <p:nvSpPr>
          <p:cNvPr id="6" name="">
            <a:extLst xmlns:a="http://schemas.openxmlformats.org/drawingml/2006/main">
              <a:ext uri="{FF2B5EF4-FFF2-40B4-BE49-F238E27FC236}">
                <a16:creationId xmlns:a16="http://schemas.microsoft.com/office/drawing/2014/main" id="{9CA851FA-CD8A-4E3F-8C53-797B18BB7417}"/>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6173F98-8B9F-4DA4-B482-73053CAE43A4}"/>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063DFFB4-A57C-49DC-848C-C3C680FC5925}"/>
              </a:ext>
            </a:extLst>
          </p:cNvPr>
          <p:cNvSpPr>
            <a:spLocks xmlns:a="http://schemas.openxmlformats.org/drawingml/2006/main" noGrp="1"/>
          </p:cNvSpPr>
          <p:nvPr/>
        </p:nvSpPr>
        <p:spPr>
          <a:xfrm xmlns:a="http://schemas.openxmlformats.org/drawingml/2006/main">
            <a:off x="533400" y="1905000"/>
            <a:ext cx="11125200" cy="285750"/>
          </a:xfrm>
          <a:prstGeom xmlns:a="http://schemas.openxmlformats.org/drawingml/2006/main" prst="roundRect">
            <a:avLst>
              <a:gd name="adj" fmla="val 40000"/>
            </a:avLst>
          </a:prstGeom>
          <a:solidFill xmlns:a="http://schemas.openxmlformats.org/drawingml/2006/main">
            <a:srgbClr val="18212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F66061B-BE0A-4B11-A221-FE47B638FEE0}"/>
              </a:ext>
            </a:extLst>
          </p:cNvPr>
          <p:cNvSpPr>
            <a:spLocks xmlns:a="http://schemas.openxmlformats.org/drawingml/2006/main" noGrp="1"/>
          </p:cNvSpPr>
          <p:nvPr/>
        </p:nvSpPr>
        <p:spPr>
          <a:xfrm xmlns:a="http://schemas.openxmlformats.org/drawingml/2006/main">
            <a:off x="628650" y="19431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File / local name</a:t>
            </a:r>
          </a:p>
        </p:txBody>
      </p:sp>
      <p:sp>
        <p:nvSpPr>
          <p:cNvPr id="10" name="">
            <a:extLst xmlns:a="http://schemas.openxmlformats.org/drawingml/2006/main">
              <a:ext uri="{FF2B5EF4-FFF2-40B4-BE49-F238E27FC236}">
                <a16:creationId xmlns:a16="http://schemas.microsoft.com/office/drawing/2014/main" id="{F362CF78-53C3-4F2C-BFDC-ED7810699679}"/>
              </a:ext>
            </a:extLst>
          </p:cNvPr>
          <p:cNvSpPr>
            <a:spLocks xmlns:a="http://schemas.openxmlformats.org/drawingml/2006/main" noGrp="1"/>
          </p:cNvSpPr>
          <p:nvPr/>
        </p:nvSpPr>
        <p:spPr>
          <a:xfrm xmlns:a="http://schemas.openxmlformats.org/drawingml/2006/main">
            <a:off x="2724150" y="19431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Wikimedia Commons source</a:t>
            </a:r>
          </a:p>
        </p:txBody>
      </p:sp>
      <p:sp>
        <p:nvSpPr>
          <p:cNvPr id="11" name="">
            <a:extLst xmlns:a="http://schemas.openxmlformats.org/drawingml/2006/main">
              <a:ext uri="{FF2B5EF4-FFF2-40B4-BE49-F238E27FC236}">
                <a16:creationId xmlns:a16="http://schemas.microsoft.com/office/drawing/2014/main" id="{14585875-CC3B-4FF6-96FE-EBE3C96C648D}"/>
              </a:ext>
            </a:extLst>
          </p:cNvPr>
          <p:cNvSpPr>
            <a:spLocks xmlns:a="http://schemas.openxmlformats.org/drawingml/2006/main" noGrp="1"/>
          </p:cNvSpPr>
          <p:nvPr/>
        </p:nvSpPr>
        <p:spPr>
          <a:xfrm xmlns:a="http://schemas.openxmlformats.org/drawingml/2006/main">
            <a:off x="8629650" y="19431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1">
                <a:solidFill>
                  <a:srgbClr val="FFFFFF"/>
                </a:solidFill>
                <a:latin typeface="Aptos"/>
                <a:ea typeface="Aptos"/>
                <a:cs typeface="Aptos"/>
              </a:defRPr>
            </a:pPr>
            <a:r>
              <a:rPr sz="863" b="1">
                <a:solidFill>
                  <a:srgbClr val="FFFFFF"/>
                </a:solidFill>
                <a:latin typeface="Aptos"/>
                <a:ea typeface="Aptos"/>
                <a:cs typeface="Aptos"/>
              </a:rPr>
              <a:t>Licence · author</a:t>
            </a:r>
          </a:p>
        </p:txBody>
      </p:sp>
      <p:sp>
        <p:nvSpPr>
          <p:cNvPr id="12" name="">
            <a:extLst xmlns:a="http://schemas.openxmlformats.org/drawingml/2006/main">
              <a:ext uri="{FF2B5EF4-FFF2-40B4-BE49-F238E27FC236}">
                <a16:creationId xmlns:a16="http://schemas.microsoft.com/office/drawing/2014/main" id="{640FD480-5A9A-4263-852B-2EAC14C87F4E}"/>
              </a:ext>
            </a:extLst>
          </p:cNvPr>
          <p:cNvSpPr>
            <a:spLocks xmlns:a="http://schemas.openxmlformats.org/drawingml/2006/main" noGrp="1"/>
          </p:cNvSpPr>
          <p:nvPr/>
        </p:nvSpPr>
        <p:spPr>
          <a:xfrm xmlns:a="http://schemas.openxmlformats.org/drawingml/2006/main">
            <a:off x="628650" y="22288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w5-rainbow-swatches.jpg</a:t>
            </a:r>
          </a:p>
        </p:txBody>
      </p:sp>
      <p:sp>
        <p:nvSpPr>
          <p:cNvPr id="13" name="">
            <a:extLst xmlns:a="http://schemas.openxmlformats.org/drawingml/2006/main">
              <a:ext uri="{FF2B5EF4-FFF2-40B4-BE49-F238E27FC236}">
                <a16:creationId xmlns:a16="http://schemas.microsoft.com/office/drawing/2014/main" id="{6F27176E-7E98-48BB-B4C4-3738F2F43D1C}"/>
              </a:ext>
            </a:extLst>
          </p:cNvPr>
          <p:cNvSpPr>
            <a:spLocks xmlns:a="http://schemas.openxmlformats.org/drawingml/2006/main" noGrp="1"/>
          </p:cNvSpPr>
          <p:nvPr/>
        </p:nvSpPr>
        <p:spPr>
          <a:xfrm xmlns:a="http://schemas.openxmlformats.org/drawingml/2006/main">
            <a:off x="2724150" y="22288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RAL Color Card (2354626166).jpg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https://commons.wikimedia.org/wiki/File:RAL_Color_Card_(2354626166).jpg</a:t>
            </a:r>
          </a:p>
        </p:txBody>
      </p:sp>
      <p:sp>
        <p:nvSpPr>
          <p:cNvPr id="14" name="">
            <a:extLst xmlns:a="http://schemas.openxmlformats.org/drawingml/2006/main">
              <a:ext uri="{FF2B5EF4-FFF2-40B4-BE49-F238E27FC236}">
                <a16:creationId xmlns:a16="http://schemas.microsoft.com/office/drawing/2014/main" id="{558A2997-BD1A-4DFE-A9BE-DA73D41863CB}"/>
              </a:ext>
            </a:extLst>
          </p:cNvPr>
          <p:cNvSpPr>
            <a:spLocks xmlns:a="http://schemas.openxmlformats.org/drawingml/2006/main" noGrp="1"/>
          </p:cNvSpPr>
          <p:nvPr/>
        </p:nvSpPr>
        <p:spPr>
          <a:xfrm xmlns:a="http://schemas.openxmlformats.org/drawingml/2006/main">
            <a:off x="8629650" y="22288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2.0 · CoCreatr</a:t>
            </a:r>
          </a:p>
        </p:txBody>
      </p:sp>
      <p:sp>
        <p:nvSpPr>
          <p:cNvPr id="15" name="">
            <a:extLst xmlns:a="http://schemas.openxmlformats.org/drawingml/2006/main">
              <a:ext uri="{FF2B5EF4-FFF2-40B4-BE49-F238E27FC236}">
                <a16:creationId xmlns:a16="http://schemas.microsoft.com/office/drawing/2014/main" id="{2E3B51D6-F412-4F3D-96AC-8BDB6ECAEF7D}"/>
              </a:ext>
            </a:extLst>
          </p:cNvPr>
          <p:cNvSpPr>
            <a:spLocks xmlns:a="http://schemas.openxmlformats.org/drawingml/2006/main" noGrp="1"/>
          </p:cNvSpPr>
          <p:nvPr/>
        </p:nvSpPr>
        <p:spPr>
          <a:xfrm xmlns:a="http://schemas.openxmlformats.org/drawingml/2006/main">
            <a:off x="533400" y="28860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9B1170D-66FE-486B-B2E5-312F21C79620}"/>
              </a:ext>
            </a:extLst>
          </p:cNvPr>
          <p:cNvSpPr>
            <a:spLocks xmlns:a="http://schemas.openxmlformats.org/drawingml/2006/main" noGrp="1"/>
          </p:cNvSpPr>
          <p:nvPr/>
        </p:nvSpPr>
        <p:spPr>
          <a:xfrm xmlns:a="http://schemas.openxmlformats.org/drawingml/2006/main">
            <a:off x="628650" y="29337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w5-farrowball-grey.jpg</a:t>
            </a:r>
          </a:p>
        </p:txBody>
      </p:sp>
      <p:sp>
        <p:nvSpPr>
          <p:cNvPr id="17" name="">
            <a:extLst xmlns:a="http://schemas.openxmlformats.org/drawingml/2006/main">
              <a:ext uri="{FF2B5EF4-FFF2-40B4-BE49-F238E27FC236}">
                <a16:creationId xmlns:a16="http://schemas.microsoft.com/office/drawing/2014/main" id="{FE9A6364-9F5A-4EB3-9D62-55FD286536D0}"/>
              </a:ext>
            </a:extLst>
          </p:cNvPr>
          <p:cNvSpPr>
            <a:spLocks xmlns:a="http://schemas.openxmlformats.org/drawingml/2006/main" noGrp="1"/>
          </p:cNvSpPr>
          <p:nvPr/>
        </p:nvSpPr>
        <p:spPr>
          <a:xfrm xmlns:a="http://schemas.openxmlformats.org/drawingml/2006/main">
            <a:off x="2724150" y="29337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Minnesota ten color palat september wiki version.jpeg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https://commons.wikimedia.org/wiki/File:Minnesota_ten_color_palat_september_wiki_version.jpeg</a:t>
            </a:r>
          </a:p>
        </p:txBody>
      </p:sp>
      <p:sp>
        <p:nvSpPr>
          <p:cNvPr id="18" name="">
            <a:extLst xmlns:a="http://schemas.openxmlformats.org/drawingml/2006/main">
              <a:ext uri="{FF2B5EF4-FFF2-40B4-BE49-F238E27FC236}">
                <a16:creationId xmlns:a16="http://schemas.microsoft.com/office/drawing/2014/main" id="{EFB04353-C9B1-4AFD-9533-45740440D22C}"/>
              </a:ext>
            </a:extLst>
          </p:cNvPr>
          <p:cNvSpPr>
            <a:spLocks xmlns:a="http://schemas.openxmlformats.org/drawingml/2006/main" noGrp="1"/>
          </p:cNvSpPr>
          <p:nvPr/>
        </p:nvSpPr>
        <p:spPr>
          <a:xfrm xmlns:a="http://schemas.openxmlformats.org/drawingml/2006/main">
            <a:off x="8629650" y="29337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3.0 · Firry Floyd</a:t>
            </a:r>
          </a:p>
        </p:txBody>
      </p:sp>
      <p:sp>
        <p:nvSpPr>
          <p:cNvPr id="19" name="">
            <a:extLst xmlns:a="http://schemas.openxmlformats.org/drawingml/2006/main">
              <a:ext uri="{FF2B5EF4-FFF2-40B4-BE49-F238E27FC236}">
                <a16:creationId xmlns:a16="http://schemas.microsoft.com/office/drawing/2014/main" id="{45782B44-A293-4A40-A465-C51522923CC1}"/>
              </a:ext>
            </a:extLst>
          </p:cNvPr>
          <p:cNvSpPr>
            <a:spLocks xmlns:a="http://schemas.openxmlformats.org/drawingml/2006/main" noGrp="1"/>
          </p:cNvSpPr>
          <p:nvPr/>
        </p:nvSpPr>
        <p:spPr>
          <a:xfrm xmlns:a="http://schemas.openxmlformats.org/drawingml/2006/main">
            <a:off x="533400" y="35909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3F602AF-0FF3-47E6-B3D1-48C08B5C7449}"/>
              </a:ext>
            </a:extLst>
          </p:cNvPr>
          <p:cNvSpPr>
            <a:spLocks xmlns:a="http://schemas.openxmlformats.org/drawingml/2006/main" noGrp="1"/>
          </p:cNvSpPr>
          <p:nvPr/>
        </p:nvSpPr>
        <p:spPr>
          <a:xfrm xmlns:a="http://schemas.openxmlformats.org/drawingml/2006/main">
            <a:off x="628650" y="36385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w5-marble.jpg</a:t>
            </a:r>
          </a:p>
        </p:txBody>
      </p:sp>
      <p:sp>
        <p:nvSpPr>
          <p:cNvPr id="21" name="">
            <a:extLst xmlns:a="http://schemas.openxmlformats.org/drawingml/2006/main">
              <a:ext uri="{FF2B5EF4-FFF2-40B4-BE49-F238E27FC236}">
                <a16:creationId xmlns:a16="http://schemas.microsoft.com/office/drawing/2014/main" id="{0490AF4E-235E-48FD-9F08-F1B14F451252}"/>
              </a:ext>
            </a:extLst>
          </p:cNvPr>
          <p:cNvSpPr>
            <a:spLocks xmlns:a="http://schemas.openxmlformats.org/drawingml/2006/main" noGrp="1"/>
          </p:cNvSpPr>
          <p:nvPr/>
        </p:nvSpPr>
        <p:spPr>
          <a:xfrm xmlns:a="http://schemas.openxmlformats.org/drawingml/2006/main">
            <a:off x="2724150" y="36385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A Close-Up of an Intricate Marble Pillar.jpg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https://commons.wikimedia.org/wiki/File:A_Close-Up_of_an_Intricate_Marble_Pillar.jpg</a:t>
            </a:r>
          </a:p>
        </p:txBody>
      </p:sp>
      <p:sp>
        <p:nvSpPr>
          <p:cNvPr id="22" name="">
            <a:extLst xmlns:a="http://schemas.openxmlformats.org/drawingml/2006/main">
              <a:ext uri="{FF2B5EF4-FFF2-40B4-BE49-F238E27FC236}">
                <a16:creationId xmlns:a16="http://schemas.microsoft.com/office/drawing/2014/main" id="{BE400F77-F314-416A-8C30-7A323558B2B2}"/>
              </a:ext>
            </a:extLst>
          </p:cNvPr>
          <p:cNvSpPr>
            <a:spLocks xmlns:a="http://schemas.openxmlformats.org/drawingml/2006/main" noGrp="1"/>
          </p:cNvSpPr>
          <p:nvPr/>
        </p:nvSpPr>
        <p:spPr>
          <a:xfrm xmlns:a="http://schemas.openxmlformats.org/drawingml/2006/main">
            <a:off x="8629650" y="36385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4.0 · Pim58</a:t>
            </a:r>
          </a:p>
        </p:txBody>
      </p:sp>
      <p:sp>
        <p:nvSpPr>
          <p:cNvPr id="23" name="">
            <a:extLst xmlns:a="http://schemas.openxmlformats.org/drawingml/2006/main">
              <a:ext uri="{FF2B5EF4-FFF2-40B4-BE49-F238E27FC236}">
                <a16:creationId xmlns:a16="http://schemas.microsoft.com/office/drawing/2014/main" id="{D39E84C1-4C13-4FDF-B6FC-8511DDFF9B78}"/>
              </a:ext>
            </a:extLst>
          </p:cNvPr>
          <p:cNvSpPr>
            <a:spLocks xmlns:a="http://schemas.openxmlformats.org/drawingml/2006/main" noGrp="1"/>
          </p:cNvSpPr>
          <p:nvPr/>
        </p:nvSpPr>
        <p:spPr>
          <a:xfrm xmlns:a="http://schemas.openxmlformats.org/drawingml/2006/main">
            <a:off x="533400" y="42957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5715097-C1D7-44E7-B17F-D6F69B9C955B}"/>
              </a:ext>
            </a:extLst>
          </p:cNvPr>
          <p:cNvSpPr>
            <a:spLocks xmlns:a="http://schemas.openxmlformats.org/drawingml/2006/main" noGrp="1"/>
          </p:cNvSpPr>
          <p:nvPr/>
        </p:nvSpPr>
        <p:spPr>
          <a:xfrm xmlns:a="http://schemas.openxmlformats.org/drawingml/2006/main">
            <a:off x="628650" y="434340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w5-andes-panorama.jpg</a:t>
            </a:r>
          </a:p>
        </p:txBody>
      </p:sp>
      <p:sp>
        <p:nvSpPr>
          <p:cNvPr id="25" name="">
            <a:extLst xmlns:a="http://schemas.openxmlformats.org/drawingml/2006/main">
              <a:ext uri="{FF2B5EF4-FFF2-40B4-BE49-F238E27FC236}">
                <a16:creationId xmlns:a16="http://schemas.microsoft.com/office/drawing/2014/main" id="{8E5F9FEB-3A43-4524-9F28-58EF285E5FB3}"/>
              </a:ext>
            </a:extLst>
          </p:cNvPr>
          <p:cNvSpPr>
            <a:spLocks xmlns:a="http://schemas.openxmlformats.org/drawingml/2006/main" noGrp="1"/>
          </p:cNvSpPr>
          <p:nvPr/>
        </p:nvSpPr>
        <p:spPr>
          <a:xfrm xmlns:a="http://schemas.openxmlformats.org/drawingml/2006/main">
            <a:off x="2724150" y="434340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Andes mountains panoramic view.jpg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https://commons.wikimedia.org/wiki/File:Andes_mountains_panoramic_view.jpg</a:t>
            </a:r>
          </a:p>
        </p:txBody>
      </p:sp>
      <p:sp>
        <p:nvSpPr>
          <p:cNvPr id="26" name="">
            <a:extLst xmlns:a="http://schemas.openxmlformats.org/drawingml/2006/main">
              <a:ext uri="{FF2B5EF4-FFF2-40B4-BE49-F238E27FC236}">
                <a16:creationId xmlns:a16="http://schemas.microsoft.com/office/drawing/2014/main" id="{09F54B69-542E-4BDF-985A-5C247FD8086B}"/>
              </a:ext>
            </a:extLst>
          </p:cNvPr>
          <p:cNvSpPr>
            <a:spLocks xmlns:a="http://schemas.openxmlformats.org/drawingml/2006/main" noGrp="1"/>
          </p:cNvSpPr>
          <p:nvPr/>
        </p:nvSpPr>
        <p:spPr>
          <a:xfrm xmlns:a="http://schemas.openxmlformats.org/drawingml/2006/main">
            <a:off x="8629650" y="434340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 BY-SA 3.0 / GFDL · Paolo Costa Baldi</a:t>
            </a:r>
          </a:p>
        </p:txBody>
      </p:sp>
      <p:sp>
        <p:nvSpPr>
          <p:cNvPr id="27" name="">
            <a:extLst xmlns:a="http://schemas.openxmlformats.org/drawingml/2006/main">
              <a:ext uri="{FF2B5EF4-FFF2-40B4-BE49-F238E27FC236}">
                <a16:creationId xmlns:a16="http://schemas.microsoft.com/office/drawing/2014/main" id="{366B8944-85A9-4B0F-B8CF-3FFD4561A609}"/>
              </a:ext>
            </a:extLst>
          </p:cNvPr>
          <p:cNvSpPr>
            <a:spLocks xmlns:a="http://schemas.openxmlformats.org/drawingml/2006/main" noGrp="1"/>
          </p:cNvSpPr>
          <p:nvPr/>
        </p:nvSpPr>
        <p:spPr>
          <a:xfrm xmlns:a="http://schemas.openxmlformats.org/drawingml/2006/main">
            <a:off x="533400" y="500062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AF68209-C545-4D33-A266-60F66D2F1629}"/>
              </a:ext>
            </a:extLst>
          </p:cNvPr>
          <p:cNvSpPr>
            <a:spLocks xmlns:a="http://schemas.openxmlformats.org/drawingml/2006/main" noGrp="1"/>
          </p:cNvSpPr>
          <p:nvPr/>
        </p:nvSpPr>
        <p:spPr>
          <a:xfrm xmlns:a="http://schemas.openxmlformats.org/drawingml/2006/main">
            <a:off x="628650" y="5048250"/>
            <a:ext cx="194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w5-workspace.jpg</a:t>
            </a:r>
          </a:p>
        </p:txBody>
      </p:sp>
      <p:sp>
        <p:nvSpPr>
          <p:cNvPr id="29" name="">
            <a:extLst xmlns:a="http://schemas.openxmlformats.org/drawingml/2006/main">
              <a:ext uri="{FF2B5EF4-FFF2-40B4-BE49-F238E27FC236}">
                <a16:creationId xmlns:a16="http://schemas.microsoft.com/office/drawing/2014/main" id="{BDD14A9F-641A-4E44-898F-45D77A8B921B}"/>
              </a:ext>
            </a:extLst>
          </p:cNvPr>
          <p:cNvSpPr>
            <a:spLocks xmlns:a="http://schemas.openxmlformats.org/drawingml/2006/main" noGrp="1"/>
          </p:cNvSpPr>
          <p:nvPr/>
        </p:nvSpPr>
        <p:spPr>
          <a:xfrm xmlns:a="http://schemas.openxmlformats.org/drawingml/2006/main">
            <a:off x="2724150" y="5048250"/>
            <a:ext cx="57531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Laptop and coffee on a desk.jpg</a:t>
            </a:r>
          </a:p>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https://commons.wikimedia.org/wiki/File:Laptop_and_coffee_on_a_desk.jpg</a:t>
            </a:r>
          </a:p>
        </p:txBody>
      </p:sp>
      <p:sp>
        <p:nvSpPr>
          <p:cNvPr id="30" name="">
            <a:extLst xmlns:a="http://schemas.openxmlformats.org/drawingml/2006/main">
              <a:ext uri="{FF2B5EF4-FFF2-40B4-BE49-F238E27FC236}">
                <a16:creationId xmlns:a16="http://schemas.microsoft.com/office/drawing/2014/main" id="{049832DB-9D2D-419D-AB75-D085E40A6BA0}"/>
              </a:ext>
            </a:extLst>
          </p:cNvPr>
          <p:cNvSpPr>
            <a:spLocks xmlns:a="http://schemas.openxmlformats.org/drawingml/2006/main" noGrp="1"/>
          </p:cNvSpPr>
          <p:nvPr/>
        </p:nvSpPr>
        <p:spPr>
          <a:xfrm xmlns:a="http://schemas.openxmlformats.org/drawingml/2006/main">
            <a:off x="8629650" y="5048250"/>
            <a:ext cx="2971800" cy="628650"/>
          </a:xfrm>
          <a:prstGeom xmlns:a="http://schemas.openxmlformats.org/drawingml/2006/main" prst="roundRect">
            <a:avLst>
              <a:gd name="adj" fmla="val 18182"/>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863" b="0">
                <a:solidFill>
                  <a:srgbClr val="18212A"/>
                </a:solidFill>
                <a:latin typeface="Aptos"/>
                <a:ea typeface="Aptos"/>
                <a:cs typeface="Aptos"/>
              </a:defRPr>
            </a:pPr>
            <a:r>
              <a:rPr sz="863" b="0">
                <a:solidFill>
                  <a:srgbClr val="18212A"/>
                </a:solidFill>
                <a:latin typeface="Aptos"/>
                <a:ea typeface="Aptos"/>
                <a:cs typeface="Aptos"/>
              </a:rPr>
              <a:t>CC0 1.0 Universal · Lauren Mancke</a:t>
            </a:r>
          </a:p>
        </p:txBody>
      </p:sp>
      <p:sp>
        <p:nvSpPr>
          <p:cNvPr id="31" name="">
            <a:extLst xmlns:a="http://schemas.openxmlformats.org/drawingml/2006/main">
              <a:ext uri="{FF2B5EF4-FFF2-40B4-BE49-F238E27FC236}">
                <a16:creationId xmlns:a16="http://schemas.microsoft.com/office/drawing/2014/main" id="{3B3E3589-535C-4645-9A03-0DCCCA55A48F}"/>
              </a:ext>
            </a:extLst>
          </p:cNvPr>
          <p:cNvSpPr>
            <a:spLocks xmlns:a="http://schemas.openxmlformats.org/drawingml/2006/main" noGrp="1"/>
          </p:cNvSpPr>
          <p:nvPr/>
        </p:nvSpPr>
        <p:spPr>
          <a:xfrm xmlns:a="http://schemas.openxmlformats.org/drawingml/2006/main">
            <a:off x="533400" y="5705475"/>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D829D98-7126-4710-832F-D2E50D1F9EC6}"/>
              </a:ext>
            </a:extLst>
          </p:cNvPr>
          <p:cNvSpPr>
            <a:spLocks xmlns:a="http://schemas.openxmlformats.org/drawingml/2006/main" noGrp="1"/>
          </p:cNvSpPr>
          <p:nvPr/>
        </p:nvSpPr>
        <p:spPr>
          <a:xfrm xmlns:a="http://schemas.openxmlformats.org/drawingml/2006/main">
            <a:off x="533400" y="5676900"/>
            <a:ext cx="10477500" cy="381000"/>
          </a:xfrm>
          <a:prstGeom xmlns:a="http://schemas.openxmlformats.org/drawingml/2006/main" prst="roundRect">
            <a:avLst>
              <a:gd name="adj" fmla="val 30000"/>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All images accessed 13 September 2026. 11 distinct images in total, all placed as slide images in this deck.</a:t>
            </a:r>
          </a:p>
        </p:txBody>
      </p:sp>
    </p:spTree>
    <p:extLst>
      <p:ext uri="{BB962C8B-B14F-4D97-AF65-F5344CB8AC3E}">
        <p14:creationId xmlns:p14="http://schemas.microsoft.com/office/powerpoint/2010/main" val="1448077613"/>
      </p:ext>
    </p:extLst>
  </p:cSld>
</p:sld>
</file>

<file path=ppt/slides/slide27.xml><?xml version="1.0" encoding="utf-8"?>
<p:sld xmlns:p="http://schemas.openxmlformats.org/presentationml/2006/main">
  <p:cSld>
    <p:bg>
      <p:bgPr>
        <a:solidFill xmlns:a="http://schemas.openxmlformats.org/drawingml/2006/main">
          <a:srgbClr val="F8F5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C45E89-8AF0-4B58-97FC-11E63F438A05}"/>
              </a:ext>
            </a:extLst>
          </p:cNvPr>
          <p:cNvSpPr>
            <a:spLocks xmlns:a="http://schemas.openxmlformats.org/drawingml/2006/main" noGrp="1"/>
          </p:cNvSpPr>
          <p:nvPr/>
        </p:nvSpPr>
        <p:spPr>
          <a:xfrm xmlns:a="http://schemas.openxmlformats.org/drawingml/2006/main">
            <a:off x="533400" y="361950"/>
            <a:ext cx="476250" cy="5715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1A8B4C-97A3-466F-A1AE-A91C48A1F1DD}"/>
              </a:ext>
            </a:extLst>
          </p:cNvPr>
          <p:cNvSpPr>
            <a:spLocks xmlns:a="http://schemas.openxmlformats.org/drawingml/2006/main" noGrp="1"/>
          </p:cNvSpPr>
          <p:nvPr/>
        </p:nvSpPr>
        <p:spPr>
          <a:xfrm xmlns:a="http://schemas.openxmlformats.org/drawingml/2006/main">
            <a:off x="533400" y="552450"/>
            <a:ext cx="285750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SLOP1512 / WEEK 5</a:t>
            </a:r>
          </a:p>
        </p:txBody>
      </p:sp>
      <p:sp>
        <p:nvSpPr>
          <p:cNvPr id="3" name="">
            <a:extLst xmlns:a="http://schemas.openxmlformats.org/drawingml/2006/main">
              <a:ext uri="{FF2B5EF4-FFF2-40B4-BE49-F238E27FC236}">
                <a16:creationId xmlns:a16="http://schemas.microsoft.com/office/drawing/2014/main" id="{864D8037-515A-479C-9E64-2040CA26C4F9}"/>
              </a:ext>
            </a:extLst>
          </p:cNvPr>
          <p:cNvSpPr>
            <a:spLocks xmlns:a="http://schemas.openxmlformats.org/drawingml/2006/main" noGrp="1"/>
          </p:cNvSpPr>
          <p:nvPr/>
        </p:nvSpPr>
        <p:spPr>
          <a:xfrm xmlns:a="http://schemas.openxmlformats.org/drawingml/2006/main">
            <a:off x="11049000" y="552450"/>
            <a:ext cx="476250" cy="1905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27037"/>
          </a:bodyPr>
          <a:lstStyle xmlns:a="http://schemas.openxmlformats.org/drawingml/2006/main"/>
          <a:p xmlns:a="http://schemas.openxmlformats.org/drawingml/2006/main">
            <a:pPr>
              <a:defRPr sz="1050" b="1">
                <a:solidFill>
                  <a:srgbClr val="43515D"/>
                </a:solidFill>
                <a:latin typeface="Aptos"/>
                <a:ea typeface="Aptos"/>
                <a:cs typeface="Aptos"/>
              </a:defRPr>
            </a:pPr>
            <a:r>
              <a:rPr sz="1050" b="1">
                <a:solidFill>
                  <a:srgbClr val="43515D"/>
                </a:solidFill>
                <a:latin typeface="Aptos"/>
                <a:ea typeface="Aptos"/>
                <a:cs typeface="Aptos"/>
              </a:rPr>
              <a:t>27</a:t>
            </a:r>
          </a:p>
        </p:txBody>
      </p:sp>
      <p:sp>
        <p:nvSpPr>
          <p:cNvPr id="4" name="">
            <a:extLst xmlns:a="http://schemas.openxmlformats.org/drawingml/2006/main">
              <a:ext uri="{FF2B5EF4-FFF2-40B4-BE49-F238E27FC236}">
                <a16:creationId xmlns:a16="http://schemas.microsoft.com/office/drawing/2014/main" id="{27503F0A-F907-4A82-9BDE-3D8C61B5488F}"/>
              </a:ext>
            </a:extLst>
          </p:cNvPr>
          <p:cNvSpPr>
            <a:spLocks xmlns:a="http://schemas.openxmlformats.org/drawingml/2006/main" noGrp="1"/>
          </p:cNvSpPr>
          <p:nvPr/>
        </p:nvSpPr>
        <p:spPr>
          <a:xfrm xmlns:a="http://schemas.openxmlformats.org/drawingml/2006/main">
            <a:off x="533400" y="876300"/>
            <a:ext cx="10477500" cy="20955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38182"/>
          </a:bodyPr>
          <a:lstStyle xmlns:a="http://schemas.openxmlformats.org/drawingml/2006/main"/>
          <a:p xmlns:a="http://schemas.openxmlformats.org/drawingml/2006/main">
            <a:pPr>
              <a:defRPr sz="975" b="1">
                <a:solidFill>
                  <a:srgbClr val="C7831A"/>
                </a:solidFill>
                <a:latin typeface="Aptos"/>
                <a:ea typeface="Aptos"/>
                <a:cs typeface="Aptos"/>
              </a:defRPr>
            </a:pPr>
            <a:r>
              <a:rPr sz="975" b="1">
                <a:solidFill>
                  <a:srgbClr val="C7831A"/>
                </a:solidFill>
                <a:latin typeface="Aptos"/>
                <a:ea typeface="Aptos"/>
                <a:cs typeface="Aptos"/>
              </a:rPr>
              <a:t>Review</a:t>
            </a:r>
          </a:p>
        </p:txBody>
      </p:sp>
      <p:sp>
        <p:nvSpPr>
          <p:cNvPr id="5" name="">
            <a:extLst xmlns:a="http://schemas.openxmlformats.org/drawingml/2006/main">
              <a:ext uri="{FF2B5EF4-FFF2-40B4-BE49-F238E27FC236}">
                <a16:creationId xmlns:a16="http://schemas.microsoft.com/office/drawing/2014/main" id="{4B309FF4-303D-4297-94F1-0886381376CA}"/>
              </a:ext>
            </a:extLst>
          </p:cNvPr>
          <p:cNvSpPr>
            <a:spLocks xmlns:a="http://schemas.openxmlformats.org/drawingml/2006/main" noGrp="1"/>
          </p:cNvSpPr>
          <p:nvPr/>
        </p:nvSpPr>
        <p:spPr>
          <a:xfrm xmlns:a="http://schemas.openxmlformats.org/drawingml/2006/main">
            <a:off x="533400" y="1085850"/>
            <a:ext cx="10668000" cy="533400"/>
          </a:xfrm>
          <a:prstGeom xmlns:a="http://schemas.openxmlformats.org/drawingml/2006/main" prst="roundRect">
            <a:avLst>
              <a:gd name="adj" fmla="val 21429"/>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8212A"/>
                </a:solidFill>
                <a:latin typeface="Aptos"/>
                <a:ea typeface="Aptos"/>
                <a:cs typeface="Aptos"/>
              </a:defRPr>
            </a:pPr>
            <a:r>
              <a:rPr sz="2400" b="1">
                <a:solidFill>
                  <a:srgbClr val="18212A"/>
                </a:solidFill>
                <a:latin typeface="Aptos"/>
                <a:ea typeface="Aptos"/>
                <a:cs typeface="Aptos"/>
              </a:rPr>
              <a:t>Checklist and next week</a:t>
            </a:r>
          </a:p>
        </p:txBody>
      </p:sp>
      <p:sp>
        <p:nvSpPr>
          <p:cNvPr id="6" name="">
            <a:extLst xmlns:a="http://schemas.openxmlformats.org/drawingml/2006/main">
              <a:ext uri="{FF2B5EF4-FFF2-40B4-BE49-F238E27FC236}">
                <a16:creationId xmlns:a16="http://schemas.microsoft.com/office/drawing/2014/main" id="{A1168359-9F72-4D09-BD8A-CF9DFFD572CB}"/>
              </a:ext>
            </a:extLst>
          </p:cNvPr>
          <p:cNvSpPr>
            <a:spLocks xmlns:a="http://schemas.openxmlformats.org/drawingml/2006/main" noGrp="1"/>
          </p:cNvSpPr>
          <p:nvPr/>
        </p:nvSpPr>
        <p:spPr>
          <a:xfrm xmlns:a="http://schemas.openxmlformats.org/drawingml/2006/main">
            <a:off x="533400" y="6248400"/>
            <a:ext cx="11125200" cy="9525"/>
          </a:xfrm>
          <a:prstGeom xmlns:a="http://schemas.openxmlformats.org/drawingml/2006/main" prst="roundRect">
            <a:avLst>
              <a:gd name="adj" fmla="val 50000"/>
            </a:avLst>
          </a:prstGeom>
          <a:solidFill xmlns:a="http://schemas.openxmlformats.org/drawingml/2006/main">
            <a:srgbClr val="D7D0C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458F92E-EC03-40AB-889C-153502132295}"/>
              </a:ext>
            </a:extLst>
          </p:cNvPr>
          <p:cNvSpPr>
            <a:spLocks xmlns:a="http://schemas.openxmlformats.org/drawingml/2006/main" noGrp="1"/>
          </p:cNvSpPr>
          <p:nvPr/>
        </p:nvSpPr>
        <p:spPr>
          <a:xfrm xmlns:a="http://schemas.openxmlformats.org/drawingml/2006/main">
            <a:off x="533400" y="6438900"/>
            <a:ext cx="4762500" cy="152400"/>
          </a:xfrm>
          <a:prstGeom xmlns:a="http://schemas.openxmlformats.org/drawingml/2006/main" prst="roundRect">
            <a:avLst>
              <a:gd name="adj" fmla="val 50000"/>
            </a:avLst>
          </a:prstGeom>
          <a:noFill xmlns:a="http://schemas.openxmlformats.org/drawingml/2006/main"/>
          <a:ln xmlns:a="http://schemas.openxmlformats.org/drawingml/2006/main" w="0">
            <a:noFill/>
            <a:prstDash val="solid"/>
          </a:ln>
        </p:spPr>
        <p:txBody>
          <a:bodyPr xmlns:a="http://schemas.openxmlformats.org/drawingml/2006/main">
            <a:normAutofit fontScale="11901"/>
          </a:bodyPr>
          <a:lstStyle xmlns:a="http://schemas.openxmlformats.org/drawingml/2006/main"/>
          <a:p xmlns:a="http://schemas.openxmlformats.org/drawingml/2006/main">
            <a:pPr>
              <a:defRPr sz="900" b="0">
                <a:solidFill>
                  <a:srgbClr val="43515D"/>
                </a:solidFill>
                <a:latin typeface="Aptos"/>
                <a:ea typeface="Aptos"/>
                <a:cs typeface="Aptos"/>
              </a:defRPr>
            </a:pPr>
            <a:r>
              <a:rPr sz="900" b="0">
                <a:solidFill>
                  <a:srgbClr val="43515D"/>
                </a:solidFill>
                <a:latin typeface="Aptos"/>
                <a:ea typeface="Aptos"/>
                <a:cs typeface="Aptos"/>
              </a:rPr>
              <a:t>Web Design and Interactive Publishing</a:t>
            </a:r>
          </a:p>
        </p:txBody>
      </p:sp>
      <p:sp>
        <p:nvSpPr>
          <p:cNvPr id="8" name="">
            <a:extLst xmlns:a="http://schemas.openxmlformats.org/drawingml/2006/main">
              <a:ext uri="{FF2B5EF4-FFF2-40B4-BE49-F238E27FC236}">
                <a16:creationId xmlns:a16="http://schemas.microsoft.com/office/drawing/2014/main" id="{EBD328A0-8B5E-42D2-9B5D-94F0633BBAF4}"/>
              </a:ext>
            </a:extLst>
          </p:cNvPr>
          <p:cNvSpPr>
            <a:spLocks xmlns:a="http://schemas.openxmlformats.org/drawingml/2006/main" noGrp="1"/>
          </p:cNvSpPr>
          <p:nvPr/>
        </p:nvSpPr>
        <p:spPr>
          <a:xfrm xmlns:a="http://schemas.openxmlformats.org/drawingml/2006/main">
            <a:off x="533400" y="2000250"/>
            <a:ext cx="5391150" cy="361950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D7D0C4"/>
            </a:solidFill>
            <a:prstDash val="solid"/>
          </a:ln>
        </p:spPr>
      </p:sp>
      <p:sp>
        <p:nvSpPr>
          <p:cNvPr id="9" name="">
            <a:extLst xmlns:a="http://schemas.openxmlformats.org/drawingml/2006/main">
              <a:ext uri="{FF2B5EF4-FFF2-40B4-BE49-F238E27FC236}">
                <a16:creationId xmlns:a16="http://schemas.microsoft.com/office/drawing/2014/main" id="{2BD0AD42-5347-4B37-BB33-D07CA8EBF655}"/>
              </a:ext>
            </a:extLst>
          </p:cNvPr>
          <p:cNvSpPr>
            <a:spLocks xmlns:a="http://schemas.openxmlformats.org/drawingml/2006/main" noGrp="1"/>
          </p:cNvSpPr>
          <p:nvPr/>
        </p:nvSpPr>
        <p:spPr>
          <a:xfrm xmlns:a="http://schemas.openxmlformats.org/drawingml/2006/main">
            <a:off x="533400" y="2000250"/>
            <a:ext cx="57150" cy="36195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61521A-6B6B-4C36-B594-B3F488D5B595}"/>
              </a:ext>
            </a:extLst>
          </p:cNvPr>
          <p:cNvSpPr>
            <a:spLocks xmlns:a="http://schemas.openxmlformats.org/drawingml/2006/main" noGrp="1"/>
          </p:cNvSpPr>
          <p:nvPr/>
        </p:nvSpPr>
        <p:spPr>
          <a:xfrm xmlns:a="http://schemas.openxmlformats.org/drawingml/2006/main">
            <a:off x="762000" y="2152650"/>
            <a:ext cx="49720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Before you ship</a:t>
            </a:r>
          </a:p>
        </p:txBody>
      </p:sp>
      <p:sp>
        <p:nvSpPr>
          <p:cNvPr id="11" name="">
            <a:extLst xmlns:a="http://schemas.openxmlformats.org/drawingml/2006/main">
              <a:ext uri="{FF2B5EF4-FFF2-40B4-BE49-F238E27FC236}">
                <a16:creationId xmlns:a16="http://schemas.microsoft.com/office/drawing/2014/main" id="{D6579252-C1F1-4E3B-BB2B-8631A4D75D22}"/>
              </a:ext>
            </a:extLst>
          </p:cNvPr>
          <p:cNvSpPr>
            <a:spLocks xmlns:a="http://schemas.openxmlformats.org/drawingml/2006/main" noGrp="1"/>
          </p:cNvSpPr>
          <p:nvPr/>
        </p:nvSpPr>
        <p:spPr>
          <a:xfrm xmlns:a="http://schemas.openxmlformats.org/drawingml/2006/main">
            <a:off x="762000" y="2457450"/>
            <a:ext cx="4972050" cy="3009900"/>
          </a:xfrm>
          <a:prstGeom xmlns:a="http://schemas.openxmlformats.org/drawingml/2006/main" prst="roundRect">
            <a:avLst>
              <a:gd name="adj" fmla="val 379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Every colour in your CSS traces to a named token.</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Every text/background pairing you use passes 4.5:1 (or 3:1 for large text/UI).</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No status or meaning relies on colour alone.</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Every image has a stated role and alt text that matches it.</a:t>
            </a:r>
          </a:p>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Every real photo has a recorded source, licence and access date.</a:t>
            </a:r>
          </a:p>
        </p:txBody>
      </p:sp>
      <p:sp>
        <p:nvSpPr>
          <p:cNvPr id="12" name="">
            <a:extLst xmlns:a="http://schemas.openxmlformats.org/drawingml/2006/main">
              <a:ext uri="{FF2B5EF4-FFF2-40B4-BE49-F238E27FC236}">
                <a16:creationId xmlns:a16="http://schemas.microsoft.com/office/drawing/2014/main" id="{3E846199-852B-4C67-ADC4-743266B4C429}"/>
              </a:ext>
            </a:extLst>
          </p:cNvPr>
          <p:cNvSpPr>
            <a:spLocks xmlns:a="http://schemas.openxmlformats.org/drawingml/2006/main" noGrp="1"/>
          </p:cNvSpPr>
          <p:nvPr/>
        </p:nvSpPr>
        <p:spPr>
          <a:xfrm xmlns:a="http://schemas.openxmlformats.org/drawingml/2006/main">
            <a:off x="6153150" y="2000250"/>
            <a:ext cx="5505450" cy="361950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D7D0C4"/>
            </a:solidFill>
            <a:prstDash val="solid"/>
          </a:ln>
        </p:spPr>
      </p:sp>
      <p:sp>
        <p:nvSpPr>
          <p:cNvPr id="13" name="">
            <a:extLst xmlns:a="http://schemas.openxmlformats.org/drawingml/2006/main">
              <a:ext uri="{FF2B5EF4-FFF2-40B4-BE49-F238E27FC236}">
                <a16:creationId xmlns:a16="http://schemas.microsoft.com/office/drawing/2014/main" id="{8B66B185-64FD-4083-8FF3-BF89C39E8C58}"/>
              </a:ext>
            </a:extLst>
          </p:cNvPr>
          <p:cNvSpPr>
            <a:spLocks xmlns:a="http://schemas.openxmlformats.org/drawingml/2006/main" noGrp="1"/>
          </p:cNvSpPr>
          <p:nvPr/>
        </p:nvSpPr>
        <p:spPr>
          <a:xfrm xmlns:a="http://schemas.openxmlformats.org/drawingml/2006/main">
            <a:off x="6153150" y="2000250"/>
            <a:ext cx="57150" cy="3619500"/>
          </a:xfrm>
          <a:prstGeom xmlns:a="http://schemas.openxmlformats.org/drawingml/2006/main" prst="roundRect">
            <a:avLst>
              <a:gd name="adj" fmla="val 50000"/>
            </a:avLst>
          </a:prstGeom>
          <a:solidFill xmlns:a="http://schemas.openxmlformats.org/drawingml/2006/main">
            <a:srgbClr val="C783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F3C305-70D5-4391-A7F2-6F43F65087D4}"/>
              </a:ext>
            </a:extLst>
          </p:cNvPr>
          <p:cNvSpPr>
            <a:spLocks xmlns:a="http://schemas.openxmlformats.org/drawingml/2006/main" noGrp="1"/>
          </p:cNvSpPr>
          <p:nvPr/>
        </p:nvSpPr>
        <p:spPr>
          <a:xfrm xmlns:a="http://schemas.openxmlformats.org/drawingml/2006/main">
            <a:off x="6381750" y="2152650"/>
            <a:ext cx="5086350" cy="247650"/>
          </a:xfrm>
          <a:prstGeom xmlns:a="http://schemas.openxmlformats.org/drawingml/2006/main" prst="roundRect">
            <a:avLst>
              <a:gd name="adj" fmla="val 46154"/>
            </a:avLst>
          </a:prstGeom>
          <a:noFill xmlns:a="http://schemas.openxmlformats.org/drawingml/2006/main"/>
          <a:ln xmlns:a="http://schemas.openxmlformats.org/drawingml/2006/main" w="0">
            <a:noFill/>
            <a:prstDash val="solid"/>
          </a:ln>
        </p:spPr>
        <p:txBody>
          <a:bodyPr xmlns:a="http://schemas.openxmlformats.org/drawingml/2006/main">
            <a:normAutofit fontScale="45934"/>
          </a:bodyPr>
          <a:lstStyle xmlns:a="http://schemas.openxmlformats.org/drawingml/2006/main"/>
          <a:p xmlns:a="http://schemas.openxmlformats.org/drawingml/2006/main">
            <a:pPr>
              <a:defRPr sz="1275" b="1">
                <a:solidFill>
                  <a:srgbClr val="18212A"/>
                </a:solidFill>
                <a:latin typeface="Aptos"/>
                <a:ea typeface="Aptos"/>
                <a:cs typeface="Aptos"/>
              </a:defRPr>
            </a:pPr>
            <a:r>
              <a:rPr sz="1275" b="1">
                <a:solidFill>
                  <a:srgbClr val="18212A"/>
                </a:solidFill>
                <a:latin typeface="Aptos"/>
                <a:ea typeface="Aptos"/>
                <a:cs typeface="Aptos"/>
              </a:rPr>
              <a:t>Next week</a:t>
            </a:r>
          </a:p>
        </p:txBody>
      </p:sp>
      <p:sp>
        <p:nvSpPr>
          <p:cNvPr id="15" name="">
            <a:extLst xmlns:a="http://schemas.openxmlformats.org/drawingml/2006/main">
              <a:ext uri="{FF2B5EF4-FFF2-40B4-BE49-F238E27FC236}">
                <a16:creationId xmlns:a16="http://schemas.microsoft.com/office/drawing/2014/main" id="{B37C1182-EC5F-47ED-9D67-7D2A712C05DA}"/>
              </a:ext>
            </a:extLst>
          </p:cNvPr>
          <p:cNvSpPr>
            <a:spLocks xmlns:a="http://schemas.openxmlformats.org/drawingml/2006/main" noGrp="1"/>
          </p:cNvSpPr>
          <p:nvPr/>
        </p:nvSpPr>
        <p:spPr>
          <a:xfrm xmlns:a="http://schemas.openxmlformats.org/drawingml/2006/main">
            <a:off x="6381750" y="2457450"/>
            <a:ext cx="5086350" cy="3009900"/>
          </a:xfrm>
          <a:prstGeom xmlns:a="http://schemas.openxmlformats.org/drawingml/2006/main" prst="roundRect">
            <a:avLst>
              <a:gd name="adj" fmla="val 3797"/>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p xmlns:a="http://schemas.openxmlformats.org/drawingml/2006/main">
            <a:pPr>
              <a:defRPr sz="1013" b="0">
                <a:solidFill>
                  <a:srgbClr val="43515D"/>
                </a:solidFill>
                <a:latin typeface="Aptos"/>
                <a:ea typeface="Aptos"/>
                <a:cs typeface="Aptos"/>
              </a:defRPr>
            </a:pPr>
            <a:r>
              <a:rPr sz="1013" b="0">
                <a:solidFill>
                  <a:srgbClr val="43515D"/>
                </a:solidFill>
                <a:latin typeface="Aptos"/>
                <a:ea typeface="Aptos"/>
                <a:cs typeface="Aptos"/>
              </a:rPr>
              <a:t>Typography and layout rhythm: how type scale, spacing and grid extend the same token discipline from colour into every other visual decision on the page.</a:t>
            </a:r>
          </a:p>
        </p:txBody>
      </p:sp>
    </p:spTree>
    <p:extLst>
      <p:ext uri="{BB962C8B-B14F-4D97-AF65-F5344CB8AC3E}">
        <p14:creationId xmlns:p14="http://schemas.microsoft.com/office/powerpoint/2010/main" val="8349135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2026-09-13T07:37:09.7220000Z</dcterms:created>
  <dcterms:modified xsi:type="dcterms:W3CDTF">2026-09-13T07:37:09.7220000Z</dcterms:modified>
</coreProperties>
</file>