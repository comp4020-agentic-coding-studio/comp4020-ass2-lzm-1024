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8e1963e5c774c02" /><Relationship Type="http://schemas.openxmlformats.org/officeDocument/2006/relationships/extended-properties" Target="/docProps/app.xml" Id="Red6239f2b90847f8" /><Relationship Type="http://schemas.openxmlformats.org/officeDocument/2006/relationships/officeDocument" Target="/ppt/presentation.xml" Id="R53a5fec33f81474c" /></Relationships>
</file>

<file path=ppt/presentation.xml><?xml version="1.0" encoding="utf-8"?>
<p:presentation xmlns:p="http://schemas.openxmlformats.org/presentationml/2006/main">
  <p:sldMasterIdLst>
    <p:sldMasterId xmlns:r="http://schemas.openxmlformats.org/officeDocument/2006/relationships" id="2147483648" r:id="R13c631bc38944026"/>
  </p:sldMasterIdLst>
  <p:notesMasterIdLst>
    <p:notesMasterId xmlns:r="http://schemas.openxmlformats.org/officeDocument/2006/relationships" r:id="R617e805a14b144c1"/>
  </p:notesMasterIdLst>
  <p:sldIdLst>
    <p:sldId xmlns:r="http://schemas.openxmlformats.org/officeDocument/2006/relationships" id="256" r:id="R07552718db8d4633"/>
    <p:sldId xmlns:r="http://schemas.openxmlformats.org/officeDocument/2006/relationships" id="257" r:id="R4774455fb94f4fdc"/>
    <p:sldId xmlns:r="http://schemas.openxmlformats.org/officeDocument/2006/relationships" id="258" r:id="R847b76599d45486e"/>
    <p:sldId xmlns:r="http://schemas.openxmlformats.org/officeDocument/2006/relationships" id="259" r:id="Rdeb12857440a4ad6"/>
    <p:sldId xmlns:r="http://schemas.openxmlformats.org/officeDocument/2006/relationships" id="260" r:id="R197b7a16a2f046e9"/>
    <p:sldId xmlns:r="http://schemas.openxmlformats.org/officeDocument/2006/relationships" id="261" r:id="R9aac837bc06b498c"/>
    <p:sldId xmlns:r="http://schemas.openxmlformats.org/officeDocument/2006/relationships" id="262" r:id="R29b943ff21b64eaf"/>
    <p:sldId xmlns:r="http://schemas.openxmlformats.org/officeDocument/2006/relationships" id="263" r:id="R764b9a92cd9146bf"/>
    <p:sldId xmlns:r="http://schemas.openxmlformats.org/officeDocument/2006/relationships" id="264" r:id="R8a12e5ee56314573"/>
    <p:sldId xmlns:r="http://schemas.openxmlformats.org/officeDocument/2006/relationships" id="265" r:id="Rc931a483d3da4f2d"/>
    <p:sldId xmlns:r="http://schemas.openxmlformats.org/officeDocument/2006/relationships" id="266" r:id="R01b86a4414c6402c"/>
    <p:sldId xmlns:r="http://schemas.openxmlformats.org/officeDocument/2006/relationships" id="267" r:id="Reba70ba9aed84a0e"/>
    <p:sldId xmlns:r="http://schemas.openxmlformats.org/officeDocument/2006/relationships" id="268" r:id="Ra142aaf5832f426f"/>
    <p:sldId xmlns:r="http://schemas.openxmlformats.org/officeDocument/2006/relationships" id="269" r:id="R1c8fe1dc838e4df7"/>
    <p:sldId xmlns:r="http://schemas.openxmlformats.org/officeDocument/2006/relationships" id="270" r:id="R684a02792bbe4b15"/>
    <p:sldId xmlns:r="http://schemas.openxmlformats.org/officeDocument/2006/relationships" id="271" r:id="R19ae48186c0a4c7f"/>
    <p:sldId xmlns:r="http://schemas.openxmlformats.org/officeDocument/2006/relationships" id="272" r:id="Rb309a4f650294380"/>
    <p:sldId xmlns:r="http://schemas.openxmlformats.org/officeDocument/2006/relationships" id="273" r:id="R21e5493377a342d4"/>
    <p:sldId xmlns:r="http://schemas.openxmlformats.org/officeDocument/2006/relationships" id="274" r:id="R827be6bd0f2545ea"/>
    <p:sldId xmlns:r="http://schemas.openxmlformats.org/officeDocument/2006/relationships" id="275" r:id="Rb41909f18f6e4a9a"/>
    <p:sldId xmlns:r="http://schemas.openxmlformats.org/officeDocument/2006/relationships" id="276" r:id="Rca4c9c33c24f4350"/>
    <p:sldId xmlns:r="http://schemas.openxmlformats.org/officeDocument/2006/relationships" id="277" r:id="Rb2c5facb4fd24afd"/>
    <p:sldId xmlns:r="http://schemas.openxmlformats.org/officeDocument/2006/relationships" id="278" r:id="R7c4be2ab967e4e8f"/>
    <p:sldId xmlns:r="http://schemas.openxmlformats.org/officeDocument/2006/relationships" id="279" r:id="R74f9660e21624b88"/>
    <p:sldId xmlns:r="http://schemas.openxmlformats.org/officeDocument/2006/relationships" id="280" r:id="R1f77a09c6ece4c03"/>
    <p:sldId xmlns:r="http://schemas.openxmlformats.org/officeDocument/2006/relationships" id="281" r:id="R5d6a90bb1bf24bac"/>
    <p:sldId xmlns:r="http://schemas.openxmlformats.org/officeDocument/2006/relationships" id="282" r:id="R787f9ecc8c174531"/>
    <p:sldId xmlns:r="http://schemas.openxmlformats.org/officeDocument/2006/relationships" id="283" r:id="R1c74e89e37bc42a8"/>
    <p:sldId xmlns:r="http://schemas.openxmlformats.org/officeDocument/2006/relationships" id="284" r:id="R7d527a9bc5414d27"/>
    <p:sldId xmlns:r="http://schemas.openxmlformats.org/officeDocument/2006/relationships" id="285" r:id="Rc64745d53c1246e9"/>
    <p:sldId xmlns:r="http://schemas.openxmlformats.org/officeDocument/2006/relationships" id="286" r:id="R28f7f932cef841d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d8a611e06104535" /><Relationship Type="http://schemas.openxmlformats.org/officeDocument/2006/relationships/slideMaster" Target="/ppt/slideMasters/slideMaster1.xml" Id="R13c631bc38944026" /><Relationship Type="http://schemas.openxmlformats.org/officeDocument/2006/relationships/notesMaster" Target="/ppt/notesMasters/notesMaster1.xml" Id="R617e805a14b144c1" /><Relationship Type="http://schemas.openxmlformats.org/officeDocument/2006/relationships/presProps" Target="/ppt/presProps.xml" Id="R71903f1099c94fee" /><Relationship Type="http://schemas.openxmlformats.org/officeDocument/2006/relationships/tableStyles" Target="/ppt/tableStyles.xml" Id="Rf3c439099f5e46d0" /><Relationship Type="http://schemas.openxmlformats.org/officeDocument/2006/relationships/slide" Target="/ppt/slides/slide1.xml" Id="R07552718db8d4633" /><Relationship Type="http://schemas.openxmlformats.org/officeDocument/2006/relationships/slide" Target="/ppt/slides/slide2.xml" Id="R4774455fb94f4fdc" /><Relationship Type="http://schemas.openxmlformats.org/officeDocument/2006/relationships/slide" Target="/ppt/slides/slide3.xml" Id="R847b76599d45486e" /><Relationship Type="http://schemas.openxmlformats.org/officeDocument/2006/relationships/slide" Target="/ppt/slides/slide4.xml" Id="Rdeb12857440a4ad6" /><Relationship Type="http://schemas.openxmlformats.org/officeDocument/2006/relationships/slide" Target="/ppt/slides/slide5.xml" Id="R197b7a16a2f046e9" /><Relationship Type="http://schemas.openxmlformats.org/officeDocument/2006/relationships/slide" Target="/ppt/slides/slide6.xml" Id="R9aac837bc06b498c" /><Relationship Type="http://schemas.openxmlformats.org/officeDocument/2006/relationships/slide" Target="/ppt/slides/slide7.xml" Id="R29b943ff21b64eaf" /><Relationship Type="http://schemas.openxmlformats.org/officeDocument/2006/relationships/slide" Target="/ppt/slides/slide8.xml" Id="R764b9a92cd9146bf" /><Relationship Type="http://schemas.openxmlformats.org/officeDocument/2006/relationships/slide" Target="/ppt/slides/slide9.xml" Id="R8a12e5ee56314573" /><Relationship Type="http://schemas.openxmlformats.org/officeDocument/2006/relationships/slide" Target="/ppt/slides/slide10.xml" Id="Rc931a483d3da4f2d" /><Relationship Type="http://schemas.openxmlformats.org/officeDocument/2006/relationships/slide" Target="/ppt/slides/slide11.xml" Id="R01b86a4414c6402c" /><Relationship Type="http://schemas.openxmlformats.org/officeDocument/2006/relationships/slide" Target="/ppt/slides/slide12.xml" Id="Reba70ba9aed84a0e" /><Relationship Type="http://schemas.openxmlformats.org/officeDocument/2006/relationships/slide" Target="/ppt/slides/slide13.xml" Id="Ra142aaf5832f426f" /><Relationship Type="http://schemas.openxmlformats.org/officeDocument/2006/relationships/slide" Target="/ppt/slides/slide14.xml" Id="R1c8fe1dc838e4df7" /><Relationship Type="http://schemas.openxmlformats.org/officeDocument/2006/relationships/slide" Target="/ppt/slides/slide15.xml" Id="R684a02792bbe4b15" /><Relationship Type="http://schemas.openxmlformats.org/officeDocument/2006/relationships/slide" Target="/ppt/slides/slide16.xml" Id="R19ae48186c0a4c7f" /><Relationship Type="http://schemas.openxmlformats.org/officeDocument/2006/relationships/slide" Target="/ppt/slides/slide17.xml" Id="Rb309a4f650294380" /><Relationship Type="http://schemas.openxmlformats.org/officeDocument/2006/relationships/slide" Target="/ppt/slides/slide18.xml" Id="R21e5493377a342d4" /><Relationship Type="http://schemas.openxmlformats.org/officeDocument/2006/relationships/slide" Target="/ppt/slides/slide19.xml" Id="R827be6bd0f2545ea" /><Relationship Type="http://schemas.openxmlformats.org/officeDocument/2006/relationships/slide" Target="/ppt/slides/slide20.xml" Id="Rb41909f18f6e4a9a" /><Relationship Type="http://schemas.openxmlformats.org/officeDocument/2006/relationships/slide" Target="/ppt/slides/slide21.xml" Id="Rca4c9c33c24f4350" /><Relationship Type="http://schemas.openxmlformats.org/officeDocument/2006/relationships/slide" Target="/ppt/slides/slide22.xml" Id="Rb2c5facb4fd24afd" /><Relationship Type="http://schemas.openxmlformats.org/officeDocument/2006/relationships/slide" Target="/ppt/slides/slide23.xml" Id="R7c4be2ab967e4e8f" /><Relationship Type="http://schemas.openxmlformats.org/officeDocument/2006/relationships/slide" Target="/ppt/slides/slide24.xml" Id="R74f9660e21624b88" /><Relationship Type="http://schemas.openxmlformats.org/officeDocument/2006/relationships/slide" Target="/ppt/slides/slide25.xml" Id="R1f77a09c6ece4c03" /><Relationship Type="http://schemas.openxmlformats.org/officeDocument/2006/relationships/slide" Target="/ppt/slides/slide26.xml" Id="R5d6a90bb1bf24bac" /><Relationship Type="http://schemas.openxmlformats.org/officeDocument/2006/relationships/slide" Target="/ppt/slides/slide27.xml" Id="R787f9ecc8c174531" /><Relationship Type="http://schemas.openxmlformats.org/officeDocument/2006/relationships/slide" Target="/ppt/slides/slide28.xml" Id="R1c74e89e37bc42a8" /><Relationship Type="http://schemas.openxmlformats.org/officeDocument/2006/relationships/slide" Target="/ppt/slides/slide29.xml" Id="R7d527a9bc5414d27" /><Relationship Type="http://schemas.openxmlformats.org/officeDocument/2006/relationships/slide" Target="/ppt/slides/slide30.xml" Id="Rc64745d53c1246e9" /><Relationship Type="http://schemas.openxmlformats.org/officeDocument/2006/relationships/slide" Target="/ppt/slides/slide31.xml" Id="R28f7f932cef841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11dad937fd451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fe93feac324ec0" /><Relationship Type="http://schemas.openxmlformats.org/officeDocument/2006/relationships/notesMaster" Target="/ppt/notesMasters/notesMaster1.xml" Id="Rcbde060cda184e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0bbe3c26ee4cc7" /><Relationship Type="http://schemas.openxmlformats.org/officeDocument/2006/relationships/notesMaster" Target="/ppt/notesMasters/notesMaster1.xml" Id="R086fc83b5ef649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57c70d3b8c3747de" /><Relationship Type="http://schemas.openxmlformats.org/officeDocument/2006/relationships/notesMaster" Target="/ppt/notesMasters/notesMaster1.xml" Id="R7e6c5ffb831244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65e78390a4ce4539" /><Relationship Type="http://schemas.openxmlformats.org/officeDocument/2006/relationships/notesMaster" Target="/ppt/notesMasters/notesMaster1.xml" Id="R8845a5b5de344f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3894750e11a14852" /><Relationship Type="http://schemas.openxmlformats.org/officeDocument/2006/relationships/notesMaster" Target="/ppt/notesMasters/notesMaster1.xml" Id="R703959a2a6184661" /></Relationships>
</file>

<file path=ppt/notesSlides/_rels/notesSlide6.xml.rels>&#65279;<?xml version="1.0" encoding="utf-8"?><Relationships xmlns="http://schemas.openxmlformats.org/package/2006/relationships"><Relationship Type="http://schemas.openxmlformats.org/officeDocument/2006/relationships/slide" Target="/ppt/slides/slide6.xml" Id="Rba2e713af543423e" /><Relationship Type="http://schemas.openxmlformats.org/officeDocument/2006/relationships/notesMaster" Target="/ppt/notesMasters/notesMaster1.xml" Id="R2ba848858a44434d" /></Relationships>
</file>

<file path=ppt/notesSlides/_rels/notesSlide7.xml.rels>&#65279;<?xml version="1.0" encoding="utf-8"?><Relationships xmlns="http://schemas.openxmlformats.org/package/2006/relationships"><Relationship Type="http://schemas.openxmlformats.org/officeDocument/2006/relationships/slide" Target="/ppt/slides/slide7.xml" Id="Ra81dd31bc0424f53" /><Relationship Type="http://schemas.openxmlformats.org/officeDocument/2006/relationships/notesMaster" Target="/ppt/notesMasters/notesMaster1.xml" Id="R231966cddd3d46c2" /></Relationships>
</file>

<file path=ppt/notesSlides/_rels/notesSlide8.xml.rels>&#65279;<?xml version="1.0" encoding="utf-8"?><Relationships xmlns="http://schemas.openxmlformats.org/package/2006/relationships"><Relationship Type="http://schemas.openxmlformats.org/officeDocument/2006/relationships/slide" Target="/ppt/slides/slide8.xml" Id="R7fb4880975394837" /><Relationship Type="http://schemas.openxmlformats.org/officeDocument/2006/relationships/notesMaster" Target="/ppt/notesMasters/notesMaster1.xml" Id="R48273b28f5894692"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1962eadd0d4a59" /><Relationship Type="http://schemas.openxmlformats.org/officeDocument/2006/relationships/notesMaster" Target="/ppt/notesMasters/notesMaster1.xml" Id="Rd67b472faefa49f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b5ea58b062e4573" /><Relationship Type="http://schemas.openxmlformats.org/officeDocument/2006/relationships/notesMaster" Target="/ppt/notesMasters/notesMaster1.xml" Id="R510989eb08404a2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e86f587690a480f" /><Relationship Type="http://schemas.openxmlformats.org/officeDocument/2006/relationships/notesMaster" Target="/ppt/notesMasters/notesMaster1.xml" Id="R099b2817dcf1486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4586d6ef51244f0" /><Relationship Type="http://schemas.openxmlformats.org/officeDocument/2006/relationships/notesMaster" Target="/ppt/notesMasters/notesMaster1.xml" Id="R90041b1e21d84df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0ea3ac903284b70" /><Relationship Type="http://schemas.openxmlformats.org/officeDocument/2006/relationships/notesMaster" Target="/ppt/notesMasters/notesMaster1.xml" Id="R8fa23f2d84fd4e5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890f72b741a451f" /><Relationship Type="http://schemas.openxmlformats.org/officeDocument/2006/relationships/notesMaster" Target="/ppt/notesMasters/notesMaster1.xml" Id="Rfb854f055275450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afbdc4389174d16" /><Relationship Type="http://schemas.openxmlformats.org/officeDocument/2006/relationships/notesMaster" Target="/ppt/notesMasters/notesMaster1.xml" Id="R69592c53fb54434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70d08e824874873" /><Relationship Type="http://schemas.openxmlformats.org/officeDocument/2006/relationships/notesMaster" Target="/ppt/notesMasters/notesMaster1.xml" Id="Rfd571cdcb8ab4dd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43518e1a38d443e" /><Relationship Type="http://schemas.openxmlformats.org/officeDocument/2006/relationships/notesMaster" Target="/ppt/notesMasters/notesMaster1.xml" Id="R736a5cde0bab434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767f31364af4bba" /><Relationship Type="http://schemas.openxmlformats.org/officeDocument/2006/relationships/notesMaster" Target="/ppt/notesMasters/notesMaster1.xml" Id="Rc93267aded59431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3f63703cbb849e8" /><Relationship Type="http://schemas.openxmlformats.org/officeDocument/2006/relationships/notesMaster" Target="/ppt/notesMasters/notesMaster1.xml" Id="R23f78b36209a4b8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2157ca786ff42de" /><Relationship Type="http://schemas.openxmlformats.org/officeDocument/2006/relationships/notesMaster" Target="/ppt/notesMasters/notesMaster1.xml" Id="R8c80c5517a95408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8b452dc5dc64773" /><Relationship Type="http://schemas.openxmlformats.org/officeDocument/2006/relationships/notesMaster" Target="/ppt/notesMasters/notesMaster1.xml" Id="Rad378c67c9a64c3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01b3a2c66944153" /><Relationship Type="http://schemas.openxmlformats.org/officeDocument/2006/relationships/notesMaster" Target="/ppt/notesMasters/notesMaster1.xml" Id="R184bf1669e994d6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fdc14925bdd4ba0" /><Relationship Type="http://schemas.openxmlformats.org/officeDocument/2006/relationships/notesMaster" Target="/ppt/notesMasters/notesMaster1.xml" Id="R5cbd4bdabca94ec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dfa1ee731794d77" /><Relationship Type="http://schemas.openxmlformats.org/officeDocument/2006/relationships/notesMaster" Target="/ppt/notesMasters/notesMaster1.xml" Id="R4763cd47fcab4ed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0a9ea91bf7e4349" /><Relationship Type="http://schemas.openxmlformats.org/officeDocument/2006/relationships/notesMaster" Target="/ppt/notesMasters/notesMaster1.xml" Id="R25afd8aefa66482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2a6a84934e34cc1" /><Relationship Type="http://schemas.openxmlformats.org/officeDocument/2006/relationships/notesMaster" Target="/ppt/notesMasters/notesMaster1.xml" Id="R057247fdcf06456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4898f83cc504736" /><Relationship Type="http://schemas.openxmlformats.org/officeDocument/2006/relationships/notesMaster" Target="/ppt/notesMasters/notesMaster1.xml" Id="Rcc0ef8da3d5b41e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60255b29d16424c" /><Relationship Type="http://schemas.openxmlformats.org/officeDocument/2006/relationships/notesMaster" Target="/ppt/notesMasters/notesMaster1.xml" Id="R996aaf65487741c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02e1488d3894d54" /><Relationship Type="http://schemas.openxmlformats.org/officeDocument/2006/relationships/notesMaster" Target="/ppt/notesMasters/notesMaster1.xml" Id="R07e85c45f61e4a4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c6a50ba830e434d" /><Relationship Type="http://schemas.openxmlformats.org/officeDocument/2006/relationships/notesMaster" Target="/ppt/notesMasters/notesMaster1.xml" Id="R764049f729474d3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3dc18653f894f91" /><Relationship Type="http://schemas.openxmlformats.org/officeDocument/2006/relationships/notesMaster" Target="/ppt/notesMasters/notesMaster1.xml" Id="Rc1b558c25c4e44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 image: Unsplash asset used in course build. Course content original.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content original. Visual assets: locally stored Unsplash images used for educational slide decoration.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content original. Visual assets: locally stored Unsplash images used for educational slide decoration.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content original. Visual assets: locally stored Unsplash images used for educational slide decoration.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content original. Visual assets: locally stored Unsplash images used for educational slide decoration.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content original. Visual assets: locally stored Unsplash images used for educational slide decoration.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content original. Visual assets: locally stored Unsplash images used for educational slide decoration.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content original. Visual assets: locally stored Unsplash images used for educational slide decoration.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content original. Visual assets: locally stored Unsplash images used for educational slide decoration.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content original. Visual assets: locally stored Unsplash images used for educational slide decoration.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content original. Visual assets: locally stored Unsplash images used for educational slide decoration.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content original. Visual assets: locally stored Unsplash images used for educational slide decoration.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content original. Visual assets: locally stored Unsplash images used for educational slide decoration.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content original. Visual assets: locally stored Unsplash images used for educational slide decoration.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content original. Visual assets: locally stored Unsplash images used for educational slide decoration.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content original. Visual assets: locally stored Unsplash images used for educational slide decoration.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content original. Visual assets: locally stored Unsplash images used for educational slide decoration.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content original. Visual assets: locally stored Unsplash images used for educational slide decoration.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content original. Visual assets: locally stored Unsplash images used for educational slide decoration.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content original. Visual assets: locally stored Unsplash images used for educational slide decoration.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content original. Visual assets: locally stored Unsplash images used for educational slide decoration.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content original. Visual assets: locally stored Unsplash images used for educational slide decoration.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content original. Visual assets: locally stored Unsplash images used for educational slide decoration.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content original. Visual assets: locally stored Unsplash images used for educational slide decoration.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content original. Visual assets: locally stored Unsplash images used for educational slide decoration.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content original. Visual assets: locally stored Unsplash images used for educational slide decoration.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content original. Visual assets: locally stored Unsplash images used for educational slide decoration.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content original. Visual assets: locally stored Unsplash images used for educational slide decoration.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content original. Visual assets: locally stored Unsplash images used for educational slide decoration.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content original. Visual assets: locally stored Unsplash images used for educational slide decoration.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content original. Visual assets: locally stored Unsplash images used for educational slide decoration.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e559079cf0d4d3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5f5b3264ab344a2" /><Relationship Type="http://schemas.openxmlformats.org/officeDocument/2006/relationships/slideLayout" Target="/ppt/slideLayouts/slideLayout1.xml" Id="R7a12953dd0b74df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a12953dd0b74df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411a0ef9d234d63" /><Relationship Type="http://schemas.openxmlformats.org/officeDocument/2006/relationships/image" Target="/ppt/media/image.jpeg" Id="Ree42bc78b4014da9" /><Relationship Type="http://schemas.openxmlformats.org/officeDocument/2006/relationships/notesSlide" Target="/ppt/notesSlides/notesSlide1.xml" Id="R9c643fea143e44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4ac25bff848409e" /><Relationship Type="http://schemas.openxmlformats.org/officeDocument/2006/relationships/image" Target="/ppt/media/image2.jpeg" Id="R462a97ccad884b4e" /><Relationship Type="http://schemas.openxmlformats.org/officeDocument/2006/relationships/notesSlide" Target="/ppt/notesSlides/notesSlide2.xml" Id="R733cbb4638ed41b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5c9f6d849cb47e4" /><Relationship Type="http://schemas.openxmlformats.org/officeDocument/2006/relationships/image" Target="/ppt/media/image3.jpeg" Id="R56832c17cd8145dc" /><Relationship Type="http://schemas.openxmlformats.org/officeDocument/2006/relationships/notesSlide" Target="/ppt/notesSlides/notesSlide3.xml" Id="R41911cebb640412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ca99b58c3514212" /><Relationship Type="http://schemas.openxmlformats.org/officeDocument/2006/relationships/image" Target="/ppt/media/image4.jpeg" Id="R2adf0c4419df48af" /><Relationship Type="http://schemas.openxmlformats.org/officeDocument/2006/relationships/notesSlide" Target="/ppt/notesSlides/notesSlide4.xml" Id="R6a3006890d4b415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b3a5e696a224e90" /><Relationship Type="http://schemas.openxmlformats.org/officeDocument/2006/relationships/image" Target="/ppt/media/image5.jpeg" Id="R8737b7646c6842f5" /><Relationship Type="http://schemas.openxmlformats.org/officeDocument/2006/relationships/notesSlide" Target="/ppt/notesSlides/notesSlide5.xml" Id="R984c1c2ab36b442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7a3299bf2d24a4e" /><Relationship Type="http://schemas.openxmlformats.org/officeDocument/2006/relationships/image" Target="/ppt/media/image6.jpeg" Id="Rdc511079234c4ee8" /><Relationship Type="http://schemas.openxmlformats.org/officeDocument/2006/relationships/notesSlide" Target="/ppt/notesSlides/notesSlide6.xml" Id="Rd2e8488e7efd41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1462989e8b64bf8" /><Relationship Type="http://schemas.openxmlformats.org/officeDocument/2006/relationships/image" Target="/ppt/media/image7.jpeg" Id="Rc18a2cff572d4a86" /><Relationship Type="http://schemas.openxmlformats.org/officeDocument/2006/relationships/notesSlide" Target="/ppt/notesSlides/notesSlide7.xml" Id="R63171d80d7e8483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7b775000e5841c3" /><Relationship Type="http://schemas.openxmlformats.org/officeDocument/2006/relationships/image" Target="/ppt/media/image8.jpeg" Id="R8ba4183603734feb" /><Relationship Type="http://schemas.openxmlformats.org/officeDocument/2006/relationships/notesSlide" Target="/ppt/notesSlides/notesSlide8.xml" Id="Re8ad8c0ff993476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bec1b5f6204407c" /><Relationship Type="http://schemas.openxmlformats.org/officeDocument/2006/relationships/image" Target="/ppt/media/image9.jpeg" Id="R7ccf846313854303" /><Relationship Type="http://schemas.openxmlformats.org/officeDocument/2006/relationships/notesSlide" Target="/ppt/notesSlides/notesSlide9.xml" Id="R84284fb0c68e45e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3343c3b34b449ba" /><Relationship Type="http://schemas.openxmlformats.org/officeDocument/2006/relationships/image" Target="/ppt/media/image10.jpeg" Id="R383fff59dc6b4457" /><Relationship Type="http://schemas.openxmlformats.org/officeDocument/2006/relationships/notesSlide" Target="/ppt/notesSlides/notesSlide10.xml" Id="R6fdba1f77f7e478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8137afb3c9b4eb4" /><Relationship Type="http://schemas.openxmlformats.org/officeDocument/2006/relationships/image" Target="/ppt/media/image11.jpeg" Id="Rca2be2a9b5c84ae6" /><Relationship Type="http://schemas.openxmlformats.org/officeDocument/2006/relationships/notesSlide" Target="/ppt/notesSlides/notesSlide11.xml" Id="R34a6e44671b34c8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e477a73fcba40b6" /><Relationship Type="http://schemas.openxmlformats.org/officeDocument/2006/relationships/image" Target="/ppt/media/image12.jpeg" Id="R04956fee9e414a72" /><Relationship Type="http://schemas.openxmlformats.org/officeDocument/2006/relationships/notesSlide" Target="/ppt/notesSlides/notesSlide12.xml" Id="Re41c449f99234ca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cc433216d914bcb" /><Relationship Type="http://schemas.openxmlformats.org/officeDocument/2006/relationships/image" Target="/ppt/media/image13.jpeg" Id="Ra60434fb276546bd" /><Relationship Type="http://schemas.openxmlformats.org/officeDocument/2006/relationships/notesSlide" Target="/ppt/notesSlides/notesSlide13.xml" Id="R8a549b2e000348c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13c7cd3374747d4" /><Relationship Type="http://schemas.openxmlformats.org/officeDocument/2006/relationships/image" Target="/ppt/media/image14.jpeg" Id="R31ba26ac8e8d4699" /><Relationship Type="http://schemas.openxmlformats.org/officeDocument/2006/relationships/notesSlide" Target="/ppt/notesSlides/notesSlide14.xml" Id="Rcf8ce400ba7f46c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98de135048d41e5" /><Relationship Type="http://schemas.openxmlformats.org/officeDocument/2006/relationships/image" Target="/ppt/media/image15.jpeg" Id="R69c11cf9a1514060" /><Relationship Type="http://schemas.openxmlformats.org/officeDocument/2006/relationships/notesSlide" Target="/ppt/notesSlides/notesSlide15.xml" Id="R90feb09da9a1437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bfca32a1a08406f" /><Relationship Type="http://schemas.openxmlformats.org/officeDocument/2006/relationships/image" Target="/ppt/media/image16.jpeg" Id="R4d2b8648577f4e9a" /><Relationship Type="http://schemas.openxmlformats.org/officeDocument/2006/relationships/notesSlide" Target="/ppt/notesSlides/notesSlide16.xml" Id="Rca3bffe8eaa3453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c466c29ec25437c" /><Relationship Type="http://schemas.openxmlformats.org/officeDocument/2006/relationships/image" Target="/ppt/media/image17.jpeg" Id="R168c28938282493b" /><Relationship Type="http://schemas.openxmlformats.org/officeDocument/2006/relationships/notesSlide" Target="/ppt/notesSlides/notesSlide17.xml" Id="R392d54b1763a4d2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84ef10773064d24" /><Relationship Type="http://schemas.openxmlformats.org/officeDocument/2006/relationships/image" Target="/ppt/media/image18.jpeg" Id="Ra3f8dd62d339449c" /><Relationship Type="http://schemas.openxmlformats.org/officeDocument/2006/relationships/notesSlide" Target="/ppt/notesSlides/notesSlide18.xml" Id="R47f0ea83bdb94ac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460e3639f4b428e" /><Relationship Type="http://schemas.openxmlformats.org/officeDocument/2006/relationships/image" Target="/ppt/media/image19.jpeg" Id="R6523e8c72fe54b5c" /><Relationship Type="http://schemas.openxmlformats.org/officeDocument/2006/relationships/notesSlide" Target="/ppt/notesSlides/notesSlide19.xml" Id="Rdcd42ae80231487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f1f0515f2cd4aa2" /><Relationship Type="http://schemas.openxmlformats.org/officeDocument/2006/relationships/image" Target="/ppt/media/image20.jpeg" Id="R6147378e0ea84561" /><Relationship Type="http://schemas.openxmlformats.org/officeDocument/2006/relationships/notesSlide" Target="/ppt/notesSlides/notesSlide20.xml" Id="Rb42ff5d78c63481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8329f7481374cd6" /><Relationship Type="http://schemas.openxmlformats.org/officeDocument/2006/relationships/image" Target="/ppt/media/image21.jpeg" Id="Rbc26199ca2084780" /><Relationship Type="http://schemas.openxmlformats.org/officeDocument/2006/relationships/notesSlide" Target="/ppt/notesSlides/notesSlide21.xml" Id="R5c8ae26decb947b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1d2f80f06e2482a" /><Relationship Type="http://schemas.openxmlformats.org/officeDocument/2006/relationships/image" Target="/ppt/media/image22.jpeg" Id="R4a6060b97f9c46cb" /><Relationship Type="http://schemas.openxmlformats.org/officeDocument/2006/relationships/notesSlide" Target="/ppt/notesSlides/notesSlide22.xml" Id="Re1977923fcd64e2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60d79238bc542ba" /><Relationship Type="http://schemas.openxmlformats.org/officeDocument/2006/relationships/image" Target="/ppt/media/image23.jpeg" Id="R740e33e5937c4f4b" /><Relationship Type="http://schemas.openxmlformats.org/officeDocument/2006/relationships/notesSlide" Target="/ppt/notesSlides/notesSlide23.xml" Id="R67ba3c44959d47b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e9839c5c6d44c89" /><Relationship Type="http://schemas.openxmlformats.org/officeDocument/2006/relationships/image" Target="/ppt/media/image24.jpeg" Id="Ra880b4acb6384dbe" /><Relationship Type="http://schemas.openxmlformats.org/officeDocument/2006/relationships/notesSlide" Target="/ppt/notesSlides/notesSlide24.xml" Id="Rd89c6126e6e0420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97751b039ab4215" /><Relationship Type="http://schemas.openxmlformats.org/officeDocument/2006/relationships/image" Target="/ppt/media/image25.jpeg" Id="Reae653364d5a44c3" /><Relationship Type="http://schemas.openxmlformats.org/officeDocument/2006/relationships/notesSlide" Target="/ppt/notesSlides/notesSlide25.xml" Id="R8fdd860259664fc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f031d2282834999" /><Relationship Type="http://schemas.openxmlformats.org/officeDocument/2006/relationships/image" Target="/ppt/media/image26.jpeg" Id="R02556a9229324f66" /><Relationship Type="http://schemas.openxmlformats.org/officeDocument/2006/relationships/notesSlide" Target="/ppt/notesSlides/notesSlide26.xml" Id="R8800b52f12f4462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70ad709dc8049fb" /><Relationship Type="http://schemas.openxmlformats.org/officeDocument/2006/relationships/image" Target="/ppt/media/image27.jpeg" Id="R6035e455045a412a" /><Relationship Type="http://schemas.openxmlformats.org/officeDocument/2006/relationships/notesSlide" Target="/ppt/notesSlides/notesSlide27.xml" Id="R05f40a9bf2c6436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539ea29ee994a7a" /><Relationship Type="http://schemas.openxmlformats.org/officeDocument/2006/relationships/image" Target="/ppt/media/image28.jpeg" Id="Rad43144aa16646be" /><Relationship Type="http://schemas.openxmlformats.org/officeDocument/2006/relationships/notesSlide" Target="/ppt/notesSlides/notesSlide28.xml" Id="Rc7c137bbe5454bd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e9675722dbb14093" /><Relationship Type="http://schemas.openxmlformats.org/officeDocument/2006/relationships/image" Target="/ppt/media/image29.jpeg" Id="Rf0bd95bc16fb4db0" /><Relationship Type="http://schemas.openxmlformats.org/officeDocument/2006/relationships/notesSlide" Target="/ppt/notesSlides/notesSlide29.xml" Id="Rd1be4914682c40e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16b9f75a3cbf4b8e" /><Relationship Type="http://schemas.openxmlformats.org/officeDocument/2006/relationships/image" Target="/ppt/media/image30.jpeg" Id="R3fbec1a182594b28" /><Relationship Type="http://schemas.openxmlformats.org/officeDocument/2006/relationships/notesSlide" Target="/ppt/notesSlides/notesSlide30.xml" Id="R9eaabe11fd994c8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faa619eb13fd435c" /><Relationship Type="http://schemas.openxmlformats.org/officeDocument/2006/relationships/image" Target="/ppt/media/image31.jpeg" Id="R82e10469a65b42b4" /><Relationship Type="http://schemas.openxmlformats.org/officeDocument/2006/relationships/notesSlide" Target="/ppt/notesSlides/notesSlide31.xml" Id="R815a2d8e2ea340b0" /></Relationships>
</file>

<file path=ppt/slides/slide1.xml><?xml version="1.0" encoding="utf-8"?>
<p:sld xmlns:p="http://schemas.openxmlformats.org/presentationml/2006/main">
  <p:cSld>
    <p:bg>
      <p:bgPr>
        <a:solidFill xmlns:a="http://schemas.openxmlformats.org/drawingml/2006/main">
          <a:srgbClr val="171C22"/>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e42bc78b4014da9"/>
          <a:srcRect xmlns:a="http://schemas.openxmlformats.org/drawingml/2006/main" l="20852" t="0" r="20852" b="0"/>
          <a:stretch xmlns:a="http://schemas.openxmlformats.org/drawingml/2006/main">
            <a:fillRect l="0" t="0" r="0" b="0"/>
          </a:stretch>
        </p:blipFill>
        <p:spPr>
          <a:xfrm xmlns:a="http://schemas.openxmlformats.org/drawingml/2006/main">
            <a:off x="6191250" y="0"/>
            <a:ext cx="6000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799812A-9594-471D-BDFC-8206FC8EFF1E}"/>
              </a:ext>
            </a:extLst>
          </p:cNvPr>
          <p:cNvSpPr>
            <a:spLocks xmlns:a="http://schemas.openxmlformats.org/drawingml/2006/main" noGrp="1"/>
          </p:cNvSpPr>
          <p:nvPr/>
        </p:nvSpPr>
        <p:spPr>
          <a:xfrm xmlns:a="http://schemas.openxmlformats.org/drawingml/2006/main">
            <a:off x="0" y="0"/>
            <a:ext cx="6667500" cy="6858000"/>
          </a:xfrm>
          <a:prstGeom xmlns:a="http://schemas.openxmlformats.org/drawingml/2006/main" prst="roundRect">
            <a:avLst>
              <a:gd name="adj" fmla="val 1714"/>
            </a:avLst>
          </a:prstGeom>
          <a:solidFill xmlns:a="http://schemas.openxmlformats.org/drawingml/2006/main">
            <a:srgbClr val="171C2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41A5C5F-DECD-4726-9CCB-A5ADFCC24E25}"/>
              </a:ext>
            </a:extLst>
          </p:cNvPr>
          <p:cNvSpPr>
            <a:spLocks xmlns:a="http://schemas.openxmlformats.org/drawingml/2006/main" noGrp="1"/>
          </p:cNvSpPr>
          <p:nvPr/>
        </p:nvSpPr>
        <p:spPr>
          <a:xfrm xmlns:a="http://schemas.openxmlformats.org/drawingml/2006/main">
            <a:off x="552450" y="723900"/>
            <a:ext cx="257175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38389"/>
          </a:bodyPr>
          <a:lstStyle xmlns:a="http://schemas.openxmlformats.org/drawingml/2006/main"/>
          <a:p xmlns:a="http://schemas.openxmlformats.org/drawingml/2006/main">
            <a:pPr>
              <a:defRPr sz="1200" b="1">
                <a:solidFill>
                  <a:srgbClr val="F1DFC0"/>
                </a:solidFill>
                <a:latin typeface="Aptos"/>
                <a:ea typeface="Aptos"/>
                <a:cs typeface="Aptos"/>
              </a:defRPr>
            </a:pPr>
            <a:r>
              <a:rPr sz="1200" b="1">
                <a:solidFill>
                  <a:srgbClr val="F1DFC0"/>
                </a:solidFill>
                <a:latin typeface="Aptos"/>
                <a:ea typeface="Aptos"/>
                <a:cs typeface="Aptos"/>
              </a:rPr>
              <a:t>SLOP / UNIVERSITY</a:t>
            </a:r>
          </a:p>
        </p:txBody>
      </p:sp>
      <p:sp>
        <p:nvSpPr>
          <p:cNvPr id="4" name="">
            <a:extLst xmlns:a="http://schemas.openxmlformats.org/drawingml/2006/main">
              <a:ext uri="{FF2B5EF4-FFF2-40B4-BE49-F238E27FC236}">
                <a16:creationId xmlns:a16="http://schemas.microsoft.com/office/drawing/2014/main" id="{F8CD75B3-4597-4782-9BB2-A6E366291CAB}"/>
              </a:ext>
            </a:extLst>
          </p:cNvPr>
          <p:cNvSpPr>
            <a:spLocks xmlns:a="http://schemas.openxmlformats.org/drawingml/2006/main" noGrp="1"/>
          </p:cNvSpPr>
          <p:nvPr/>
        </p:nvSpPr>
        <p:spPr>
          <a:xfrm xmlns:a="http://schemas.openxmlformats.org/drawingml/2006/main">
            <a:off x="552450" y="1562100"/>
            <a:ext cx="3429000" cy="247650"/>
          </a:xfrm>
          <a:prstGeom xmlns:a="http://schemas.openxmlformats.org/drawingml/2006/main" prst="roundRect">
            <a:avLst>
              <a:gd name="adj" fmla="val 46154"/>
            </a:avLst>
          </a:prstGeom>
          <a:noFill xmlns:a="http://schemas.openxmlformats.org/drawingml/2006/main"/>
          <a:ln xmlns:a="http://schemas.openxmlformats.org/drawingml/2006/main" w="0">
            <a:noFill/>
            <a:prstDash val="solid"/>
          </a:ln>
        </p:spPr>
        <p:txBody>
          <a:bodyPr xmlns:a="http://schemas.openxmlformats.org/drawingml/2006/main">
            <a:normAutofit fontScale="43382"/>
          </a:bodyPr>
          <a:lstStyle xmlns:a="http://schemas.openxmlformats.org/drawingml/2006/main"/>
          <a:p xmlns:a="http://schemas.openxmlformats.org/drawingml/2006/main">
            <a:pPr>
              <a:defRPr sz="1350" b="1">
                <a:solidFill>
                  <a:srgbClr val="F1DFC0"/>
                </a:solidFill>
                <a:latin typeface="Aptos"/>
                <a:ea typeface="Aptos"/>
                <a:cs typeface="Aptos"/>
              </a:defRPr>
            </a:pPr>
            <a:r>
              <a:rPr sz="1350" b="1">
                <a:solidFill>
                  <a:srgbClr val="F1DFC0"/>
                </a:solidFill>
                <a:latin typeface="Aptos"/>
                <a:ea typeface="Aptos"/>
                <a:cs typeface="Aptos"/>
              </a:rPr>
              <a:t>SLOP1512 · WEEK 1</a:t>
            </a:r>
          </a:p>
        </p:txBody>
      </p:sp>
      <p:sp>
        <p:nvSpPr>
          <p:cNvPr id="5" name="">
            <a:extLst xmlns:a="http://schemas.openxmlformats.org/drawingml/2006/main">
              <a:ext uri="{FF2B5EF4-FFF2-40B4-BE49-F238E27FC236}">
                <a16:creationId xmlns:a16="http://schemas.microsoft.com/office/drawing/2014/main" id="{F1A81626-08DA-4B05-B83F-B1732CB5A49F}"/>
              </a:ext>
            </a:extLst>
          </p:cNvPr>
          <p:cNvSpPr>
            <a:spLocks xmlns:a="http://schemas.openxmlformats.org/drawingml/2006/main" noGrp="1"/>
          </p:cNvSpPr>
          <p:nvPr/>
        </p:nvSpPr>
        <p:spPr>
          <a:xfrm xmlns:a="http://schemas.openxmlformats.org/drawingml/2006/main">
            <a:off x="552450" y="2076450"/>
            <a:ext cx="5429250" cy="1143000"/>
          </a:xfrm>
          <a:prstGeom xmlns:a="http://schemas.openxmlformats.org/drawingml/2006/main" prst="roundRect">
            <a:avLst>
              <a:gd name="adj" fmla="val 10000"/>
            </a:avLst>
          </a:prstGeom>
          <a:noFill xmlns:a="http://schemas.openxmlformats.org/drawingml/2006/main"/>
          <a:ln xmlns:a="http://schemas.openxmlformats.org/drawingml/2006/main" w="0">
            <a:noFill/>
            <a:prstDash val="solid"/>
          </a:ln>
        </p:spPr>
        <p:txBody>
          <a:bodyPr xmlns:a="http://schemas.openxmlformats.org/drawingml/2006/main">
            <a:normAutofit fontScale="97889"/>
          </a:bodyPr>
          <a:lstStyle xmlns:a="http://schemas.openxmlformats.org/drawingml/2006/main"/>
          <a:p xmlns:a="http://schemas.openxmlformats.org/drawingml/2006/main">
            <a:pPr>
              <a:defRPr sz="3300" b="1">
                <a:solidFill>
                  <a:srgbClr val="FFFFFF"/>
                </a:solidFill>
                <a:latin typeface="Aptos"/>
                <a:ea typeface="Aptos"/>
                <a:cs typeface="Aptos"/>
              </a:defRPr>
            </a:pPr>
            <a:r>
              <a:rPr sz="3300" b="1">
                <a:solidFill>
                  <a:srgbClr val="FFFFFF"/>
                </a:solidFill>
                <a:latin typeface="Aptos"/>
                <a:ea typeface="Aptos"/>
                <a:cs typeface="Aptos"/>
              </a:rPr>
              <a:t>Web Design and</a:t>
            </a:r>
          </a:p>
          <a:p xmlns:a="http://schemas.openxmlformats.org/drawingml/2006/main">
            <a:pPr>
              <a:defRPr sz="3300" b="1">
                <a:solidFill>
                  <a:srgbClr val="FFFFFF"/>
                </a:solidFill>
                <a:latin typeface="Aptos"/>
                <a:ea typeface="Aptos"/>
                <a:cs typeface="Aptos"/>
              </a:defRPr>
            </a:pPr>
            <a:r>
              <a:rPr sz="3300" b="1">
                <a:solidFill>
                  <a:srgbClr val="FFFFFF"/>
                </a:solidFill>
                <a:latin typeface="Aptos"/>
                <a:ea typeface="Aptos"/>
                <a:cs typeface="Aptos"/>
              </a:rPr>
              <a:t>Interactive Publishing</a:t>
            </a:r>
          </a:p>
        </p:txBody>
      </p:sp>
      <p:sp>
        <p:nvSpPr>
          <p:cNvPr id="6" name="">
            <a:extLst xmlns:a="http://schemas.openxmlformats.org/drawingml/2006/main">
              <a:ext uri="{FF2B5EF4-FFF2-40B4-BE49-F238E27FC236}">
                <a16:creationId xmlns:a16="http://schemas.microsoft.com/office/drawing/2014/main" id="{7C5736FB-DF74-4DAA-97A5-1F163A9AC816}"/>
              </a:ext>
            </a:extLst>
          </p:cNvPr>
          <p:cNvSpPr>
            <a:spLocks xmlns:a="http://schemas.openxmlformats.org/drawingml/2006/main" noGrp="1"/>
          </p:cNvSpPr>
          <p:nvPr/>
        </p:nvSpPr>
        <p:spPr>
          <a:xfrm xmlns:a="http://schemas.openxmlformats.org/drawingml/2006/main">
            <a:off x="552450" y="3695700"/>
            <a:ext cx="4953000" cy="438150"/>
          </a:xfrm>
          <a:prstGeom xmlns:a="http://schemas.openxmlformats.org/drawingml/2006/main" prst="roundRect">
            <a:avLst>
              <a:gd name="adj" fmla="val 26087"/>
            </a:avLst>
          </a:prstGeom>
          <a:noFill xmlns:a="http://schemas.openxmlformats.org/drawingml/2006/main"/>
          <a:ln xmlns:a="http://schemas.openxmlformats.org/drawingml/2006/main" w="0">
            <a:noFill/>
            <a:prstDash val="solid"/>
          </a:ln>
        </p:spPr>
        <p:txBody>
          <a:bodyPr xmlns:a="http://schemas.openxmlformats.org/drawingml/2006/main">
            <a:normAutofit fontScale="81592"/>
          </a:bodyPr>
          <a:lstStyle xmlns:a="http://schemas.openxmlformats.org/drawingml/2006/main"/>
          <a:p xmlns:a="http://schemas.openxmlformats.org/drawingml/2006/main">
            <a:pPr>
              <a:defRPr sz="1500" b="0">
                <a:solidFill>
                  <a:srgbClr val="FFFFFF"/>
                </a:solidFill>
                <a:latin typeface="Aptos"/>
                <a:ea typeface="Aptos"/>
                <a:cs typeface="Aptos"/>
              </a:defRPr>
            </a:pPr>
            <a:r>
              <a:rPr sz="1500" b="0">
                <a:solidFill>
                  <a:srgbClr val="FFFFFF"/>
                </a:solidFill>
                <a:latin typeface="Aptos"/>
                <a:ea typeface="Aptos"/>
                <a:cs typeface="Aptos"/>
              </a:rPr>
              <a:t>Course introduction, assessment map and the web as a publishing medium</a:t>
            </a:r>
          </a:p>
        </p:txBody>
      </p:sp>
    </p:spTree>
    <p:extLst>
      <p:ext uri="{BB962C8B-B14F-4D97-AF65-F5344CB8AC3E}">
        <p14:creationId xmlns:p14="http://schemas.microsoft.com/office/powerpoint/2010/main" val="1959685825"/>
      </p:ext>
    </p:extLst>
  </p:cSld>
</p:sld>
</file>

<file path=ppt/slides/slide2.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F1C8ACC-AA69-4826-8FE3-24ADF8C71379}"/>
              </a:ext>
            </a:extLst>
          </p:cNvPr>
          <p:cNvSpPr>
            <a:spLocks xmlns:a="http://schemas.openxmlformats.org/drawingml/2006/main" noGrp="1"/>
          </p:cNvSpPr>
          <p:nvPr/>
        </p:nvSpPr>
        <p:spPr>
          <a:xfrm xmlns:a="http://schemas.openxmlformats.org/drawingml/2006/main">
            <a:off x="514350" y="361950"/>
            <a:ext cx="4381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3571664-A28E-45AF-86A1-70665F87A052}"/>
              </a:ext>
            </a:extLst>
          </p:cNvPr>
          <p:cNvSpPr>
            <a:spLocks xmlns:a="http://schemas.openxmlformats.org/drawingml/2006/main" noGrp="1"/>
          </p:cNvSpPr>
          <p:nvPr/>
        </p:nvSpPr>
        <p:spPr>
          <a:xfrm xmlns:a="http://schemas.openxmlformats.org/drawingml/2006/main">
            <a:off x="514350" y="552450"/>
            <a:ext cx="2095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 / UNIVERSITY</a:t>
            </a:r>
          </a:p>
        </p:txBody>
      </p:sp>
      <p:sp>
        <p:nvSpPr>
          <p:cNvPr id="3" name="">
            <a:extLst xmlns:a="http://schemas.openxmlformats.org/drawingml/2006/main">
              <a:ext uri="{FF2B5EF4-FFF2-40B4-BE49-F238E27FC236}">
                <a16:creationId xmlns:a16="http://schemas.microsoft.com/office/drawing/2014/main" id="{0DB8712D-2EE1-4980-B01F-9675F9A5FC5F}"/>
              </a:ext>
            </a:extLst>
          </p:cNvPr>
          <p:cNvSpPr>
            <a:spLocks xmlns:a="http://schemas.openxmlformats.org/drawingml/2006/main" noGrp="1"/>
          </p:cNvSpPr>
          <p:nvPr/>
        </p:nvSpPr>
        <p:spPr>
          <a:xfrm xmlns:a="http://schemas.openxmlformats.org/drawingml/2006/main">
            <a:off x="9391650" y="552450"/>
            <a:ext cx="21907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4" name="">
            <a:extLst xmlns:a="http://schemas.openxmlformats.org/drawingml/2006/main">
              <a:ext uri="{FF2B5EF4-FFF2-40B4-BE49-F238E27FC236}">
                <a16:creationId xmlns:a16="http://schemas.microsoft.com/office/drawing/2014/main" id="{AFB49127-B2D1-45AE-936F-EF4550C677E7}"/>
              </a:ext>
            </a:extLst>
          </p:cNvPr>
          <p:cNvSpPr>
            <a:spLocks xmlns:a="http://schemas.openxmlformats.org/drawingml/2006/main" noGrp="1"/>
          </p:cNvSpPr>
          <p:nvPr/>
        </p:nvSpPr>
        <p:spPr>
          <a:xfrm xmlns:a="http://schemas.openxmlformats.org/drawingml/2006/main">
            <a:off x="514350" y="6229350"/>
            <a:ext cx="1114425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2835808-7A3E-4936-BBA7-056B458B474F}"/>
              </a:ext>
            </a:extLst>
          </p:cNvPr>
          <p:cNvSpPr>
            <a:spLocks xmlns:a="http://schemas.openxmlformats.org/drawingml/2006/main" noGrp="1"/>
          </p:cNvSpPr>
          <p:nvPr/>
        </p:nvSpPr>
        <p:spPr>
          <a:xfrm xmlns:a="http://schemas.openxmlformats.org/drawingml/2006/main">
            <a:off x="514350" y="6410325"/>
            <a:ext cx="3810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02</a:t>
            </a:r>
          </a:p>
        </p:txBody>
      </p:sp>
      <p:sp>
        <p:nvSpPr>
          <p:cNvPr id="6" name="">
            <a:extLst xmlns:a="http://schemas.openxmlformats.org/drawingml/2006/main">
              <a:ext uri="{FF2B5EF4-FFF2-40B4-BE49-F238E27FC236}">
                <a16:creationId xmlns:a16="http://schemas.microsoft.com/office/drawing/2014/main" id="{0D00C0C2-A45B-4CAC-8A63-E23FBF7EEE5B}"/>
              </a:ext>
            </a:extLst>
          </p:cNvPr>
          <p:cNvSpPr>
            <a:spLocks xmlns:a="http://schemas.openxmlformats.org/drawingml/2006/main" noGrp="1"/>
          </p:cNvSpPr>
          <p:nvPr/>
        </p:nvSpPr>
        <p:spPr>
          <a:xfrm xmlns:a="http://schemas.openxmlformats.org/drawingml/2006/main">
            <a:off x="514350" y="990600"/>
            <a:ext cx="8572500" cy="514350"/>
          </a:xfrm>
          <a:prstGeom xmlns:a="http://schemas.openxmlformats.org/drawingml/2006/main" prst="roundRect">
            <a:avLst>
              <a:gd name="adj" fmla="val 22222"/>
            </a:avLst>
          </a:prstGeom>
          <a:noFill xmlns:a="http://schemas.openxmlformats.org/drawingml/2006/main"/>
          <a:ln xmlns:a="http://schemas.openxmlformats.org/drawingml/2006/main" w="0">
            <a:noFill/>
            <a:prstDash val="solid"/>
          </a:ln>
        </p:spPr>
        <p:txBody>
          <a:bodyPr xmlns:a="http://schemas.openxmlformats.org/drawingml/2006/main">
            <a:normAutofit fontScale="86506"/>
          </a:bodyPr>
          <a:lstStyle xmlns:a="http://schemas.openxmlformats.org/drawingml/2006/main"/>
          <a:p xmlns:a="http://schemas.openxmlformats.org/drawingml/2006/main">
            <a:pPr>
              <a:defRPr sz="2700" b="1">
                <a:solidFill>
                  <a:srgbClr val="171C22"/>
                </a:solidFill>
                <a:latin typeface="Aptos"/>
                <a:ea typeface="Aptos"/>
                <a:cs typeface="Aptos"/>
              </a:defRPr>
            </a:pPr>
            <a:r>
              <a:rPr sz="2700" b="1">
                <a:solidFill>
                  <a:srgbClr val="171C22"/>
                </a:solidFill>
                <a:latin typeface="Aptos"/>
                <a:ea typeface="Aptos"/>
                <a:cs typeface="Aptos"/>
              </a:rPr>
              <a:t>Why publishing matters</a:t>
            </a:r>
          </a:p>
        </p:txBody>
      </p:sp>
      <p:sp>
        <p:nvSpPr>
          <p:cNvPr id="7" name="">
            <a:extLst xmlns:a="http://schemas.openxmlformats.org/drawingml/2006/main">
              <a:ext uri="{FF2B5EF4-FFF2-40B4-BE49-F238E27FC236}">
                <a16:creationId xmlns:a16="http://schemas.microsoft.com/office/drawing/2014/main" id="{E1F3BA56-57F2-4C18-8740-9B23C34404EC}"/>
              </a:ext>
            </a:extLst>
          </p:cNvPr>
          <p:cNvSpPr>
            <a:spLocks xmlns:a="http://schemas.openxmlformats.org/drawingml/2006/main" noGrp="1"/>
          </p:cNvSpPr>
          <p:nvPr/>
        </p:nvSpPr>
        <p:spPr>
          <a:xfrm xmlns:a="http://schemas.openxmlformats.org/drawingml/2006/main">
            <a:off x="514350" y="1657350"/>
            <a:ext cx="8858250" cy="304800"/>
          </a:xfrm>
          <a:prstGeom xmlns:a="http://schemas.openxmlformats.org/drawingml/2006/main" prst="roundRect">
            <a:avLst>
              <a:gd name="adj" fmla="val 37500"/>
            </a:avLst>
          </a:prstGeom>
          <a:noFill xmlns:a="http://schemas.openxmlformats.org/drawingml/2006/main"/>
          <a:ln xmlns:a="http://schemas.openxmlformats.org/drawingml/2006/main" w="0">
            <a:noFill/>
            <a:prstDash val="solid"/>
          </a:ln>
        </p:spPr>
        <p:txBody>
          <a:bodyPr xmlns:a="http://schemas.openxmlformats.org/drawingml/2006/main">
            <a:normAutofit fontScale="75346"/>
          </a:bodyPr>
          <a:lstStyle xmlns:a="http://schemas.openxmlformats.org/drawingml/2006/main"/>
          <a:p xmlns:a="http://schemas.openxmlformats.org/drawingml/2006/main">
            <a:pPr>
              <a:defRPr sz="1275" b="0">
                <a:solidFill>
                  <a:srgbClr val="44515C"/>
                </a:solidFill>
                <a:latin typeface="Aptos"/>
                <a:ea typeface="Aptos"/>
                <a:cs typeface="Aptos"/>
              </a:defRPr>
            </a:pPr>
            <a:r>
              <a:rPr sz="1275" b="0">
                <a:solidFill>
                  <a:srgbClr val="44515C"/>
                </a:solidFill>
                <a:latin typeface="Aptos"/>
                <a:ea typeface="Aptos"/>
                <a:cs typeface="Aptos"/>
              </a:rPr>
              <a:t>A webpage changes when somebody needs to use it</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462a97ccad884b4e"/>
          <a:srcRect xmlns:a="http://schemas.openxmlformats.org/drawingml/2006/main" l="244" t="0" r="244" b="0"/>
          <a:stretch xmlns:a="http://schemas.openxmlformats.org/drawingml/2006/main">
            <a:fillRect l="0" t="0" r="0" b="0"/>
          </a:stretch>
        </p:blipFill>
        <p:spPr>
          <a:xfrm xmlns:a="http://schemas.openxmlformats.org/drawingml/2006/main">
            <a:off x="9105900" y="2381250"/>
            <a:ext cx="2190750" cy="1476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6FC2AC3-0DCB-4D12-868D-CE2A788DB311}"/>
              </a:ext>
            </a:extLst>
          </p:cNvPr>
          <p:cNvSpPr>
            <a:spLocks xmlns:a="http://schemas.openxmlformats.org/drawingml/2006/main" noGrp="1"/>
          </p:cNvSpPr>
          <p:nvPr/>
        </p:nvSpPr>
        <p:spPr>
          <a:xfrm xmlns:a="http://schemas.openxmlformats.org/drawingml/2006/main">
            <a:off x="514350" y="2343150"/>
            <a:ext cx="8096250" cy="3181350"/>
          </a:xfrm>
          <a:prstGeom xmlns:a="http://schemas.openxmlformats.org/drawingml/2006/main" prst="roundRect">
            <a:avLst>
              <a:gd name="adj" fmla="val 3593"/>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425" b="0">
                <a:solidFill>
                  <a:srgbClr val="171C22"/>
                </a:solidFill>
                <a:latin typeface="Aptos"/>
                <a:ea typeface="Aptos"/>
                <a:cs typeface="Aptos"/>
              </a:defRPr>
            </a:pPr>
            <a:r>
              <a:rPr sz="1425" b="0">
                <a:solidFill>
                  <a:srgbClr val="171C22"/>
                </a:solidFill>
                <a:latin typeface="Aptos"/>
                <a:ea typeface="Aptos"/>
                <a:cs typeface="Aptos"/>
              </a:rPr>
              <a:t>网页不是静态作品。读者会在不同设备、网络速度、语言背景和注意力状态下进入同一页面。有人只扫读标题，有人用键盘导航，有人需要放大文字，有人要在手机上完成一个表单。设计师必须先理解这些差异，再决定信息顺序、导航方式、图片用途和互动反馈。发布意味着对读者负责：页面不能只在自己的电脑上看起来漂亮，也要在读者真实的条件下保持可读、可用和可理解。</a:t>
            </a:r>
          </a:p>
        </p:txBody>
      </p:sp>
      <p:sp>
        <p:nvSpPr>
          <p:cNvPr id="10" name="">
            <a:extLst xmlns:a="http://schemas.openxmlformats.org/drawingml/2006/main">
              <a:ext uri="{FF2B5EF4-FFF2-40B4-BE49-F238E27FC236}">
                <a16:creationId xmlns:a16="http://schemas.microsoft.com/office/drawing/2014/main" id="{4E1B7E8C-99E1-464D-842E-80FB3D25A748}"/>
              </a:ext>
            </a:extLst>
          </p:cNvPr>
          <p:cNvSpPr>
            <a:spLocks xmlns:a="http://schemas.openxmlformats.org/drawingml/2006/main" noGrp="1"/>
          </p:cNvSpPr>
          <p:nvPr/>
        </p:nvSpPr>
        <p:spPr>
          <a:xfrm xmlns:a="http://schemas.openxmlformats.org/drawingml/2006/main">
            <a:off x="9105900" y="4095750"/>
            <a:ext cx="2190750" cy="781050"/>
          </a:xfrm>
          <a:prstGeom xmlns:a="http://schemas.openxmlformats.org/drawingml/2006/main" prst="roundRect">
            <a:avLst>
              <a:gd name="adj" fmla="val 14634"/>
            </a:avLst>
          </a:prstGeom>
          <a:solidFill xmlns:a="http://schemas.openxmlformats.org/drawingml/2006/main">
            <a:srgbClr val="F1DFC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3D2A809-B0BE-460E-83B0-906D9C7FBAD5}"/>
              </a:ext>
            </a:extLst>
          </p:cNvPr>
          <p:cNvSpPr>
            <a:spLocks xmlns:a="http://schemas.openxmlformats.org/drawingml/2006/main" noGrp="1"/>
          </p:cNvSpPr>
          <p:nvPr/>
        </p:nvSpPr>
        <p:spPr>
          <a:xfrm xmlns:a="http://schemas.openxmlformats.org/drawingml/2006/main">
            <a:off x="9277350" y="4267200"/>
            <a:ext cx="1809750" cy="438150"/>
          </a:xfrm>
          <a:prstGeom xmlns:a="http://schemas.openxmlformats.org/drawingml/2006/main" prst="roundRect">
            <a:avLst>
              <a:gd name="adj" fmla="val 26087"/>
            </a:avLst>
          </a:prstGeom>
          <a:noFill xmlns:a="http://schemas.openxmlformats.org/drawingml/2006/main"/>
          <a:ln xmlns:a="http://schemas.openxmlformats.org/drawingml/2006/main" w="0">
            <a:noFill/>
            <a:prstDash val="solid"/>
          </a:ln>
        </p:spPr>
        <p:txBody>
          <a:bodyPr xmlns:a="http://schemas.openxmlformats.org/drawingml/2006/main">
            <a:normAutofit fontScale="81585"/>
          </a:bodyPr>
          <a:lstStyle xmlns:a="http://schemas.openxmlformats.org/drawingml/2006/main"/>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课堂提示</a:t>
            </a:r>
          </a:p>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用内容关系验证设计选择</a:t>
            </a:r>
          </a:p>
        </p:txBody>
      </p:sp>
    </p:spTree>
    <p:extLst>
      <p:ext uri="{BB962C8B-B14F-4D97-AF65-F5344CB8AC3E}">
        <p14:creationId xmlns:p14="http://schemas.microsoft.com/office/powerpoint/2010/main" val="1906938068"/>
      </p:ext>
    </p:extLst>
  </p:cSld>
</p:sld>
</file>

<file path=ppt/slides/slide3.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D28F400-938F-4F34-95B0-17BDDE71AB29}"/>
              </a:ext>
            </a:extLst>
          </p:cNvPr>
          <p:cNvSpPr>
            <a:spLocks xmlns:a="http://schemas.openxmlformats.org/drawingml/2006/main" noGrp="1"/>
          </p:cNvSpPr>
          <p:nvPr/>
        </p:nvSpPr>
        <p:spPr>
          <a:xfrm xmlns:a="http://schemas.openxmlformats.org/drawingml/2006/main">
            <a:off x="514350" y="361950"/>
            <a:ext cx="4381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1640FF4-9CF5-477F-A596-46FDB392A5F1}"/>
              </a:ext>
            </a:extLst>
          </p:cNvPr>
          <p:cNvSpPr>
            <a:spLocks xmlns:a="http://schemas.openxmlformats.org/drawingml/2006/main" noGrp="1"/>
          </p:cNvSpPr>
          <p:nvPr/>
        </p:nvSpPr>
        <p:spPr>
          <a:xfrm xmlns:a="http://schemas.openxmlformats.org/drawingml/2006/main">
            <a:off x="514350" y="552450"/>
            <a:ext cx="2095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 / UNIVERSITY</a:t>
            </a:r>
          </a:p>
        </p:txBody>
      </p:sp>
      <p:sp>
        <p:nvSpPr>
          <p:cNvPr id="3" name="">
            <a:extLst xmlns:a="http://schemas.openxmlformats.org/drawingml/2006/main">
              <a:ext uri="{FF2B5EF4-FFF2-40B4-BE49-F238E27FC236}">
                <a16:creationId xmlns:a16="http://schemas.microsoft.com/office/drawing/2014/main" id="{14131D15-84EB-495E-A372-963C4A0BC3C4}"/>
              </a:ext>
            </a:extLst>
          </p:cNvPr>
          <p:cNvSpPr>
            <a:spLocks xmlns:a="http://schemas.openxmlformats.org/drawingml/2006/main" noGrp="1"/>
          </p:cNvSpPr>
          <p:nvPr/>
        </p:nvSpPr>
        <p:spPr>
          <a:xfrm xmlns:a="http://schemas.openxmlformats.org/drawingml/2006/main">
            <a:off x="9391650" y="552450"/>
            <a:ext cx="21907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4" name="">
            <a:extLst xmlns:a="http://schemas.openxmlformats.org/drawingml/2006/main">
              <a:ext uri="{FF2B5EF4-FFF2-40B4-BE49-F238E27FC236}">
                <a16:creationId xmlns:a16="http://schemas.microsoft.com/office/drawing/2014/main" id="{76158EEB-6A2A-4F36-B653-712CAD82F756}"/>
              </a:ext>
            </a:extLst>
          </p:cNvPr>
          <p:cNvSpPr>
            <a:spLocks xmlns:a="http://schemas.openxmlformats.org/drawingml/2006/main" noGrp="1"/>
          </p:cNvSpPr>
          <p:nvPr/>
        </p:nvSpPr>
        <p:spPr>
          <a:xfrm xmlns:a="http://schemas.openxmlformats.org/drawingml/2006/main">
            <a:off x="514350" y="6229350"/>
            <a:ext cx="1114425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EA472B9-A412-499E-86B6-63CF7EE24864}"/>
              </a:ext>
            </a:extLst>
          </p:cNvPr>
          <p:cNvSpPr>
            <a:spLocks xmlns:a="http://schemas.openxmlformats.org/drawingml/2006/main" noGrp="1"/>
          </p:cNvSpPr>
          <p:nvPr/>
        </p:nvSpPr>
        <p:spPr>
          <a:xfrm xmlns:a="http://schemas.openxmlformats.org/drawingml/2006/main">
            <a:off x="514350" y="6410325"/>
            <a:ext cx="3810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03</a:t>
            </a:r>
          </a:p>
        </p:txBody>
      </p:sp>
      <p:sp>
        <p:nvSpPr>
          <p:cNvPr id="6" name="">
            <a:extLst xmlns:a="http://schemas.openxmlformats.org/drawingml/2006/main">
              <a:ext uri="{FF2B5EF4-FFF2-40B4-BE49-F238E27FC236}">
                <a16:creationId xmlns:a16="http://schemas.microsoft.com/office/drawing/2014/main" id="{FED669D0-3FD5-42D7-A370-72ADF684E89E}"/>
              </a:ext>
            </a:extLst>
          </p:cNvPr>
          <p:cNvSpPr>
            <a:spLocks xmlns:a="http://schemas.openxmlformats.org/drawingml/2006/main" noGrp="1"/>
          </p:cNvSpPr>
          <p:nvPr/>
        </p:nvSpPr>
        <p:spPr>
          <a:xfrm xmlns:a="http://schemas.openxmlformats.org/drawingml/2006/main">
            <a:off x="514350" y="990600"/>
            <a:ext cx="8572500" cy="514350"/>
          </a:xfrm>
          <a:prstGeom xmlns:a="http://schemas.openxmlformats.org/drawingml/2006/main" prst="roundRect">
            <a:avLst>
              <a:gd name="adj" fmla="val 22222"/>
            </a:avLst>
          </a:prstGeom>
          <a:noFill xmlns:a="http://schemas.openxmlformats.org/drawingml/2006/main"/>
          <a:ln xmlns:a="http://schemas.openxmlformats.org/drawingml/2006/main" w="0">
            <a:noFill/>
            <a:prstDash val="solid"/>
          </a:ln>
        </p:spPr>
        <p:txBody>
          <a:bodyPr xmlns:a="http://schemas.openxmlformats.org/drawingml/2006/main">
            <a:normAutofit fontScale="86506"/>
          </a:bodyPr>
          <a:lstStyle xmlns:a="http://schemas.openxmlformats.org/drawingml/2006/main"/>
          <a:p xmlns:a="http://schemas.openxmlformats.org/drawingml/2006/main">
            <a:pPr>
              <a:defRPr sz="2700" b="1">
                <a:solidFill>
                  <a:srgbClr val="171C22"/>
                </a:solidFill>
                <a:latin typeface="Aptos"/>
                <a:ea typeface="Aptos"/>
                <a:cs typeface="Aptos"/>
              </a:defRPr>
            </a:pPr>
            <a:r>
              <a:rPr sz="2700" b="1">
                <a:solidFill>
                  <a:srgbClr val="171C22"/>
                </a:solidFill>
                <a:latin typeface="Aptos"/>
                <a:ea typeface="Aptos"/>
                <a:cs typeface="Aptos"/>
              </a:rPr>
              <a:t>Course map</a:t>
            </a:r>
          </a:p>
        </p:txBody>
      </p:sp>
      <p:sp>
        <p:nvSpPr>
          <p:cNvPr id="7" name="">
            <a:extLst xmlns:a="http://schemas.openxmlformats.org/drawingml/2006/main">
              <a:ext uri="{FF2B5EF4-FFF2-40B4-BE49-F238E27FC236}">
                <a16:creationId xmlns:a16="http://schemas.microsoft.com/office/drawing/2014/main" id="{DD3098FB-0F23-49D5-ADFD-F11B99C8D966}"/>
              </a:ext>
            </a:extLst>
          </p:cNvPr>
          <p:cNvSpPr>
            <a:spLocks xmlns:a="http://schemas.openxmlformats.org/drawingml/2006/main" noGrp="1"/>
          </p:cNvSpPr>
          <p:nvPr/>
        </p:nvSpPr>
        <p:spPr>
          <a:xfrm xmlns:a="http://schemas.openxmlformats.org/drawingml/2006/main">
            <a:off x="514350" y="1657350"/>
            <a:ext cx="8858250" cy="304800"/>
          </a:xfrm>
          <a:prstGeom xmlns:a="http://schemas.openxmlformats.org/drawingml/2006/main" prst="roundRect">
            <a:avLst>
              <a:gd name="adj" fmla="val 37500"/>
            </a:avLst>
          </a:prstGeom>
          <a:noFill xmlns:a="http://schemas.openxmlformats.org/drawingml/2006/main"/>
          <a:ln xmlns:a="http://schemas.openxmlformats.org/drawingml/2006/main" w="0">
            <a:noFill/>
            <a:prstDash val="solid"/>
          </a:ln>
        </p:spPr>
        <p:txBody>
          <a:bodyPr xmlns:a="http://schemas.openxmlformats.org/drawingml/2006/main">
            <a:normAutofit fontScale="75346"/>
          </a:bodyPr>
          <a:lstStyle xmlns:a="http://schemas.openxmlformats.org/drawingml/2006/main"/>
          <a:p xmlns:a="http://schemas.openxmlformats.org/drawingml/2006/main">
            <a:pPr>
              <a:defRPr sz="1275" b="0">
                <a:solidFill>
                  <a:srgbClr val="44515C"/>
                </a:solidFill>
                <a:latin typeface="Aptos"/>
                <a:ea typeface="Aptos"/>
                <a:cs typeface="Aptos"/>
              </a:defRPr>
            </a:pPr>
            <a:r>
              <a:rPr sz="1275" b="0">
                <a:solidFill>
                  <a:srgbClr val="44515C"/>
                </a:solidFill>
                <a:latin typeface="Aptos"/>
                <a:ea typeface="Aptos"/>
                <a:cs typeface="Aptos"/>
              </a:rPr>
              <a:t>Twelve weeks from structure to publication</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56832c17cd8145dc"/>
          <a:srcRect xmlns:a="http://schemas.openxmlformats.org/drawingml/2006/main" l="0" t="23043" r="0" b="23043"/>
          <a:stretch xmlns:a="http://schemas.openxmlformats.org/drawingml/2006/main">
            <a:fillRect l="0" t="0" r="0" b="0"/>
          </a:stretch>
        </p:blipFill>
        <p:spPr>
          <a:xfrm xmlns:a="http://schemas.openxmlformats.org/drawingml/2006/main">
            <a:off x="9105900" y="2381250"/>
            <a:ext cx="2190750" cy="1476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2E3C725-B339-463A-B055-22C2EC9CFCBA}"/>
              </a:ext>
            </a:extLst>
          </p:cNvPr>
          <p:cNvSpPr>
            <a:spLocks xmlns:a="http://schemas.openxmlformats.org/drawingml/2006/main" noGrp="1"/>
          </p:cNvSpPr>
          <p:nvPr/>
        </p:nvSpPr>
        <p:spPr>
          <a:xfrm xmlns:a="http://schemas.openxmlformats.org/drawingml/2006/main">
            <a:off x="514350" y="2343150"/>
            <a:ext cx="8096250" cy="3181350"/>
          </a:xfrm>
          <a:prstGeom xmlns:a="http://schemas.openxmlformats.org/drawingml/2006/main" prst="roundRect">
            <a:avLst>
              <a:gd name="adj" fmla="val 3593"/>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425" b="0">
                <a:solidFill>
                  <a:srgbClr val="171C22"/>
                </a:solidFill>
                <a:latin typeface="Aptos"/>
                <a:ea typeface="Aptos"/>
                <a:cs typeface="Aptos"/>
              </a:defRPr>
            </a:pPr>
            <a:r>
              <a:rPr sz="1425" b="0">
                <a:solidFill>
                  <a:srgbClr val="171C22"/>
                </a:solidFill>
                <a:latin typeface="Aptos"/>
                <a:ea typeface="Aptos"/>
                <a:cs typeface="Aptos"/>
              </a:rPr>
              <a:t>前两周建立内容与 HTML 结构，第三到第六周处理字型、色彩、CSS 布局和响应式设计，第七到第八周进入表单、键盘操作和无障碍审查，第九到第十二周完成多页面信息架构、测试、性能检查和作品集展示。每个阶段都要求保留过程证据。学生不只是交一个结果，还要说明自己怎样观察问题、作出修改，以及为什么某个设计决定能帮助预期读者完成任务。</a:t>
            </a:r>
          </a:p>
        </p:txBody>
      </p:sp>
      <p:sp>
        <p:nvSpPr>
          <p:cNvPr id="10" name="">
            <a:extLst xmlns:a="http://schemas.openxmlformats.org/drawingml/2006/main">
              <a:ext uri="{FF2B5EF4-FFF2-40B4-BE49-F238E27FC236}">
                <a16:creationId xmlns:a16="http://schemas.microsoft.com/office/drawing/2014/main" id="{966506BB-C2AE-448E-9C5F-D5FBC9AE1B5E}"/>
              </a:ext>
            </a:extLst>
          </p:cNvPr>
          <p:cNvSpPr>
            <a:spLocks xmlns:a="http://schemas.openxmlformats.org/drawingml/2006/main" noGrp="1"/>
          </p:cNvSpPr>
          <p:nvPr/>
        </p:nvSpPr>
        <p:spPr>
          <a:xfrm xmlns:a="http://schemas.openxmlformats.org/drawingml/2006/main">
            <a:off x="9105900" y="4095750"/>
            <a:ext cx="2190750" cy="781050"/>
          </a:xfrm>
          <a:prstGeom xmlns:a="http://schemas.openxmlformats.org/drawingml/2006/main" prst="roundRect">
            <a:avLst>
              <a:gd name="adj" fmla="val 14634"/>
            </a:avLst>
          </a:prstGeom>
          <a:solidFill xmlns:a="http://schemas.openxmlformats.org/drawingml/2006/main">
            <a:srgbClr val="F1DFC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37FB9D3-7C59-4270-8CC5-1A2EB71F39DF}"/>
              </a:ext>
            </a:extLst>
          </p:cNvPr>
          <p:cNvSpPr>
            <a:spLocks xmlns:a="http://schemas.openxmlformats.org/drawingml/2006/main" noGrp="1"/>
          </p:cNvSpPr>
          <p:nvPr/>
        </p:nvSpPr>
        <p:spPr>
          <a:xfrm xmlns:a="http://schemas.openxmlformats.org/drawingml/2006/main">
            <a:off x="9277350" y="4267200"/>
            <a:ext cx="1809750" cy="438150"/>
          </a:xfrm>
          <a:prstGeom xmlns:a="http://schemas.openxmlformats.org/drawingml/2006/main" prst="roundRect">
            <a:avLst>
              <a:gd name="adj" fmla="val 26087"/>
            </a:avLst>
          </a:prstGeom>
          <a:noFill xmlns:a="http://schemas.openxmlformats.org/drawingml/2006/main"/>
          <a:ln xmlns:a="http://schemas.openxmlformats.org/drawingml/2006/main" w="0">
            <a:noFill/>
            <a:prstDash val="solid"/>
          </a:ln>
        </p:spPr>
        <p:txBody>
          <a:bodyPr xmlns:a="http://schemas.openxmlformats.org/drawingml/2006/main">
            <a:normAutofit fontScale="81585"/>
          </a:bodyPr>
          <a:lstStyle xmlns:a="http://schemas.openxmlformats.org/drawingml/2006/main"/>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课堂提示</a:t>
            </a:r>
          </a:p>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用内容关系验证设计选择</a:t>
            </a:r>
          </a:p>
        </p:txBody>
      </p:sp>
    </p:spTree>
    <p:extLst>
      <p:ext uri="{BB962C8B-B14F-4D97-AF65-F5344CB8AC3E}">
        <p14:creationId xmlns:p14="http://schemas.microsoft.com/office/powerpoint/2010/main" val="70261506"/>
      </p:ext>
    </p:extLst>
  </p:cSld>
</p:sld>
</file>

<file path=ppt/slides/slide4.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DDB226E-FE99-4F03-A8A5-509A8B1604B8}"/>
              </a:ext>
            </a:extLst>
          </p:cNvPr>
          <p:cNvSpPr>
            <a:spLocks xmlns:a="http://schemas.openxmlformats.org/drawingml/2006/main" noGrp="1"/>
          </p:cNvSpPr>
          <p:nvPr/>
        </p:nvSpPr>
        <p:spPr>
          <a:xfrm xmlns:a="http://schemas.openxmlformats.org/drawingml/2006/main">
            <a:off x="514350" y="361950"/>
            <a:ext cx="4381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5FB831A-635E-4EB0-A4E1-EDD7A5F43B2E}"/>
              </a:ext>
            </a:extLst>
          </p:cNvPr>
          <p:cNvSpPr>
            <a:spLocks xmlns:a="http://schemas.openxmlformats.org/drawingml/2006/main" noGrp="1"/>
          </p:cNvSpPr>
          <p:nvPr/>
        </p:nvSpPr>
        <p:spPr>
          <a:xfrm xmlns:a="http://schemas.openxmlformats.org/drawingml/2006/main">
            <a:off x="514350" y="552450"/>
            <a:ext cx="2095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 / UNIVERSITY</a:t>
            </a:r>
          </a:p>
        </p:txBody>
      </p:sp>
      <p:sp>
        <p:nvSpPr>
          <p:cNvPr id="3" name="">
            <a:extLst xmlns:a="http://schemas.openxmlformats.org/drawingml/2006/main">
              <a:ext uri="{FF2B5EF4-FFF2-40B4-BE49-F238E27FC236}">
                <a16:creationId xmlns:a16="http://schemas.microsoft.com/office/drawing/2014/main" id="{8859EA9D-26E3-4A39-8634-3CE6E6CF1304}"/>
              </a:ext>
            </a:extLst>
          </p:cNvPr>
          <p:cNvSpPr>
            <a:spLocks xmlns:a="http://schemas.openxmlformats.org/drawingml/2006/main" noGrp="1"/>
          </p:cNvSpPr>
          <p:nvPr/>
        </p:nvSpPr>
        <p:spPr>
          <a:xfrm xmlns:a="http://schemas.openxmlformats.org/drawingml/2006/main">
            <a:off x="9391650" y="552450"/>
            <a:ext cx="21907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4" name="">
            <a:extLst xmlns:a="http://schemas.openxmlformats.org/drawingml/2006/main">
              <a:ext uri="{FF2B5EF4-FFF2-40B4-BE49-F238E27FC236}">
                <a16:creationId xmlns:a16="http://schemas.microsoft.com/office/drawing/2014/main" id="{A00ED172-A620-4147-9D05-C4C74C592B9B}"/>
              </a:ext>
            </a:extLst>
          </p:cNvPr>
          <p:cNvSpPr>
            <a:spLocks xmlns:a="http://schemas.openxmlformats.org/drawingml/2006/main" noGrp="1"/>
          </p:cNvSpPr>
          <p:nvPr/>
        </p:nvSpPr>
        <p:spPr>
          <a:xfrm xmlns:a="http://schemas.openxmlformats.org/drawingml/2006/main">
            <a:off x="514350" y="6229350"/>
            <a:ext cx="1114425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CBC62B9-A739-4D0E-8B87-C2D9AC5329A4}"/>
              </a:ext>
            </a:extLst>
          </p:cNvPr>
          <p:cNvSpPr>
            <a:spLocks xmlns:a="http://schemas.openxmlformats.org/drawingml/2006/main" noGrp="1"/>
          </p:cNvSpPr>
          <p:nvPr/>
        </p:nvSpPr>
        <p:spPr>
          <a:xfrm xmlns:a="http://schemas.openxmlformats.org/drawingml/2006/main">
            <a:off x="514350" y="6410325"/>
            <a:ext cx="3810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04</a:t>
            </a:r>
          </a:p>
        </p:txBody>
      </p:sp>
      <p:sp>
        <p:nvSpPr>
          <p:cNvPr id="6" name="">
            <a:extLst xmlns:a="http://schemas.openxmlformats.org/drawingml/2006/main">
              <a:ext uri="{FF2B5EF4-FFF2-40B4-BE49-F238E27FC236}">
                <a16:creationId xmlns:a16="http://schemas.microsoft.com/office/drawing/2014/main" id="{84691F50-558A-4C24-A544-9792C5079829}"/>
              </a:ext>
            </a:extLst>
          </p:cNvPr>
          <p:cNvSpPr>
            <a:spLocks xmlns:a="http://schemas.openxmlformats.org/drawingml/2006/main" noGrp="1"/>
          </p:cNvSpPr>
          <p:nvPr/>
        </p:nvSpPr>
        <p:spPr>
          <a:xfrm xmlns:a="http://schemas.openxmlformats.org/drawingml/2006/main">
            <a:off x="514350" y="990600"/>
            <a:ext cx="8572500" cy="514350"/>
          </a:xfrm>
          <a:prstGeom xmlns:a="http://schemas.openxmlformats.org/drawingml/2006/main" prst="roundRect">
            <a:avLst>
              <a:gd name="adj" fmla="val 22222"/>
            </a:avLst>
          </a:prstGeom>
          <a:noFill xmlns:a="http://schemas.openxmlformats.org/drawingml/2006/main"/>
          <a:ln xmlns:a="http://schemas.openxmlformats.org/drawingml/2006/main" w="0">
            <a:noFill/>
            <a:prstDash val="solid"/>
          </a:ln>
        </p:spPr>
        <p:txBody>
          <a:bodyPr xmlns:a="http://schemas.openxmlformats.org/drawingml/2006/main">
            <a:normAutofit fontScale="86506"/>
          </a:bodyPr>
          <a:lstStyle xmlns:a="http://schemas.openxmlformats.org/drawingml/2006/main"/>
          <a:p xmlns:a="http://schemas.openxmlformats.org/drawingml/2006/main">
            <a:pPr>
              <a:defRPr sz="2700" b="1">
                <a:solidFill>
                  <a:srgbClr val="171C22"/>
                </a:solidFill>
                <a:latin typeface="Aptos"/>
                <a:ea typeface="Aptos"/>
                <a:cs typeface="Aptos"/>
              </a:defRPr>
            </a:pPr>
            <a:r>
              <a:rPr sz="2700" b="1">
                <a:solidFill>
                  <a:srgbClr val="171C22"/>
                </a:solidFill>
                <a:latin typeface="Aptos"/>
                <a:ea typeface="Aptos"/>
                <a:cs typeface="Aptos"/>
              </a:rPr>
              <a:t>Assessment progression</a:t>
            </a:r>
          </a:p>
        </p:txBody>
      </p:sp>
      <p:sp>
        <p:nvSpPr>
          <p:cNvPr id="7" name="">
            <a:extLst xmlns:a="http://schemas.openxmlformats.org/drawingml/2006/main">
              <a:ext uri="{FF2B5EF4-FFF2-40B4-BE49-F238E27FC236}">
                <a16:creationId xmlns:a16="http://schemas.microsoft.com/office/drawing/2014/main" id="{CEBC9D5C-F343-4A33-9015-B6810A2E6698}"/>
              </a:ext>
            </a:extLst>
          </p:cNvPr>
          <p:cNvSpPr>
            <a:spLocks xmlns:a="http://schemas.openxmlformats.org/drawingml/2006/main" noGrp="1"/>
          </p:cNvSpPr>
          <p:nvPr/>
        </p:nvSpPr>
        <p:spPr>
          <a:xfrm xmlns:a="http://schemas.openxmlformats.org/drawingml/2006/main">
            <a:off x="514350" y="1657350"/>
            <a:ext cx="8858250" cy="304800"/>
          </a:xfrm>
          <a:prstGeom xmlns:a="http://schemas.openxmlformats.org/drawingml/2006/main" prst="roundRect">
            <a:avLst>
              <a:gd name="adj" fmla="val 37500"/>
            </a:avLst>
          </a:prstGeom>
          <a:noFill xmlns:a="http://schemas.openxmlformats.org/drawingml/2006/main"/>
          <a:ln xmlns:a="http://schemas.openxmlformats.org/drawingml/2006/main" w="0">
            <a:noFill/>
            <a:prstDash val="solid"/>
          </a:ln>
        </p:spPr>
        <p:txBody>
          <a:bodyPr xmlns:a="http://schemas.openxmlformats.org/drawingml/2006/main">
            <a:normAutofit fontScale="75346"/>
          </a:bodyPr>
          <a:lstStyle xmlns:a="http://schemas.openxmlformats.org/drawingml/2006/main"/>
          <a:p xmlns:a="http://schemas.openxmlformats.org/drawingml/2006/main">
            <a:pPr>
              <a:defRPr sz="1275" b="0">
                <a:solidFill>
                  <a:srgbClr val="44515C"/>
                </a:solidFill>
                <a:latin typeface="Aptos"/>
                <a:ea typeface="Aptos"/>
                <a:cs typeface="Aptos"/>
              </a:defRPr>
            </a:pPr>
            <a:r>
              <a:rPr sz="1275" b="0">
                <a:solidFill>
                  <a:srgbClr val="44515C"/>
                </a:solidFill>
                <a:latin typeface="Aptos"/>
                <a:ea typeface="Aptos"/>
                <a:cs typeface="Aptos"/>
              </a:rPr>
              <a:t>Four assignments build one capability at a time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2adf0c4419df48af"/>
          <a:srcRect xmlns:a="http://schemas.openxmlformats.org/drawingml/2006/main" l="522" t="0" r="522" b="0"/>
          <a:stretch xmlns:a="http://schemas.openxmlformats.org/drawingml/2006/main">
            <a:fillRect l="0" t="0" r="0" b="0"/>
          </a:stretch>
        </p:blipFill>
        <p:spPr>
          <a:xfrm xmlns:a="http://schemas.openxmlformats.org/drawingml/2006/main">
            <a:off x="9105900" y="2381250"/>
            <a:ext cx="2190750" cy="1476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259B97F-F7FA-40DD-B64C-BAA1568B2A3D}"/>
              </a:ext>
            </a:extLst>
          </p:cNvPr>
          <p:cNvSpPr>
            <a:spLocks xmlns:a="http://schemas.openxmlformats.org/drawingml/2006/main" noGrp="1"/>
          </p:cNvSpPr>
          <p:nvPr/>
        </p:nvSpPr>
        <p:spPr>
          <a:xfrm xmlns:a="http://schemas.openxmlformats.org/drawingml/2006/main">
            <a:off x="514350" y="2343150"/>
            <a:ext cx="8096250" cy="3181350"/>
          </a:xfrm>
          <a:prstGeom xmlns:a="http://schemas.openxmlformats.org/drawingml/2006/main" prst="roundRect">
            <a:avLst>
              <a:gd name="adj" fmla="val 3593"/>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425" b="0">
                <a:solidFill>
                  <a:srgbClr val="171C22"/>
                </a:solidFill>
                <a:latin typeface="Aptos"/>
                <a:ea typeface="Aptos"/>
                <a:cs typeface="Aptos"/>
              </a:defRPr>
            </a:pPr>
            <a:r>
              <a:rPr sz="1425" b="0">
                <a:solidFill>
                  <a:srgbClr val="171C22"/>
                </a:solidFill>
                <a:latin typeface="Aptos"/>
                <a:ea typeface="Aptos"/>
                <a:cs typeface="Aptos"/>
              </a:rPr>
              <a:t>四个作业不是彼此孤立的任务。作业一关注语义结构与阅读路径，作业二把内容发展成可在不同屏幕上工作的视觉系统，作业三处理互动与无障碍，作业四整合为多页面发布网站。前面的练习会成为后面项目的证据和素材，因此每次提交都应保存源文件、截图、测试记录和反思。评分强调清晰的选择与可验证的结果，不要求学生追逐华丽效果或复杂动画。</a:t>
            </a:r>
          </a:p>
        </p:txBody>
      </p:sp>
      <p:sp>
        <p:nvSpPr>
          <p:cNvPr id="10" name="">
            <a:extLst xmlns:a="http://schemas.openxmlformats.org/drawingml/2006/main">
              <a:ext uri="{FF2B5EF4-FFF2-40B4-BE49-F238E27FC236}">
                <a16:creationId xmlns:a16="http://schemas.microsoft.com/office/drawing/2014/main" id="{007C05D0-771E-4451-B086-DB1FF1566D3D}"/>
              </a:ext>
            </a:extLst>
          </p:cNvPr>
          <p:cNvSpPr>
            <a:spLocks xmlns:a="http://schemas.openxmlformats.org/drawingml/2006/main" noGrp="1"/>
          </p:cNvSpPr>
          <p:nvPr/>
        </p:nvSpPr>
        <p:spPr>
          <a:xfrm xmlns:a="http://schemas.openxmlformats.org/drawingml/2006/main">
            <a:off x="9105900" y="4095750"/>
            <a:ext cx="2190750" cy="781050"/>
          </a:xfrm>
          <a:prstGeom xmlns:a="http://schemas.openxmlformats.org/drawingml/2006/main" prst="roundRect">
            <a:avLst>
              <a:gd name="adj" fmla="val 14634"/>
            </a:avLst>
          </a:prstGeom>
          <a:solidFill xmlns:a="http://schemas.openxmlformats.org/drawingml/2006/main">
            <a:srgbClr val="F1DFC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DB0D253-959F-449A-8E8B-9ABC54C17B41}"/>
              </a:ext>
            </a:extLst>
          </p:cNvPr>
          <p:cNvSpPr>
            <a:spLocks xmlns:a="http://schemas.openxmlformats.org/drawingml/2006/main" noGrp="1"/>
          </p:cNvSpPr>
          <p:nvPr/>
        </p:nvSpPr>
        <p:spPr>
          <a:xfrm xmlns:a="http://schemas.openxmlformats.org/drawingml/2006/main">
            <a:off x="9277350" y="4267200"/>
            <a:ext cx="1809750" cy="438150"/>
          </a:xfrm>
          <a:prstGeom xmlns:a="http://schemas.openxmlformats.org/drawingml/2006/main" prst="roundRect">
            <a:avLst>
              <a:gd name="adj" fmla="val 26087"/>
            </a:avLst>
          </a:prstGeom>
          <a:noFill xmlns:a="http://schemas.openxmlformats.org/drawingml/2006/main"/>
          <a:ln xmlns:a="http://schemas.openxmlformats.org/drawingml/2006/main" w="0">
            <a:noFill/>
            <a:prstDash val="solid"/>
          </a:ln>
        </p:spPr>
        <p:txBody>
          <a:bodyPr xmlns:a="http://schemas.openxmlformats.org/drawingml/2006/main">
            <a:normAutofit fontScale="81585"/>
          </a:bodyPr>
          <a:lstStyle xmlns:a="http://schemas.openxmlformats.org/drawingml/2006/main"/>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课堂提示</a:t>
            </a:r>
          </a:p>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用内容关系验证设计选择</a:t>
            </a:r>
          </a:p>
        </p:txBody>
      </p:sp>
    </p:spTree>
    <p:extLst>
      <p:ext uri="{BB962C8B-B14F-4D97-AF65-F5344CB8AC3E}">
        <p14:creationId xmlns:p14="http://schemas.microsoft.com/office/powerpoint/2010/main" val="701765560"/>
      </p:ext>
    </p:extLst>
  </p:cSld>
</p:sld>
</file>

<file path=ppt/slides/slide5.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2E12087-9CDE-4B92-89BC-BEA353FD89C3}"/>
              </a:ext>
            </a:extLst>
          </p:cNvPr>
          <p:cNvSpPr>
            <a:spLocks xmlns:a="http://schemas.openxmlformats.org/drawingml/2006/main" noGrp="1"/>
          </p:cNvSpPr>
          <p:nvPr/>
        </p:nvSpPr>
        <p:spPr>
          <a:xfrm xmlns:a="http://schemas.openxmlformats.org/drawingml/2006/main">
            <a:off x="514350" y="361950"/>
            <a:ext cx="4381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BED1062-F828-4FC8-816C-F0856D3BECE2}"/>
              </a:ext>
            </a:extLst>
          </p:cNvPr>
          <p:cNvSpPr>
            <a:spLocks xmlns:a="http://schemas.openxmlformats.org/drawingml/2006/main" noGrp="1"/>
          </p:cNvSpPr>
          <p:nvPr/>
        </p:nvSpPr>
        <p:spPr>
          <a:xfrm xmlns:a="http://schemas.openxmlformats.org/drawingml/2006/main">
            <a:off x="514350" y="552450"/>
            <a:ext cx="2095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 / UNIVERSITY</a:t>
            </a:r>
          </a:p>
        </p:txBody>
      </p:sp>
      <p:sp>
        <p:nvSpPr>
          <p:cNvPr id="3" name="">
            <a:extLst xmlns:a="http://schemas.openxmlformats.org/drawingml/2006/main">
              <a:ext uri="{FF2B5EF4-FFF2-40B4-BE49-F238E27FC236}">
                <a16:creationId xmlns:a16="http://schemas.microsoft.com/office/drawing/2014/main" id="{80A91D93-09FB-4790-9852-13B2B18E20BA}"/>
              </a:ext>
            </a:extLst>
          </p:cNvPr>
          <p:cNvSpPr>
            <a:spLocks xmlns:a="http://schemas.openxmlformats.org/drawingml/2006/main" noGrp="1"/>
          </p:cNvSpPr>
          <p:nvPr/>
        </p:nvSpPr>
        <p:spPr>
          <a:xfrm xmlns:a="http://schemas.openxmlformats.org/drawingml/2006/main">
            <a:off x="9391650" y="552450"/>
            <a:ext cx="21907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4" name="">
            <a:extLst xmlns:a="http://schemas.openxmlformats.org/drawingml/2006/main">
              <a:ext uri="{FF2B5EF4-FFF2-40B4-BE49-F238E27FC236}">
                <a16:creationId xmlns:a16="http://schemas.microsoft.com/office/drawing/2014/main" id="{23EA0DAE-460D-4E9F-B34B-61F5E052480F}"/>
              </a:ext>
            </a:extLst>
          </p:cNvPr>
          <p:cNvSpPr>
            <a:spLocks xmlns:a="http://schemas.openxmlformats.org/drawingml/2006/main" noGrp="1"/>
          </p:cNvSpPr>
          <p:nvPr/>
        </p:nvSpPr>
        <p:spPr>
          <a:xfrm xmlns:a="http://schemas.openxmlformats.org/drawingml/2006/main">
            <a:off x="514350" y="6229350"/>
            <a:ext cx="1114425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AADCF72-F1BF-43AE-A434-676084E3EF29}"/>
              </a:ext>
            </a:extLst>
          </p:cNvPr>
          <p:cNvSpPr>
            <a:spLocks xmlns:a="http://schemas.openxmlformats.org/drawingml/2006/main" noGrp="1"/>
          </p:cNvSpPr>
          <p:nvPr/>
        </p:nvSpPr>
        <p:spPr>
          <a:xfrm xmlns:a="http://schemas.openxmlformats.org/drawingml/2006/main">
            <a:off x="514350" y="6410325"/>
            <a:ext cx="3810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05</a:t>
            </a:r>
          </a:p>
        </p:txBody>
      </p:sp>
      <p:sp>
        <p:nvSpPr>
          <p:cNvPr id="6" name="">
            <a:extLst xmlns:a="http://schemas.openxmlformats.org/drawingml/2006/main">
              <a:ext uri="{FF2B5EF4-FFF2-40B4-BE49-F238E27FC236}">
                <a16:creationId xmlns:a16="http://schemas.microsoft.com/office/drawing/2014/main" id="{19C79077-5F6E-4C6D-A82C-ECC37DD7A200}"/>
              </a:ext>
            </a:extLst>
          </p:cNvPr>
          <p:cNvSpPr>
            <a:spLocks xmlns:a="http://schemas.openxmlformats.org/drawingml/2006/main" noGrp="1"/>
          </p:cNvSpPr>
          <p:nvPr/>
        </p:nvSpPr>
        <p:spPr>
          <a:xfrm xmlns:a="http://schemas.openxmlformats.org/drawingml/2006/main">
            <a:off x="514350" y="990600"/>
            <a:ext cx="8572500" cy="514350"/>
          </a:xfrm>
          <a:prstGeom xmlns:a="http://schemas.openxmlformats.org/drawingml/2006/main" prst="roundRect">
            <a:avLst>
              <a:gd name="adj" fmla="val 22222"/>
            </a:avLst>
          </a:prstGeom>
          <a:noFill xmlns:a="http://schemas.openxmlformats.org/drawingml/2006/main"/>
          <a:ln xmlns:a="http://schemas.openxmlformats.org/drawingml/2006/main" w="0">
            <a:noFill/>
            <a:prstDash val="solid"/>
          </a:ln>
        </p:spPr>
        <p:txBody>
          <a:bodyPr xmlns:a="http://schemas.openxmlformats.org/drawingml/2006/main">
            <a:normAutofit fontScale="86506"/>
          </a:bodyPr>
          <a:lstStyle xmlns:a="http://schemas.openxmlformats.org/drawingml/2006/main"/>
          <a:p xmlns:a="http://schemas.openxmlformats.org/drawingml/2006/main">
            <a:pPr>
              <a:defRPr sz="2700" b="1">
                <a:solidFill>
                  <a:srgbClr val="171C22"/>
                </a:solidFill>
                <a:latin typeface="Aptos"/>
                <a:ea typeface="Aptos"/>
                <a:cs typeface="Aptos"/>
              </a:defRPr>
            </a:pPr>
            <a:r>
              <a:rPr sz="2700" b="1">
                <a:solidFill>
                  <a:srgbClr val="171C22"/>
                </a:solidFill>
                <a:latin typeface="Aptos"/>
                <a:ea typeface="Aptos"/>
                <a:cs typeface="Aptos"/>
              </a:rPr>
              <a:t>Assignment 1 · 15%</a:t>
            </a:r>
          </a:p>
        </p:txBody>
      </p:sp>
      <p:sp>
        <p:nvSpPr>
          <p:cNvPr id="7" name="">
            <a:extLst xmlns:a="http://schemas.openxmlformats.org/drawingml/2006/main">
              <a:ext uri="{FF2B5EF4-FFF2-40B4-BE49-F238E27FC236}">
                <a16:creationId xmlns:a16="http://schemas.microsoft.com/office/drawing/2014/main" id="{4279048D-D1E4-44B3-B095-D6B969A3B175}"/>
              </a:ext>
            </a:extLst>
          </p:cNvPr>
          <p:cNvSpPr>
            <a:spLocks xmlns:a="http://schemas.openxmlformats.org/drawingml/2006/main" noGrp="1"/>
          </p:cNvSpPr>
          <p:nvPr/>
        </p:nvSpPr>
        <p:spPr>
          <a:xfrm xmlns:a="http://schemas.openxmlformats.org/drawingml/2006/main">
            <a:off x="514350" y="1657350"/>
            <a:ext cx="8858250" cy="304800"/>
          </a:xfrm>
          <a:prstGeom xmlns:a="http://schemas.openxmlformats.org/drawingml/2006/main" prst="roundRect">
            <a:avLst>
              <a:gd name="adj" fmla="val 37500"/>
            </a:avLst>
          </a:prstGeom>
          <a:noFill xmlns:a="http://schemas.openxmlformats.org/drawingml/2006/main"/>
          <a:ln xmlns:a="http://schemas.openxmlformats.org/drawingml/2006/main" w="0">
            <a:noFill/>
            <a:prstDash val="solid"/>
          </a:ln>
        </p:spPr>
        <p:txBody>
          <a:bodyPr xmlns:a="http://schemas.openxmlformats.org/drawingml/2006/main">
            <a:normAutofit fontScale="75346"/>
          </a:bodyPr>
          <a:lstStyle xmlns:a="http://schemas.openxmlformats.org/drawingml/2006/main"/>
          <a:p xmlns:a="http://schemas.openxmlformats.org/drawingml/2006/main">
            <a:pPr>
              <a:defRPr sz="1275" b="0">
                <a:solidFill>
                  <a:srgbClr val="44515C"/>
                </a:solidFill>
                <a:latin typeface="Aptos"/>
                <a:ea typeface="Aptos"/>
                <a:cs typeface="Aptos"/>
              </a:defRPr>
            </a:pPr>
            <a:r>
              <a:rPr sz="1275" b="0">
                <a:solidFill>
                  <a:srgbClr val="44515C"/>
                </a:solidFill>
                <a:latin typeface="Aptos"/>
                <a:ea typeface="Aptos"/>
                <a:cs typeface="Aptos"/>
              </a:rPr>
              <a:t>Structured reading page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737b7646c6842f5"/>
          <a:srcRect xmlns:a="http://schemas.openxmlformats.org/drawingml/2006/main" l="522" t="0" r="522" b="0"/>
          <a:stretch xmlns:a="http://schemas.openxmlformats.org/drawingml/2006/main">
            <a:fillRect l="0" t="0" r="0" b="0"/>
          </a:stretch>
        </p:blipFill>
        <p:spPr>
          <a:xfrm xmlns:a="http://schemas.openxmlformats.org/drawingml/2006/main">
            <a:off x="9105900" y="2381250"/>
            <a:ext cx="2190750" cy="1476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6A81BAF-D82F-4919-B8EE-EC83DF05F157}"/>
              </a:ext>
            </a:extLst>
          </p:cNvPr>
          <p:cNvSpPr>
            <a:spLocks xmlns:a="http://schemas.openxmlformats.org/drawingml/2006/main" noGrp="1"/>
          </p:cNvSpPr>
          <p:nvPr/>
        </p:nvSpPr>
        <p:spPr>
          <a:xfrm xmlns:a="http://schemas.openxmlformats.org/drawingml/2006/main">
            <a:off x="514350" y="2343150"/>
            <a:ext cx="8096250" cy="3181350"/>
          </a:xfrm>
          <a:prstGeom xmlns:a="http://schemas.openxmlformats.org/drawingml/2006/main" prst="roundRect">
            <a:avLst>
              <a:gd name="adj" fmla="val 3593"/>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425" b="0">
                <a:solidFill>
                  <a:srgbClr val="171C22"/>
                </a:solidFill>
                <a:latin typeface="Aptos"/>
                <a:ea typeface="Aptos"/>
                <a:cs typeface="Aptos"/>
              </a:defRPr>
            </a:pPr>
            <a:r>
              <a:rPr sz="1425" b="0">
                <a:solidFill>
                  <a:srgbClr val="171C22"/>
                </a:solidFill>
                <a:latin typeface="Aptos"/>
                <a:ea typeface="Aptos"/>
                <a:cs typeface="Aptos"/>
              </a:rPr>
              <a:t>作业一要求学生为真实或假想的文章、活动或指南建立一页阅读体验。重点不是装饰，而是使用正确的标题层级、段落、列表、链接、图片说明和替代文本，使内容在没有 CSS 时仍然成立。提交物包括预览链接、源文件、内容大纲和二百字反思。学生需要说明目标读者怎样找到核心信息，并指出自己如何避免模糊链接、跳级标题和只依赖颜色传达意义的问题。</a:t>
            </a:r>
          </a:p>
        </p:txBody>
      </p:sp>
      <p:sp>
        <p:nvSpPr>
          <p:cNvPr id="10" name="">
            <a:extLst xmlns:a="http://schemas.openxmlformats.org/drawingml/2006/main">
              <a:ext uri="{FF2B5EF4-FFF2-40B4-BE49-F238E27FC236}">
                <a16:creationId xmlns:a16="http://schemas.microsoft.com/office/drawing/2014/main" id="{3DB1CDFA-B5D4-418D-9DD0-B2CC917DBA73}"/>
              </a:ext>
            </a:extLst>
          </p:cNvPr>
          <p:cNvSpPr>
            <a:spLocks xmlns:a="http://schemas.openxmlformats.org/drawingml/2006/main" noGrp="1"/>
          </p:cNvSpPr>
          <p:nvPr/>
        </p:nvSpPr>
        <p:spPr>
          <a:xfrm xmlns:a="http://schemas.openxmlformats.org/drawingml/2006/main">
            <a:off x="9105900" y="4095750"/>
            <a:ext cx="2190750" cy="781050"/>
          </a:xfrm>
          <a:prstGeom xmlns:a="http://schemas.openxmlformats.org/drawingml/2006/main" prst="roundRect">
            <a:avLst>
              <a:gd name="adj" fmla="val 14634"/>
            </a:avLst>
          </a:prstGeom>
          <a:solidFill xmlns:a="http://schemas.openxmlformats.org/drawingml/2006/main">
            <a:srgbClr val="F1DFC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7B815D6-5849-4AFE-9FB0-D5A03287FF91}"/>
              </a:ext>
            </a:extLst>
          </p:cNvPr>
          <p:cNvSpPr>
            <a:spLocks xmlns:a="http://schemas.openxmlformats.org/drawingml/2006/main" noGrp="1"/>
          </p:cNvSpPr>
          <p:nvPr/>
        </p:nvSpPr>
        <p:spPr>
          <a:xfrm xmlns:a="http://schemas.openxmlformats.org/drawingml/2006/main">
            <a:off x="9277350" y="4267200"/>
            <a:ext cx="1809750" cy="438150"/>
          </a:xfrm>
          <a:prstGeom xmlns:a="http://schemas.openxmlformats.org/drawingml/2006/main" prst="roundRect">
            <a:avLst>
              <a:gd name="adj" fmla="val 26087"/>
            </a:avLst>
          </a:prstGeom>
          <a:noFill xmlns:a="http://schemas.openxmlformats.org/drawingml/2006/main"/>
          <a:ln xmlns:a="http://schemas.openxmlformats.org/drawingml/2006/main" w="0">
            <a:noFill/>
            <a:prstDash val="solid"/>
          </a:ln>
        </p:spPr>
        <p:txBody>
          <a:bodyPr xmlns:a="http://schemas.openxmlformats.org/drawingml/2006/main">
            <a:normAutofit fontScale="81585"/>
          </a:bodyPr>
          <a:lstStyle xmlns:a="http://schemas.openxmlformats.org/drawingml/2006/main"/>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课堂提示</a:t>
            </a:r>
          </a:p>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用内容关系验证设计选择</a:t>
            </a:r>
          </a:p>
        </p:txBody>
      </p:sp>
    </p:spTree>
    <p:extLst>
      <p:ext uri="{BB962C8B-B14F-4D97-AF65-F5344CB8AC3E}">
        <p14:creationId xmlns:p14="http://schemas.microsoft.com/office/powerpoint/2010/main" val="848005438"/>
      </p:ext>
    </p:extLst>
  </p:cSld>
</p:sld>
</file>

<file path=ppt/slides/slide6.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131FDF8-9A7E-47A4-BEEC-1851FA9880B4}"/>
              </a:ext>
            </a:extLst>
          </p:cNvPr>
          <p:cNvSpPr>
            <a:spLocks xmlns:a="http://schemas.openxmlformats.org/drawingml/2006/main" noGrp="1"/>
          </p:cNvSpPr>
          <p:nvPr/>
        </p:nvSpPr>
        <p:spPr>
          <a:xfrm xmlns:a="http://schemas.openxmlformats.org/drawingml/2006/main">
            <a:off x="514350" y="361950"/>
            <a:ext cx="4381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FB15903-48C5-4536-9FC0-E902FD9F783F}"/>
              </a:ext>
            </a:extLst>
          </p:cNvPr>
          <p:cNvSpPr>
            <a:spLocks xmlns:a="http://schemas.openxmlformats.org/drawingml/2006/main" noGrp="1"/>
          </p:cNvSpPr>
          <p:nvPr/>
        </p:nvSpPr>
        <p:spPr>
          <a:xfrm xmlns:a="http://schemas.openxmlformats.org/drawingml/2006/main">
            <a:off x="514350" y="552450"/>
            <a:ext cx="2095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 / UNIVERSITY</a:t>
            </a:r>
          </a:p>
        </p:txBody>
      </p:sp>
      <p:sp>
        <p:nvSpPr>
          <p:cNvPr id="3" name="">
            <a:extLst xmlns:a="http://schemas.openxmlformats.org/drawingml/2006/main">
              <a:ext uri="{FF2B5EF4-FFF2-40B4-BE49-F238E27FC236}">
                <a16:creationId xmlns:a16="http://schemas.microsoft.com/office/drawing/2014/main" id="{20087AAE-1CE5-4BB4-B5A1-3CEA17A71FF5}"/>
              </a:ext>
            </a:extLst>
          </p:cNvPr>
          <p:cNvSpPr>
            <a:spLocks xmlns:a="http://schemas.openxmlformats.org/drawingml/2006/main" noGrp="1"/>
          </p:cNvSpPr>
          <p:nvPr/>
        </p:nvSpPr>
        <p:spPr>
          <a:xfrm xmlns:a="http://schemas.openxmlformats.org/drawingml/2006/main">
            <a:off x="9391650" y="552450"/>
            <a:ext cx="21907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4" name="">
            <a:extLst xmlns:a="http://schemas.openxmlformats.org/drawingml/2006/main">
              <a:ext uri="{FF2B5EF4-FFF2-40B4-BE49-F238E27FC236}">
                <a16:creationId xmlns:a16="http://schemas.microsoft.com/office/drawing/2014/main" id="{7E5132BD-0985-4E23-A247-B06E72E1A429}"/>
              </a:ext>
            </a:extLst>
          </p:cNvPr>
          <p:cNvSpPr>
            <a:spLocks xmlns:a="http://schemas.openxmlformats.org/drawingml/2006/main" noGrp="1"/>
          </p:cNvSpPr>
          <p:nvPr/>
        </p:nvSpPr>
        <p:spPr>
          <a:xfrm xmlns:a="http://schemas.openxmlformats.org/drawingml/2006/main">
            <a:off x="514350" y="6229350"/>
            <a:ext cx="1114425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0C95C0A-8CC5-4AAD-AC62-8DBFD0654C25}"/>
              </a:ext>
            </a:extLst>
          </p:cNvPr>
          <p:cNvSpPr>
            <a:spLocks xmlns:a="http://schemas.openxmlformats.org/drawingml/2006/main" noGrp="1"/>
          </p:cNvSpPr>
          <p:nvPr/>
        </p:nvSpPr>
        <p:spPr>
          <a:xfrm xmlns:a="http://schemas.openxmlformats.org/drawingml/2006/main">
            <a:off x="514350" y="6410325"/>
            <a:ext cx="3810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06</a:t>
            </a:r>
          </a:p>
        </p:txBody>
      </p:sp>
      <p:sp>
        <p:nvSpPr>
          <p:cNvPr id="6" name="">
            <a:extLst xmlns:a="http://schemas.openxmlformats.org/drawingml/2006/main">
              <a:ext uri="{FF2B5EF4-FFF2-40B4-BE49-F238E27FC236}">
                <a16:creationId xmlns:a16="http://schemas.microsoft.com/office/drawing/2014/main" id="{C815AB12-21ED-45B9-82F5-362EC668063E}"/>
              </a:ext>
            </a:extLst>
          </p:cNvPr>
          <p:cNvSpPr>
            <a:spLocks xmlns:a="http://schemas.openxmlformats.org/drawingml/2006/main" noGrp="1"/>
          </p:cNvSpPr>
          <p:nvPr/>
        </p:nvSpPr>
        <p:spPr>
          <a:xfrm xmlns:a="http://schemas.openxmlformats.org/drawingml/2006/main">
            <a:off x="514350" y="990600"/>
            <a:ext cx="8572500" cy="514350"/>
          </a:xfrm>
          <a:prstGeom xmlns:a="http://schemas.openxmlformats.org/drawingml/2006/main" prst="roundRect">
            <a:avLst>
              <a:gd name="adj" fmla="val 22222"/>
            </a:avLst>
          </a:prstGeom>
          <a:noFill xmlns:a="http://schemas.openxmlformats.org/drawingml/2006/main"/>
          <a:ln xmlns:a="http://schemas.openxmlformats.org/drawingml/2006/main" w="0">
            <a:noFill/>
            <a:prstDash val="solid"/>
          </a:ln>
        </p:spPr>
        <p:txBody>
          <a:bodyPr xmlns:a="http://schemas.openxmlformats.org/drawingml/2006/main">
            <a:normAutofit fontScale="86506"/>
          </a:bodyPr>
          <a:lstStyle xmlns:a="http://schemas.openxmlformats.org/drawingml/2006/main"/>
          <a:p xmlns:a="http://schemas.openxmlformats.org/drawingml/2006/main">
            <a:pPr>
              <a:defRPr sz="2700" b="1">
                <a:solidFill>
                  <a:srgbClr val="171C22"/>
                </a:solidFill>
                <a:latin typeface="Aptos"/>
                <a:ea typeface="Aptos"/>
                <a:cs typeface="Aptos"/>
              </a:defRPr>
            </a:pPr>
            <a:r>
              <a:rPr sz="2700" b="1">
                <a:solidFill>
                  <a:srgbClr val="171C22"/>
                </a:solidFill>
                <a:latin typeface="Aptos"/>
                <a:ea typeface="Aptos"/>
                <a:cs typeface="Aptos"/>
              </a:rPr>
              <a:t>Assignment 2 · 20%</a:t>
            </a:r>
          </a:p>
        </p:txBody>
      </p:sp>
      <p:sp>
        <p:nvSpPr>
          <p:cNvPr id="7" name="">
            <a:extLst xmlns:a="http://schemas.openxmlformats.org/drawingml/2006/main">
              <a:ext uri="{FF2B5EF4-FFF2-40B4-BE49-F238E27FC236}">
                <a16:creationId xmlns:a16="http://schemas.microsoft.com/office/drawing/2014/main" id="{6AD412D7-EF27-45DD-B170-D77D361577EC}"/>
              </a:ext>
            </a:extLst>
          </p:cNvPr>
          <p:cNvSpPr>
            <a:spLocks xmlns:a="http://schemas.openxmlformats.org/drawingml/2006/main" noGrp="1"/>
          </p:cNvSpPr>
          <p:nvPr/>
        </p:nvSpPr>
        <p:spPr>
          <a:xfrm xmlns:a="http://schemas.openxmlformats.org/drawingml/2006/main">
            <a:off x="514350" y="1657350"/>
            <a:ext cx="8858250" cy="304800"/>
          </a:xfrm>
          <a:prstGeom xmlns:a="http://schemas.openxmlformats.org/drawingml/2006/main" prst="roundRect">
            <a:avLst>
              <a:gd name="adj" fmla="val 37500"/>
            </a:avLst>
          </a:prstGeom>
          <a:noFill xmlns:a="http://schemas.openxmlformats.org/drawingml/2006/main"/>
          <a:ln xmlns:a="http://schemas.openxmlformats.org/drawingml/2006/main" w="0">
            <a:noFill/>
            <a:prstDash val="solid"/>
          </a:ln>
        </p:spPr>
        <p:txBody>
          <a:bodyPr xmlns:a="http://schemas.openxmlformats.org/drawingml/2006/main">
            <a:normAutofit fontScale="75346"/>
          </a:bodyPr>
          <a:lstStyle xmlns:a="http://schemas.openxmlformats.org/drawingml/2006/main"/>
          <a:p xmlns:a="http://schemas.openxmlformats.org/drawingml/2006/main">
            <a:pPr>
              <a:defRPr sz="1275" b="0">
                <a:solidFill>
                  <a:srgbClr val="44515C"/>
                </a:solidFill>
                <a:latin typeface="Aptos"/>
                <a:ea typeface="Aptos"/>
                <a:cs typeface="Aptos"/>
              </a:defRPr>
            </a:pPr>
            <a:r>
              <a:rPr sz="1275" b="0">
                <a:solidFill>
                  <a:srgbClr val="44515C"/>
                </a:solidFill>
                <a:latin typeface="Aptos"/>
                <a:ea typeface="Aptos"/>
                <a:cs typeface="Aptos"/>
              </a:rPr>
              <a:t>Responsive visual system</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dc511079234c4ee8"/>
          <a:srcRect xmlns:a="http://schemas.openxmlformats.org/drawingml/2006/main" l="569" t="0" r="569" b="0"/>
          <a:stretch xmlns:a="http://schemas.openxmlformats.org/drawingml/2006/main">
            <a:fillRect l="0" t="0" r="0" b="0"/>
          </a:stretch>
        </p:blipFill>
        <p:spPr>
          <a:xfrm xmlns:a="http://schemas.openxmlformats.org/drawingml/2006/main">
            <a:off x="9105900" y="2381250"/>
            <a:ext cx="2190750" cy="1476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14A4321-03F4-485E-AF17-69FD6735DF40}"/>
              </a:ext>
            </a:extLst>
          </p:cNvPr>
          <p:cNvSpPr>
            <a:spLocks xmlns:a="http://schemas.openxmlformats.org/drawingml/2006/main" noGrp="1"/>
          </p:cNvSpPr>
          <p:nvPr/>
        </p:nvSpPr>
        <p:spPr>
          <a:xfrm xmlns:a="http://schemas.openxmlformats.org/drawingml/2006/main">
            <a:off x="514350" y="2343150"/>
            <a:ext cx="8096250" cy="3181350"/>
          </a:xfrm>
          <a:prstGeom xmlns:a="http://schemas.openxmlformats.org/drawingml/2006/main" prst="roundRect">
            <a:avLst>
              <a:gd name="adj" fmla="val 3593"/>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425" b="0">
                <a:solidFill>
                  <a:srgbClr val="171C22"/>
                </a:solidFill>
                <a:latin typeface="Aptos"/>
                <a:ea typeface="Aptos"/>
                <a:cs typeface="Aptos"/>
              </a:defRPr>
            </a:pPr>
            <a:r>
              <a:rPr sz="1425" b="0">
                <a:solidFill>
                  <a:srgbClr val="171C22"/>
                </a:solidFill>
                <a:latin typeface="Aptos"/>
                <a:ea typeface="Aptos"/>
                <a:cs typeface="Aptos"/>
              </a:rPr>
              <a:t>作业二把单页内容扩展成一套可重复使用的视觉系统。学生需要定义字型比例、间距、颜色、图片裁切和布局规则，并在窄屏与宽屏下测试结果。这里的难点不是把元素缩小，而是理解不同尺寸下读者的注意力、触控空间和阅读长度会怎样改变。提交中必须包含两个视口截图、CSS 源文件和设计系统说明，清楚解释哪些规则保持稳定，哪些规则会随着空间变化。</a:t>
            </a:r>
          </a:p>
        </p:txBody>
      </p:sp>
      <p:sp>
        <p:nvSpPr>
          <p:cNvPr id="10" name="">
            <a:extLst xmlns:a="http://schemas.openxmlformats.org/drawingml/2006/main">
              <a:ext uri="{FF2B5EF4-FFF2-40B4-BE49-F238E27FC236}">
                <a16:creationId xmlns:a16="http://schemas.microsoft.com/office/drawing/2014/main" id="{5F51A1B3-D68D-4571-92F7-4209643DBB33}"/>
              </a:ext>
            </a:extLst>
          </p:cNvPr>
          <p:cNvSpPr>
            <a:spLocks xmlns:a="http://schemas.openxmlformats.org/drawingml/2006/main" noGrp="1"/>
          </p:cNvSpPr>
          <p:nvPr/>
        </p:nvSpPr>
        <p:spPr>
          <a:xfrm xmlns:a="http://schemas.openxmlformats.org/drawingml/2006/main">
            <a:off x="9105900" y="4095750"/>
            <a:ext cx="2190750" cy="781050"/>
          </a:xfrm>
          <a:prstGeom xmlns:a="http://schemas.openxmlformats.org/drawingml/2006/main" prst="roundRect">
            <a:avLst>
              <a:gd name="adj" fmla="val 14634"/>
            </a:avLst>
          </a:prstGeom>
          <a:solidFill xmlns:a="http://schemas.openxmlformats.org/drawingml/2006/main">
            <a:srgbClr val="F1DFC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3F64247-75B5-4FFB-AE6C-88113B6FC039}"/>
              </a:ext>
            </a:extLst>
          </p:cNvPr>
          <p:cNvSpPr>
            <a:spLocks xmlns:a="http://schemas.openxmlformats.org/drawingml/2006/main" noGrp="1"/>
          </p:cNvSpPr>
          <p:nvPr/>
        </p:nvSpPr>
        <p:spPr>
          <a:xfrm xmlns:a="http://schemas.openxmlformats.org/drawingml/2006/main">
            <a:off x="9277350" y="4267200"/>
            <a:ext cx="1809750" cy="438150"/>
          </a:xfrm>
          <a:prstGeom xmlns:a="http://schemas.openxmlformats.org/drawingml/2006/main" prst="roundRect">
            <a:avLst>
              <a:gd name="adj" fmla="val 26087"/>
            </a:avLst>
          </a:prstGeom>
          <a:noFill xmlns:a="http://schemas.openxmlformats.org/drawingml/2006/main"/>
          <a:ln xmlns:a="http://schemas.openxmlformats.org/drawingml/2006/main" w="0">
            <a:noFill/>
            <a:prstDash val="solid"/>
          </a:ln>
        </p:spPr>
        <p:txBody>
          <a:bodyPr xmlns:a="http://schemas.openxmlformats.org/drawingml/2006/main">
            <a:normAutofit fontScale="81585"/>
          </a:bodyPr>
          <a:lstStyle xmlns:a="http://schemas.openxmlformats.org/drawingml/2006/main"/>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课堂提示</a:t>
            </a:r>
          </a:p>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用内容关系验证设计选择</a:t>
            </a:r>
          </a:p>
        </p:txBody>
      </p:sp>
    </p:spTree>
    <p:extLst>
      <p:ext uri="{BB962C8B-B14F-4D97-AF65-F5344CB8AC3E}">
        <p14:creationId xmlns:p14="http://schemas.microsoft.com/office/powerpoint/2010/main" val="1357495958"/>
      </p:ext>
    </p:extLst>
  </p:cSld>
</p:sld>
</file>

<file path=ppt/slides/slide7.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3451D03-20E3-4D38-9336-826C4622122C}"/>
              </a:ext>
            </a:extLst>
          </p:cNvPr>
          <p:cNvSpPr>
            <a:spLocks xmlns:a="http://schemas.openxmlformats.org/drawingml/2006/main" noGrp="1"/>
          </p:cNvSpPr>
          <p:nvPr/>
        </p:nvSpPr>
        <p:spPr>
          <a:xfrm xmlns:a="http://schemas.openxmlformats.org/drawingml/2006/main">
            <a:off x="514350" y="361950"/>
            <a:ext cx="4381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D2E442C-EDA6-46EC-A555-F7E75185CC54}"/>
              </a:ext>
            </a:extLst>
          </p:cNvPr>
          <p:cNvSpPr>
            <a:spLocks xmlns:a="http://schemas.openxmlformats.org/drawingml/2006/main" noGrp="1"/>
          </p:cNvSpPr>
          <p:nvPr/>
        </p:nvSpPr>
        <p:spPr>
          <a:xfrm xmlns:a="http://schemas.openxmlformats.org/drawingml/2006/main">
            <a:off x="514350" y="552450"/>
            <a:ext cx="2095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 / UNIVERSITY</a:t>
            </a:r>
          </a:p>
        </p:txBody>
      </p:sp>
      <p:sp>
        <p:nvSpPr>
          <p:cNvPr id="3" name="">
            <a:extLst xmlns:a="http://schemas.openxmlformats.org/drawingml/2006/main">
              <a:ext uri="{FF2B5EF4-FFF2-40B4-BE49-F238E27FC236}">
                <a16:creationId xmlns:a16="http://schemas.microsoft.com/office/drawing/2014/main" id="{03CC85FC-0461-4643-9621-A9F20D6CC8E7}"/>
              </a:ext>
            </a:extLst>
          </p:cNvPr>
          <p:cNvSpPr>
            <a:spLocks xmlns:a="http://schemas.openxmlformats.org/drawingml/2006/main" noGrp="1"/>
          </p:cNvSpPr>
          <p:nvPr/>
        </p:nvSpPr>
        <p:spPr>
          <a:xfrm xmlns:a="http://schemas.openxmlformats.org/drawingml/2006/main">
            <a:off x="9391650" y="552450"/>
            <a:ext cx="21907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4" name="">
            <a:extLst xmlns:a="http://schemas.openxmlformats.org/drawingml/2006/main">
              <a:ext uri="{FF2B5EF4-FFF2-40B4-BE49-F238E27FC236}">
                <a16:creationId xmlns:a16="http://schemas.microsoft.com/office/drawing/2014/main" id="{1C8D79BF-EC6F-444E-AADD-3F01CC66AA43}"/>
              </a:ext>
            </a:extLst>
          </p:cNvPr>
          <p:cNvSpPr>
            <a:spLocks xmlns:a="http://schemas.openxmlformats.org/drawingml/2006/main" noGrp="1"/>
          </p:cNvSpPr>
          <p:nvPr/>
        </p:nvSpPr>
        <p:spPr>
          <a:xfrm xmlns:a="http://schemas.openxmlformats.org/drawingml/2006/main">
            <a:off x="514350" y="6229350"/>
            <a:ext cx="1114425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73BF862-7508-4EAD-ACE0-02EFC3A3EA4E}"/>
              </a:ext>
            </a:extLst>
          </p:cNvPr>
          <p:cNvSpPr>
            <a:spLocks xmlns:a="http://schemas.openxmlformats.org/drawingml/2006/main" noGrp="1"/>
          </p:cNvSpPr>
          <p:nvPr/>
        </p:nvSpPr>
        <p:spPr>
          <a:xfrm xmlns:a="http://schemas.openxmlformats.org/drawingml/2006/main">
            <a:off x="514350" y="6410325"/>
            <a:ext cx="3810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07</a:t>
            </a:r>
          </a:p>
        </p:txBody>
      </p:sp>
      <p:sp>
        <p:nvSpPr>
          <p:cNvPr id="6" name="">
            <a:extLst xmlns:a="http://schemas.openxmlformats.org/drawingml/2006/main">
              <a:ext uri="{FF2B5EF4-FFF2-40B4-BE49-F238E27FC236}">
                <a16:creationId xmlns:a16="http://schemas.microsoft.com/office/drawing/2014/main" id="{5170E303-5A3E-4911-A6CF-30A0E45037D4}"/>
              </a:ext>
            </a:extLst>
          </p:cNvPr>
          <p:cNvSpPr>
            <a:spLocks xmlns:a="http://schemas.openxmlformats.org/drawingml/2006/main" noGrp="1"/>
          </p:cNvSpPr>
          <p:nvPr/>
        </p:nvSpPr>
        <p:spPr>
          <a:xfrm xmlns:a="http://schemas.openxmlformats.org/drawingml/2006/main">
            <a:off x="514350" y="990600"/>
            <a:ext cx="8572500" cy="514350"/>
          </a:xfrm>
          <a:prstGeom xmlns:a="http://schemas.openxmlformats.org/drawingml/2006/main" prst="roundRect">
            <a:avLst>
              <a:gd name="adj" fmla="val 22222"/>
            </a:avLst>
          </a:prstGeom>
          <a:noFill xmlns:a="http://schemas.openxmlformats.org/drawingml/2006/main"/>
          <a:ln xmlns:a="http://schemas.openxmlformats.org/drawingml/2006/main" w="0">
            <a:noFill/>
            <a:prstDash val="solid"/>
          </a:ln>
        </p:spPr>
        <p:txBody>
          <a:bodyPr xmlns:a="http://schemas.openxmlformats.org/drawingml/2006/main">
            <a:normAutofit fontScale="86506"/>
          </a:bodyPr>
          <a:lstStyle xmlns:a="http://schemas.openxmlformats.org/drawingml/2006/main"/>
          <a:p xmlns:a="http://schemas.openxmlformats.org/drawingml/2006/main">
            <a:pPr>
              <a:defRPr sz="2700" b="1">
                <a:solidFill>
                  <a:srgbClr val="171C22"/>
                </a:solidFill>
                <a:latin typeface="Aptos"/>
                <a:ea typeface="Aptos"/>
                <a:cs typeface="Aptos"/>
              </a:defRPr>
            </a:pPr>
            <a:r>
              <a:rPr sz="2700" b="1">
                <a:solidFill>
                  <a:srgbClr val="171C22"/>
                </a:solidFill>
                <a:latin typeface="Aptos"/>
                <a:ea typeface="Aptos"/>
                <a:cs typeface="Aptos"/>
              </a:rPr>
              <a:t>Assignment 3 · 25%</a:t>
            </a:r>
          </a:p>
        </p:txBody>
      </p:sp>
      <p:sp>
        <p:nvSpPr>
          <p:cNvPr id="7" name="">
            <a:extLst xmlns:a="http://schemas.openxmlformats.org/drawingml/2006/main">
              <a:ext uri="{FF2B5EF4-FFF2-40B4-BE49-F238E27FC236}">
                <a16:creationId xmlns:a16="http://schemas.microsoft.com/office/drawing/2014/main" id="{881F5ACD-5717-4A14-A48C-6A3C1BE3CE07}"/>
              </a:ext>
            </a:extLst>
          </p:cNvPr>
          <p:cNvSpPr>
            <a:spLocks xmlns:a="http://schemas.openxmlformats.org/drawingml/2006/main" noGrp="1"/>
          </p:cNvSpPr>
          <p:nvPr/>
        </p:nvSpPr>
        <p:spPr>
          <a:xfrm xmlns:a="http://schemas.openxmlformats.org/drawingml/2006/main">
            <a:off x="514350" y="1657350"/>
            <a:ext cx="8858250" cy="304800"/>
          </a:xfrm>
          <a:prstGeom xmlns:a="http://schemas.openxmlformats.org/drawingml/2006/main" prst="roundRect">
            <a:avLst>
              <a:gd name="adj" fmla="val 37500"/>
            </a:avLst>
          </a:prstGeom>
          <a:noFill xmlns:a="http://schemas.openxmlformats.org/drawingml/2006/main"/>
          <a:ln xmlns:a="http://schemas.openxmlformats.org/drawingml/2006/main" w="0">
            <a:noFill/>
            <a:prstDash val="solid"/>
          </a:ln>
        </p:spPr>
        <p:txBody>
          <a:bodyPr xmlns:a="http://schemas.openxmlformats.org/drawingml/2006/main">
            <a:normAutofit fontScale="75346"/>
          </a:bodyPr>
          <a:lstStyle xmlns:a="http://schemas.openxmlformats.org/drawingml/2006/main"/>
          <a:p xmlns:a="http://schemas.openxmlformats.org/drawingml/2006/main">
            <a:pPr>
              <a:defRPr sz="1275" b="0">
                <a:solidFill>
                  <a:srgbClr val="44515C"/>
                </a:solidFill>
                <a:latin typeface="Aptos"/>
                <a:ea typeface="Aptos"/>
                <a:cs typeface="Aptos"/>
              </a:defRPr>
            </a:pPr>
            <a:r>
              <a:rPr sz="1275" b="0">
                <a:solidFill>
                  <a:srgbClr val="44515C"/>
                </a:solidFill>
                <a:latin typeface="Aptos"/>
                <a:ea typeface="Aptos"/>
                <a:cs typeface="Aptos"/>
              </a:rPr>
              <a:t>Accessible interaction prototype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18a2cff572d4a86"/>
          <a:srcRect xmlns:a="http://schemas.openxmlformats.org/drawingml/2006/main" l="244" t="0" r="244" b="0"/>
          <a:stretch xmlns:a="http://schemas.openxmlformats.org/drawingml/2006/main">
            <a:fillRect l="0" t="0" r="0" b="0"/>
          </a:stretch>
        </p:blipFill>
        <p:spPr>
          <a:xfrm xmlns:a="http://schemas.openxmlformats.org/drawingml/2006/main">
            <a:off x="9105900" y="2381250"/>
            <a:ext cx="2190750" cy="1476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DFE82FA3-DB11-4379-ABDE-DF4252802947}"/>
              </a:ext>
            </a:extLst>
          </p:cNvPr>
          <p:cNvSpPr>
            <a:spLocks xmlns:a="http://schemas.openxmlformats.org/drawingml/2006/main" noGrp="1"/>
          </p:cNvSpPr>
          <p:nvPr/>
        </p:nvSpPr>
        <p:spPr>
          <a:xfrm xmlns:a="http://schemas.openxmlformats.org/drawingml/2006/main">
            <a:off x="514350" y="2343150"/>
            <a:ext cx="8096250" cy="3181350"/>
          </a:xfrm>
          <a:prstGeom xmlns:a="http://schemas.openxmlformats.org/drawingml/2006/main" prst="roundRect">
            <a:avLst>
              <a:gd name="adj" fmla="val 3593"/>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425" b="0">
                <a:solidFill>
                  <a:srgbClr val="171C22"/>
                </a:solidFill>
                <a:latin typeface="Aptos"/>
                <a:ea typeface="Aptos"/>
                <a:cs typeface="Aptos"/>
              </a:defRPr>
            </a:pPr>
            <a:r>
              <a:rPr sz="1425" b="0">
                <a:solidFill>
                  <a:srgbClr val="171C22"/>
                </a:solidFill>
                <a:latin typeface="Aptos"/>
                <a:ea typeface="Aptos"/>
                <a:cs typeface="Aptos"/>
              </a:rPr>
              <a:t>作业三要求建立一个有明确任务的互动功能，例如报名流程、搜索界面、预约表单或内容筛选。学生要用键盘完成整个任务，保证每个表单控件都有标签，错误信息能被理解，状态改变不会让人迷失。项目必须包含互动地图、键盘测试记录和两次基于观察的修改。作业关注的不是功能数量，而是用户能否知道下一步做什么、做错时发生什么，以及完成后是否获得可靠反馈。</a:t>
            </a:r>
          </a:p>
        </p:txBody>
      </p:sp>
      <p:sp>
        <p:nvSpPr>
          <p:cNvPr id="10" name="">
            <a:extLst xmlns:a="http://schemas.openxmlformats.org/drawingml/2006/main">
              <a:ext uri="{FF2B5EF4-FFF2-40B4-BE49-F238E27FC236}">
                <a16:creationId xmlns:a16="http://schemas.microsoft.com/office/drawing/2014/main" id="{AD28E36C-837D-436B-9BAA-C95AB1CD115C}"/>
              </a:ext>
            </a:extLst>
          </p:cNvPr>
          <p:cNvSpPr>
            <a:spLocks xmlns:a="http://schemas.openxmlformats.org/drawingml/2006/main" noGrp="1"/>
          </p:cNvSpPr>
          <p:nvPr/>
        </p:nvSpPr>
        <p:spPr>
          <a:xfrm xmlns:a="http://schemas.openxmlformats.org/drawingml/2006/main">
            <a:off x="9105900" y="4095750"/>
            <a:ext cx="2190750" cy="781050"/>
          </a:xfrm>
          <a:prstGeom xmlns:a="http://schemas.openxmlformats.org/drawingml/2006/main" prst="roundRect">
            <a:avLst>
              <a:gd name="adj" fmla="val 14634"/>
            </a:avLst>
          </a:prstGeom>
          <a:solidFill xmlns:a="http://schemas.openxmlformats.org/drawingml/2006/main">
            <a:srgbClr val="F1DFC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C774130-B53B-4D45-83E2-22C73AA1D42D}"/>
              </a:ext>
            </a:extLst>
          </p:cNvPr>
          <p:cNvSpPr>
            <a:spLocks xmlns:a="http://schemas.openxmlformats.org/drawingml/2006/main" noGrp="1"/>
          </p:cNvSpPr>
          <p:nvPr/>
        </p:nvSpPr>
        <p:spPr>
          <a:xfrm xmlns:a="http://schemas.openxmlformats.org/drawingml/2006/main">
            <a:off x="9277350" y="4267200"/>
            <a:ext cx="1809750" cy="438150"/>
          </a:xfrm>
          <a:prstGeom xmlns:a="http://schemas.openxmlformats.org/drawingml/2006/main" prst="roundRect">
            <a:avLst>
              <a:gd name="adj" fmla="val 26087"/>
            </a:avLst>
          </a:prstGeom>
          <a:noFill xmlns:a="http://schemas.openxmlformats.org/drawingml/2006/main"/>
          <a:ln xmlns:a="http://schemas.openxmlformats.org/drawingml/2006/main" w="0">
            <a:noFill/>
            <a:prstDash val="solid"/>
          </a:ln>
        </p:spPr>
        <p:txBody>
          <a:bodyPr xmlns:a="http://schemas.openxmlformats.org/drawingml/2006/main">
            <a:normAutofit fontScale="81585"/>
          </a:bodyPr>
          <a:lstStyle xmlns:a="http://schemas.openxmlformats.org/drawingml/2006/main"/>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课堂提示</a:t>
            </a:r>
          </a:p>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用内容关系验证设计选择</a:t>
            </a:r>
          </a:p>
        </p:txBody>
      </p:sp>
    </p:spTree>
    <p:extLst>
      <p:ext uri="{BB962C8B-B14F-4D97-AF65-F5344CB8AC3E}">
        <p14:creationId xmlns:p14="http://schemas.microsoft.com/office/powerpoint/2010/main" val="997395633"/>
      </p:ext>
    </p:extLst>
  </p:cSld>
</p:sld>
</file>

<file path=ppt/slides/slide8.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02A3878-C788-4EB0-95AD-EA1B11696A54}"/>
              </a:ext>
            </a:extLst>
          </p:cNvPr>
          <p:cNvSpPr>
            <a:spLocks xmlns:a="http://schemas.openxmlformats.org/drawingml/2006/main" noGrp="1"/>
          </p:cNvSpPr>
          <p:nvPr/>
        </p:nvSpPr>
        <p:spPr>
          <a:xfrm xmlns:a="http://schemas.openxmlformats.org/drawingml/2006/main">
            <a:off x="514350" y="361950"/>
            <a:ext cx="4381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FB40D63-4C2E-442B-83FD-FFC410EABFDD}"/>
              </a:ext>
            </a:extLst>
          </p:cNvPr>
          <p:cNvSpPr>
            <a:spLocks xmlns:a="http://schemas.openxmlformats.org/drawingml/2006/main" noGrp="1"/>
          </p:cNvSpPr>
          <p:nvPr/>
        </p:nvSpPr>
        <p:spPr>
          <a:xfrm xmlns:a="http://schemas.openxmlformats.org/drawingml/2006/main">
            <a:off x="514350" y="552450"/>
            <a:ext cx="2095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 / UNIVERSITY</a:t>
            </a:r>
          </a:p>
        </p:txBody>
      </p:sp>
      <p:sp>
        <p:nvSpPr>
          <p:cNvPr id="3" name="">
            <a:extLst xmlns:a="http://schemas.openxmlformats.org/drawingml/2006/main">
              <a:ext uri="{FF2B5EF4-FFF2-40B4-BE49-F238E27FC236}">
                <a16:creationId xmlns:a16="http://schemas.microsoft.com/office/drawing/2014/main" id="{0F6032B5-B288-4274-BEAF-16E03FE3CB4C}"/>
              </a:ext>
            </a:extLst>
          </p:cNvPr>
          <p:cNvSpPr>
            <a:spLocks xmlns:a="http://schemas.openxmlformats.org/drawingml/2006/main" noGrp="1"/>
          </p:cNvSpPr>
          <p:nvPr/>
        </p:nvSpPr>
        <p:spPr>
          <a:xfrm xmlns:a="http://schemas.openxmlformats.org/drawingml/2006/main">
            <a:off x="9391650" y="552450"/>
            <a:ext cx="21907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4" name="">
            <a:extLst xmlns:a="http://schemas.openxmlformats.org/drawingml/2006/main">
              <a:ext uri="{FF2B5EF4-FFF2-40B4-BE49-F238E27FC236}">
                <a16:creationId xmlns:a16="http://schemas.microsoft.com/office/drawing/2014/main" id="{276D0B29-AD56-4232-AA2E-015466D29151}"/>
              </a:ext>
            </a:extLst>
          </p:cNvPr>
          <p:cNvSpPr>
            <a:spLocks xmlns:a="http://schemas.openxmlformats.org/drawingml/2006/main" noGrp="1"/>
          </p:cNvSpPr>
          <p:nvPr/>
        </p:nvSpPr>
        <p:spPr>
          <a:xfrm xmlns:a="http://schemas.openxmlformats.org/drawingml/2006/main">
            <a:off x="514350" y="6229350"/>
            <a:ext cx="1114425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DEEF600-5C12-4208-AED7-2F37DFDAC2AF}"/>
              </a:ext>
            </a:extLst>
          </p:cNvPr>
          <p:cNvSpPr>
            <a:spLocks xmlns:a="http://schemas.openxmlformats.org/drawingml/2006/main" noGrp="1"/>
          </p:cNvSpPr>
          <p:nvPr/>
        </p:nvSpPr>
        <p:spPr>
          <a:xfrm xmlns:a="http://schemas.openxmlformats.org/drawingml/2006/main">
            <a:off x="514350" y="6410325"/>
            <a:ext cx="3810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08</a:t>
            </a:r>
          </a:p>
        </p:txBody>
      </p:sp>
      <p:sp>
        <p:nvSpPr>
          <p:cNvPr id="6" name="">
            <a:extLst xmlns:a="http://schemas.openxmlformats.org/drawingml/2006/main">
              <a:ext uri="{FF2B5EF4-FFF2-40B4-BE49-F238E27FC236}">
                <a16:creationId xmlns:a16="http://schemas.microsoft.com/office/drawing/2014/main" id="{E39FA1A9-9C48-414B-A9B2-17709080AFAC}"/>
              </a:ext>
            </a:extLst>
          </p:cNvPr>
          <p:cNvSpPr>
            <a:spLocks xmlns:a="http://schemas.openxmlformats.org/drawingml/2006/main" noGrp="1"/>
          </p:cNvSpPr>
          <p:nvPr/>
        </p:nvSpPr>
        <p:spPr>
          <a:xfrm xmlns:a="http://schemas.openxmlformats.org/drawingml/2006/main">
            <a:off x="514350" y="990600"/>
            <a:ext cx="8572500" cy="514350"/>
          </a:xfrm>
          <a:prstGeom xmlns:a="http://schemas.openxmlformats.org/drawingml/2006/main" prst="roundRect">
            <a:avLst>
              <a:gd name="adj" fmla="val 22222"/>
            </a:avLst>
          </a:prstGeom>
          <a:noFill xmlns:a="http://schemas.openxmlformats.org/drawingml/2006/main"/>
          <a:ln xmlns:a="http://schemas.openxmlformats.org/drawingml/2006/main" w="0">
            <a:noFill/>
            <a:prstDash val="solid"/>
          </a:ln>
        </p:spPr>
        <p:txBody>
          <a:bodyPr xmlns:a="http://schemas.openxmlformats.org/drawingml/2006/main">
            <a:normAutofit fontScale="86506"/>
          </a:bodyPr>
          <a:lstStyle xmlns:a="http://schemas.openxmlformats.org/drawingml/2006/main"/>
          <a:p xmlns:a="http://schemas.openxmlformats.org/drawingml/2006/main">
            <a:pPr>
              <a:defRPr sz="2700" b="1">
                <a:solidFill>
                  <a:srgbClr val="171C22"/>
                </a:solidFill>
                <a:latin typeface="Aptos"/>
                <a:ea typeface="Aptos"/>
                <a:cs typeface="Aptos"/>
              </a:defRPr>
            </a:pPr>
            <a:r>
              <a:rPr sz="2700" b="1">
                <a:solidFill>
                  <a:srgbClr val="171C22"/>
                </a:solidFill>
                <a:latin typeface="Aptos"/>
                <a:ea typeface="Aptos"/>
                <a:cs typeface="Aptos"/>
              </a:rPr>
              <a:t>Assignment 4 · 40%</a:t>
            </a:r>
          </a:p>
        </p:txBody>
      </p:sp>
      <p:sp>
        <p:nvSpPr>
          <p:cNvPr id="7" name="">
            <a:extLst xmlns:a="http://schemas.openxmlformats.org/drawingml/2006/main">
              <a:ext uri="{FF2B5EF4-FFF2-40B4-BE49-F238E27FC236}">
                <a16:creationId xmlns:a16="http://schemas.microsoft.com/office/drawing/2014/main" id="{EBEC16B1-075D-4F10-AEF8-9BE61A1FD3F5}"/>
              </a:ext>
            </a:extLst>
          </p:cNvPr>
          <p:cNvSpPr>
            <a:spLocks xmlns:a="http://schemas.openxmlformats.org/drawingml/2006/main" noGrp="1"/>
          </p:cNvSpPr>
          <p:nvPr/>
        </p:nvSpPr>
        <p:spPr>
          <a:xfrm xmlns:a="http://schemas.openxmlformats.org/drawingml/2006/main">
            <a:off x="514350" y="1657350"/>
            <a:ext cx="8858250" cy="304800"/>
          </a:xfrm>
          <a:prstGeom xmlns:a="http://schemas.openxmlformats.org/drawingml/2006/main" prst="roundRect">
            <a:avLst>
              <a:gd name="adj" fmla="val 37500"/>
            </a:avLst>
          </a:prstGeom>
          <a:noFill xmlns:a="http://schemas.openxmlformats.org/drawingml/2006/main"/>
          <a:ln xmlns:a="http://schemas.openxmlformats.org/drawingml/2006/main" w="0">
            <a:noFill/>
            <a:prstDash val="solid"/>
          </a:ln>
        </p:spPr>
        <p:txBody>
          <a:bodyPr xmlns:a="http://schemas.openxmlformats.org/drawingml/2006/main">
            <a:normAutofit fontScale="75346"/>
          </a:bodyPr>
          <a:lstStyle xmlns:a="http://schemas.openxmlformats.org/drawingml/2006/main"/>
          <a:p xmlns:a="http://schemas.openxmlformats.org/drawingml/2006/main">
            <a:pPr>
              <a:defRPr sz="1275" b="0">
                <a:solidFill>
                  <a:srgbClr val="44515C"/>
                </a:solidFill>
                <a:latin typeface="Aptos"/>
                <a:ea typeface="Aptos"/>
                <a:cs typeface="Aptos"/>
              </a:defRPr>
            </a:pPr>
            <a:r>
              <a:rPr sz="1275" b="0">
                <a:solidFill>
                  <a:srgbClr val="44515C"/>
                </a:solidFill>
                <a:latin typeface="Aptos"/>
                <a:ea typeface="Aptos"/>
                <a:cs typeface="Aptos"/>
              </a:rPr>
              <a:t>Interactive publishing site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ba4183603734feb"/>
          <a:srcRect xmlns:a="http://schemas.openxmlformats.org/drawingml/2006/main" l="0" t="23043" r="0" b="23043"/>
          <a:stretch xmlns:a="http://schemas.openxmlformats.org/drawingml/2006/main">
            <a:fillRect l="0" t="0" r="0" b="0"/>
          </a:stretch>
        </p:blipFill>
        <p:spPr>
          <a:xfrm xmlns:a="http://schemas.openxmlformats.org/drawingml/2006/main">
            <a:off x="9105900" y="2381250"/>
            <a:ext cx="2190750" cy="1476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1B288C8-F461-4505-A863-754AD7B95B85}"/>
              </a:ext>
            </a:extLst>
          </p:cNvPr>
          <p:cNvSpPr>
            <a:spLocks xmlns:a="http://schemas.openxmlformats.org/drawingml/2006/main" noGrp="1"/>
          </p:cNvSpPr>
          <p:nvPr/>
        </p:nvSpPr>
        <p:spPr>
          <a:xfrm xmlns:a="http://schemas.openxmlformats.org/drawingml/2006/main">
            <a:off x="514350" y="2343150"/>
            <a:ext cx="8096250" cy="3181350"/>
          </a:xfrm>
          <a:prstGeom xmlns:a="http://schemas.openxmlformats.org/drawingml/2006/main" prst="roundRect">
            <a:avLst>
              <a:gd name="adj" fmla="val 3593"/>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425" b="0">
                <a:solidFill>
                  <a:srgbClr val="171C22"/>
                </a:solidFill>
                <a:latin typeface="Aptos"/>
                <a:ea typeface="Aptos"/>
                <a:cs typeface="Aptos"/>
              </a:defRPr>
            </a:pPr>
            <a:r>
              <a:rPr sz="1425" b="0">
                <a:solidFill>
                  <a:srgbClr val="171C22"/>
                </a:solidFill>
                <a:latin typeface="Aptos"/>
                <a:ea typeface="Aptos"/>
                <a:cs typeface="Aptos"/>
              </a:rPr>
              <a:t>最后作业是一个小型多页面网站，帮助特定受众理解一个主题、集合或故事。它需要清晰的信息架构、共享导航、统一视觉系统、可访问互动和用户测试证据。学生提交预览链接、源文件与四到五页过程档案。档案记录信息地图、设计规则、测试情境、修改日志和五百字反思。完成度来自连贯的内容体验，而不是页面数量；一个能被读者顺利使用的三页网站比没有完成的庞大平台更有说服力。</a:t>
            </a:r>
          </a:p>
        </p:txBody>
      </p:sp>
      <p:sp>
        <p:nvSpPr>
          <p:cNvPr id="10" name="">
            <a:extLst xmlns:a="http://schemas.openxmlformats.org/drawingml/2006/main">
              <a:ext uri="{FF2B5EF4-FFF2-40B4-BE49-F238E27FC236}">
                <a16:creationId xmlns:a16="http://schemas.microsoft.com/office/drawing/2014/main" id="{9F0560E9-01C0-43E4-9302-BBE76C64D6B7}"/>
              </a:ext>
            </a:extLst>
          </p:cNvPr>
          <p:cNvSpPr>
            <a:spLocks xmlns:a="http://schemas.openxmlformats.org/drawingml/2006/main" noGrp="1"/>
          </p:cNvSpPr>
          <p:nvPr/>
        </p:nvSpPr>
        <p:spPr>
          <a:xfrm xmlns:a="http://schemas.openxmlformats.org/drawingml/2006/main">
            <a:off x="9105900" y="4095750"/>
            <a:ext cx="2190750" cy="781050"/>
          </a:xfrm>
          <a:prstGeom xmlns:a="http://schemas.openxmlformats.org/drawingml/2006/main" prst="roundRect">
            <a:avLst>
              <a:gd name="adj" fmla="val 14634"/>
            </a:avLst>
          </a:prstGeom>
          <a:solidFill xmlns:a="http://schemas.openxmlformats.org/drawingml/2006/main">
            <a:srgbClr val="F1DFC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3E8BBFC-A472-45A5-BB27-04FD0E77072D}"/>
              </a:ext>
            </a:extLst>
          </p:cNvPr>
          <p:cNvSpPr>
            <a:spLocks xmlns:a="http://schemas.openxmlformats.org/drawingml/2006/main" noGrp="1"/>
          </p:cNvSpPr>
          <p:nvPr/>
        </p:nvSpPr>
        <p:spPr>
          <a:xfrm xmlns:a="http://schemas.openxmlformats.org/drawingml/2006/main">
            <a:off x="9277350" y="4267200"/>
            <a:ext cx="1809750" cy="438150"/>
          </a:xfrm>
          <a:prstGeom xmlns:a="http://schemas.openxmlformats.org/drawingml/2006/main" prst="roundRect">
            <a:avLst>
              <a:gd name="adj" fmla="val 26087"/>
            </a:avLst>
          </a:prstGeom>
          <a:noFill xmlns:a="http://schemas.openxmlformats.org/drawingml/2006/main"/>
          <a:ln xmlns:a="http://schemas.openxmlformats.org/drawingml/2006/main" w="0">
            <a:noFill/>
            <a:prstDash val="solid"/>
          </a:ln>
        </p:spPr>
        <p:txBody>
          <a:bodyPr xmlns:a="http://schemas.openxmlformats.org/drawingml/2006/main">
            <a:normAutofit fontScale="81585"/>
          </a:bodyPr>
          <a:lstStyle xmlns:a="http://schemas.openxmlformats.org/drawingml/2006/main"/>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课堂提示</a:t>
            </a:r>
          </a:p>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用内容关系验证设计选择</a:t>
            </a:r>
          </a:p>
        </p:txBody>
      </p:sp>
    </p:spTree>
    <p:extLst>
      <p:ext uri="{BB962C8B-B14F-4D97-AF65-F5344CB8AC3E}">
        <p14:creationId xmlns:p14="http://schemas.microsoft.com/office/powerpoint/2010/main" val="1334474823"/>
      </p:ext>
    </p:extLst>
  </p:cSld>
</p:sld>
</file>

<file path=ppt/slides/slide9.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95C93A6-4A28-4E01-B23E-A3716B15D210}"/>
              </a:ext>
            </a:extLst>
          </p:cNvPr>
          <p:cNvSpPr>
            <a:spLocks xmlns:a="http://schemas.openxmlformats.org/drawingml/2006/main" noGrp="1"/>
          </p:cNvSpPr>
          <p:nvPr/>
        </p:nvSpPr>
        <p:spPr>
          <a:xfrm xmlns:a="http://schemas.openxmlformats.org/drawingml/2006/main">
            <a:off x="514350" y="361950"/>
            <a:ext cx="4381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2362651-08CB-4822-9C04-45E4085DDA7F}"/>
              </a:ext>
            </a:extLst>
          </p:cNvPr>
          <p:cNvSpPr>
            <a:spLocks xmlns:a="http://schemas.openxmlformats.org/drawingml/2006/main" noGrp="1"/>
          </p:cNvSpPr>
          <p:nvPr/>
        </p:nvSpPr>
        <p:spPr>
          <a:xfrm xmlns:a="http://schemas.openxmlformats.org/drawingml/2006/main">
            <a:off x="514350" y="552450"/>
            <a:ext cx="2095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 / UNIVERSITY</a:t>
            </a:r>
          </a:p>
        </p:txBody>
      </p:sp>
      <p:sp>
        <p:nvSpPr>
          <p:cNvPr id="3" name="">
            <a:extLst xmlns:a="http://schemas.openxmlformats.org/drawingml/2006/main">
              <a:ext uri="{FF2B5EF4-FFF2-40B4-BE49-F238E27FC236}">
                <a16:creationId xmlns:a16="http://schemas.microsoft.com/office/drawing/2014/main" id="{29906A01-3CD9-46B6-81D3-CA8DC6BB8E01}"/>
              </a:ext>
            </a:extLst>
          </p:cNvPr>
          <p:cNvSpPr>
            <a:spLocks xmlns:a="http://schemas.openxmlformats.org/drawingml/2006/main" noGrp="1"/>
          </p:cNvSpPr>
          <p:nvPr/>
        </p:nvSpPr>
        <p:spPr>
          <a:xfrm xmlns:a="http://schemas.openxmlformats.org/drawingml/2006/main">
            <a:off x="9391650" y="552450"/>
            <a:ext cx="21907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4" name="">
            <a:extLst xmlns:a="http://schemas.openxmlformats.org/drawingml/2006/main">
              <a:ext uri="{FF2B5EF4-FFF2-40B4-BE49-F238E27FC236}">
                <a16:creationId xmlns:a16="http://schemas.microsoft.com/office/drawing/2014/main" id="{B327C2FC-42BF-4B64-A4E3-A55DCE57A085}"/>
              </a:ext>
            </a:extLst>
          </p:cNvPr>
          <p:cNvSpPr>
            <a:spLocks xmlns:a="http://schemas.openxmlformats.org/drawingml/2006/main" noGrp="1"/>
          </p:cNvSpPr>
          <p:nvPr/>
        </p:nvSpPr>
        <p:spPr>
          <a:xfrm xmlns:a="http://schemas.openxmlformats.org/drawingml/2006/main">
            <a:off x="514350" y="6229350"/>
            <a:ext cx="1114425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53EECE9-BF65-4E3B-B811-CBD775A91C5F}"/>
              </a:ext>
            </a:extLst>
          </p:cNvPr>
          <p:cNvSpPr>
            <a:spLocks xmlns:a="http://schemas.openxmlformats.org/drawingml/2006/main" noGrp="1"/>
          </p:cNvSpPr>
          <p:nvPr/>
        </p:nvSpPr>
        <p:spPr>
          <a:xfrm xmlns:a="http://schemas.openxmlformats.org/drawingml/2006/main">
            <a:off x="514350" y="6410325"/>
            <a:ext cx="3810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09</a:t>
            </a:r>
          </a:p>
        </p:txBody>
      </p:sp>
      <p:sp>
        <p:nvSpPr>
          <p:cNvPr id="6" name="">
            <a:extLst xmlns:a="http://schemas.openxmlformats.org/drawingml/2006/main">
              <a:ext uri="{FF2B5EF4-FFF2-40B4-BE49-F238E27FC236}">
                <a16:creationId xmlns:a16="http://schemas.microsoft.com/office/drawing/2014/main" id="{A67335D2-9E34-44EF-B69B-6948D0FAF233}"/>
              </a:ext>
            </a:extLst>
          </p:cNvPr>
          <p:cNvSpPr>
            <a:spLocks xmlns:a="http://schemas.openxmlformats.org/drawingml/2006/main" noGrp="1"/>
          </p:cNvSpPr>
          <p:nvPr/>
        </p:nvSpPr>
        <p:spPr>
          <a:xfrm xmlns:a="http://schemas.openxmlformats.org/drawingml/2006/main">
            <a:off x="514350" y="990600"/>
            <a:ext cx="8572500" cy="514350"/>
          </a:xfrm>
          <a:prstGeom xmlns:a="http://schemas.openxmlformats.org/drawingml/2006/main" prst="roundRect">
            <a:avLst>
              <a:gd name="adj" fmla="val 22222"/>
            </a:avLst>
          </a:prstGeom>
          <a:noFill xmlns:a="http://schemas.openxmlformats.org/drawingml/2006/main"/>
          <a:ln xmlns:a="http://schemas.openxmlformats.org/drawingml/2006/main" w="0">
            <a:noFill/>
            <a:prstDash val="solid"/>
          </a:ln>
        </p:spPr>
        <p:txBody>
          <a:bodyPr xmlns:a="http://schemas.openxmlformats.org/drawingml/2006/main">
            <a:normAutofit fontScale="86506"/>
          </a:bodyPr>
          <a:lstStyle xmlns:a="http://schemas.openxmlformats.org/drawingml/2006/main"/>
          <a:p xmlns:a="http://schemas.openxmlformats.org/drawingml/2006/main">
            <a:pPr>
              <a:defRPr sz="2700" b="1">
                <a:solidFill>
                  <a:srgbClr val="171C22"/>
                </a:solidFill>
                <a:latin typeface="Aptos"/>
                <a:ea typeface="Aptos"/>
                <a:cs typeface="Aptos"/>
              </a:defRPr>
            </a:pPr>
            <a:r>
              <a:rPr sz="2700" b="1">
                <a:solidFill>
                  <a:srgbClr val="171C22"/>
                </a:solidFill>
                <a:latin typeface="Aptos"/>
                <a:ea typeface="Aptos"/>
                <a:cs typeface="Aptos"/>
              </a:rPr>
              <a:t>Week 1 question</a:t>
            </a:r>
          </a:p>
        </p:txBody>
      </p:sp>
      <p:sp>
        <p:nvSpPr>
          <p:cNvPr id="7" name="">
            <a:extLst xmlns:a="http://schemas.openxmlformats.org/drawingml/2006/main">
              <a:ext uri="{FF2B5EF4-FFF2-40B4-BE49-F238E27FC236}">
                <a16:creationId xmlns:a16="http://schemas.microsoft.com/office/drawing/2014/main" id="{2CA127C5-C79E-4AEC-B430-7E7C03C5B47F}"/>
              </a:ext>
            </a:extLst>
          </p:cNvPr>
          <p:cNvSpPr>
            <a:spLocks xmlns:a="http://schemas.openxmlformats.org/drawingml/2006/main" noGrp="1"/>
          </p:cNvSpPr>
          <p:nvPr/>
        </p:nvSpPr>
        <p:spPr>
          <a:xfrm xmlns:a="http://schemas.openxmlformats.org/drawingml/2006/main">
            <a:off x="514350" y="1657350"/>
            <a:ext cx="8858250" cy="304800"/>
          </a:xfrm>
          <a:prstGeom xmlns:a="http://schemas.openxmlformats.org/drawingml/2006/main" prst="roundRect">
            <a:avLst>
              <a:gd name="adj" fmla="val 37500"/>
            </a:avLst>
          </a:prstGeom>
          <a:noFill xmlns:a="http://schemas.openxmlformats.org/drawingml/2006/main"/>
          <a:ln xmlns:a="http://schemas.openxmlformats.org/drawingml/2006/main" w="0">
            <a:noFill/>
            <a:prstDash val="solid"/>
          </a:ln>
        </p:spPr>
        <p:txBody>
          <a:bodyPr xmlns:a="http://schemas.openxmlformats.org/drawingml/2006/main">
            <a:normAutofit fontScale="75346"/>
          </a:bodyPr>
          <a:lstStyle xmlns:a="http://schemas.openxmlformats.org/drawingml/2006/main"/>
          <a:p xmlns:a="http://schemas.openxmlformats.org/drawingml/2006/main">
            <a:pPr>
              <a:defRPr sz="1275" b="0">
                <a:solidFill>
                  <a:srgbClr val="44515C"/>
                </a:solidFill>
                <a:latin typeface="Aptos"/>
                <a:ea typeface="Aptos"/>
                <a:cs typeface="Aptos"/>
              </a:defRPr>
            </a:pPr>
            <a:r>
              <a:rPr sz="1275" b="0">
                <a:solidFill>
                  <a:srgbClr val="44515C"/>
                </a:solidFill>
                <a:latin typeface="Aptos"/>
                <a:ea typeface="Aptos"/>
                <a:cs typeface="Aptos"/>
              </a:rPr>
              <a:t>What does a reader need before they can act?</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7ccf846313854303"/>
          <a:srcRect xmlns:a="http://schemas.openxmlformats.org/drawingml/2006/main" l="522" t="0" r="522" b="0"/>
          <a:stretch xmlns:a="http://schemas.openxmlformats.org/drawingml/2006/main">
            <a:fillRect l="0" t="0" r="0" b="0"/>
          </a:stretch>
        </p:blipFill>
        <p:spPr>
          <a:xfrm xmlns:a="http://schemas.openxmlformats.org/drawingml/2006/main">
            <a:off x="9105900" y="2381250"/>
            <a:ext cx="2190750" cy="1476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6359306-797A-4212-8100-54E5ACF4BFF9}"/>
              </a:ext>
            </a:extLst>
          </p:cNvPr>
          <p:cNvSpPr>
            <a:spLocks xmlns:a="http://schemas.openxmlformats.org/drawingml/2006/main" noGrp="1"/>
          </p:cNvSpPr>
          <p:nvPr/>
        </p:nvSpPr>
        <p:spPr>
          <a:xfrm xmlns:a="http://schemas.openxmlformats.org/drawingml/2006/main">
            <a:off x="514350" y="2343150"/>
            <a:ext cx="8096250" cy="3181350"/>
          </a:xfrm>
          <a:prstGeom xmlns:a="http://schemas.openxmlformats.org/drawingml/2006/main" prst="roundRect">
            <a:avLst>
              <a:gd name="adj" fmla="val 3593"/>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425" b="0">
                <a:solidFill>
                  <a:srgbClr val="171C22"/>
                </a:solidFill>
                <a:latin typeface="Aptos"/>
                <a:ea typeface="Aptos"/>
                <a:cs typeface="Aptos"/>
              </a:defRPr>
            </a:pPr>
            <a:r>
              <a:rPr sz="1425" b="0">
                <a:solidFill>
                  <a:srgbClr val="171C22"/>
                </a:solidFill>
                <a:latin typeface="Aptos"/>
                <a:ea typeface="Aptos"/>
                <a:cs typeface="Aptos"/>
              </a:rPr>
              <a:t>设计开始前先问：读者进入页面时带着什么问题，他们必须看见哪些内容才知道自己在哪里，又需要哪些线索才敢继续行动。这个问题会改变页面顺序。若读者要报名活动，时间、地点、费用和行动入口不能藏在长段落之后；若读者来阅读研究文章，标题、作者、摘要和章节关系必须先建立。网页设计的第一步不是选颜色，而是为读者建立可靠的理解路径。</a:t>
            </a:r>
          </a:p>
        </p:txBody>
      </p:sp>
      <p:sp>
        <p:nvSpPr>
          <p:cNvPr id="10" name="">
            <a:extLst xmlns:a="http://schemas.openxmlformats.org/drawingml/2006/main">
              <a:ext uri="{FF2B5EF4-FFF2-40B4-BE49-F238E27FC236}">
                <a16:creationId xmlns:a16="http://schemas.microsoft.com/office/drawing/2014/main" id="{1CA09820-4553-4C17-AF27-9B1F0F8BF63A}"/>
              </a:ext>
            </a:extLst>
          </p:cNvPr>
          <p:cNvSpPr>
            <a:spLocks xmlns:a="http://schemas.openxmlformats.org/drawingml/2006/main" noGrp="1"/>
          </p:cNvSpPr>
          <p:nvPr/>
        </p:nvSpPr>
        <p:spPr>
          <a:xfrm xmlns:a="http://schemas.openxmlformats.org/drawingml/2006/main">
            <a:off x="9105900" y="4095750"/>
            <a:ext cx="2190750" cy="781050"/>
          </a:xfrm>
          <a:prstGeom xmlns:a="http://schemas.openxmlformats.org/drawingml/2006/main" prst="roundRect">
            <a:avLst>
              <a:gd name="adj" fmla="val 14634"/>
            </a:avLst>
          </a:prstGeom>
          <a:solidFill xmlns:a="http://schemas.openxmlformats.org/drawingml/2006/main">
            <a:srgbClr val="F1DFC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7B00C2B-AD5C-4598-85CD-3D4B31E22E95}"/>
              </a:ext>
            </a:extLst>
          </p:cNvPr>
          <p:cNvSpPr>
            <a:spLocks xmlns:a="http://schemas.openxmlformats.org/drawingml/2006/main" noGrp="1"/>
          </p:cNvSpPr>
          <p:nvPr/>
        </p:nvSpPr>
        <p:spPr>
          <a:xfrm xmlns:a="http://schemas.openxmlformats.org/drawingml/2006/main">
            <a:off x="9277350" y="4267200"/>
            <a:ext cx="1809750" cy="438150"/>
          </a:xfrm>
          <a:prstGeom xmlns:a="http://schemas.openxmlformats.org/drawingml/2006/main" prst="roundRect">
            <a:avLst>
              <a:gd name="adj" fmla="val 26087"/>
            </a:avLst>
          </a:prstGeom>
          <a:noFill xmlns:a="http://schemas.openxmlformats.org/drawingml/2006/main"/>
          <a:ln xmlns:a="http://schemas.openxmlformats.org/drawingml/2006/main" w="0">
            <a:noFill/>
            <a:prstDash val="solid"/>
          </a:ln>
        </p:spPr>
        <p:txBody>
          <a:bodyPr xmlns:a="http://schemas.openxmlformats.org/drawingml/2006/main">
            <a:normAutofit fontScale="81585"/>
          </a:bodyPr>
          <a:lstStyle xmlns:a="http://schemas.openxmlformats.org/drawingml/2006/main"/>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课堂提示</a:t>
            </a:r>
          </a:p>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用内容关系验证设计选择</a:t>
            </a:r>
          </a:p>
        </p:txBody>
      </p:sp>
    </p:spTree>
    <p:extLst>
      <p:ext uri="{BB962C8B-B14F-4D97-AF65-F5344CB8AC3E}">
        <p14:creationId xmlns:p14="http://schemas.microsoft.com/office/powerpoint/2010/main" val="1513345372"/>
      </p:ext>
    </p:extLst>
  </p:cSld>
</p:sld>
</file>

<file path=ppt/slides/slide10.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731D83C-D0B1-4EF4-AEF0-21754811109D}"/>
              </a:ext>
            </a:extLst>
          </p:cNvPr>
          <p:cNvSpPr>
            <a:spLocks xmlns:a="http://schemas.openxmlformats.org/drawingml/2006/main" noGrp="1"/>
          </p:cNvSpPr>
          <p:nvPr/>
        </p:nvSpPr>
        <p:spPr>
          <a:xfrm xmlns:a="http://schemas.openxmlformats.org/drawingml/2006/main">
            <a:off x="514350" y="361950"/>
            <a:ext cx="4381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377927F-1076-479B-B55D-D7D8F76DFFD3}"/>
              </a:ext>
            </a:extLst>
          </p:cNvPr>
          <p:cNvSpPr>
            <a:spLocks xmlns:a="http://schemas.openxmlformats.org/drawingml/2006/main" noGrp="1"/>
          </p:cNvSpPr>
          <p:nvPr/>
        </p:nvSpPr>
        <p:spPr>
          <a:xfrm xmlns:a="http://schemas.openxmlformats.org/drawingml/2006/main">
            <a:off x="514350" y="552450"/>
            <a:ext cx="2095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 / UNIVERSITY</a:t>
            </a:r>
          </a:p>
        </p:txBody>
      </p:sp>
      <p:sp>
        <p:nvSpPr>
          <p:cNvPr id="3" name="">
            <a:extLst xmlns:a="http://schemas.openxmlformats.org/drawingml/2006/main">
              <a:ext uri="{FF2B5EF4-FFF2-40B4-BE49-F238E27FC236}">
                <a16:creationId xmlns:a16="http://schemas.microsoft.com/office/drawing/2014/main" id="{5877C203-6122-4E1D-B46C-E86662AE76A3}"/>
              </a:ext>
            </a:extLst>
          </p:cNvPr>
          <p:cNvSpPr>
            <a:spLocks xmlns:a="http://schemas.openxmlformats.org/drawingml/2006/main" noGrp="1"/>
          </p:cNvSpPr>
          <p:nvPr/>
        </p:nvSpPr>
        <p:spPr>
          <a:xfrm xmlns:a="http://schemas.openxmlformats.org/drawingml/2006/main">
            <a:off x="9391650" y="552450"/>
            <a:ext cx="21907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4" name="">
            <a:extLst xmlns:a="http://schemas.openxmlformats.org/drawingml/2006/main">
              <a:ext uri="{FF2B5EF4-FFF2-40B4-BE49-F238E27FC236}">
                <a16:creationId xmlns:a16="http://schemas.microsoft.com/office/drawing/2014/main" id="{5BF9955A-9A81-4CC3-8D7C-A281CBC4CB3B}"/>
              </a:ext>
            </a:extLst>
          </p:cNvPr>
          <p:cNvSpPr>
            <a:spLocks xmlns:a="http://schemas.openxmlformats.org/drawingml/2006/main" noGrp="1"/>
          </p:cNvSpPr>
          <p:nvPr/>
        </p:nvSpPr>
        <p:spPr>
          <a:xfrm xmlns:a="http://schemas.openxmlformats.org/drawingml/2006/main">
            <a:off x="514350" y="6229350"/>
            <a:ext cx="1114425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0961836-F355-4D1E-BBA4-7D8A613F5431}"/>
              </a:ext>
            </a:extLst>
          </p:cNvPr>
          <p:cNvSpPr>
            <a:spLocks xmlns:a="http://schemas.openxmlformats.org/drawingml/2006/main" noGrp="1"/>
          </p:cNvSpPr>
          <p:nvPr/>
        </p:nvSpPr>
        <p:spPr>
          <a:xfrm xmlns:a="http://schemas.openxmlformats.org/drawingml/2006/main">
            <a:off x="514350" y="6410325"/>
            <a:ext cx="3810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10</a:t>
            </a:r>
          </a:p>
        </p:txBody>
      </p:sp>
      <p:sp>
        <p:nvSpPr>
          <p:cNvPr id="6" name="">
            <a:extLst xmlns:a="http://schemas.openxmlformats.org/drawingml/2006/main">
              <a:ext uri="{FF2B5EF4-FFF2-40B4-BE49-F238E27FC236}">
                <a16:creationId xmlns:a16="http://schemas.microsoft.com/office/drawing/2014/main" id="{52D42461-6F8E-4500-957B-A07B741DD838}"/>
              </a:ext>
            </a:extLst>
          </p:cNvPr>
          <p:cNvSpPr>
            <a:spLocks xmlns:a="http://schemas.openxmlformats.org/drawingml/2006/main" noGrp="1"/>
          </p:cNvSpPr>
          <p:nvPr/>
        </p:nvSpPr>
        <p:spPr>
          <a:xfrm xmlns:a="http://schemas.openxmlformats.org/drawingml/2006/main">
            <a:off x="514350" y="990600"/>
            <a:ext cx="8572500" cy="514350"/>
          </a:xfrm>
          <a:prstGeom xmlns:a="http://schemas.openxmlformats.org/drawingml/2006/main" prst="roundRect">
            <a:avLst>
              <a:gd name="adj" fmla="val 22222"/>
            </a:avLst>
          </a:prstGeom>
          <a:noFill xmlns:a="http://schemas.openxmlformats.org/drawingml/2006/main"/>
          <a:ln xmlns:a="http://schemas.openxmlformats.org/drawingml/2006/main" w="0">
            <a:noFill/>
            <a:prstDash val="solid"/>
          </a:ln>
        </p:spPr>
        <p:txBody>
          <a:bodyPr xmlns:a="http://schemas.openxmlformats.org/drawingml/2006/main">
            <a:normAutofit fontScale="86506"/>
          </a:bodyPr>
          <a:lstStyle xmlns:a="http://schemas.openxmlformats.org/drawingml/2006/main"/>
          <a:p xmlns:a="http://schemas.openxmlformats.org/drawingml/2006/main">
            <a:pPr>
              <a:defRPr sz="2700" b="1">
                <a:solidFill>
                  <a:srgbClr val="171C22"/>
                </a:solidFill>
                <a:latin typeface="Aptos"/>
                <a:ea typeface="Aptos"/>
                <a:cs typeface="Aptos"/>
              </a:defRPr>
            </a:pPr>
            <a:r>
              <a:rPr sz="2700" b="1">
                <a:solidFill>
                  <a:srgbClr val="171C22"/>
                </a:solidFill>
                <a:latin typeface="Aptos"/>
                <a:ea typeface="Aptos"/>
                <a:cs typeface="Aptos"/>
              </a:rPr>
              <a:t>Content before interface</a:t>
            </a:r>
          </a:p>
        </p:txBody>
      </p:sp>
      <p:sp>
        <p:nvSpPr>
          <p:cNvPr id="7" name="">
            <a:extLst xmlns:a="http://schemas.openxmlformats.org/drawingml/2006/main">
              <a:ext uri="{FF2B5EF4-FFF2-40B4-BE49-F238E27FC236}">
                <a16:creationId xmlns:a16="http://schemas.microsoft.com/office/drawing/2014/main" id="{11A2D18F-F11B-41D4-9F87-65B360C88816}"/>
              </a:ext>
            </a:extLst>
          </p:cNvPr>
          <p:cNvSpPr>
            <a:spLocks xmlns:a="http://schemas.openxmlformats.org/drawingml/2006/main" noGrp="1"/>
          </p:cNvSpPr>
          <p:nvPr/>
        </p:nvSpPr>
        <p:spPr>
          <a:xfrm xmlns:a="http://schemas.openxmlformats.org/drawingml/2006/main">
            <a:off x="514350" y="1657350"/>
            <a:ext cx="8858250" cy="304800"/>
          </a:xfrm>
          <a:prstGeom xmlns:a="http://schemas.openxmlformats.org/drawingml/2006/main" prst="roundRect">
            <a:avLst>
              <a:gd name="adj" fmla="val 37500"/>
            </a:avLst>
          </a:prstGeom>
          <a:noFill xmlns:a="http://schemas.openxmlformats.org/drawingml/2006/main"/>
          <a:ln xmlns:a="http://schemas.openxmlformats.org/drawingml/2006/main" w="0">
            <a:noFill/>
            <a:prstDash val="solid"/>
          </a:ln>
        </p:spPr>
        <p:txBody>
          <a:bodyPr xmlns:a="http://schemas.openxmlformats.org/drawingml/2006/main">
            <a:normAutofit fontScale="75346"/>
          </a:bodyPr>
          <a:lstStyle xmlns:a="http://schemas.openxmlformats.org/drawingml/2006/main"/>
          <a:p xmlns:a="http://schemas.openxmlformats.org/drawingml/2006/main">
            <a:pPr>
              <a:defRPr sz="1275" b="0">
                <a:solidFill>
                  <a:srgbClr val="44515C"/>
                </a:solidFill>
                <a:latin typeface="Aptos"/>
                <a:ea typeface="Aptos"/>
                <a:cs typeface="Aptos"/>
              </a:defRPr>
            </a:pPr>
            <a:r>
              <a:rPr sz="1275" b="0">
                <a:solidFill>
                  <a:srgbClr val="44515C"/>
                </a:solidFill>
                <a:latin typeface="Aptos"/>
                <a:ea typeface="Aptos"/>
                <a:cs typeface="Aptos"/>
              </a:rPr>
              <a:t>A page begins as an argument</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383fff59dc6b4457"/>
          <a:srcRect xmlns:a="http://schemas.openxmlformats.org/drawingml/2006/main" l="522" t="0" r="522" b="0"/>
          <a:stretch xmlns:a="http://schemas.openxmlformats.org/drawingml/2006/main">
            <a:fillRect l="0" t="0" r="0" b="0"/>
          </a:stretch>
        </p:blipFill>
        <p:spPr>
          <a:xfrm xmlns:a="http://schemas.openxmlformats.org/drawingml/2006/main">
            <a:off x="9105900" y="2381250"/>
            <a:ext cx="2190750" cy="1476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F3D453F1-C4F4-4FCD-9705-F83413B67EA5}"/>
              </a:ext>
            </a:extLst>
          </p:cNvPr>
          <p:cNvSpPr>
            <a:spLocks xmlns:a="http://schemas.openxmlformats.org/drawingml/2006/main" noGrp="1"/>
          </p:cNvSpPr>
          <p:nvPr/>
        </p:nvSpPr>
        <p:spPr>
          <a:xfrm xmlns:a="http://schemas.openxmlformats.org/drawingml/2006/main">
            <a:off x="514350" y="2343150"/>
            <a:ext cx="8096250" cy="3181350"/>
          </a:xfrm>
          <a:prstGeom xmlns:a="http://schemas.openxmlformats.org/drawingml/2006/main" prst="roundRect">
            <a:avLst>
              <a:gd name="adj" fmla="val 3593"/>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425" b="0">
                <a:solidFill>
                  <a:srgbClr val="171C22"/>
                </a:solidFill>
                <a:latin typeface="Aptos"/>
                <a:ea typeface="Aptos"/>
                <a:cs typeface="Aptos"/>
              </a:defRPr>
            </a:pPr>
            <a:r>
              <a:rPr sz="1425" b="0">
                <a:solidFill>
                  <a:srgbClr val="171C22"/>
                </a:solidFill>
                <a:latin typeface="Aptos"/>
                <a:ea typeface="Aptos"/>
                <a:cs typeface="Aptos"/>
              </a:rPr>
              <a:t>很多网页项目一开始就画按钮和卡片，结果内容只能被塞进预先决定的盒子。更可靠的方法是先写出页面要说的事情：它的核心主张是什么，支持主张的证据是什么，读者会提出哪些问题，哪些内容必须保持在一起。随后再用标题、段落、列表、图片和链接表达这些关系。界面不是内容的包装纸，而是内容关系的可见形式；没有清晰论点的页面再精致也很难帮助读者理解。</a:t>
            </a:r>
          </a:p>
        </p:txBody>
      </p:sp>
      <p:sp>
        <p:nvSpPr>
          <p:cNvPr id="10" name="">
            <a:extLst xmlns:a="http://schemas.openxmlformats.org/drawingml/2006/main">
              <a:ext uri="{FF2B5EF4-FFF2-40B4-BE49-F238E27FC236}">
                <a16:creationId xmlns:a16="http://schemas.microsoft.com/office/drawing/2014/main" id="{5FD3283F-40BB-46BB-866E-E29ACE9134C8}"/>
              </a:ext>
            </a:extLst>
          </p:cNvPr>
          <p:cNvSpPr>
            <a:spLocks xmlns:a="http://schemas.openxmlformats.org/drawingml/2006/main" noGrp="1"/>
          </p:cNvSpPr>
          <p:nvPr/>
        </p:nvSpPr>
        <p:spPr>
          <a:xfrm xmlns:a="http://schemas.openxmlformats.org/drawingml/2006/main">
            <a:off x="9105900" y="4095750"/>
            <a:ext cx="2190750" cy="781050"/>
          </a:xfrm>
          <a:prstGeom xmlns:a="http://schemas.openxmlformats.org/drawingml/2006/main" prst="roundRect">
            <a:avLst>
              <a:gd name="adj" fmla="val 14634"/>
            </a:avLst>
          </a:prstGeom>
          <a:solidFill xmlns:a="http://schemas.openxmlformats.org/drawingml/2006/main">
            <a:srgbClr val="F1DFC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86E1E6E-A014-4D65-B141-D954A8AB88FB}"/>
              </a:ext>
            </a:extLst>
          </p:cNvPr>
          <p:cNvSpPr>
            <a:spLocks xmlns:a="http://schemas.openxmlformats.org/drawingml/2006/main" noGrp="1"/>
          </p:cNvSpPr>
          <p:nvPr/>
        </p:nvSpPr>
        <p:spPr>
          <a:xfrm xmlns:a="http://schemas.openxmlformats.org/drawingml/2006/main">
            <a:off x="9277350" y="4267200"/>
            <a:ext cx="1809750" cy="438150"/>
          </a:xfrm>
          <a:prstGeom xmlns:a="http://schemas.openxmlformats.org/drawingml/2006/main" prst="roundRect">
            <a:avLst>
              <a:gd name="adj" fmla="val 26087"/>
            </a:avLst>
          </a:prstGeom>
          <a:noFill xmlns:a="http://schemas.openxmlformats.org/drawingml/2006/main"/>
          <a:ln xmlns:a="http://schemas.openxmlformats.org/drawingml/2006/main" w="0">
            <a:noFill/>
            <a:prstDash val="solid"/>
          </a:ln>
        </p:spPr>
        <p:txBody>
          <a:bodyPr xmlns:a="http://schemas.openxmlformats.org/drawingml/2006/main">
            <a:normAutofit fontScale="81585"/>
          </a:bodyPr>
          <a:lstStyle xmlns:a="http://schemas.openxmlformats.org/drawingml/2006/main"/>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课堂提示</a:t>
            </a:r>
          </a:p>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用内容关系验证设计选择</a:t>
            </a:r>
          </a:p>
        </p:txBody>
      </p:sp>
    </p:spTree>
    <p:extLst>
      <p:ext uri="{BB962C8B-B14F-4D97-AF65-F5344CB8AC3E}">
        <p14:creationId xmlns:p14="http://schemas.microsoft.com/office/powerpoint/2010/main" val="566144615"/>
      </p:ext>
    </p:extLst>
  </p:cSld>
</p:sld>
</file>

<file path=ppt/slides/slide11.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B4AB527-265E-4334-8FC1-E7E0160C1A4F}"/>
              </a:ext>
            </a:extLst>
          </p:cNvPr>
          <p:cNvSpPr>
            <a:spLocks xmlns:a="http://schemas.openxmlformats.org/drawingml/2006/main" noGrp="1"/>
          </p:cNvSpPr>
          <p:nvPr/>
        </p:nvSpPr>
        <p:spPr>
          <a:xfrm xmlns:a="http://schemas.openxmlformats.org/drawingml/2006/main">
            <a:off x="514350" y="361950"/>
            <a:ext cx="4381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84D43F4-A3A2-45AF-A2EF-F0BA9418BA67}"/>
              </a:ext>
            </a:extLst>
          </p:cNvPr>
          <p:cNvSpPr>
            <a:spLocks xmlns:a="http://schemas.openxmlformats.org/drawingml/2006/main" noGrp="1"/>
          </p:cNvSpPr>
          <p:nvPr/>
        </p:nvSpPr>
        <p:spPr>
          <a:xfrm xmlns:a="http://schemas.openxmlformats.org/drawingml/2006/main">
            <a:off x="514350" y="552450"/>
            <a:ext cx="2095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 / UNIVERSITY</a:t>
            </a:r>
          </a:p>
        </p:txBody>
      </p:sp>
      <p:sp>
        <p:nvSpPr>
          <p:cNvPr id="3" name="">
            <a:extLst xmlns:a="http://schemas.openxmlformats.org/drawingml/2006/main">
              <a:ext uri="{FF2B5EF4-FFF2-40B4-BE49-F238E27FC236}">
                <a16:creationId xmlns:a16="http://schemas.microsoft.com/office/drawing/2014/main" id="{2CA3E2D7-01ED-4D18-98E0-E3D42C390B64}"/>
              </a:ext>
            </a:extLst>
          </p:cNvPr>
          <p:cNvSpPr>
            <a:spLocks xmlns:a="http://schemas.openxmlformats.org/drawingml/2006/main" noGrp="1"/>
          </p:cNvSpPr>
          <p:nvPr/>
        </p:nvSpPr>
        <p:spPr>
          <a:xfrm xmlns:a="http://schemas.openxmlformats.org/drawingml/2006/main">
            <a:off x="9391650" y="552450"/>
            <a:ext cx="21907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4" name="">
            <a:extLst xmlns:a="http://schemas.openxmlformats.org/drawingml/2006/main">
              <a:ext uri="{FF2B5EF4-FFF2-40B4-BE49-F238E27FC236}">
                <a16:creationId xmlns:a16="http://schemas.microsoft.com/office/drawing/2014/main" id="{5908D68E-20D7-4854-A5DD-E569D51F9AE5}"/>
              </a:ext>
            </a:extLst>
          </p:cNvPr>
          <p:cNvSpPr>
            <a:spLocks xmlns:a="http://schemas.openxmlformats.org/drawingml/2006/main" noGrp="1"/>
          </p:cNvSpPr>
          <p:nvPr/>
        </p:nvSpPr>
        <p:spPr>
          <a:xfrm xmlns:a="http://schemas.openxmlformats.org/drawingml/2006/main">
            <a:off x="514350" y="6229350"/>
            <a:ext cx="1114425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B54F7C2-F195-4BEE-8730-9F150ED58844}"/>
              </a:ext>
            </a:extLst>
          </p:cNvPr>
          <p:cNvSpPr>
            <a:spLocks xmlns:a="http://schemas.openxmlformats.org/drawingml/2006/main" noGrp="1"/>
          </p:cNvSpPr>
          <p:nvPr/>
        </p:nvSpPr>
        <p:spPr>
          <a:xfrm xmlns:a="http://schemas.openxmlformats.org/drawingml/2006/main">
            <a:off x="514350" y="6410325"/>
            <a:ext cx="3810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11</a:t>
            </a:r>
          </a:p>
        </p:txBody>
      </p:sp>
      <p:sp>
        <p:nvSpPr>
          <p:cNvPr id="6" name="">
            <a:extLst xmlns:a="http://schemas.openxmlformats.org/drawingml/2006/main">
              <a:ext uri="{FF2B5EF4-FFF2-40B4-BE49-F238E27FC236}">
                <a16:creationId xmlns:a16="http://schemas.microsoft.com/office/drawing/2014/main" id="{6D0A5446-D69E-48EB-9A54-7242CDBD308C}"/>
              </a:ext>
            </a:extLst>
          </p:cNvPr>
          <p:cNvSpPr>
            <a:spLocks xmlns:a="http://schemas.openxmlformats.org/drawingml/2006/main" noGrp="1"/>
          </p:cNvSpPr>
          <p:nvPr/>
        </p:nvSpPr>
        <p:spPr>
          <a:xfrm xmlns:a="http://schemas.openxmlformats.org/drawingml/2006/main">
            <a:off x="514350" y="990600"/>
            <a:ext cx="8572500" cy="514350"/>
          </a:xfrm>
          <a:prstGeom xmlns:a="http://schemas.openxmlformats.org/drawingml/2006/main" prst="roundRect">
            <a:avLst>
              <a:gd name="adj" fmla="val 22222"/>
            </a:avLst>
          </a:prstGeom>
          <a:noFill xmlns:a="http://schemas.openxmlformats.org/drawingml/2006/main"/>
          <a:ln xmlns:a="http://schemas.openxmlformats.org/drawingml/2006/main" w="0">
            <a:noFill/>
            <a:prstDash val="solid"/>
          </a:ln>
        </p:spPr>
        <p:txBody>
          <a:bodyPr xmlns:a="http://schemas.openxmlformats.org/drawingml/2006/main">
            <a:normAutofit fontScale="86506"/>
          </a:bodyPr>
          <a:lstStyle xmlns:a="http://schemas.openxmlformats.org/drawingml/2006/main"/>
          <a:p xmlns:a="http://schemas.openxmlformats.org/drawingml/2006/main">
            <a:pPr>
              <a:defRPr sz="2700" b="1">
                <a:solidFill>
                  <a:srgbClr val="171C22"/>
                </a:solidFill>
                <a:latin typeface="Aptos"/>
                <a:ea typeface="Aptos"/>
                <a:cs typeface="Aptos"/>
              </a:defRPr>
            </a:pPr>
            <a:r>
              <a:rPr sz="2700" b="1">
                <a:solidFill>
                  <a:srgbClr val="171C22"/>
                </a:solidFill>
                <a:latin typeface="Aptos"/>
                <a:ea typeface="Aptos"/>
                <a:cs typeface="Aptos"/>
              </a:rPr>
              <a:t>Reading is nonlinear</a:t>
            </a:r>
          </a:p>
        </p:txBody>
      </p:sp>
      <p:sp>
        <p:nvSpPr>
          <p:cNvPr id="7" name="">
            <a:extLst xmlns:a="http://schemas.openxmlformats.org/drawingml/2006/main">
              <a:ext uri="{FF2B5EF4-FFF2-40B4-BE49-F238E27FC236}">
                <a16:creationId xmlns:a16="http://schemas.microsoft.com/office/drawing/2014/main" id="{EF05E28C-EE95-4A75-8528-ABCC2AE982E0}"/>
              </a:ext>
            </a:extLst>
          </p:cNvPr>
          <p:cNvSpPr>
            <a:spLocks xmlns:a="http://schemas.openxmlformats.org/drawingml/2006/main" noGrp="1"/>
          </p:cNvSpPr>
          <p:nvPr/>
        </p:nvSpPr>
        <p:spPr>
          <a:xfrm xmlns:a="http://schemas.openxmlformats.org/drawingml/2006/main">
            <a:off x="514350" y="1657350"/>
            <a:ext cx="8858250" cy="304800"/>
          </a:xfrm>
          <a:prstGeom xmlns:a="http://schemas.openxmlformats.org/drawingml/2006/main" prst="roundRect">
            <a:avLst>
              <a:gd name="adj" fmla="val 37500"/>
            </a:avLst>
          </a:prstGeom>
          <a:noFill xmlns:a="http://schemas.openxmlformats.org/drawingml/2006/main"/>
          <a:ln xmlns:a="http://schemas.openxmlformats.org/drawingml/2006/main" w="0">
            <a:noFill/>
            <a:prstDash val="solid"/>
          </a:ln>
        </p:spPr>
        <p:txBody>
          <a:bodyPr xmlns:a="http://schemas.openxmlformats.org/drawingml/2006/main">
            <a:normAutofit fontScale="75346"/>
          </a:bodyPr>
          <a:lstStyle xmlns:a="http://schemas.openxmlformats.org/drawingml/2006/main"/>
          <a:p xmlns:a="http://schemas.openxmlformats.org/drawingml/2006/main">
            <a:pPr>
              <a:defRPr sz="1275" b="0">
                <a:solidFill>
                  <a:srgbClr val="44515C"/>
                </a:solidFill>
                <a:latin typeface="Aptos"/>
                <a:ea typeface="Aptos"/>
                <a:cs typeface="Aptos"/>
              </a:defRPr>
            </a:pPr>
            <a:r>
              <a:rPr sz="1275" b="0">
                <a:solidFill>
                  <a:srgbClr val="44515C"/>
                </a:solidFill>
                <a:latin typeface="Aptos"/>
                <a:ea typeface="Aptos"/>
                <a:cs typeface="Aptos"/>
              </a:rPr>
              <a:t>Readers scan, return and compare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a2be2a9b5c84ae6"/>
          <a:srcRect xmlns:a="http://schemas.openxmlformats.org/drawingml/2006/main" l="569" t="0" r="569" b="0"/>
          <a:stretch xmlns:a="http://schemas.openxmlformats.org/drawingml/2006/main">
            <a:fillRect l="0" t="0" r="0" b="0"/>
          </a:stretch>
        </p:blipFill>
        <p:spPr>
          <a:xfrm xmlns:a="http://schemas.openxmlformats.org/drawingml/2006/main">
            <a:off x="9105900" y="2381250"/>
            <a:ext cx="2190750" cy="1476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DFE25B42-314F-4452-B4DC-D92ABB8DDB8E}"/>
              </a:ext>
            </a:extLst>
          </p:cNvPr>
          <p:cNvSpPr>
            <a:spLocks xmlns:a="http://schemas.openxmlformats.org/drawingml/2006/main" noGrp="1"/>
          </p:cNvSpPr>
          <p:nvPr/>
        </p:nvSpPr>
        <p:spPr>
          <a:xfrm xmlns:a="http://schemas.openxmlformats.org/drawingml/2006/main">
            <a:off x="514350" y="2343150"/>
            <a:ext cx="8096250" cy="3181350"/>
          </a:xfrm>
          <a:prstGeom xmlns:a="http://schemas.openxmlformats.org/drawingml/2006/main" prst="roundRect">
            <a:avLst>
              <a:gd name="adj" fmla="val 3593"/>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425" b="0">
                <a:solidFill>
                  <a:srgbClr val="171C22"/>
                </a:solidFill>
                <a:latin typeface="Aptos"/>
                <a:ea typeface="Aptos"/>
                <a:cs typeface="Aptos"/>
              </a:defRPr>
            </a:pPr>
            <a:r>
              <a:rPr sz="1425" b="0">
                <a:solidFill>
                  <a:srgbClr val="171C22"/>
                </a:solidFill>
                <a:latin typeface="Aptos"/>
                <a:ea typeface="Aptos"/>
                <a:cs typeface="Aptos"/>
              </a:rPr>
              <a:t>网页读者很少从第一行读到最后一行。他们会扫过标题，寻找熟悉词汇，比较链接，回到上方确认信息，再决定是否深入。设计需要承认这种非线性行为。标题要能独立说明段落主题，链接文本要说清目的，段落开头应承担主要信息，视觉重点要与任务重点一致。优秀页面不会要求读者记住复杂路径，而会在每个位置提供足够的方向感与返回机会。</a:t>
            </a:r>
          </a:p>
        </p:txBody>
      </p:sp>
      <p:sp>
        <p:nvSpPr>
          <p:cNvPr id="10" name="">
            <a:extLst xmlns:a="http://schemas.openxmlformats.org/drawingml/2006/main">
              <a:ext uri="{FF2B5EF4-FFF2-40B4-BE49-F238E27FC236}">
                <a16:creationId xmlns:a16="http://schemas.microsoft.com/office/drawing/2014/main" id="{0B31A735-87AF-49F2-A539-4296F7CD7971}"/>
              </a:ext>
            </a:extLst>
          </p:cNvPr>
          <p:cNvSpPr>
            <a:spLocks xmlns:a="http://schemas.openxmlformats.org/drawingml/2006/main" noGrp="1"/>
          </p:cNvSpPr>
          <p:nvPr/>
        </p:nvSpPr>
        <p:spPr>
          <a:xfrm xmlns:a="http://schemas.openxmlformats.org/drawingml/2006/main">
            <a:off x="9105900" y="4095750"/>
            <a:ext cx="2190750" cy="781050"/>
          </a:xfrm>
          <a:prstGeom xmlns:a="http://schemas.openxmlformats.org/drawingml/2006/main" prst="roundRect">
            <a:avLst>
              <a:gd name="adj" fmla="val 14634"/>
            </a:avLst>
          </a:prstGeom>
          <a:solidFill xmlns:a="http://schemas.openxmlformats.org/drawingml/2006/main">
            <a:srgbClr val="F1DFC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531C39C-012C-4109-83D3-ED27A31FB1E3}"/>
              </a:ext>
            </a:extLst>
          </p:cNvPr>
          <p:cNvSpPr>
            <a:spLocks xmlns:a="http://schemas.openxmlformats.org/drawingml/2006/main" noGrp="1"/>
          </p:cNvSpPr>
          <p:nvPr/>
        </p:nvSpPr>
        <p:spPr>
          <a:xfrm xmlns:a="http://schemas.openxmlformats.org/drawingml/2006/main">
            <a:off x="9277350" y="4267200"/>
            <a:ext cx="1809750" cy="438150"/>
          </a:xfrm>
          <a:prstGeom xmlns:a="http://schemas.openxmlformats.org/drawingml/2006/main" prst="roundRect">
            <a:avLst>
              <a:gd name="adj" fmla="val 26087"/>
            </a:avLst>
          </a:prstGeom>
          <a:noFill xmlns:a="http://schemas.openxmlformats.org/drawingml/2006/main"/>
          <a:ln xmlns:a="http://schemas.openxmlformats.org/drawingml/2006/main" w="0">
            <a:noFill/>
            <a:prstDash val="solid"/>
          </a:ln>
        </p:spPr>
        <p:txBody>
          <a:bodyPr xmlns:a="http://schemas.openxmlformats.org/drawingml/2006/main">
            <a:normAutofit fontScale="81585"/>
          </a:bodyPr>
          <a:lstStyle xmlns:a="http://schemas.openxmlformats.org/drawingml/2006/main"/>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课堂提示</a:t>
            </a:r>
          </a:p>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用内容关系验证设计选择</a:t>
            </a:r>
          </a:p>
        </p:txBody>
      </p:sp>
    </p:spTree>
    <p:extLst>
      <p:ext uri="{BB962C8B-B14F-4D97-AF65-F5344CB8AC3E}">
        <p14:creationId xmlns:p14="http://schemas.microsoft.com/office/powerpoint/2010/main" val="897809307"/>
      </p:ext>
    </p:extLst>
  </p:cSld>
</p:sld>
</file>

<file path=ppt/slides/slide12.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399C6A4-4ECD-4E3C-BFCD-C928E8E0ACDE}"/>
              </a:ext>
            </a:extLst>
          </p:cNvPr>
          <p:cNvSpPr>
            <a:spLocks xmlns:a="http://schemas.openxmlformats.org/drawingml/2006/main" noGrp="1"/>
          </p:cNvSpPr>
          <p:nvPr/>
        </p:nvSpPr>
        <p:spPr>
          <a:xfrm xmlns:a="http://schemas.openxmlformats.org/drawingml/2006/main">
            <a:off x="514350" y="361950"/>
            <a:ext cx="4381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043DC16-D075-4DE0-91F1-20CB895F057B}"/>
              </a:ext>
            </a:extLst>
          </p:cNvPr>
          <p:cNvSpPr>
            <a:spLocks xmlns:a="http://schemas.openxmlformats.org/drawingml/2006/main" noGrp="1"/>
          </p:cNvSpPr>
          <p:nvPr/>
        </p:nvSpPr>
        <p:spPr>
          <a:xfrm xmlns:a="http://schemas.openxmlformats.org/drawingml/2006/main">
            <a:off x="514350" y="552450"/>
            <a:ext cx="2095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 / UNIVERSITY</a:t>
            </a:r>
          </a:p>
        </p:txBody>
      </p:sp>
      <p:sp>
        <p:nvSpPr>
          <p:cNvPr id="3" name="">
            <a:extLst xmlns:a="http://schemas.openxmlformats.org/drawingml/2006/main">
              <a:ext uri="{FF2B5EF4-FFF2-40B4-BE49-F238E27FC236}">
                <a16:creationId xmlns:a16="http://schemas.microsoft.com/office/drawing/2014/main" id="{4A1A0A53-B4EE-4169-B338-AF30B8B00B5F}"/>
              </a:ext>
            </a:extLst>
          </p:cNvPr>
          <p:cNvSpPr>
            <a:spLocks xmlns:a="http://schemas.openxmlformats.org/drawingml/2006/main" noGrp="1"/>
          </p:cNvSpPr>
          <p:nvPr/>
        </p:nvSpPr>
        <p:spPr>
          <a:xfrm xmlns:a="http://schemas.openxmlformats.org/drawingml/2006/main">
            <a:off x="9391650" y="552450"/>
            <a:ext cx="21907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4" name="">
            <a:extLst xmlns:a="http://schemas.openxmlformats.org/drawingml/2006/main">
              <a:ext uri="{FF2B5EF4-FFF2-40B4-BE49-F238E27FC236}">
                <a16:creationId xmlns:a16="http://schemas.microsoft.com/office/drawing/2014/main" id="{4487FF78-7FA5-4E61-9FF5-0C3F6E3F5520}"/>
              </a:ext>
            </a:extLst>
          </p:cNvPr>
          <p:cNvSpPr>
            <a:spLocks xmlns:a="http://schemas.openxmlformats.org/drawingml/2006/main" noGrp="1"/>
          </p:cNvSpPr>
          <p:nvPr/>
        </p:nvSpPr>
        <p:spPr>
          <a:xfrm xmlns:a="http://schemas.openxmlformats.org/drawingml/2006/main">
            <a:off x="514350" y="6229350"/>
            <a:ext cx="1114425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FD82A5B-9C03-4D54-9D77-A42B2DAAA9D2}"/>
              </a:ext>
            </a:extLst>
          </p:cNvPr>
          <p:cNvSpPr>
            <a:spLocks xmlns:a="http://schemas.openxmlformats.org/drawingml/2006/main" noGrp="1"/>
          </p:cNvSpPr>
          <p:nvPr/>
        </p:nvSpPr>
        <p:spPr>
          <a:xfrm xmlns:a="http://schemas.openxmlformats.org/drawingml/2006/main">
            <a:off x="514350" y="6410325"/>
            <a:ext cx="3810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12</a:t>
            </a:r>
          </a:p>
        </p:txBody>
      </p:sp>
      <p:sp>
        <p:nvSpPr>
          <p:cNvPr id="6" name="">
            <a:extLst xmlns:a="http://schemas.openxmlformats.org/drawingml/2006/main">
              <a:ext uri="{FF2B5EF4-FFF2-40B4-BE49-F238E27FC236}">
                <a16:creationId xmlns:a16="http://schemas.microsoft.com/office/drawing/2014/main" id="{43FC8A42-4720-4944-AE3A-E4A129C7BD3F}"/>
              </a:ext>
            </a:extLst>
          </p:cNvPr>
          <p:cNvSpPr>
            <a:spLocks xmlns:a="http://schemas.openxmlformats.org/drawingml/2006/main" noGrp="1"/>
          </p:cNvSpPr>
          <p:nvPr/>
        </p:nvSpPr>
        <p:spPr>
          <a:xfrm xmlns:a="http://schemas.openxmlformats.org/drawingml/2006/main">
            <a:off x="514350" y="990600"/>
            <a:ext cx="8572500" cy="514350"/>
          </a:xfrm>
          <a:prstGeom xmlns:a="http://schemas.openxmlformats.org/drawingml/2006/main" prst="roundRect">
            <a:avLst>
              <a:gd name="adj" fmla="val 22222"/>
            </a:avLst>
          </a:prstGeom>
          <a:noFill xmlns:a="http://schemas.openxmlformats.org/drawingml/2006/main"/>
          <a:ln xmlns:a="http://schemas.openxmlformats.org/drawingml/2006/main" w="0">
            <a:noFill/>
            <a:prstDash val="solid"/>
          </a:ln>
        </p:spPr>
        <p:txBody>
          <a:bodyPr xmlns:a="http://schemas.openxmlformats.org/drawingml/2006/main">
            <a:normAutofit fontScale="86506"/>
          </a:bodyPr>
          <a:lstStyle xmlns:a="http://schemas.openxmlformats.org/drawingml/2006/main"/>
          <a:p xmlns:a="http://schemas.openxmlformats.org/drawingml/2006/main">
            <a:pPr>
              <a:defRPr sz="2700" b="1">
                <a:solidFill>
                  <a:srgbClr val="171C22"/>
                </a:solidFill>
                <a:latin typeface="Aptos"/>
                <a:ea typeface="Aptos"/>
                <a:cs typeface="Aptos"/>
              </a:defRPr>
            </a:pPr>
            <a:r>
              <a:rPr sz="2700" b="1">
                <a:solidFill>
                  <a:srgbClr val="171C22"/>
                </a:solidFill>
                <a:latin typeface="Aptos"/>
                <a:ea typeface="Aptos"/>
                <a:cs typeface="Aptos"/>
              </a:rPr>
              <a:t>Information hierarchy</a:t>
            </a:r>
          </a:p>
        </p:txBody>
      </p:sp>
      <p:sp>
        <p:nvSpPr>
          <p:cNvPr id="7" name="">
            <a:extLst xmlns:a="http://schemas.openxmlformats.org/drawingml/2006/main">
              <a:ext uri="{FF2B5EF4-FFF2-40B4-BE49-F238E27FC236}">
                <a16:creationId xmlns:a16="http://schemas.microsoft.com/office/drawing/2014/main" id="{7B4C4CFA-74E9-4F58-A00B-F3AB79DF285D}"/>
              </a:ext>
            </a:extLst>
          </p:cNvPr>
          <p:cNvSpPr>
            <a:spLocks xmlns:a="http://schemas.openxmlformats.org/drawingml/2006/main" noGrp="1"/>
          </p:cNvSpPr>
          <p:nvPr/>
        </p:nvSpPr>
        <p:spPr>
          <a:xfrm xmlns:a="http://schemas.openxmlformats.org/drawingml/2006/main">
            <a:off x="514350" y="1657350"/>
            <a:ext cx="8858250" cy="304800"/>
          </a:xfrm>
          <a:prstGeom xmlns:a="http://schemas.openxmlformats.org/drawingml/2006/main" prst="roundRect">
            <a:avLst>
              <a:gd name="adj" fmla="val 37500"/>
            </a:avLst>
          </a:prstGeom>
          <a:noFill xmlns:a="http://schemas.openxmlformats.org/drawingml/2006/main"/>
          <a:ln xmlns:a="http://schemas.openxmlformats.org/drawingml/2006/main" w="0">
            <a:noFill/>
            <a:prstDash val="solid"/>
          </a:ln>
        </p:spPr>
        <p:txBody>
          <a:bodyPr xmlns:a="http://schemas.openxmlformats.org/drawingml/2006/main">
            <a:normAutofit fontScale="75346"/>
          </a:bodyPr>
          <a:lstStyle xmlns:a="http://schemas.openxmlformats.org/drawingml/2006/main"/>
          <a:p xmlns:a="http://schemas.openxmlformats.org/drawingml/2006/main">
            <a:pPr>
              <a:defRPr sz="1275" b="0">
                <a:solidFill>
                  <a:srgbClr val="44515C"/>
                </a:solidFill>
                <a:latin typeface="Aptos"/>
                <a:ea typeface="Aptos"/>
                <a:cs typeface="Aptos"/>
              </a:defRPr>
            </a:pPr>
            <a:r>
              <a:rPr sz="1275" b="0">
                <a:solidFill>
                  <a:srgbClr val="44515C"/>
                </a:solidFill>
                <a:latin typeface="Aptos"/>
                <a:ea typeface="Aptos"/>
                <a:cs typeface="Aptos"/>
              </a:rPr>
              <a:t>Importance becomes visible through order</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4956fee9e414a72"/>
          <a:srcRect xmlns:a="http://schemas.openxmlformats.org/drawingml/2006/main" l="244" t="0" r="244" b="0"/>
          <a:stretch xmlns:a="http://schemas.openxmlformats.org/drawingml/2006/main">
            <a:fillRect l="0" t="0" r="0" b="0"/>
          </a:stretch>
        </p:blipFill>
        <p:spPr>
          <a:xfrm xmlns:a="http://schemas.openxmlformats.org/drawingml/2006/main">
            <a:off x="9105900" y="2381250"/>
            <a:ext cx="2190750" cy="1476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AC647E79-6AFA-431F-8EC2-316251F674A7}"/>
              </a:ext>
            </a:extLst>
          </p:cNvPr>
          <p:cNvSpPr>
            <a:spLocks xmlns:a="http://schemas.openxmlformats.org/drawingml/2006/main" noGrp="1"/>
          </p:cNvSpPr>
          <p:nvPr/>
        </p:nvSpPr>
        <p:spPr>
          <a:xfrm xmlns:a="http://schemas.openxmlformats.org/drawingml/2006/main">
            <a:off x="514350" y="2343150"/>
            <a:ext cx="8096250" cy="3181350"/>
          </a:xfrm>
          <a:prstGeom xmlns:a="http://schemas.openxmlformats.org/drawingml/2006/main" prst="roundRect">
            <a:avLst>
              <a:gd name="adj" fmla="val 3593"/>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425" b="0">
                <a:solidFill>
                  <a:srgbClr val="171C22"/>
                </a:solidFill>
                <a:latin typeface="Aptos"/>
                <a:ea typeface="Aptos"/>
                <a:cs typeface="Aptos"/>
              </a:defRPr>
            </a:pPr>
            <a:r>
              <a:rPr sz="1425" b="0">
                <a:solidFill>
                  <a:srgbClr val="171C22"/>
                </a:solidFill>
                <a:latin typeface="Aptos"/>
                <a:ea typeface="Aptos"/>
                <a:cs typeface="Aptos"/>
              </a:rPr>
              <a:t>层级不是把所有内容做成不同大小，而是区分不同信息的重要程度。页面通常需要一个主问题、少量支持问题和更细的证据。标题层级帮助读者和辅助技术建立这种树状关系，留白、字重、行距与位置帮助视觉阅读者快速识别重点。层级一旦混乱，读者会把同等重要的内容当成噪音，或错过真正必须完成的行动。设计者应该能解释每一层为何存在，以及读者何时需要它。</a:t>
            </a:r>
          </a:p>
        </p:txBody>
      </p:sp>
      <p:sp>
        <p:nvSpPr>
          <p:cNvPr id="10" name="">
            <a:extLst xmlns:a="http://schemas.openxmlformats.org/drawingml/2006/main">
              <a:ext uri="{FF2B5EF4-FFF2-40B4-BE49-F238E27FC236}">
                <a16:creationId xmlns:a16="http://schemas.microsoft.com/office/drawing/2014/main" id="{5BB11CF2-C3F7-4352-991B-C06DC7E0C007}"/>
              </a:ext>
            </a:extLst>
          </p:cNvPr>
          <p:cNvSpPr>
            <a:spLocks xmlns:a="http://schemas.openxmlformats.org/drawingml/2006/main" noGrp="1"/>
          </p:cNvSpPr>
          <p:nvPr/>
        </p:nvSpPr>
        <p:spPr>
          <a:xfrm xmlns:a="http://schemas.openxmlformats.org/drawingml/2006/main">
            <a:off x="9105900" y="4095750"/>
            <a:ext cx="2190750" cy="781050"/>
          </a:xfrm>
          <a:prstGeom xmlns:a="http://schemas.openxmlformats.org/drawingml/2006/main" prst="roundRect">
            <a:avLst>
              <a:gd name="adj" fmla="val 14634"/>
            </a:avLst>
          </a:prstGeom>
          <a:solidFill xmlns:a="http://schemas.openxmlformats.org/drawingml/2006/main">
            <a:srgbClr val="F1DFC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75CFC87-5EE7-4C53-B1C8-64DA3A14051B}"/>
              </a:ext>
            </a:extLst>
          </p:cNvPr>
          <p:cNvSpPr>
            <a:spLocks xmlns:a="http://schemas.openxmlformats.org/drawingml/2006/main" noGrp="1"/>
          </p:cNvSpPr>
          <p:nvPr/>
        </p:nvSpPr>
        <p:spPr>
          <a:xfrm xmlns:a="http://schemas.openxmlformats.org/drawingml/2006/main">
            <a:off x="9277350" y="4267200"/>
            <a:ext cx="1809750" cy="438150"/>
          </a:xfrm>
          <a:prstGeom xmlns:a="http://schemas.openxmlformats.org/drawingml/2006/main" prst="roundRect">
            <a:avLst>
              <a:gd name="adj" fmla="val 26087"/>
            </a:avLst>
          </a:prstGeom>
          <a:noFill xmlns:a="http://schemas.openxmlformats.org/drawingml/2006/main"/>
          <a:ln xmlns:a="http://schemas.openxmlformats.org/drawingml/2006/main" w="0">
            <a:noFill/>
            <a:prstDash val="solid"/>
          </a:ln>
        </p:spPr>
        <p:txBody>
          <a:bodyPr xmlns:a="http://schemas.openxmlformats.org/drawingml/2006/main">
            <a:normAutofit fontScale="81585"/>
          </a:bodyPr>
          <a:lstStyle xmlns:a="http://schemas.openxmlformats.org/drawingml/2006/main"/>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课堂提示</a:t>
            </a:r>
          </a:p>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用内容关系验证设计选择</a:t>
            </a:r>
          </a:p>
        </p:txBody>
      </p:sp>
    </p:spTree>
    <p:extLst>
      <p:ext uri="{BB962C8B-B14F-4D97-AF65-F5344CB8AC3E}">
        <p14:creationId xmlns:p14="http://schemas.microsoft.com/office/powerpoint/2010/main" val="1171070371"/>
      </p:ext>
    </p:extLst>
  </p:cSld>
</p:sld>
</file>

<file path=ppt/slides/slide13.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9D92606-5A7A-4753-AC12-98556701BCAA}"/>
              </a:ext>
            </a:extLst>
          </p:cNvPr>
          <p:cNvSpPr>
            <a:spLocks xmlns:a="http://schemas.openxmlformats.org/drawingml/2006/main" noGrp="1"/>
          </p:cNvSpPr>
          <p:nvPr/>
        </p:nvSpPr>
        <p:spPr>
          <a:xfrm xmlns:a="http://schemas.openxmlformats.org/drawingml/2006/main">
            <a:off x="514350" y="361950"/>
            <a:ext cx="4381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59589C0-861D-4516-BB29-7E4B0BE4B273}"/>
              </a:ext>
            </a:extLst>
          </p:cNvPr>
          <p:cNvSpPr>
            <a:spLocks xmlns:a="http://schemas.openxmlformats.org/drawingml/2006/main" noGrp="1"/>
          </p:cNvSpPr>
          <p:nvPr/>
        </p:nvSpPr>
        <p:spPr>
          <a:xfrm xmlns:a="http://schemas.openxmlformats.org/drawingml/2006/main">
            <a:off x="514350" y="552450"/>
            <a:ext cx="2095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 / UNIVERSITY</a:t>
            </a:r>
          </a:p>
        </p:txBody>
      </p:sp>
      <p:sp>
        <p:nvSpPr>
          <p:cNvPr id="3" name="">
            <a:extLst xmlns:a="http://schemas.openxmlformats.org/drawingml/2006/main">
              <a:ext uri="{FF2B5EF4-FFF2-40B4-BE49-F238E27FC236}">
                <a16:creationId xmlns:a16="http://schemas.microsoft.com/office/drawing/2014/main" id="{F71DAF52-3C9A-46CD-BD53-23A4EDE728F2}"/>
              </a:ext>
            </a:extLst>
          </p:cNvPr>
          <p:cNvSpPr>
            <a:spLocks xmlns:a="http://schemas.openxmlformats.org/drawingml/2006/main" noGrp="1"/>
          </p:cNvSpPr>
          <p:nvPr/>
        </p:nvSpPr>
        <p:spPr>
          <a:xfrm xmlns:a="http://schemas.openxmlformats.org/drawingml/2006/main">
            <a:off x="9391650" y="552450"/>
            <a:ext cx="21907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4" name="">
            <a:extLst xmlns:a="http://schemas.openxmlformats.org/drawingml/2006/main">
              <a:ext uri="{FF2B5EF4-FFF2-40B4-BE49-F238E27FC236}">
                <a16:creationId xmlns:a16="http://schemas.microsoft.com/office/drawing/2014/main" id="{F8C2D4A2-E249-4127-9FAF-3A1C430C795A}"/>
              </a:ext>
            </a:extLst>
          </p:cNvPr>
          <p:cNvSpPr>
            <a:spLocks xmlns:a="http://schemas.openxmlformats.org/drawingml/2006/main" noGrp="1"/>
          </p:cNvSpPr>
          <p:nvPr/>
        </p:nvSpPr>
        <p:spPr>
          <a:xfrm xmlns:a="http://schemas.openxmlformats.org/drawingml/2006/main">
            <a:off x="514350" y="6229350"/>
            <a:ext cx="1114425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265CFFC-542C-4839-86DD-EFDBD45E5BC2}"/>
              </a:ext>
            </a:extLst>
          </p:cNvPr>
          <p:cNvSpPr>
            <a:spLocks xmlns:a="http://schemas.openxmlformats.org/drawingml/2006/main" noGrp="1"/>
          </p:cNvSpPr>
          <p:nvPr/>
        </p:nvSpPr>
        <p:spPr>
          <a:xfrm xmlns:a="http://schemas.openxmlformats.org/drawingml/2006/main">
            <a:off x="514350" y="6410325"/>
            <a:ext cx="3810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13</a:t>
            </a:r>
          </a:p>
        </p:txBody>
      </p:sp>
      <p:sp>
        <p:nvSpPr>
          <p:cNvPr id="6" name="">
            <a:extLst xmlns:a="http://schemas.openxmlformats.org/drawingml/2006/main">
              <a:ext uri="{FF2B5EF4-FFF2-40B4-BE49-F238E27FC236}">
                <a16:creationId xmlns:a16="http://schemas.microsoft.com/office/drawing/2014/main" id="{C4228D83-E747-4A79-9DCF-1281B887B5B7}"/>
              </a:ext>
            </a:extLst>
          </p:cNvPr>
          <p:cNvSpPr>
            <a:spLocks xmlns:a="http://schemas.openxmlformats.org/drawingml/2006/main" noGrp="1"/>
          </p:cNvSpPr>
          <p:nvPr/>
        </p:nvSpPr>
        <p:spPr>
          <a:xfrm xmlns:a="http://schemas.openxmlformats.org/drawingml/2006/main">
            <a:off x="514350" y="990600"/>
            <a:ext cx="8572500" cy="514350"/>
          </a:xfrm>
          <a:prstGeom xmlns:a="http://schemas.openxmlformats.org/drawingml/2006/main" prst="roundRect">
            <a:avLst>
              <a:gd name="adj" fmla="val 22222"/>
            </a:avLst>
          </a:prstGeom>
          <a:noFill xmlns:a="http://schemas.openxmlformats.org/drawingml/2006/main"/>
          <a:ln xmlns:a="http://schemas.openxmlformats.org/drawingml/2006/main" w="0">
            <a:noFill/>
            <a:prstDash val="solid"/>
          </a:ln>
        </p:spPr>
        <p:txBody>
          <a:bodyPr xmlns:a="http://schemas.openxmlformats.org/drawingml/2006/main">
            <a:normAutofit fontScale="86506"/>
          </a:bodyPr>
          <a:lstStyle xmlns:a="http://schemas.openxmlformats.org/drawingml/2006/main"/>
          <a:p xmlns:a="http://schemas.openxmlformats.org/drawingml/2006/main">
            <a:pPr>
              <a:defRPr sz="2700" b="1">
                <a:solidFill>
                  <a:srgbClr val="171C22"/>
                </a:solidFill>
                <a:latin typeface="Aptos"/>
                <a:ea typeface="Aptos"/>
                <a:cs typeface="Aptos"/>
              </a:defRPr>
            </a:pPr>
            <a:r>
              <a:rPr sz="2700" b="1">
                <a:solidFill>
                  <a:srgbClr val="171C22"/>
                </a:solidFill>
                <a:latin typeface="Aptos"/>
                <a:ea typeface="Aptos"/>
                <a:cs typeface="Aptos"/>
              </a:rPr>
              <a:t>Semantic HTML</a:t>
            </a:r>
          </a:p>
        </p:txBody>
      </p:sp>
      <p:sp>
        <p:nvSpPr>
          <p:cNvPr id="7" name="">
            <a:extLst xmlns:a="http://schemas.openxmlformats.org/drawingml/2006/main">
              <a:ext uri="{FF2B5EF4-FFF2-40B4-BE49-F238E27FC236}">
                <a16:creationId xmlns:a16="http://schemas.microsoft.com/office/drawing/2014/main" id="{2E781C4A-4851-4126-94E2-FE17620166AB}"/>
              </a:ext>
            </a:extLst>
          </p:cNvPr>
          <p:cNvSpPr>
            <a:spLocks xmlns:a="http://schemas.openxmlformats.org/drawingml/2006/main" noGrp="1"/>
          </p:cNvSpPr>
          <p:nvPr/>
        </p:nvSpPr>
        <p:spPr>
          <a:xfrm xmlns:a="http://schemas.openxmlformats.org/drawingml/2006/main">
            <a:off x="514350" y="1657350"/>
            <a:ext cx="8858250" cy="304800"/>
          </a:xfrm>
          <a:prstGeom xmlns:a="http://schemas.openxmlformats.org/drawingml/2006/main" prst="roundRect">
            <a:avLst>
              <a:gd name="adj" fmla="val 37500"/>
            </a:avLst>
          </a:prstGeom>
          <a:noFill xmlns:a="http://schemas.openxmlformats.org/drawingml/2006/main"/>
          <a:ln xmlns:a="http://schemas.openxmlformats.org/drawingml/2006/main" w="0">
            <a:noFill/>
            <a:prstDash val="solid"/>
          </a:ln>
        </p:spPr>
        <p:txBody>
          <a:bodyPr xmlns:a="http://schemas.openxmlformats.org/drawingml/2006/main">
            <a:normAutofit fontScale="75346"/>
          </a:bodyPr>
          <a:lstStyle xmlns:a="http://schemas.openxmlformats.org/drawingml/2006/main"/>
          <a:p xmlns:a="http://schemas.openxmlformats.org/drawingml/2006/main">
            <a:pPr>
              <a:defRPr sz="1275" b="0">
                <a:solidFill>
                  <a:srgbClr val="44515C"/>
                </a:solidFill>
                <a:latin typeface="Aptos"/>
                <a:ea typeface="Aptos"/>
                <a:cs typeface="Aptos"/>
              </a:defRPr>
            </a:pPr>
            <a:r>
              <a:rPr sz="1275" b="0">
                <a:solidFill>
                  <a:srgbClr val="44515C"/>
                </a:solidFill>
                <a:latin typeface="Aptos"/>
                <a:ea typeface="Aptos"/>
                <a:cs typeface="Aptos"/>
              </a:rPr>
              <a:t>Meaning survives when styling disappears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a60434fb276546bd"/>
          <a:srcRect xmlns:a="http://schemas.openxmlformats.org/drawingml/2006/main" l="0" t="23043" r="0" b="23043"/>
          <a:stretch xmlns:a="http://schemas.openxmlformats.org/drawingml/2006/main">
            <a:fillRect l="0" t="0" r="0" b="0"/>
          </a:stretch>
        </p:blipFill>
        <p:spPr>
          <a:xfrm xmlns:a="http://schemas.openxmlformats.org/drawingml/2006/main">
            <a:off x="9105900" y="2381250"/>
            <a:ext cx="2190750" cy="1476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C49D02A-07E7-4272-A530-A8A0ABD17475}"/>
              </a:ext>
            </a:extLst>
          </p:cNvPr>
          <p:cNvSpPr>
            <a:spLocks xmlns:a="http://schemas.openxmlformats.org/drawingml/2006/main" noGrp="1"/>
          </p:cNvSpPr>
          <p:nvPr/>
        </p:nvSpPr>
        <p:spPr>
          <a:xfrm xmlns:a="http://schemas.openxmlformats.org/drawingml/2006/main">
            <a:off x="514350" y="2343150"/>
            <a:ext cx="8096250" cy="3181350"/>
          </a:xfrm>
          <a:prstGeom xmlns:a="http://schemas.openxmlformats.org/drawingml/2006/main" prst="roundRect">
            <a:avLst>
              <a:gd name="adj" fmla="val 3593"/>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425" b="0">
                <a:solidFill>
                  <a:srgbClr val="171C22"/>
                </a:solidFill>
                <a:latin typeface="Aptos"/>
                <a:ea typeface="Aptos"/>
                <a:cs typeface="Aptos"/>
              </a:defRPr>
            </a:pPr>
            <a:r>
              <a:rPr sz="1425" b="0">
                <a:solidFill>
                  <a:srgbClr val="171C22"/>
                </a:solidFill>
                <a:latin typeface="Aptos"/>
                <a:ea typeface="Aptos"/>
                <a:cs typeface="Aptos"/>
              </a:rPr>
              <a:t>HTML 元素带有意义。main 表示主要内容，nav 表示导航，article 表示相对独立的内容单元，button 表示会触发动作的控件，a 表示前往另一个位置的链接。使用语义元素可以让浏览器、搜索工具和辅助技术更准确地解释页面，也让团队成员更容易维护代码。语义不是道德装饰，而是减少误解的工程选择。当 CSS 失效或页面被简化阅读时，正确的结构仍能保留内容关系。</a:t>
            </a:r>
          </a:p>
        </p:txBody>
      </p:sp>
      <p:sp>
        <p:nvSpPr>
          <p:cNvPr id="10" name="">
            <a:extLst xmlns:a="http://schemas.openxmlformats.org/drawingml/2006/main">
              <a:ext uri="{FF2B5EF4-FFF2-40B4-BE49-F238E27FC236}">
                <a16:creationId xmlns:a16="http://schemas.microsoft.com/office/drawing/2014/main" id="{3E0D3C6C-03F5-446F-AC5B-87E9288EF82A}"/>
              </a:ext>
            </a:extLst>
          </p:cNvPr>
          <p:cNvSpPr>
            <a:spLocks xmlns:a="http://schemas.openxmlformats.org/drawingml/2006/main" noGrp="1"/>
          </p:cNvSpPr>
          <p:nvPr/>
        </p:nvSpPr>
        <p:spPr>
          <a:xfrm xmlns:a="http://schemas.openxmlformats.org/drawingml/2006/main">
            <a:off x="9105900" y="4095750"/>
            <a:ext cx="2190750" cy="781050"/>
          </a:xfrm>
          <a:prstGeom xmlns:a="http://schemas.openxmlformats.org/drawingml/2006/main" prst="roundRect">
            <a:avLst>
              <a:gd name="adj" fmla="val 14634"/>
            </a:avLst>
          </a:prstGeom>
          <a:solidFill xmlns:a="http://schemas.openxmlformats.org/drawingml/2006/main">
            <a:srgbClr val="F1DFC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98C9161-A33D-45ED-9E19-4806137DEE10}"/>
              </a:ext>
            </a:extLst>
          </p:cNvPr>
          <p:cNvSpPr>
            <a:spLocks xmlns:a="http://schemas.openxmlformats.org/drawingml/2006/main" noGrp="1"/>
          </p:cNvSpPr>
          <p:nvPr/>
        </p:nvSpPr>
        <p:spPr>
          <a:xfrm xmlns:a="http://schemas.openxmlformats.org/drawingml/2006/main">
            <a:off x="9277350" y="4267200"/>
            <a:ext cx="1809750" cy="438150"/>
          </a:xfrm>
          <a:prstGeom xmlns:a="http://schemas.openxmlformats.org/drawingml/2006/main" prst="roundRect">
            <a:avLst>
              <a:gd name="adj" fmla="val 26087"/>
            </a:avLst>
          </a:prstGeom>
          <a:noFill xmlns:a="http://schemas.openxmlformats.org/drawingml/2006/main"/>
          <a:ln xmlns:a="http://schemas.openxmlformats.org/drawingml/2006/main" w="0">
            <a:noFill/>
            <a:prstDash val="solid"/>
          </a:ln>
        </p:spPr>
        <p:txBody>
          <a:bodyPr xmlns:a="http://schemas.openxmlformats.org/drawingml/2006/main">
            <a:normAutofit fontScale="81585"/>
          </a:bodyPr>
          <a:lstStyle xmlns:a="http://schemas.openxmlformats.org/drawingml/2006/main"/>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课堂提示</a:t>
            </a:r>
          </a:p>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用内容关系验证设计选择</a:t>
            </a:r>
          </a:p>
        </p:txBody>
      </p:sp>
    </p:spTree>
    <p:extLst>
      <p:ext uri="{BB962C8B-B14F-4D97-AF65-F5344CB8AC3E}">
        <p14:creationId xmlns:p14="http://schemas.microsoft.com/office/powerpoint/2010/main" val="185369846"/>
      </p:ext>
    </p:extLst>
  </p:cSld>
</p:sld>
</file>

<file path=ppt/slides/slide14.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B05AF3A-4218-4CA9-A49A-5CEF3783B1BB}"/>
              </a:ext>
            </a:extLst>
          </p:cNvPr>
          <p:cNvSpPr>
            <a:spLocks xmlns:a="http://schemas.openxmlformats.org/drawingml/2006/main" noGrp="1"/>
          </p:cNvSpPr>
          <p:nvPr/>
        </p:nvSpPr>
        <p:spPr>
          <a:xfrm xmlns:a="http://schemas.openxmlformats.org/drawingml/2006/main">
            <a:off x="514350" y="361950"/>
            <a:ext cx="4381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4FA120C-0D6E-4E36-80AB-370372641EE5}"/>
              </a:ext>
            </a:extLst>
          </p:cNvPr>
          <p:cNvSpPr>
            <a:spLocks xmlns:a="http://schemas.openxmlformats.org/drawingml/2006/main" noGrp="1"/>
          </p:cNvSpPr>
          <p:nvPr/>
        </p:nvSpPr>
        <p:spPr>
          <a:xfrm xmlns:a="http://schemas.openxmlformats.org/drawingml/2006/main">
            <a:off x="514350" y="552450"/>
            <a:ext cx="2095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 / UNIVERSITY</a:t>
            </a:r>
          </a:p>
        </p:txBody>
      </p:sp>
      <p:sp>
        <p:nvSpPr>
          <p:cNvPr id="3" name="">
            <a:extLst xmlns:a="http://schemas.openxmlformats.org/drawingml/2006/main">
              <a:ext uri="{FF2B5EF4-FFF2-40B4-BE49-F238E27FC236}">
                <a16:creationId xmlns:a16="http://schemas.microsoft.com/office/drawing/2014/main" id="{DA18E5B3-71E8-467A-BB05-E3E2123298AD}"/>
              </a:ext>
            </a:extLst>
          </p:cNvPr>
          <p:cNvSpPr>
            <a:spLocks xmlns:a="http://schemas.openxmlformats.org/drawingml/2006/main" noGrp="1"/>
          </p:cNvSpPr>
          <p:nvPr/>
        </p:nvSpPr>
        <p:spPr>
          <a:xfrm xmlns:a="http://schemas.openxmlformats.org/drawingml/2006/main">
            <a:off x="9391650" y="552450"/>
            <a:ext cx="21907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4" name="">
            <a:extLst xmlns:a="http://schemas.openxmlformats.org/drawingml/2006/main">
              <a:ext uri="{FF2B5EF4-FFF2-40B4-BE49-F238E27FC236}">
                <a16:creationId xmlns:a16="http://schemas.microsoft.com/office/drawing/2014/main" id="{C67F4E9B-9BE5-4B81-B4C1-CDEBCF717620}"/>
              </a:ext>
            </a:extLst>
          </p:cNvPr>
          <p:cNvSpPr>
            <a:spLocks xmlns:a="http://schemas.openxmlformats.org/drawingml/2006/main" noGrp="1"/>
          </p:cNvSpPr>
          <p:nvPr/>
        </p:nvSpPr>
        <p:spPr>
          <a:xfrm xmlns:a="http://schemas.openxmlformats.org/drawingml/2006/main">
            <a:off x="514350" y="6229350"/>
            <a:ext cx="1114425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7C567B0-BF48-4D62-B3C8-E8588DD42527}"/>
              </a:ext>
            </a:extLst>
          </p:cNvPr>
          <p:cNvSpPr>
            <a:spLocks xmlns:a="http://schemas.openxmlformats.org/drawingml/2006/main" noGrp="1"/>
          </p:cNvSpPr>
          <p:nvPr/>
        </p:nvSpPr>
        <p:spPr>
          <a:xfrm xmlns:a="http://schemas.openxmlformats.org/drawingml/2006/main">
            <a:off x="514350" y="6410325"/>
            <a:ext cx="3810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14</a:t>
            </a:r>
          </a:p>
        </p:txBody>
      </p:sp>
      <p:sp>
        <p:nvSpPr>
          <p:cNvPr id="6" name="">
            <a:extLst xmlns:a="http://schemas.openxmlformats.org/drawingml/2006/main">
              <a:ext uri="{FF2B5EF4-FFF2-40B4-BE49-F238E27FC236}">
                <a16:creationId xmlns:a16="http://schemas.microsoft.com/office/drawing/2014/main" id="{2070E8F2-9CD0-48A2-A1B2-CF54F33BA34E}"/>
              </a:ext>
            </a:extLst>
          </p:cNvPr>
          <p:cNvSpPr>
            <a:spLocks xmlns:a="http://schemas.openxmlformats.org/drawingml/2006/main" noGrp="1"/>
          </p:cNvSpPr>
          <p:nvPr/>
        </p:nvSpPr>
        <p:spPr>
          <a:xfrm xmlns:a="http://schemas.openxmlformats.org/drawingml/2006/main">
            <a:off x="514350" y="990600"/>
            <a:ext cx="8572500" cy="514350"/>
          </a:xfrm>
          <a:prstGeom xmlns:a="http://schemas.openxmlformats.org/drawingml/2006/main" prst="roundRect">
            <a:avLst>
              <a:gd name="adj" fmla="val 22222"/>
            </a:avLst>
          </a:prstGeom>
          <a:noFill xmlns:a="http://schemas.openxmlformats.org/drawingml/2006/main"/>
          <a:ln xmlns:a="http://schemas.openxmlformats.org/drawingml/2006/main" w="0">
            <a:noFill/>
            <a:prstDash val="solid"/>
          </a:ln>
        </p:spPr>
        <p:txBody>
          <a:bodyPr xmlns:a="http://schemas.openxmlformats.org/drawingml/2006/main">
            <a:normAutofit fontScale="86506"/>
          </a:bodyPr>
          <a:lstStyle xmlns:a="http://schemas.openxmlformats.org/drawingml/2006/main"/>
          <a:p xmlns:a="http://schemas.openxmlformats.org/drawingml/2006/main">
            <a:pPr>
              <a:defRPr sz="2700" b="1">
                <a:solidFill>
                  <a:srgbClr val="171C22"/>
                </a:solidFill>
                <a:latin typeface="Aptos"/>
                <a:ea typeface="Aptos"/>
                <a:cs typeface="Aptos"/>
              </a:defRPr>
            </a:pPr>
            <a:r>
              <a:rPr sz="2700" b="1">
                <a:solidFill>
                  <a:srgbClr val="171C22"/>
                </a:solidFill>
                <a:latin typeface="Aptos"/>
                <a:ea typeface="Aptos"/>
                <a:cs typeface="Aptos"/>
              </a:rPr>
              <a:t>Heading structure</a:t>
            </a:r>
          </a:p>
        </p:txBody>
      </p:sp>
      <p:sp>
        <p:nvSpPr>
          <p:cNvPr id="7" name="">
            <a:extLst xmlns:a="http://schemas.openxmlformats.org/drawingml/2006/main">
              <a:ext uri="{FF2B5EF4-FFF2-40B4-BE49-F238E27FC236}">
                <a16:creationId xmlns:a16="http://schemas.microsoft.com/office/drawing/2014/main" id="{F14087AC-C76D-46EB-BC25-70F9F311380B}"/>
              </a:ext>
            </a:extLst>
          </p:cNvPr>
          <p:cNvSpPr>
            <a:spLocks xmlns:a="http://schemas.openxmlformats.org/drawingml/2006/main" noGrp="1"/>
          </p:cNvSpPr>
          <p:nvPr/>
        </p:nvSpPr>
        <p:spPr>
          <a:xfrm xmlns:a="http://schemas.openxmlformats.org/drawingml/2006/main">
            <a:off x="514350" y="1657350"/>
            <a:ext cx="8858250" cy="304800"/>
          </a:xfrm>
          <a:prstGeom xmlns:a="http://schemas.openxmlformats.org/drawingml/2006/main" prst="roundRect">
            <a:avLst>
              <a:gd name="adj" fmla="val 37500"/>
            </a:avLst>
          </a:prstGeom>
          <a:noFill xmlns:a="http://schemas.openxmlformats.org/drawingml/2006/main"/>
          <a:ln xmlns:a="http://schemas.openxmlformats.org/drawingml/2006/main" w="0">
            <a:noFill/>
            <a:prstDash val="solid"/>
          </a:ln>
        </p:spPr>
        <p:txBody>
          <a:bodyPr xmlns:a="http://schemas.openxmlformats.org/drawingml/2006/main">
            <a:normAutofit fontScale="75346"/>
          </a:bodyPr>
          <a:lstStyle xmlns:a="http://schemas.openxmlformats.org/drawingml/2006/main"/>
          <a:p xmlns:a="http://schemas.openxmlformats.org/drawingml/2006/main">
            <a:pPr>
              <a:defRPr sz="1275" b="0">
                <a:solidFill>
                  <a:srgbClr val="44515C"/>
                </a:solidFill>
                <a:latin typeface="Aptos"/>
                <a:ea typeface="Aptos"/>
                <a:cs typeface="Aptos"/>
              </a:defRPr>
            </a:pPr>
            <a:r>
              <a:rPr sz="1275" b="0">
                <a:solidFill>
                  <a:srgbClr val="44515C"/>
                </a:solidFill>
                <a:latin typeface="Aptos"/>
                <a:ea typeface="Aptos"/>
                <a:cs typeface="Aptos"/>
              </a:rPr>
              <a:t>Headings describe a document tree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31ba26ac8e8d4699"/>
          <a:srcRect xmlns:a="http://schemas.openxmlformats.org/drawingml/2006/main" l="522" t="0" r="522" b="0"/>
          <a:stretch xmlns:a="http://schemas.openxmlformats.org/drawingml/2006/main">
            <a:fillRect l="0" t="0" r="0" b="0"/>
          </a:stretch>
        </p:blipFill>
        <p:spPr>
          <a:xfrm xmlns:a="http://schemas.openxmlformats.org/drawingml/2006/main">
            <a:off x="9105900" y="2381250"/>
            <a:ext cx="2190750" cy="1476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80B70545-D6E0-4116-96ED-FA35E2EC4484}"/>
              </a:ext>
            </a:extLst>
          </p:cNvPr>
          <p:cNvSpPr>
            <a:spLocks xmlns:a="http://schemas.openxmlformats.org/drawingml/2006/main" noGrp="1"/>
          </p:cNvSpPr>
          <p:nvPr/>
        </p:nvSpPr>
        <p:spPr>
          <a:xfrm xmlns:a="http://schemas.openxmlformats.org/drawingml/2006/main">
            <a:off x="514350" y="2343150"/>
            <a:ext cx="8096250" cy="3181350"/>
          </a:xfrm>
          <a:prstGeom xmlns:a="http://schemas.openxmlformats.org/drawingml/2006/main" prst="roundRect">
            <a:avLst>
              <a:gd name="adj" fmla="val 3593"/>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425" b="0">
                <a:solidFill>
                  <a:srgbClr val="171C22"/>
                </a:solidFill>
                <a:latin typeface="Aptos"/>
                <a:ea typeface="Aptos"/>
                <a:cs typeface="Aptos"/>
              </a:defRPr>
            </a:pPr>
            <a:r>
              <a:rPr sz="1425" b="0">
                <a:solidFill>
                  <a:srgbClr val="171C22"/>
                </a:solidFill>
                <a:latin typeface="Aptos"/>
                <a:ea typeface="Aptos"/>
                <a:cs typeface="Aptos"/>
              </a:rPr>
              <a:t>标题不是单纯的大字。h1 表示页面主要主题，h2 划分主要章节，h3 细化 h2 下的内容。层级应依照内容关系而不是视觉大小决定，不能为了缩小字就跳过层级，也不应把整段文字伪装成标题。读者常通过标题扫描页面，屏幕阅读器使用者也会依赖标题列表快速跳转。建立标题树时，先写出章节大纲，再检查每个小节是否真正属于前一个层级。</a:t>
            </a:r>
          </a:p>
        </p:txBody>
      </p:sp>
      <p:sp>
        <p:nvSpPr>
          <p:cNvPr id="10" name="">
            <a:extLst xmlns:a="http://schemas.openxmlformats.org/drawingml/2006/main">
              <a:ext uri="{FF2B5EF4-FFF2-40B4-BE49-F238E27FC236}">
                <a16:creationId xmlns:a16="http://schemas.microsoft.com/office/drawing/2014/main" id="{27BABE55-E7EF-45F2-B676-341A908AEA13}"/>
              </a:ext>
            </a:extLst>
          </p:cNvPr>
          <p:cNvSpPr>
            <a:spLocks xmlns:a="http://schemas.openxmlformats.org/drawingml/2006/main" noGrp="1"/>
          </p:cNvSpPr>
          <p:nvPr/>
        </p:nvSpPr>
        <p:spPr>
          <a:xfrm xmlns:a="http://schemas.openxmlformats.org/drawingml/2006/main">
            <a:off x="9105900" y="4095750"/>
            <a:ext cx="2190750" cy="781050"/>
          </a:xfrm>
          <a:prstGeom xmlns:a="http://schemas.openxmlformats.org/drawingml/2006/main" prst="roundRect">
            <a:avLst>
              <a:gd name="adj" fmla="val 14634"/>
            </a:avLst>
          </a:prstGeom>
          <a:solidFill xmlns:a="http://schemas.openxmlformats.org/drawingml/2006/main">
            <a:srgbClr val="F1DFC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8EC06C3-E37E-4A87-A5A1-FAC31E094A05}"/>
              </a:ext>
            </a:extLst>
          </p:cNvPr>
          <p:cNvSpPr>
            <a:spLocks xmlns:a="http://schemas.openxmlformats.org/drawingml/2006/main" noGrp="1"/>
          </p:cNvSpPr>
          <p:nvPr/>
        </p:nvSpPr>
        <p:spPr>
          <a:xfrm xmlns:a="http://schemas.openxmlformats.org/drawingml/2006/main">
            <a:off x="9277350" y="4267200"/>
            <a:ext cx="1809750" cy="438150"/>
          </a:xfrm>
          <a:prstGeom xmlns:a="http://schemas.openxmlformats.org/drawingml/2006/main" prst="roundRect">
            <a:avLst>
              <a:gd name="adj" fmla="val 26087"/>
            </a:avLst>
          </a:prstGeom>
          <a:noFill xmlns:a="http://schemas.openxmlformats.org/drawingml/2006/main"/>
          <a:ln xmlns:a="http://schemas.openxmlformats.org/drawingml/2006/main" w="0">
            <a:noFill/>
            <a:prstDash val="solid"/>
          </a:ln>
        </p:spPr>
        <p:txBody>
          <a:bodyPr xmlns:a="http://schemas.openxmlformats.org/drawingml/2006/main">
            <a:normAutofit fontScale="81585"/>
          </a:bodyPr>
          <a:lstStyle xmlns:a="http://schemas.openxmlformats.org/drawingml/2006/main"/>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课堂提示</a:t>
            </a:r>
          </a:p>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用内容关系验证设计选择</a:t>
            </a:r>
          </a:p>
        </p:txBody>
      </p:sp>
    </p:spTree>
    <p:extLst>
      <p:ext uri="{BB962C8B-B14F-4D97-AF65-F5344CB8AC3E}">
        <p14:creationId xmlns:p14="http://schemas.microsoft.com/office/powerpoint/2010/main" val="683211724"/>
      </p:ext>
    </p:extLst>
  </p:cSld>
</p:sld>
</file>

<file path=ppt/slides/slide15.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0055DD9-09FD-4F14-8C86-8FD1F8B8B9BE}"/>
              </a:ext>
            </a:extLst>
          </p:cNvPr>
          <p:cNvSpPr>
            <a:spLocks xmlns:a="http://schemas.openxmlformats.org/drawingml/2006/main" noGrp="1"/>
          </p:cNvSpPr>
          <p:nvPr/>
        </p:nvSpPr>
        <p:spPr>
          <a:xfrm xmlns:a="http://schemas.openxmlformats.org/drawingml/2006/main">
            <a:off x="514350" y="361950"/>
            <a:ext cx="4381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901EF9E-CF0A-4400-8390-33C41139A545}"/>
              </a:ext>
            </a:extLst>
          </p:cNvPr>
          <p:cNvSpPr>
            <a:spLocks xmlns:a="http://schemas.openxmlformats.org/drawingml/2006/main" noGrp="1"/>
          </p:cNvSpPr>
          <p:nvPr/>
        </p:nvSpPr>
        <p:spPr>
          <a:xfrm xmlns:a="http://schemas.openxmlformats.org/drawingml/2006/main">
            <a:off x="514350" y="552450"/>
            <a:ext cx="2095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 / UNIVERSITY</a:t>
            </a:r>
          </a:p>
        </p:txBody>
      </p:sp>
      <p:sp>
        <p:nvSpPr>
          <p:cNvPr id="3" name="">
            <a:extLst xmlns:a="http://schemas.openxmlformats.org/drawingml/2006/main">
              <a:ext uri="{FF2B5EF4-FFF2-40B4-BE49-F238E27FC236}">
                <a16:creationId xmlns:a16="http://schemas.microsoft.com/office/drawing/2014/main" id="{77325602-87CF-46E8-BC77-B0C34BB3890F}"/>
              </a:ext>
            </a:extLst>
          </p:cNvPr>
          <p:cNvSpPr>
            <a:spLocks xmlns:a="http://schemas.openxmlformats.org/drawingml/2006/main" noGrp="1"/>
          </p:cNvSpPr>
          <p:nvPr/>
        </p:nvSpPr>
        <p:spPr>
          <a:xfrm xmlns:a="http://schemas.openxmlformats.org/drawingml/2006/main">
            <a:off x="9391650" y="552450"/>
            <a:ext cx="21907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4" name="">
            <a:extLst xmlns:a="http://schemas.openxmlformats.org/drawingml/2006/main">
              <a:ext uri="{FF2B5EF4-FFF2-40B4-BE49-F238E27FC236}">
                <a16:creationId xmlns:a16="http://schemas.microsoft.com/office/drawing/2014/main" id="{97AB7BC0-8CDA-4A7C-AEA1-467142EA92C7}"/>
              </a:ext>
            </a:extLst>
          </p:cNvPr>
          <p:cNvSpPr>
            <a:spLocks xmlns:a="http://schemas.openxmlformats.org/drawingml/2006/main" noGrp="1"/>
          </p:cNvSpPr>
          <p:nvPr/>
        </p:nvSpPr>
        <p:spPr>
          <a:xfrm xmlns:a="http://schemas.openxmlformats.org/drawingml/2006/main">
            <a:off x="514350" y="6229350"/>
            <a:ext cx="1114425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76C588C-9398-4645-A571-BF3A14E3B812}"/>
              </a:ext>
            </a:extLst>
          </p:cNvPr>
          <p:cNvSpPr>
            <a:spLocks xmlns:a="http://schemas.openxmlformats.org/drawingml/2006/main" noGrp="1"/>
          </p:cNvSpPr>
          <p:nvPr/>
        </p:nvSpPr>
        <p:spPr>
          <a:xfrm xmlns:a="http://schemas.openxmlformats.org/drawingml/2006/main">
            <a:off x="514350" y="6410325"/>
            <a:ext cx="3810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15</a:t>
            </a:r>
          </a:p>
        </p:txBody>
      </p:sp>
      <p:sp>
        <p:nvSpPr>
          <p:cNvPr id="6" name="">
            <a:extLst xmlns:a="http://schemas.openxmlformats.org/drawingml/2006/main">
              <a:ext uri="{FF2B5EF4-FFF2-40B4-BE49-F238E27FC236}">
                <a16:creationId xmlns:a16="http://schemas.microsoft.com/office/drawing/2014/main" id="{280152AA-80D0-4CD9-8679-26D267A31B66}"/>
              </a:ext>
            </a:extLst>
          </p:cNvPr>
          <p:cNvSpPr>
            <a:spLocks xmlns:a="http://schemas.openxmlformats.org/drawingml/2006/main" noGrp="1"/>
          </p:cNvSpPr>
          <p:nvPr/>
        </p:nvSpPr>
        <p:spPr>
          <a:xfrm xmlns:a="http://schemas.openxmlformats.org/drawingml/2006/main">
            <a:off x="514350" y="990600"/>
            <a:ext cx="8572500" cy="514350"/>
          </a:xfrm>
          <a:prstGeom xmlns:a="http://schemas.openxmlformats.org/drawingml/2006/main" prst="roundRect">
            <a:avLst>
              <a:gd name="adj" fmla="val 22222"/>
            </a:avLst>
          </a:prstGeom>
          <a:noFill xmlns:a="http://schemas.openxmlformats.org/drawingml/2006/main"/>
          <a:ln xmlns:a="http://schemas.openxmlformats.org/drawingml/2006/main" w="0">
            <a:noFill/>
            <a:prstDash val="solid"/>
          </a:ln>
        </p:spPr>
        <p:txBody>
          <a:bodyPr xmlns:a="http://schemas.openxmlformats.org/drawingml/2006/main">
            <a:normAutofit fontScale="86506"/>
          </a:bodyPr>
          <a:lstStyle xmlns:a="http://schemas.openxmlformats.org/drawingml/2006/main"/>
          <a:p xmlns:a="http://schemas.openxmlformats.org/drawingml/2006/main">
            <a:pPr>
              <a:defRPr sz="2700" b="1">
                <a:solidFill>
                  <a:srgbClr val="171C22"/>
                </a:solidFill>
                <a:latin typeface="Aptos"/>
                <a:ea typeface="Aptos"/>
                <a:cs typeface="Aptos"/>
              </a:defRPr>
            </a:pPr>
            <a:r>
              <a:rPr sz="2700" b="1">
                <a:solidFill>
                  <a:srgbClr val="171C22"/>
                </a:solidFill>
                <a:latin typeface="Aptos"/>
                <a:ea typeface="Aptos"/>
                <a:cs typeface="Aptos"/>
              </a:rPr>
              <a:t>Landmarks and regions</a:t>
            </a:r>
          </a:p>
        </p:txBody>
      </p:sp>
      <p:sp>
        <p:nvSpPr>
          <p:cNvPr id="7" name="">
            <a:extLst xmlns:a="http://schemas.openxmlformats.org/drawingml/2006/main">
              <a:ext uri="{FF2B5EF4-FFF2-40B4-BE49-F238E27FC236}">
                <a16:creationId xmlns:a16="http://schemas.microsoft.com/office/drawing/2014/main" id="{3F8BA29E-56CF-47A9-95BC-AE3CDBE3084D}"/>
              </a:ext>
            </a:extLst>
          </p:cNvPr>
          <p:cNvSpPr>
            <a:spLocks xmlns:a="http://schemas.openxmlformats.org/drawingml/2006/main" noGrp="1"/>
          </p:cNvSpPr>
          <p:nvPr/>
        </p:nvSpPr>
        <p:spPr>
          <a:xfrm xmlns:a="http://schemas.openxmlformats.org/drawingml/2006/main">
            <a:off x="514350" y="1657350"/>
            <a:ext cx="8858250" cy="304800"/>
          </a:xfrm>
          <a:prstGeom xmlns:a="http://schemas.openxmlformats.org/drawingml/2006/main" prst="roundRect">
            <a:avLst>
              <a:gd name="adj" fmla="val 37500"/>
            </a:avLst>
          </a:prstGeom>
          <a:noFill xmlns:a="http://schemas.openxmlformats.org/drawingml/2006/main"/>
          <a:ln xmlns:a="http://schemas.openxmlformats.org/drawingml/2006/main" w="0">
            <a:noFill/>
            <a:prstDash val="solid"/>
          </a:ln>
        </p:spPr>
        <p:txBody>
          <a:bodyPr xmlns:a="http://schemas.openxmlformats.org/drawingml/2006/main">
            <a:normAutofit fontScale="75346"/>
          </a:bodyPr>
          <a:lstStyle xmlns:a="http://schemas.openxmlformats.org/drawingml/2006/main"/>
          <a:p xmlns:a="http://schemas.openxmlformats.org/drawingml/2006/main">
            <a:pPr>
              <a:defRPr sz="1275" b="0">
                <a:solidFill>
                  <a:srgbClr val="44515C"/>
                </a:solidFill>
                <a:latin typeface="Aptos"/>
                <a:ea typeface="Aptos"/>
                <a:cs typeface="Aptos"/>
              </a:defRPr>
            </a:pPr>
            <a:r>
              <a:rPr sz="1275" b="0">
                <a:solidFill>
                  <a:srgbClr val="44515C"/>
                </a:solidFill>
                <a:latin typeface="Aptos"/>
                <a:ea typeface="Aptos"/>
                <a:cs typeface="Aptos"/>
              </a:rPr>
              <a:t>A page needs stable places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9c11cf9a1514060"/>
          <a:srcRect xmlns:a="http://schemas.openxmlformats.org/drawingml/2006/main" l="522" t="0" r="522" b="0"/>
          <a:stretch xmlns:a="http://schemas.openxmlformats.org/drawingml/2006/main">
            <a:fillRect l="0" t="0" r="0" b="0"/>
          </a:stretch>
        </p:blipFill>
        <p:spPr>
          <a:xfrm xmlns:a="http://schemas.openxmlformats.org/drawingml/2006/main">
            <a:off x="9105900" y="2381250"/>
            <a:ext cx="2190750" cy="1476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958660D9-E696-4D3A-AC1A-B431ACE334A0}"/>
              </a:ext>
            </a:extLst>
          </p:cNvPr>
          <p:cNvSpPr>
            <a:spLocks xmlns:a="http://schemas.openxmlformats.org/drawingml/2006/main" noGrp="1"/>
          </p:cNvSpPr>
          <p:nvPr/>
        </p:nvSpPr>
        <p:spPr>
          <a:xfrm xmlns:a="http://schemas.openxmlformats.org/drawingml/2006/main">
            <a:off x="514350" y="2343150"/>
            <a:ext cx="8096250" cy="3181350"/>
          </a:xfrm>
          <a:prstGeom xmlns:a="http://schemas.openxmlformats.org/drawingml/2006/main" prst="roundRect">
            <a:avLst>
              <a:gd name="adj" fmla="val 3593"/>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425" b="0">
                <a:solidFill>
                  <a:srgbClr val="171C22"/>
                </a:solidFill>
                <a:latin typeface="Aptos"/>
                <a:ea typeface="Aptos"/>
                <a:cs typeface="Aptos"/>
              </a:defRPr>
            </a:pPr>
            <a:r>
              <a:rPr sz="1425" b="0">
                <a:solidFill>
                  <a:srgbClr val="171C22"/>
                </a:solidFill>
                <a:latin typeface="Aptos"/>
                <a:ea typeface="Aptos"/>
                <a:cs typeface="Aptos"/>
              </a:rPr>
              <a:t>网页中的 header、nav、main、aside 与 footer 提供稳定区域。它们让重复出现的导航与当前页面内容可以被区分，也支持键盘和辅助技术快速跳到主要内容。区域数量不应过多，否则读者会面对另一种噪音。一个可靠的页面通常有清楚的页首、主导航、唯一主内容、必要的补充信息与页脚。区域名称应来自任务，例如“课程导航”比“菜单”更能告诉使用者这里包含什么。</a:t>
            </a:r>
          </a:p>
        </p:txBody>
      </p:sp>
      <p:sp>
        <p:nvSpPr>
          <p:cNvPr id="10" name="">
            <a:extLst xmlns:a="http://schemas.openxmlformats.org/drawingml/2006/main">
              <a:ext uri="{FF2B5EF4-FFF2-40B4-BE49-F238E27FC236}">
                <a16:creationId xmlns:a16="http://schemas.microsoft.com/office/drawing/2014/main" id="{A6F6C83A-0A45-4E02-BE66-785768598109}"/>
              </a:ext>
            </a:extLst>
          </p:cNvPr>
          <p:cNvSpPr>
            <a:spLocks xmlns:a="http://schemas.openxmlformats.org/drawingml/2006/main" noGrp="1"/>
          </p:cNvSpPr>
          <p:nvPr/>
        </p:nvSpPr>
        <p:spPr>
          <a:xfrm xmlns:a="http://schemas.openxmlformats.org/drawingml/2006/main">
            <a:off x="9105900" y="4095750"/>
            <a:ext cx="2190750" cy="781050"/>
          </a:xfrm>
          <a:prstGeom xmlns:a="http://schemas.openxmlformats.org/drawingml/2006/main" prst="roundRect">
            <a:avLst>
              <a:gd name="adj" fmla="val 14634"/>
            </a:avLst>
          </a:prstGeom>
          <a:solidFill xmlns:a="http://schemas.openxmlformats.org/drawingml/2006/main">
            <a:srgbClr val="F1DFC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FF80A5D-151D-46A2-A625-589BE6BAF69A}"/>
              </a:ext>
            </a:extLst>
          </p:cNvPr>
          <p:cNvSpPr>
            <a:spLocks xmlns:a="http://schemas.openxmlformats.org/drawingml/2006/main" noGrp="1"/>
          </p:cNvSpPr>
          <p:nvPr/>
        </p:nvSpPr>
        <p:spPr>
          <a:xfrm xmlns:a="http://schemas.openxmlformats.org/drawingml/2006/main">
            <a:off x="9277350" y="4267200"/>
            <a:ext cx="1809750" cy="438150"/>
          </a:xfrm>
          <a:prstGeom xmlns:a="http://schemas.openxmlformats.org/drawingml/2006/main" prst="roundRect">
            <a:avLst>
              <a:gd name="adj" fmla="val 26087"/>
            </a:avLst>
          </a:prstGeom>
          <a:noFill xmlns:a="http://schemas.openxmlformats.org/drawingml/2006/main"/>
          <a:ln xmlns:a="http://schemas.openxmlformats.org/drawingml/2006/main" w="0">
            <a:noFill/>
            <a:prstDash val="solid"/>
          </a:ln>
        </p:spPr>
        <p:txBody>
          <a:bodyPr xmlns:a="http://schemas.openxmlformats.org/drawingml/2006/main">
            <a:normAutofit fontScale="81585"/>
          </a:bodyPr>
          <a:lstStyle xmlns:a="http://schemas.openxmlformats.org/drawingml/2006/main"/>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课堂提示</a:t>
            </a:r>
          </a:p>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用内容关系验证设计选择</a:t>
            </a:r>
          </a:p>
        </p:txBody>
      </p:sp>
    </p:spTree>
    <p:extLst>
      <p:ext uri="{BB962C8B-B14F-4D97-AF65-F5344CB8AC3E}">
        <p14:creationId xmlns:p14="http://schemas.microsoft.com/office/powerpoint/2010/main" val="634754060"/>
      </p:ext>
    </p:extLst>
  </p:cSld>
</p:sld>
</file>

<file path=ppt/slides/slide16.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D3D15E3-32AF-4A8D-8EEA-4B264498EB99}"/>
              </a:ext>
            </a:extLst>
          </p:cNvPr>
          <p:cNvSpPr>
            <a:spLocks xmlns:a="http://schemas.openxmlformats.org/drawingml/2006/main" noGrp="1"/>
          </p:cNvSpPr>
          <p:nvPr/>
        </p:nvSpPr>
        <p:spPr>
          <a:xfrm xmlns:a="http://schemas.openxmlformats.org/drawingml/2006/main">
            <a:off x="514350" y="361950"/>
            <a:ext cx="4381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923B458-943D-4438-BFE2-36BF3B38ABCB}"/>
              </a:ext>
            </a:extLst>
          </p:cNvPr>
          <p:cNvSpPr>
            <a:spLocks xmlns:a="http://schemas.openxmlformats.org/drawingml/2006/main" noGrp="1"/>
          </p:cNvSpPr>
          <p:nvPr/>
        </p:nvSpPr>
        <p:spPr>
          <a:xfrm xmlns:a="http://schemas.openxmlformats.org/drawingml/2006/main">
            <a:off x="514350" y="552450"/>
            <a:ext cx="2095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 / UNIVERSITY</a:t>
            </a:r>
          </a:p>
        </p:txBody>
      </p:sp>
      <p:sp>
        <p:nvSpPr>
          <p:cNvPr id="3" name="">
            <a:extLst xmlns:a="http://schemas.openxmlformats.org/drawingml/2006/main">
              <a:ext uri="{FF2B5EF4-FFF2-40B4-BE49-F238E27FC236}">
                <a16:creationId xmlns:a16="http://schemas.microsoft.com/office/drawing/2014/main" id="{9922ECAE-541C-42C4-97E6-1245829D9B4F}"/>
              </a:ext>
            </a:extLst>
          </p:cNvPr>
          <p:cNvSpPr>
            <a:spLocks xmlns:a="http://schemas.openxmlformats.org/drawingml/2006/main" noGrp="1"/>
          </p:cNvSpPr>
          <p:nvPr/>
        </p:nvSpPr>
        <p:spPr>
          <a:xfrm xmlns:a="http://schemas.openxmlformats.org/drawingml/2006/main">
            <a:off x="9391650" y="552450"/>
            <a:ext cx="21907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4" name="">
            <a:extLst xmlns:a="http://schemas.openxmlformats.org/drawingml/2006/main">
              <a:ext uri="{FF2B5EF4-FFF2-40B4-BE49-F238E27FC236}">
                <a16:creationId xmlns:a16="http://schemas.microsoft.com/office/drawing/2014/main" id="{4C0BF6BE-3E65-496A-AE19-797CABFC9FEB}"/>
              </a:ext>
            </a:extLst>
          </p:cNvPr>
          <p:cNvSpPr>
            <a:spLocks xmlns:a="http://schemas.openxmlformats.org/drawingml/2006/main" noGrp="1"/>
          </p:cNvSpPr>
          <p:nvPr/>
        </p:nvSpPr>
        <p:spPr>
          <a:xfrm xmlns:a="http://schemas.openxmlformats.org/drawingml/2006/main">
            <a:off x="514350" y="6229350"/>
            <a:ext cx="1114425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262F026-2DAF-45FA-B4E2-D19708E18DCA}"/>
              </a:ext>
            </a:extLst>
          </p:cNvPr>
          <p:cNvSpPr>
            <a:spLocks xmlns:a="http://schemas.openxmlformats.org/drawingml/2006/main" noGrp="1"/>
          </p:cNvSpPr>
          <p:nvPr/>
        </p:nvSpPr>
        <p:spPr>
          <a:xfrm xmlns:a="http://schemas.openxmlformats.org/drawingml/2006/main">
            <a:off x="514350" y="6410325"/>
            <a:ext cx="3810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16</a:t>
            </a:r>
          </a:p>
        </p:txBody>
      </p:sp>
      <p:sp>
        <p:nvSpPr>
          <p:cNvPr id="6" name="">
            <a:extLst xmlns:a="http://schemas.openxmlformats.org/drawingml/2006/main">
              <a:ext uri="{FF2B5EF4-FFF2-40B4-BE49-F238E27FC236}">
                <a16:creationId xmlns:a16="http://schemas.microsoft.com/office/drawing/2014/main" id="{772FF1A6-3704-4F58-B59E-30F5F024C787}"/>
              </a:ext>
            </a:extLst>
          </p:cNvPr>
          <p:cNvSpPr>
            <a:spLocks xmlns:a="http://schemas.openxmlformats.org/drawingml/2006/main" noGrp="1"/>
          </p:cNvSpPr>
          <p:nvPr/>
        </p:nvSpPr>
        <p:spPr>
          <a:xfrm xmlns:a="http://schemas.openxmlformats.org/drawingml/2006/main">
            <a:off x="514350" y="990600"/>
            <a:ext cx="8572500" cy="514350"/>
          </a:xfrm>
          <a:prstGeom xmlns:a="http://schemas.openxmlformats.org/drawingml/2006/main" prst="roundRect">
            <a:avLst>
              <a:gd name="adj" fmla="val 22222"/>
            </a:avLst>
          </a:prstGeom>
          <a:noFill xmlns:a="http://schemas.openxmlformats.org/drawingml/2006/main"/>
          <a:ln xmlns:a="http://schemas.openxmlformats.org/drawingml/2006/main" w="0">
            <a:noFill/>
            <a:prstDash val="solid"/>
          </a:ln>
        </p:spPr>
        <p:txBody>
          <a:bodyPr xmlns:a="http://schemas.openxmlformats.org/drawingml/2006/main">
            <a:normAutofit fontScale="86506"/>
          </a:bodyPr>
          <a:lstStyle xmlns:a="http://schemas.openxmlformats.org/drawingml/2006/main"/>
          <a:p xmlns:a="http://schemas.openxmlformats.org/drawingml/2006/main">
            <a:pPr>
              <a:defRPr sz="2700" b="1">
                <a:solidFill>
                  <a:srgbClr val="171C22"/>
                </a:solidFill>
                <a:latin typeface="Aptos"/>
                <a:ea typeface="Aptos"/>
                <a:cs typeface="Aptos"/>
              </a:defRPr>
            </a:pPr>
            <a:r>
              <a:rPr sz="2700" b="1">
                <a:solidFill>
                  <a:srgbClr val="171C22"/>
                </a:solidFill>
                <a:latin typeface="Aptos"/>
                <a:ea typeface="Aptos"/>
                <a:cs typeface="Aptos"/>
              </a:rPr>
              <a:t>Links and buttons</a:t>
            </a:r>
          </a:p>
        </p:txBody>
      </p:sp>
      <p:sp>
        <p:nvSpPr>
          <p:cNvPr id="7" name="">
            <a:extLst xmlns:a="http://schemas.openxmlformats.org/drawingml/2006/main">
              <a:ext uri="{FF2B5EF4-FFF2-40B4-BE49-F238E27FC236}">
                <a16:creationId xmlns:a16="http://schemas.microsoft.com/office/drawing/2014/main" id="{392B2664-575E-42EF-ACB5-A61FA798C229}"/>
              </a:ext>
            </a:extLst>
          </p:cNvPr>
          <p:cNvSpPr>
            <a:spLocks xmlns:a="http://schemas.openxmlformats.org/drawingml/2006/main" noGrp="1"/>
          </p:cNvSpPr>
          <p:nvPr/>
        </p:nvSpPr>
        <p:spPr>
          <a:xfrm xmlns:a="http://schemas.openxmlformats.org/drawingml/2006/main">
            <a:off x="514350" y="1657350"/>
            <a:ext cx="8858250" cy="304800"/>
          </a:xfrm>
          <a:prstGeom xmlns:a="http://schemas.openxmlformats.org/drawingml/2006/main" prst="roundRect">
            <a:avLst>
              <a:gd name="adj" fmla="val 37500"/>
            </a:avLst>
          </a:prstGeom>
          <a:noFill xmlns:a="http://schemas.openxmlformats.org/drawingml/2006/main"/>
          <a:ln xmlns:a="http://schemas.openxmlformats.org/drawingml/2006/main" w="0">
            <a:noFill/>
            <a:prstDash val="solid"/>
          </a:ln>
        </p:spPr>
        <p:txBody>
          <a:bodyPr xmlns:a="http://schemas.openxmlformats.org/drawingml/2006/main">
            <a:normAutofit fontScale="75346"/>
          </a:bodyPr>
          <a:lstStyle xmlns:a="http://schemas.openxmlformats.org/drawingml/2006/main"/>
          <a:p xmlns:a="http://schemas.openxmlformats.org/drawingml/2006/main">
            <a:pPr>
              <a:defRPr sz="1275" b="0">
                <a:solidFill>
                  <a:srgbClr val="44515C"/>
                </a:solidFill>
                <a:latin typeface="Aptos"/>
                <a:ea typeface="Aptos"/>
                <a:cs typeface="Aptos"/>
              </a:defRPr>
            </a:pPr>
            <a:r>
              <a:rPr sz="1275" b="0">
                <a:solidFill>
                  <a:srgbClr val="44515C"/>
                </a:solidFill>
                <a:latin typeface="Aptos"/>
                <a:ea typeface="Aptos"/>
                <a:cs typeface="Aptos"/>
              </a:rPr>
              <a:t>Destination and action are different promises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4d2b8648577f4e9a"/>
          <a:srcRect xmlns:a="http://schemas.openxmlformats.org/drawingml/2006/main" l="569" t="0" r="569" b="0"/>
          <a:stretch xmlns:a="http://schemas.openxmlformats.org/drawingml/2006/main">
            <a:fillRect l="0" t="0" r="0" b="0"/>
          </a:stretch>
        </p:blipFill>
        <p:spPr>
          <a:xfrm xmlns:a="http://schemas.openxmlformats.org/drawingml/2006/main">
            <a:off x="9105900" y="2381250"/>
            <a:ext cx="2190750" cy="1476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95A9D69-B2FC-4C45-8E95-38F8BA75EA98}"/>
              </a:ext>
            </a:extLst>
          </p:cNvPr>
          <p:cNvSpPr>
            <a:spLocks xmlns:a="http://schemas.openxmlformats.org/drawingml/2006/main" noGrp="1"/>
          </p:cNvSpPr>
          <p:nvPr/>
        </p:nvSpPr>
        <p:spPr>
          <a:xfrm xmlns:a="http://schemas.openxmlformats.org/drawingml/2006/main">
            <a:off x="514350" y="2343150"/>
            <a:ext cx="8096250" cy="3181350"/>
          </a:xfrm>
          <a:prstGeom xmlns:a="http://schemas.openxmlformats.org/drawingml/2006/main" prst="roundRect">
            <a:avLst>
              <a:gd name="adj" fmla="val 3593"/>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425" b="0">
                <a:solidFill>
                  <a:srgbClr val="171C22"/>
                </a:solidFill>
                <a:latin typeface="Aptos"/>
                <a:ea typeface="Aptos"/>
                <a:cs typeface="Aptos"/>
              </a:defRPr>
            </a:pPr>
            <a:r>
              <a:rPr sz="1425" b="0">
                <a:solidFill>
                  <a:srgbClr val="171C22"/>
                </a:solidFill>
                <a:latin typeface="Aptos"/>
                <a:ea typeface="Aptos"/>
                <a:cs typeface="Aptos"/>
              </a:rPr>
              <a:t>链接带读者到另一页、文件或页面位置，按钮在当前环境执行动作，例如提交表单、展开细节或打开对话框。把链接做成按钮或把按钮做成链接会破坏预期，也会让键盘、浏览器历史和辅助技术行为变得不可靠。文字同样重要。“了解更多”没有说明目的，“查看 Week 1 作业要求”则告诉读者下一步会得到什么。控件的外观可以变化，但它的 HTML 语义必须对应真实行为。</a:t>
            </a:r>
          </a:p>
        </p:txBody>
      </p:sp>
      <p:sp>
        <p:nvSpPr>
          <p:cNvPr id="10" name="">
            <a:extLst xmlns:a="http://schemas.openxmlformats.org/drawingml/2006/main">
              <a:ext uri="{FF2B5EF4-FFF2-40B4-BE49-F238E27FC236}">
                <a16:creationId xmlns:a16="http://schemas.microsoft.com/office/drawing/2014/main" id="{6A92281F-F512-414F-9B9C-5A4A79168ABA}"/>
              </a:ext>
            </a:extLst>
          </p:cNvPr>
          <p:cNvSpPr>
            <a:spLocks xmlns:a="http://schemas.openxmlformats.org/drawingml/2006/main" noGrp="1"/>
          </p:cNvSpPr>
          <p:nvPr/>
        </p:nvSpPr>
        <p:spPr>
          <a:xfrm xmlns:a="http://schemas.openxmlformats.org/drawingml/2006/main">
            <a:off x="9105900" y="4095750"/>
            <a:ext cx="2190750" cy="781050"/>
          </a:xfrm>
          <a:prstGeom xmlns:a="http://schemas.openxmlformats.org/drawingml/2006/main" prst="roundRect">
            <a:avLst>
              <a:gd name="adj" fmla="val 14634"/>
            </a:avLst>
          </a:prstGeom>
          <a:solidFill xmlns:a="http://schemas.openxmlformats.org/drawingml/2006/main">
            <a:srgbClr val="F1DFC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81B525C-CFB8-4499-8A41-BD9E6D241793}"/>
              </a:ext>
            </a:extLst>
          </p:cNvPr>
          <p:cNvSpPr>
            <a:spLocks xmlns:a="http://schemas.openxmlformats.org/drawingml/2006/main" noGrp="1"/>
          </p:cNvSpPr>
          <p:nvPr/>
        </p:nvSpPr>
        <p:spPr>
          <a:xfrm xmlns:a="http://schemas.openxmlformats.org/drawingml/2006/main">
            <a:off x="9277350" y="4267200"/>
            <a:ext cx="1809750" cy="438150"/>
          </a:xfrm>
          <a:prstGeom xmlns:a="http://schemas.openxmlformats.org/drawingml/2006/main" prst="roundRect">
            <a:avLst>
              <a:gd name="adj" fmla="val 26087"/>
            </a:avLst>
          </a:prstGeom>
          <a:noFill xmlns:a="http://schemas.openxmlformats.org/drawingml/2006/main"/>
          <a:ln xmlns:a="http://schemas.openxmlformats.org/drawingml/2006/main" w="0">
            <a:noFill/>
            <a:prstDash val="solid"/>
          </a:ln>
        </p:spPr>
        <p:txBody>
          <a:bodyPr xmlns:a="http://schemas.openxmlformats.org/drawingml/2006/main">
            <a:normAutofit fontScale="81585"/>
          </a:bodyPr>
          <a:lstStyle xmlns:a="http://schemas.openxmlformats.org/drawingml/2006/main"/>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课堂提示</a:t>
            </a:r>
          </a:p>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用内容关系验证设计选择</a:t>
            </a:r>
          </a:p>
        </p:txBody>
      </p:sp>
    </p:spTree>
    <p:extLst>
      <p:ext uri="{BB962C8B-B14F-4D97-AF65-F5344CB8AC3E}">
        <p14:creationId xmlns:p14="http://schemas.microsoft.com/office/powerpoint/2010/main" val="1018399438"/>
      </p:ext>
    </p:extLst>
  </p:cSld>
</p:sld>
</file>

<file path=ppt/slides/slide17.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54A8576-A4E1-41C8-AD73-FCC315F8C50E}"/>
              </a:ext>
            </a:extLst>
          </p:cNvPr>
          <p:cNvSpPr>
            <a:spLocks xmlns:a="http://schemas.openxmlformats.org/drawingml/2006/main" noGrp="1"/>
          </p:cNvSpPr>
          <p:nvPr/>
        </p:nvSpPr>
        <p:spPr>
          <a:xfrm xmlns:a="http://schemas.openxmlformats.org/drawingml/2006/main">
            <a:off x="514350" y="361950"/>
            <a:ext cx="4381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DB84FB4-BD17-455B-9F5A-8490E95BBF5F}"/>
              </a:ext>
            </a:extLst>
          </p:cNvPr>
          <p:cNvSpPr>
            <a:spLocks xmlns:a="http://schemas.openxmlformats.org/drawingml/2006/main" noGrp="1"/>
          </p:cNvSpPr>
          <p:nvPr/>
        </p:nvSpPr>
        <p:spPr>
          <a:xfrm xmlns:a="http://schemas.openxmlformats.org/drawingml/2006/main">
            <a:off x="514350" y="552450"/>
            <a:ext cx="2095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 / UNIVERSITY</a:t>
            </a:r>
          </a:p>
        </p:txBody>
      </p:sp>
      <p:sp>
        <p:nvSpPr>
          <p:cNvPr id="3" name="">
            <a:extLst xmlns:a="http://schemas.openxmlformats.org/drawingml/2006/main">
              <a:ext uri="{FF2B5EF4-FFF2-40B4-BE49-F238E27FC236}">
                <a16:creationId xmlns:a16="http://schemas.microsoft.com/office/drawing/2014/main" id="{605B9F75-704B-4C26-B70F-DE07BCE444FB}"/>
              </a:ext>
            </a:extLst>
          </p:cNvPr>
          <p:cNvSpPr>
            <a:spLocks xmlns:a="http://schemas.openxmlformats.org/drawingml/2006/main" noGrp="1"/>
          </p:cNvSpPr>
          <p:nvPr/>
        </p:nvSpPr>
        <p:spPr>
          <a:xfrm xmlns:a="http://schemas.openxmlformats.org/drawingml/2006/main">
            <a:off x="9391650" y="552450"/>
            <a:ext cx="21907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4" name="">
            <a:extLst xmlns:a="http://schemas.openxmlformats.org/drawingml/2006/main">
              <a:ext uri="{FF2B5EF4-FFF2-40B4-BE49-F238E27FC236}">
                <a16:creationId xmlns:a16="http://schemas.microsoft.com/office/drawing/2014/main" id="{5FDCDF78-11D3-4EEE-8AB6-5996CFBF0240}"/>
              </a:ext>
            </a:extLst>
          </p:cNvPr>
          <p:cNvSpPr>
            <a:spLocks xmlns:a="http://schemas.openxmlformats.org/drawingml/2006/main" noGrp="1"/>
          </p:cNvSpPr>
          <p:nvPr/>
        </p:nvSpPr>
        <p:spPr>
          <a:xfrm xmlns:a="http://schemas.openxmlformats.org/drawingml/2006/main">
            <a:off x="514350" y="6229350"/>
            <a:ext cx="1114425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32E6CF3-8AC8-43F3-8528-8B8249FEE679}"/>
              </a:ext>
            </a:extLst>
          </p:cNvPr>
          <p:cNvSpPr>
            <a:spLocks xmlns:a="http://schemas.openxmlformats.org/drawingml/2006/main" noGrp="1"/>
          </p:cNvSpPr>
          <p:nvPr/>
        </p:nvSpPr>
        <p:spPr>
          <a:xfrm xmlns:a="http://schemas.openxmlformats.org/drawingml/2006/main">
            <a:off x="514350" y="6410325"/>
            <a:ext cx="3810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17</a:t>
            </a:r>
          </a:p>
        </p:txBody>
      </p:sp>
      <p:sp>
        <p:nvSpPr>
          <p:cNvPr id="6" name="">
            <a:extLst xmlns:a="http://schemas.openxmlformats.org/drawingml/2006/main">
              <a:ext uri="{FF2B5EF4-FFF2-40B4-BE49-F238E27FC236}">
                <a16:creationId xmlns:a16="http://schemas.microsoft.com/office/drawing/2014/main" id="{E2D9CC45-1FF6-4B5C-ADA6-94E9A0149D8C}"/>
              </a:ext>
            </a:extLst>
          </p:cNvPr>
          <p:cNvSpPr>
            <a:spLocks xmlns:a="http://schemas.openxmlformats.org/drawingml/2006/main" noGrp="1"/>
          </p:cNvSpPr>
          <p:nvPr/>
        </p:nvSpPr>
        <p:spPr>
          <a:xfrm xmlns:a="http://schemas.openxmlformats.org/drawingml/2006/main">
            <a:off x="514350" y="990600"/>
            <a:ext cx="8572500" cy="514350"/>
          </a:xfrm>
          <a:prstGeom xmlns:a="http://schemas.openxmlformats.org/drawingml/2006/main" prst="roundRect">
            <a:avLst>
              <a:gd name="adj" fmla="val 22222"/>
            </a:avLst>
          </a:prstGeom>
          <a:noFill xmlns:a="http://schemas.openxmlformats.org/drawingml/2006/main"/>
          <a:ln xmlns:a="http://schemas.openxmlformats.org/drawingml/2006/main" w="0">
            <a:noFill/>
            <a:prstDash val="solid"/>
          </a:ln>
        </p:spPr>
        <p:txBody>
          <a:bodyPr xmlns:a="http://schemas.openxmlformats.org/drawingml/2006/main">
            <a:normAutofit fontScale="86506"/>
          </a:bodyPr>
          <a:lstStyle xmlns:a="http://schemas.openxmlformats.org/drawingml/2006/main"/>
          <a:p xmlns:a="http://schemas.openxmlformats.org/drawingml/2006/main">
            <a:pPr>
              <a:defRPr sz="2700" b="1">
                <a:solidFill>
                  <a:srgbClr val="171C22"/>
                </a:solidFill>
                <a:latin typeface="Aptos"/>
                <a:ea typeface="Aptos"/>
                <a:cs typeface="Aptos"/>
              </a:defRPr>
            </a:pPr>
            <a:r>
              <a:rPr sz="2700" b="1">
                <a:solidFill>
                  <a:srgbClr val="171C22"/>
                </a:solidFill>
                <a:latin typeface="Aptos"/>
                <a:ea typeface="Aptos"/>
                <a:cs typeface="Aptos"/>
              </a:rPr>
              <a:t>Images as evidence</a:t>
            </a:r>
          </a:p>
        </p:txBody>
      </p:sp>
      <p:sp>
        <p:nvSpPr>
          <p:cNvPr id="7" name="">
            <a:extLst xmlns:a="http://schemas.openxmlformats.org/drawingml/2006/main">
              <a:ext uri="{FF2B5EF4-FFF2-40B4-BE49-F238E27FC236}">
                <a16:creationId xmlns:a16="http://schemas.microsoft.com/office/drawing/2014/main" id="{C12FAE3F-4FAB-43ED-A5DC-4315E22C4D0B}"/>
              </a:ext>
            </a:extLst>
          </p:cNvPr>
          <p:cNvSpPr>
            <a:spLocks xmlns:a="http://schemas.openxmlformats.org/drawingml/2006/main" noGrp="1"/>
          </p:cNvSpPr>
          <p:nvPr/>
        </p:nvSpPr>
        <p:spPr>
          <a:xfrm xmlns:a="http://schemas.openxmlformats.org/drawingml/2006/main">
            <a:off x="514350" y="1657350"/>
            <a:ext cx="8858250" cy="304800"/>
          </a:xfrm>
          <a:prstGeom xmlns:a="http://schemas.openxmlformats.org/drawingml/2006/main" prst="roundRect">
            <a:avLst>
              <a:gd name="adj" fmla="val 37500"/>
            </a:avLst>
          </a:prstGeom>
          <a:noFill xmlns:a="http://schemas.openxmlformats.org/drawingml/2006/main"/>
          <a:ln xmlns:a="http://schemas.openxmlformats.org/drawingml/2006/main" w="0">
            <a:noFill/>
            <a:prstDash val="solid"/>
          </a:ln>
        </p:spPr>
        <p:txBody>
          <a:bodyPr xmlns:a="http://schemas.openxmlformats.org/drawingml/2006/main">
            <a:normAutofit fontScale="75346"/>
          </a:bodyPr>
          <a:lstStyle xmlns:a="http://schemas.openxmlformats.org/drawingml/2006/main"/>
          <a:p xmlns:a="http://schemas.openxmlformats.org/drawingml/2006/main">
            <a:pPr>
              <a:defRPr sz="1275" b="0">
                <a:solidFill>
                  <a:srgbClr val="44515C"/>
                </a:solidFill>
                <a:latin typeface="Aptos"/>
                <a:ea typeface="Aptos"/>
                <a:cs typeface="Aptos"/>
              </a:defRPr>
            </a:pPr>
            <a:r>
              <a:rPr sz="1275" b="0">
                <a:solidFill>
                  <a:srgbClr val="44515C"/>
                </a:solidFill>
                <a:latin typeface="Aptos"/>
                <a:ea typeface="Aptos"/>
                <a:cs typeface="Aptos"/>
              </a:rPr>
              <a:t>Every image needs a job</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68c28938282493b"/>
          <a:srcRect xmlns:a="http://schemas.openxmlformats.org/drawingml/2006/main" l="244" t="0" r="244" b="0"/>
          <a:stretch xmlns:a="http://schemas.openxmlformats.org/drawingml/2006/main">
            <a:fillRect l="0" t="0" r="0" b="0"/>
          </a:stretch>
        </p:blipFill>
        <p:spPr>
          <a:xfrm xmlns:a="http://schemas.openxmlformats.org/drawingml/2006/main">
            <a:off x="9105900" y="2381250"/>
            <a:ext cx="2190750" cy="1476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8BF0E4F1-BC94-49E6-B0E7-EF8BB46E720F}"/>
              </a:ext>
            </a:extLst>
          </p:cNvPr>
          <p:cNvSpPr>
            <a:spLocks xmlns:a="http://schemas.openxmlformats.org/drawingml/2006/main" noGrp="1"/>
          </p:cNvSpPr>
          <p:nvPr/>
        </p:nvSpPr>
        <p:spPr>
          <a:xfrm xmlns:a="http://schemas.openxmlformats.org/drawingml/2006/main">
            <a:off x="514350" y="2343150"/>
            <a:ext cx="8096250" cy="3181350"/>
          </a:xfrm>
          <a:prstGeom xmlns:a="http://schemas.openxmlformats.org/drawingml/2006/main" prst="roundRect">
            <a:avLst>
              <a:gd name="adj" fmla="val 3593"/>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425" b="0">
                <a:solidFill>
                  <a:srgbClr val="171C22"/>
                </a:solidFill>
                <a:latin typeface="Aptos"/>
                <a:ea typeface="Aptos"/>
                <a:cs typeface="Aptos"/>
              </a:defRPr>
            </a:pPr>
            <a:r>
              <a:rPr sz="1425" b="0">
                <a:solidFill>
                  <a:srgbClr val="171C22"/>
                </a:solidFill>
                <a:latin typeface="Aptos"/>
                <a:ea typeface="Aptos"/>
                <a:cs typeface="Aptos"/>
              </a:rPr>
              <a:t>图片应该承担信息任务：展示对象、提供空间线索、解释过程、建立情绪或成为可操作内容。若图片只为了填满空白，它会增加加载时间并分散注意力。设计时要问：读者不看这张图会失去什么？答案决定替代文本的长度和角度。装饰图片可以隐藏给辅助技术，信息图片需要描述关键内容，包含文字的图片通常需要在 HTML 中重复可选择的文字。图片裁切也必须保护真正传达意义的部分。</a:t>
            </a:r>
          </a:p>
        </p:txBody>
      </p:sp>
      <p:sp>
        <p:nvSpPr>
          <p:cNvPr id="10" name="">
            <a:extLst xmlns:a="http://schemas.openxmlformats.org/drawingml/2006/main">
              <a:ext uri="{FF2B5EF4-FFF2-40B4-BE49-F238E27FC236}">
                <a16:creationId xmlns:a16="http://schemas.microsoft.com/office/drawing/2014/main" id="{FA67BE68-6923-459E-9DE5-B2248A73C964}"/>
              </a:ext>
            </a:extLst>
          </p:cNvPr>
          <p:cNvSpPr>
            <a:spLocks xmlns:a="http://schemas.openxmlformats.org/drawingml/2006/main" noGrp="1"/>
          </p:cNvSpPr>
          <p:nvPr/>
        </p:nvSpPr>
        <p:spPr>
          <a:xfrm xmlns:a="http://schemas.openxmlformats.org/drawingml/2006/main">
            <a:off x="9105900" y="4095750"/>
            <a:ext cx="2190750" cy="781050"/>
          </a:xfrm>
          <a:prstGeom xmlns:a="http://schemas.openxmlformats.org/drawingml/2006/main" prst="roundRect">
            <a:avLst>
              <a:gd name="adj" fmla="val 14634"/>
            </a:avLst>
          </a:prstGeom>
          <a:solidFill xmlns:a="http://schemas.openxmlformats.org/drawingml/2006/main">
            <a:srgbClr val="F1DFC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F3C4C94-264B-4B5E-87FF-C09D18954FAD}"/>
              </a:ext>
            </a:extLst>
          </p:cNvPr>
          <p:cNvSpPr>
            <a:spLocks xmlns:a="http://schemas.openxmlformats.org/drawingml/2006/main" noGrp="1"/>
          </p:cNvSpPr>
          <p:nvPr/>
        </p:nvSpPr>
        <p:spPr>
          <a:xfrm xmlns:a="http://schemas.openxmlformats.org/drawingml/2006/main">
            <a:off x="9277350" y="4267200"/>
            <a:ext cx="1809750" cy="438150"/>
          </a:xfrm>
          <a:prstGeom xmlns:a="http://schemas.openxmlformats.org/drawingml/2006/main" prst="roundRect">
            <a:avLst>
              <a:gd name="adj" fmla="val 26087"/>
            </a:avLst>
          </a:prstGeom>
          <a:noFill xmlns:a="http://schemas.openxmlformats.org/drawingml/2006/main"/>
          <a:ln xmlns:a="http://schemas.openxmlformats.org/drawingml/2006/main" w="0">
            <a:noFill/>
            <a:prstDash val="solid"/>
          </a:ln>
        </p:spPr>
        <p:txBody>
          <a:bodyPr xmlns:a="http://schemas.openxmlformats.org/drawingml/2006/main">
            <a:normAutofit fontScale="81585"/>
          </a:bodyPr>
          <a:lstStyle xmlns:a="http://schemas.openxmlformats.org/drawingml/2006/main"/>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课堂提示</a:t>
            </a:r>
          </a:p>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用内容关系验证设计选择</a:t>
            </a:r>
          </a:p>
        </p:txBody>
      </p:sp>
    </p:spTree>
    <p:extLst>
      <p:ext uri="{BB962C8B-B14F-4D97-AF65-F5344CB8AC3E}">
        <p14:creationId xmlns:p14="http://schemas.microsoft.com/office/powerpoint/2010/main" val="869421082"/>
      </p:ext>
    </p:extLst>
  </p:cSld>
</p:sld>
</file>

<file path=ppt/slides/slide18.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7803756-1530-4E6E-8FFB-E89FFC50F460}"/>
              </a:ext>
            </a:extLst>
          </p:cNvPr>
          <p:cNvSpPr>
            <a:spLocks xmlns:a="http://schemas.openxmlformats.org/drawingml/2006/main" noGrp="1"/>
          </p:cNvSpPr>
          <p:nvPr/>
        </p:nvSpPr>
        <p:spPr>
          <a:xfrm xmlns:a="http://schemas.openxmlformats.org/drawingml/2006/main">
            <a:off x="514350" y="361950"/>
            <a:ext cx="4381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E2D0655-75E3-49C3-9725-0E8F189486CE}"/>
              </a:ext>
            </a:extLst>
          </p:cNvPr>
          <p:cNvSpPr>
            <a:spLocks xmlns:a="http://schemas.openxmlformats.org/drawingml/2006/main" noGrp="1"/>
          </p:cNvSpPr>
          <p:nvPr/>
        </p:nvSpPr>
        <p:spPr>
          <a:xfrm xmlns:a="http://schemas.openxmlformats.org/drawingml/2006/main">
            <a:off x="514350" y="552450"/>
            <a:ext cx="2095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 / UNIVERSITY</a:t>
            </a:r>
          </a:p>
        </p:txBody>
      </p:sp>
      <p:sp>
        <p:nvSpPr>
          <p:cNvPr id="3" name="">
            <a:extLst xmlns:a="http://schemas.openxmlformats.org/drawingml/2006/main">
              <a:ext uri="{FF2B5EF4-FFF2-40B4-BE49-F238E27FC236}">
                <a16:creationId xmlns:a16="http://schemas.microsoft.com/office/drawing/2014/main" id="{C6512B11-350D-4748-B56D-0C3A8ACB79DF}"/>
              </a:ext>
            </a:extLst>
          </p:cNvPr>
          <p:cNvSpPr>
            <a:spLocks xmlns:a="http://schemas.openxmlformats.org/drawingml/2006/main" noGrp="1"/>
          </p:cNvSpPr>
          <p:nvPr/>
        </p:nvSpPr>
        <p:spPr>
          <a:xfrm xmlns:a="http://schemas.openxmlformats.org/drawingml/2006/main">
            <a:off x="9391650" y="552450"/>
            <a:ext cx="21907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4" name="">
            <a:extLst xmlns:a="http://schemas.openxmlformats.org/drawingml/2006/main">
              <a:ext uri="{FF2B5EF4-FFF2-40B4-BE49-F238E27FC236}">
                <a16:creationId xmlns:a16="http://schemas.microsoft.com/office/drawing/2014/main" id="{6B328343-81CF-4BF7-A0FB-B36E0E0452B5}"/>
              </a:ext>
            </a:extLst>
          </p:cNvPr>
          <p:cNvSpPr>
            <a:spLocks xmlns:a="http://schemas.openxmlformats.org/drawingml/2006/main" noGrp="1"/>
          </p:cNvSpPr>
          <p:nvPr/>
        </p:nvSpPr>
        <p:spPr>
          <a:xfrm xmlns:a="http://schemas.openxmlformats.org/drawingml/2006/main">
            <a:off x="514350" y="6229350"/>
            <a:ext cx="1114425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3CC5F98-25FB-48CD-A078-AF202754497F}"/>
              </a:ext>
            </a:extLst>
          </p:cNvPr>
          <p:cNvSpPr>
            <a:spLocks xmlns:a="http://schemas.openxmlformats.org/drawingml/2006/main" noGrp="1"/>
          </p:cNvSpPr>
          <p:nvPr/>
        </p:nvSpPr>
        <p:spPr>
          <a:xfrm xmlns:a="http://schemas.openxmlformats.org/drawingml/2006/main">
            <a:off x="514350" y="6410325"/>
            <a:ext cx="3810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18</a:t>
            </a:r>
          </a:p>
        </p:txBody>
      </p:sp>
      <p:sp>
        <p:nvSpPr>
          <p:cNvPr id="6" name="">
            <a:extLst xmlns:a="http://schemas.openxmlformats.org/drawingml/2006/main">
              <a:ext uri="{FF2B5EF4-FFF2-40B4-BE49-F238E27FC236}">
                <a16:creationId xmlns:a16="http://schemas.microsoft.com/office/drawing/2014/main" id="{0B93C446-D7F4-4F6A-AED5-E11D166AA773}"/>
              </a:ext>
            </a:extLst>
          </p:cNvPr>
          <p:cNvSpPr>
            <a:spLocks xmlns:a="http://schemas.openxmlformats.org/drawingml/2006/main" noGrp="1"/>
          </p:cNvSpPr>
          <p:nvPr/>
        </p:nvSpPr>
        <p:spPr>
          <a:xfrm xmlns:a="http://schemas.openxmlformats.org/drawingml/2006/main">
            <a:off x="514350" y="990600"/>
            <a:ext cx="8572500" cy="514350"/>
          </a:xfrm>
          <a:prstGeom xmlns:a="http://schemas.openxmlformats.org/drawingml/2006/main" prst="roundRect">
            <a:avLst>
              <a:gd name="adj" fmla="val 22222"/>
            </a:avLst>
          </a:prstGeom>
          <a:noFill xmlns:a="http://schemas.openxmlformats.org/drawingml/2006/main"/>
          <a:ln xmlns:a="http://schemas.openxmlformats.org/drawingml/2006/main" w="0">
            <a:noFill/>
            <a:prstDash val="solid"/>
          </a:ln>
        </p:spPr>
        <p:txBody>
          <a:bodyPr xmlns:a="http://schemas.openxmlformats.org/drawingml/2006/main">
            <a:normAutofit fontScale="86506"/>
          </a:bodyPr>
          <a:lstStyle xmlns:a="http://schemas.openxmlformats.org/drawingml/2006/main"/>
          <a:p xmlns:a="http://schemas.openxmlformats.org/drawingml/2006/main">
            <a:pPr>
              <a:defRPr sz="2700" b="1">
                <a:solidFill>
                  <a:srgbClr val="171C22"/>
                </a:solidFill>
                <a:latin typeface="Aptos"/>
                <a:ea typeface="Aptos"/>
                <a:cs typeface="Aptos"/>
              </a:defRPr>
            </a:pPr>
            <a:r>
              <a:rPr sz="2700" b="1">
                <a:solidFill>
                  <a:srgbClr val="171C22"/>
                </a:solidFill>
                <a:latin typeface="Aptos"/>
                <a:ea typeface="Aptos"/>
                <a:cs typeface="Aptos"/>
              </a:rPr>
              <a:t>Alternative text</a:t>
            </a:r>
          </a:p>
        </p:txBody>
      </p:sp>
      <p:sp>
        <p:nvSpPr>
          <p:cNvPr id="7" name="">
            <a:extLst xmlns:a="http://schemas.openxmlformats.org/drawingml/2006/main">
              <a:ext uri="{FF2B5EF4-FFF2-40B4-BE49-F238E27FC236}">
                <a16:creationId xmlns:a16="http://schemas.microsoft.com/office/drawing/2014/main" id="{293F89E8-F178-4247-BB5D-D2ED0EF69EC6}"/>
              </a:ext>
            </a:extLst>
          </p:cNvPr>
          <p:cNvSpPr>
            <a:spLocks xmlns:a="http://schemas.openxmlformats.org/drawingml/2006/main" noGrp="1"/>
          </p:cNvSpPr>
          <p:nvPr/>
        </p:nvSpPr>
        <p:spPr>
          <a:xfrm xmlns:a="http://schemas.openxmlformats.org/drawingml/2006/main">
            <a:off x="514350" y="1657350"/>
            <a:ext cx="8858250" cy="304800"/>
          </a:xfrm>
          <a:prstGeom xmlns:a="http://schemas.openxmlformats.org/drawingml/2006/main" prst="roundRect">
            <a:avLst>
              <a:gd name="adj" fmla="val 37500"/>
            </a:avLst>
          </a:prstGeom>
          <a:noFill xmlns:a="http://schemas.openxmlformats.org/drawingml/2006/main"/>
          <a:ln xmlns:a="http://schemas.openxmlformats.org/drawingml/2006/main" w="0">
            <a:noFill/>
            <a:prstDash val="solid"/>
          </a:ln>
        </p:spPr>
        <p:txBody>
          <a:bodyPr xmlns:a="http://schemas.openxmlformats.org/drawingml/2006/main">
            <a:normAutofit fontScale="75346"/>
          </a:bodyPr>
          <a:lstStyle xmlns:a="http://schemas.openxmlformats.org/drawingml/2006/main"/>
          <a:p xmlns:a="http://schemas.openxmlformats.org/drawingml/2006/main">
            <a:pPr>
              <a:defRPr sz="1275" b="0">
                <a:solidFill>
                  <a:srgbClr val="44515C"/>
                </a:solidFill>
                <a:latin typeface="Aptos"/>
                <a:ea typeface="Aptos"/>
                <a:cs typeface="Aptos"/>
              </a:defRPr>
            </a:pPr>
            <a:r>
              <a:rPr sz="1275" b="0">
                <a:solidFill>
                  <a:srgbClr val="44515C"/>
                </a:solidFill>
                <a:latin typeface="Aptos"/>
                <a:ea typeface="Aptos"/>
                <a:cs typeface="Aptos"/>
              </a:rPr>
              <a:t>Describe purpose, not pixels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a3f8dd62d339449c"/>
          <a:srcRect xmlns:a="http://schemas.openxmlformats.org/drawingml/2006/main" l="0" t="23043" r="0" b="23043"/>
          <a:stretch xmlns:a="http://schemas.openxmlformats.org/drawingml/2006/main">
            <a:fillRect l="0" t="0" r="0" b="0"/>
          </a:stretch>
        </p:blipFill>
        <p:spPr>
          <a:xfrm xmlns:a="http://schemas.openxmlformats.org/drawingml/2006/main">
            <a:off x="9105900" y="2381250"/>
            <a:ext cx="2190750" cy="1476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F8F91A42-DCC1-4DA9-B86B-1D5AEB51BD52}"/>
              </a:ext>
            </a:extLst>
          </p:cNvPr>
          <p:cNvSpPr>
            <a:spLocks xmlns:a="http://schemas.openxmlformats.org/drawingml/2006/main" noGrp="1"/>
          </p:cNvSpPr>
          <p:nvPr/>
        </p:nvSpPr>
        <p:spPr>
          <a:xfrm xmlns:a="http://schemas.openxmlformats.org/drawingml/2006/main">
            <a:off x="514350" y="2343150"/>
            <a:ext cx="8096250" cy="3181350"/>
          </a:xfrm>
          <a:prstGeom xmlns:a="http://schemas.openxmlformats.org/drawingml/2006/main" prst="roundRect">
            <a:avLst>
              <a:gd name="adj" fmla="val 3593"/>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425" b="0">
                <a:solidFill>
                  <a:srgbClr val="171C22"/>
                </a:solidFill>
                <a:latin typeface="Aptos"/>
                <a:ea typeface="Aptos"/>
                <a:cs typeface="Aptos"/>
              </a:defRPr>
            </a:pPr>
            <a:r>
              <a:rPr sz="1425" b="0">
                <a:solidFill>
                  <a:srgbClr val="171C22"/>
                </a:solidFill>
                <a:latin typeface="Aptos"/>
                <a:ea typeface="Aptos"/>
                <a:cs typeface="Aptos"/>
              </a:rPr>
              <a:t>替代文本不是把画面中每个颜色和位置逐一念出，而是说明图片在当前页面中帮助读者理解什么。同一张照片在不同情境可能需要不同描述：作为摄影作品时可说明构图和气氛，作为活动地点说明时应指出入口或无障碍通道。若正文已完整解释图片，替代文本可以更短。写完后请问自己：闭上眼的读者听到这句话，是否得到与当前任务有关的关键信息。</a:t>
            </a:r>
          </a:p>
        </p:txBody>
      </p:sp>
      <p:sp>
        <p:nvSpPr>
          <p:cNvPr id="10" name="">
            <a:extLst xmlns:a="http://schemas.openxmlformats.org/drawingml/2006/main">
              <a:ext uri="{FF2B5EF4-FFF2-40B4-BE49-F238E27FC236}">
                <a16:creationId xmlns:a16="http://schemas.microsoft.com/office/drawing/2014/main" id="{D7A8755E-3D5A-4477-A9F1-440832428B3F}"/>
              </a:ext>
            </a:extLst>
          </p:cNvPr>
          <p:cNvSpPr>
            <a:spLocks xmlns:a="http://schemas.openxmlformats.org/drawingml/2006/main" noGrp="1"/>
          </p:cNvSpPr>
          <p:nvPr/>
        </p:nvSpPr>
        <p:spPr>
          <a:xfrm xmlns:a="http://schemas.openxmlformats.org/drawingml/2006/main">
            <a:off x="9105900" y="4095750"/>
            <a:ext cx="2190750" cy="781050"/>
          </a:xfrm>
          <a:prstGeom xmlns:a="http://schemas.openxmlformats.org/drawingml/2006/main" prst="roundRect">
            <a:avLst>
              <a:gd name="adj" fmla="val 14634"/>
            </a:avLst>
          </a:prstGeom>
          <a:solidFill xmlns:a="http://schemas.openxmlformats.org/drawingml/2006/main">
            <a:srgbClr val="F1DFC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61F585C-69B8-40F9-A52C-BFC4657A113B}"/>
              </a:ext>
            </a:extLst>
          </p:cNvPr>
          <p:cNvSpPr>
            <a:spLocks xmlns:a="http://schemas.openxmlformats.org/drawingml/2006/main" noGrp="1"/>
          </p:cNvSpPr>
          <p:nvPr/>
        </p:nvSpPr>
        <p:spPr>
          <a:xfrm xmlns:a="http://schemas.openxmlformats.org/drawingml/2006/main">
            <a:off x="9277350" y="4267200"/>
            <a:ext cx="1809750" cy="438150"/>
          </a:xfrm>
          <a:prstGeom xmlns:a="http://schemas.openxmlformats.org/drawingml/2006/main" prst="roundRect">
            <a:avLst>
              <a:gd name="adj" fmla="val 26087"/>
            </a:avLst>
          </a:prstGeom>
          <a:noFill xmlns:a="http://schemas.openxmlformats.org/drawingml/2006/main"/>
          <a:ln xmlns:a="http://schemas.openxmlformats.org/drawingml/2006/main" w="0">
            <a:noFill/>
            <a:prstDash val="solid"/>
          </a:ln>
        </p:spPr>
        <p:txBody>
          <a:bodyPr xmlns:a="http://schemas.openxmlformats.org/drawingml/2006/main">
            <a:normAutofit fontScale="81585"/>
          </a:bodyPr>
          <a:lstStyle xmlns:a="http://schemas.openxmlformats.org/drawingml/2006/main"/>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课堂提示</a:t>
            </a:r>
          </a:p>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用内容关系验证设计选择</a:t>
            </a:r>
          </a:p>
        </p:txBody>
      </p:sp>
    </p:spTree>
    <p:extLst>
      <p:ext uri="{BB962C8B-B14F-4D97-AF65-F5344CB8AC3E}">
        <p14:creationId xmlns:p14="http://schemas.microsoft.com/office/powerpoint/2010/main" val="769389893"/>
      </p:ext>
    </p:extLst>
  </p:cSld>
</p:sld>
</file>

<file path=ppt/slides/slide19.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EC38F0A-4C25-4CC9-9658-8120FD893DA4}"/>
              </a:ext>
            </a:extLst>
          </p:cNvPr>
          <p:cNvSpPr>
            <a:spLocks xmlns:a="http://schemas.openxmlformats.org/drawingml/2006/main" noGrp="1"/>
          </p:cNvSpPr>
          <p:nvPr/>
        </p:nvSpPr>
        <p:spPr>
          <a:xfrm xmlns:a="http://schemas.openxmlformats.org/drawingml/2006/main">
            <a:off x="514350" y="361950"/>
            <a:ext cx="4381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9FC6D5C-DE2F-4CA6-A069-469A33585D54}"/>
              </a:ext>
            </a:extLst>
          </p:cNvPr>
          <p:cNvSpPr>
            <a:spLocks xmlns:a="http://schemas.openxmlformats.org/drawingml/2006/main" noGrp="1"/>
          </p:cNvSpPr>
          <p:nvPr/>
        </p:nvSpPr>
        <p:spPr>
          <a:xfrm xmlns:a="http://schemas.openxmlformats.org/drawingml/2006/main">
            <a:off x="514350" y="552450"/>
            <a:ext cx="2095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 / UNIVERSITY</a:t>
            </a:r>
          </a:p>
        </p:txBody>
      </p:sp>
      <p:sp>
        <p:nvSpPr>
          <p:cNvPr id="3" name="">
            <a:extLst xmlns:a="http://schemas.openxmlformats.org/drawingml/2006/main">
              <a:ext uri="{FF2B5EF4-FFF2-40B4-BE49-F238E27FC236}">
                <a16:creationId xmlns:a16="http://schemas.microsoft.com/office/drawing/2014/main" id="{F7BDD312-210C-4595-9C7A-FAEA3770FAD6}"/>
              </a:ext>
            </a:extLst>
          </p:cNvPr>
          <p:cNvSpPr>
            <a:spLocks xmlns:a="http://schemas.openxmlformats.org/drawingml/2006/main" noGrp="1"/>
          </p:cNvSpPr>
          <p:nvPr/>
        </p:nvSpPr>
        <p:spPr>
          <a:xfrm xmlns:a="http://schemas.openxmlformats.org/drawingml/2006/main">
            <a:off x="9391650" y="552450"/>
            <a:ext cx="21907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4" name="">
            <a:extLst xmlns:a="http://schemas.openxmlformats.org/drawingml/2006/main">
              <a:ext uri="{FF2B5EF4-FFF2-40B4-BE49-F238E27FC236}">
                <a16:creationId xmlns:a16="http://schemas.microsoft.com/office/drawing/2014/main" id="{707606D4-74D2-463E-B4E8-C76BCF114CBC}"/>
              </a:ext>
            </a:extLst>
          </p:cNvPr>
          <p:cNvSpPr>
            <a:spLocks xmlns:a="http://schemas.openxmlformats.org/drawingml/2006/main" noGrp="1"/>
          </p:cNvSpPr>
          <p:nvPr/>
        </p:nvSpPr>
        <p:spPr>
          <a:xfrm xmlns:a="http://schemas.openxmlformats.org/drawingml/2006/main">
            <a:off x="514350" y="6229350"/>
            <a:ext cx="1114425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10124E0-B0C9-4A99-980F-7A449C4EA23E}"/>
              </a:ext>
            </a:extLst>
          </p:cNvPr>
          <p:cNvSpPr>
            <a:spLocks xmlns:a="http://schemas.openxmlformats.org/drawingml/2006/main" noGrp="1"/>
          </p:cNvSpPr>
          <p:nvPr/>
        </p:nvSpPr>
        <p:spPr>
          <a:xfrm xmlns:a="http://schemas.openxmlformats.org/drawingml/2006/main">
            <a:off x="514350" y="6410325"/>
            <a:ext cx="3810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19</a:t>
            </a:r>
          </a:p>
        </p:txBody>
      </p:sp>
      <p:sp>
        <p:nvSpPr>
          <p:cNvPr id="6" name="">
            <a:extLst xmlns:a="http://schemas.openxmlformats.org/drawingml/2006/main">
              <a:ext uri="{FF2B5EF4-FFF2-40B4-BE49-F238E27FC236}">
                <a16:creationId xmlns:a16="http://schemas.microsoft.com/office/drawing/2014/main" id="{47178824-FD4B-4BD5-9675-6F89F8B07092}"/>
              </a:ext>
            </a:extLst>
          </p:cNvPr>
          <p:cNvSpPr>
            <a:spLocks xmlns:a="http://schemas.openxmlformats.org/drawingml/2006/main" noGrp="1"/>
          </p:cNvSpPr>
          <p:nvPr/>
        </p:nvSpPr>
        <p:spPr>
          <a:xfrm xmlns:a="http://schemas.openxmlformats.org/drawingml/2006/main">
            <a:off x="514350" y="990600"/>
            <a:ext cx="8572500" cy="514350"/>
          </a:xfrm>
          <a:prstGeom xmlns:a="http://schemas.openxmlformats.org/drawingml/2006/main" prst="roundRect">
            <a:avLst>
              <a:gd name="adj" fmla="val 22222"/>
            </a:avLst>
          </a:prstGeom>
          <a:noFill xmlns:a="http://schemas.openxmlformats.org/drawingml/2006/main"/>
          <a:ln xmlns:a="http://schemas.openxmlformats.org/drawingml/2006/main" w="0">
            <a:noFill/>
            <a:prstDash val="solid"/>
          </a:ln>
        </p:spPr>
        <p:txBody>
          <a:bodyPr xmlns:a="http://schemas.openxmlformats.org/drawingml/2006/main">
            <a:normAutofit fontScale="86506"/>
          </a:bodyPr>
          <a:lstStyle xmlns:a="http://schemas.openxmlformats.org/drawingml/2006/main"/>
          <a:p xmlns:a="http://schemas.openxmlformats.org/drawingml/2006/main">
            <a:pPr>
              <a:defRPr sz="2700" b="1">
                <a:solidFill>
                  <a:srgbClr val="171C22"/>
                </a:solidFill>
                <a:latin typeface="Aptos"/>
                <a:ea typeface="Aptos"/>
                <a:cs typeface="Aptos"/>
              </a:defRPr>
            </a:pPr>
            <a:r>
              <a:rPr sz="2700" b="1">
                <a:solidFill>
                  <a:srgbClr val="171C22"/>
                </a:solidFill>
                <a:latin typeface="Aptos"/>
                <a:ea typeface="Aptos"/>
                <a:cs typeface="Aptos"/>
              </a:rPr>
              <a:t>Typography for screens</a:t>
            </a:r>
          </a:p>
        </p:txBody>
      </p:sp>
      <p:sp>
        <p:nvSpPr>
          <p:cNvPr id="7" name="">
            <a:extLst xmlns:a="http://schemas.openxmlformats.org/drawingml/2006/main">
              <a:ext uri="{FF2B5EF4-FFF2-40B4-BE49-F238E27FC236}">
                <a16:creationId xmlns:a16="http://schemas.microsoft.com/office/drawing/2014/main" id="{B662EDAE-4168-4081-AD42-013E5075F765}"/>
              </a:ext>
            </a:extLst>
          </p:cNvPr>
          <p:cNvSpPr>
            <a:spLocks xmlns:a="http://schemas.openxmlformats.org/drawingml/2006/main" noGrp="1"/>
          </p:cNvSpPr>
          <p:nvPr/>
        </p:nvSpPr>
        <p:spPr>
          <a:xfrm xmlns:a="http://schemas.openxmlformats.org/drawingml/2006/main">
            <a:off x="514350" y="1657350"/>
            <a:ext cx="8858250" cy="304800"/>
          </a:xfrm>
          <a:prstGeom xmlns:a="http://schemas.openxmlformats.org/drawingml/2006/main" prst="roundRect">
            <a:avLst>
              <a:gd name="adj" fmla="val 37500"/>
            </a:avLst>
          </a:prstGeom>
          <a:noFill xmlns:a="http://schemas.openxmlformats.org/drawingml/2006/main"/>
          <a:ln xmlns:a="http://schemas.openxmlformats.org/drawingml/2006/main" w="0">
            <a:noFill/>
            <a:prstDash val="solid"/>
          </a:ln>
        </p:spPr>
        <p:txBody>
          <a:bodyPr xmlns:a="http://schemas.openxmlformats.org/drawingml/2006/main">
            <a:normAutofit fontScale="75346"/>
          </a:bodyPr>
          <a:lstStyle xmlns:a="http://schemas.openxmlformats.org/drawingml/2006/main"/>
          <a:p xmlns:a="http://schemas.openxmlformats.org/drawingml/2006/main">
            <a:pPr>
              <a:defRPr sz="1275" b="0">
                <a:solidFill>
                  <a:srgbClr val="44515C"/>
                </a:solidFill>
                <a:latin typeface="Aptos"/>
                <a:ea typeface="Aptos"/>
                <a:cs typeface="Aptos"/>
              </a:defRPr>
            </a:pPr>
            <a:r>
              <a:rPr sz="1275" b="0">
                <a:solidFill>
                  <a:srgbClr val="44515C"/>
                </a:solidFill>
                <a:latin typeface="Aptos"/>
                <a:ea typeface="Aptos"/>
                <a:cs typeface="Aptos"/>
              </a:rPr>
              <a:t>Type controls pace and comprehension</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523e8c72fe54b5c"/>
          <a:srcRect xmlns:a="http://schemas.openxmlformats.org/drawingml/2006/main" l="522" t="0" r="522" b="0"/>
          <a:stretch xmlns:a="http://schemas.openxmlformats.org/drawingml/2006/main">
            <a:fillRect l="0" t="0" r="0" b="0"/>
          </a:stretch>
        </p:blipFill>
        <p:spPr>
          <a:xfrm xmlns:a="http://schemas.openxmlformats.org/drawingml/2006/main">
            <a:off x="9105900" y="2381250"/>
            <a:ext cx="2190750" cy="1476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D4F4938E-B03B-481A-85A1-46503EB49006}"/>
              </a:ext>
            </a:extLst>
          </p:cNvPr>
          <p:cNvSpPr>
            <a:spLocks xmlns:a="http://schemas.openxmlformats.org/drawingml/2006/main" noGrp="1"/>
          </p:cNvSpPr>
          <p:nvPr/>
        </p:nvSpPr>
        <p:spPr>
          <a:xfrm xmlns:a="http://schemas.openxmlformats.org/drawingml/2006/main">
            <a:off x="514350" y="2343150"/>
            <a:ext cx="8096250" cy="3181350"/>
          </a:xfrm>
          <a:prstGeom xmlns:a="http://schemas.openxmlformats.org/drawingml/2006/main" prst="roundRect">
            <a:avLst>
              <a:gd name="adj" fmla="val 3593"/>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425" b="0">
                <a:solidFill>
                  <a:srgbClr val="171C22"/>
                </a:solidFill>
                <a:latin typeface="Aptos"/>
                <a:ea typeface="Aptos"/>
                <a:cs typeface="Aptos"/>
              </a:defRPr>
            </a:pPr>
            <a:r>
              <a:rPr sz="1425" b="0">
                <a:solidFill>
                  <a:srgbClr val="171C22"/>
                </a:solidFill>
                <a:latin typeface="Aptos"/>
                <a:ea typeface="Aptos"/>
                <a:cs typeface="Aptos"/>
              </a:rPr>
              <a:t>屏幕排版需要考虑行长、字号、行距、字重与段落间距如何共同影响阅读节奏。过长的行让眼睛难以回到下一行，过密的行距让段落形成灰色墙，过多字重会让真正重点失去作用。字体选择应服务内容语气与可读性，而不是成为唯一视觉主角。建立比例系统时，先确保正文在常见屏幕上舒适可读，再为标题和辅助信息建立有限、可重复的层级，而不是逐个元素随意调大或缩小。</a:t>
            </a:r>
          </a:p>
        </p:txBody>
      </p:sp>
      <p:sp>
        <p:nvSpPr>
          <p:cNvPr id="10" name="">
            <a:extLst xmlns:a="http://schemas.openxmlformats.org/drawingml/2006/main">
              <a:ext uri="{FF2B5EF4-FFF2-40B4-BE49-F238E27FC236}">
                <a16:creationId xmlns:a16="http://schemas.microsoft.com/office/drawing/2014/main" id="{B663E260-5147-401C-BA20-5A7B104C79A3}"/>
              </a:ext>
            </a:extLst>
          </p:cNvPr>
          <p:cNvSpPr>
            <a:spLocks xmlns:a="http://schemas.openxmlformats.org/drawingml/2006/main" noGrp="1"/>
          </p:cNvSpPr>
          <p:nvPr/>
        </p:nvSpPr>
        <p:spPr>
          <a:xfrm xmlns:a="http://schemas.openxmlformats.org/drawingml/2006/main">
            <a:off x="9105900" y="4095750"/>
            <a:ext cx="2190750" cy="781050"/>
          </a:xfrm>
          <a:prstGeom xmlns:a="http://schemas.openxmlformats.org/drawingml/2006/main" prst="roundRect">
            <a:avLst>
              <a:gd name="adj" fmla="val 14634"/>
            </a:avLst>
          </a:prstGeom>
          <a:solidFill xmlns:a="http://schemas.openxmlformats.org/drawingml/2006/main">
            <a:srgbClr val="F1DFC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7E08816-20C1-4A1A-8136-ACA52BF570C5}"/>
              </a:ext>
            </a:extLst>
          </p:cNvPr>
          <p:cNvSpPr>
            <a:spLocks xmlns:a="http://schemas.openxmlformats.org/drawingml/2006/main" noGrp="1"/>
          </p:cNvSpPr>
          <p:nvPr/>
        </p:nvSpPr>
        <p:spPr>
          <a:xfrm xmlns:a="http://schemas.openxmlformats.org/drawingml/2006/main">
            <a:off x="9277350" y="4267200"/>
            <a:ext cx="1809750" cy="438150"/>
          </a:xfrm>
          <a:prstGeom xmlns:a="http://schemas.openxmlformats.org/drawingml/2006/main" prst="roundRect">
            <a:avLst>
              <a:gd name="adj" fmla="val 26087"/>
            </a:avLst>
          </a:prstGeom>
          <a:noFill xmlns:a="http://schemas.openxmlformats.org/drawingml/2006/main"/>
          <a:ln xmlns:a="http://schemas.openxmlformats.org/drawingml/2006/main" w="0">
            <a:noFill/>
            <a:prstDash val="solid"/>
          </a:ln>
        </p:spPr>
        <p:txBody>
          <a:bodyPr xmlns:a="http://schemas.openxmlformats.org/drawingml/2006/main">
            <a:normAutofit fontScale="81585"/>
          </a:bodyPr>
          <a:lstStyle xmlns:a="http://schemas.openxmlformats.org/drawingml/2006/main"/>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课堂提示</a:t>
            </a:r>
          </a:p>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用内容关系验证设计选择</a:t>
            </a:r>
          </a:p>
        </p:txBody>
      </p:sp>
    </p:spTree>
    <p:extLst>
      <p:ext uri="{BB962C8B-B14F-4D97-AF65-F5344CB8AC3E}">
        <p14:creationId xmlns:p14="http://schemas.microsoft.com/office/powerpoint/2010/main" val="2002001617"/>
      </p:ext>
    </p:extLst>
  </p:cSld>
</p:sld>
</file>

<file path=ppt/slides/slide20.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E804F38-5EE2-488F-80DE-437C1CCBBB53}"/>
              </a:ext>
            </a:extLst>
          </p:cNvPr>
          <p:cNvSpPr>
            <a:spLocks xmlns:a="http://schemas.openxmlformats.org/drawingml/2006/main" noGrp="1"/>
          </p:cNvSpPr>
          <p:nvPr/>
        </p:nvSpPr>
        <p:spPr>
          <a:xfrm xmlns:a="http://schemas.openxmlformats.org/drawingml/2006/main">
            <a:off x="514350" y="361950"/>
            <a:ext cx="4381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0602EE4-A6CA-4A2B-A1C6-02C07D6F6415}"/>
              </a:ext>
            </a:extLst>
          </p:cNvPr>
          <p:cNvSpPr>
            <a:spLocks xmlns:a="http://schemas.openxmlformats.org/drawingml/2006/main" noGrp="1"/>
          </p:cNvSpPr>
          <p:nvPr/>
        </p:nvSpPr>
        <p:spPr>
          <a:xfrm xmlns:a="http://schemas.openxmlformats.org/drawingml/2006/main">
            <a:off x="514350" y="552450"/>
            <a:ext cx="2095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 / UNIVERSITY</a:t>
            </a:r>
          </a:p>
        </p:txBody>
      </p:sp>
      <p:sp>
        <p:nvSpPr>
          <p:cNvPr id="3" name="">
            <a:extLst xmlns:a="http://schemas.openxmlformats.org/drawingml/2006/main">
              <a:ext uri="{FF2B5EF4-FFF2-40B4-BE49-F238E27FC236}">
                <a16:creationId xmlns:a16="http://schemas.microsoft.com/office/drawing/2014/main" id="{BA172976-F47C-477F-AE79-A888A79CEA92}"/>
              </a:ext>
            </a:extLst>
          </p:cNvPr>
          <p:cNvSpPr>
            <a:spLocks xmlns:a="http://schemas.openxmlformats.org/drawingml/2006/main" noGrp="1"/>
          </p:cNvSpPr>
          <p:nvPr/>
        </p:nvSpPr>
        <p:spPr>
          <a:xfrm xmlns:a="http://schemas.openxmlformats.org/drawingml/2006/main">
            <a:off x="9391650" y="552450"/>
            <a:ext cx="21907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4" name="">
            <a:extLst xmlns:a="http://schemas.openxmlformats.org/drawingml/2006/main">
              <a:ext uri="{FF2B5EF4-FFF2-40B4-BE49-F238E27FC236}">
                <a16:creationId xmlns:a16="http://schemas.microsoft.com/office/drawing/2014/main" id="{60F10797-31A8-4218-B031-CDF6692A9872}"/>
              </a:ext>
            </a:extLst>
          </p:cNvPr>
          <p:cNvSpPr>
            <a:spLocks xmlns:a="http://schemas.openxmlformats.org/drawingml/2006/main" noGrp="1"/>
          </p:cNvSpPr>
          <p:nvPr/>
        </p:nvSpPr>
        <p:spPr>
          <a:xfrm xmlns:a="http://schemas.openxmlformats.org/drawingml/2006/main">
            <a:off x="514350" y="6229350"/>
            <a:ext cx="1114425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5F1892F-4394-4D0C-BB81-09D4207D27D7}"/>
              </a:ext>
            </a:extLst>
          </p:cNvPr>
          <p:cNvSpPr>
            <a:spLocks xmlns:a="http://schemas.openxmlformats.org/drawingml/2006/main" noGrp="1"/>
          </p:cNvSpPr>
          <p:nvPr/>
        </p:nvSpPr>
        <p:spPr>
          <a:xfrm xmlns:a="http://schemas.openxmlformats.org/drawingml/2006/main">
            <a:off x="514350" y="6410325"/>
            <a:ext cx="3810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20</a:t>
            </a:r>
          </a:p>
        </p:txBody>
      </p:sp>
      <p:sp>
        <p:nvSpPr>
          <p:cNvPr id="6" name="">
            <a:extLst xmlns:a="http://schemas.openxmlformats.org/drawingml/2006/main">
              <a:ext uri="{FF2B5EF4-FFF2-40B4-BE49-F238E27FC236}">
                <a16:creationId xmlns:a16="http://schemas.microsoft.com/office/drawing/2014/main" id="{38EA6132-D779-4C07-AD6B-7AA8C5AA1CD7}"/>
              </a:ext>
            </a:extLst>
          </p:cNvPr>
          <p:cNvSpPr>
            <a:spLocks xmlns:a="http://schemas.openxmlformats.org/drawingml/2006/main" noGrp="1"/>
          </p:cNvSpPr>
          <p:nvPr/>
        </p:nvSpPr>
        <p:spPr>
          <a:xfrm xmlns:a="http://schemas.openxmlformats.org/drawingml/2006/main">
            <a:off x="514350" y="990600"/>
            <a:ext cx="8572500" cy="514350"/>
          </a:xfrm>
          <a:prstGeom xmlns:a="http://schemas.openxmlformats.org/drawingml/2006/main" prst="roundRect">
            <a:avLst>
              <a:gd name="adj" fmla="val 22222"/>
            </a:avLst>
          </a:prstGeom>
          <a:noFill xmlns:a="http://schemas.openxmlformats.org/drawingml/2006/main"/>
          <a:ln xmlns:a="http://schemas.openxmlformats.org/drawingml/2006/main" w="0">
            <a:noFill/>
            <a:prstDash val="solid"/>
          </a:ln>
        </p:spPr>
        <p:txBody>
          <a:bodyPr xmlns:a="http://schemas.openxmlformats.org/drawingml/2006/main">
            <a:normAutofit fontScale="86506"/>
          </a:bodyPr>
          <a:lstStyle xmlns:a="http://schemas.openxmlformats.org/drawingml/2006/main"/>
          <a:p xmlns:a="http://schemas.openxmlformats.org/drawingml/2006/main">
            <a:pPr>
              <a:defRPr sz="2700" b="1">
                <a:solidFill>
                  <a:srgbClr val="171C22"/>
                </a:solidFill>
                <a:latin typeface="Aptos"/>
                <a:ea typeface="Aptos"/>
                <a:cs typeface="Aptos"/>
              </a:defRPr>
            </a:pPr>
            <a:r>
              <a:rPr sz="2700" b="1">
                <a:solidFill>
                  <a:srgbClr val="171C22"/>
                </a:solidFill>
                <a:latin typeface="Aptos"/>
                <a:ea typeface="Aptos"/>
                <a:cs typeface="Aptos"/>
              </a:rPr>
              <a:t>Whitespace</a:t>
            </a:r>
          </a:p>
        </p:txBody>
      </p:sp>
      <p:sp>
        <p:nvSpPr>
          <p:cNvPr id="7" name="">
            <a:extLst xmlns:a="http://schemas.openxmlformats.org/drawingml/2006/main">
              <a:ext uri="{FF2B5EF4-FFF2-40B4-BE49-F238E27FC236}">
                <a16:creationId xmlns:a16="http://schemas.microsoft.com/office/drawing/2014/main" id="{029490DA-423B-469A-9281-0C72A9C5C6BE}"/>
              </a:ext>
            </a:extLst>
          </p:cNvPr>
          <p:cNvSpPr>
            <a:spLocks xmlns:a="http://schemas.openxmlformats.org/drawingml/2006/main" noGrp="1"/>
          </p:cNvSpPr>
          <p:nvPr/>
        </p:nvSpPr>
        <p:spPr>
          <a:xfrm xmlns:a="http://schemas.openxmlformats.org/drawingml/2006/main">
            <a:off x="514350" y="1657350"/>
            <a:ext cx="8858250" cy="304800"/>
          </a:xfrm>
          <a:prstGeom xmlns:a="http://schemas.openxmlformats.org/drawingml/2006/main" prst="roundRect">
            <a:avLst>
              <a:gd name="adj" fmla="val 37500"/>
            </a:avLst>
          </a:prstGeom>
          <a:noFill xmlns:a="http://schemas.openxmlformats.org/drawingml/2006/main"/>
          <a:ln xmlns:a="http://schemas.openxmlformats.org/drawingml/2006/main" w="0">
            <a:noFill/>
            <a:prstDash val="solid"/>
          </a:ln>
        </p:spPr>
        <p:txBody>
          <a:bodyPr xmlns:a="http://schemas.openxmlformats.org/drawingml/2006/main">
            <a:normAutofit fontScale="75346"/>
          </a:bodyPr>
          <a:lstStyle xmlns:a="http://schemas.openxmlformats.org/drawingml/2006/main"/>
          <a:p xmlns:a="http://schemas.openxmlformats.org/drawingml/2006/main">
            <a:pPr>
              <a:defRPr sz="1275" b="0">
                <a:solidFill>
                  <a:srgbClr val="44515C"/>
                </a:solidFill>
                <a:latin typeface="Aptos"/>
                <a:ea typeface="Aptos"/>
                <a:cs typeface="Aptos"/>
              </a:defRPr>
            </a:pPr>
            <a:r>
              <a:rPr sz="1275" b="0">
                <a:solidFill>
                  <a:srgbClr val="44515C"/>
                </a:solidFill>
                <a:latin typeface="Aptos"/>
                <a:ea typeface="Aptos"/>
                <a:cs typeface="Aptos"/>
              </a:rPr>
              <a:t>Empty space creates relationships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147378e0ea84561"/>
          <a:srcRect xmlns:a="http://schemas.openxmlformats.org/drawingml/2006/main" l="522" t="0" r="522" b="0"/>
          <a:stretch xmlns:a="http://schemas.openxmlformats.org/drawingml/2006/main">
            <a:fillRect l="0" t="0" r="0" b="0"/>
          </a:stretch>
        </p:blipFill>
        <p:spPr>
          <a:xfrm xmlns:a="http://schemas.openxmlformats.org/drawingml/2006/main">
            <a:off x="9105900" y="2381250"/>
            <a:ext cx="2190750" cy="1476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B1876E7-A849-4725-8243-3DA4A2D5A02D}"/>
              </a:ext>
            </a:extLst>
          </p:cNvPr>
          <p:cNvSpPr>
            <a:spLocks xmlns:a="http://schemas.openxmlformats.org/drawingml/2006/main" noGrp="1"/>
          </p:cNvSpPr>
          <p:nvPr/>
        </p:nvSpPr>
        <p:spPr>
          <a:xfrm xmlns:a="http://schemas.openxmlformats.org/drawingml/2006/main">
            <a:off x="514350" y="2343150"/>
            <a:ext cx="8096250" cy="3181350"/>
          </a:xfrm>
          <a:prstGeom xmlns:a="http://schemas.openxmlformats.org/drawingml/2006/main" prst="roundRect">
            <a:avLst>
              <a:gd name="adj" fmla="val 3593"/>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425" b="0">
                <a:solidFill>
                  <a:srgbClr val="171C22"/>
                </a:solidFill>
                <a:latin typeface="Aptos"/>
                <a:ea typeface="Aptos"/>
                <a:cs typeface="Aptos"/>
              </a:defRPr>
            </a:pPr>
            <a:r>
              <a:rPr sz="1425" b="0">
                <a:solidFill>
                  <a:srgbClr val="171C22"/>
                </a:solidFill>
                <a:latin typeface="Aptos"/>
                <a:ea typeface="Aptos"/>
                <a:cs typeface="Aptos"/>
              </a:rPr>
              <a:t>留白不是没有设计的区域。它能把属于同一件事的元素拉近，把不同任务的区域分开，并给读者时间判断下一步。紧凑并不总是高效；当信息密度超过读者能处理的程度，页面会让人跳过内容或直接离开。使用间距时要建立规则，例如同一组件内部使用较小距离，两个章节之间使用更大距离。这样读者无需逐项解码，也能从空间关系理解内容组织。</a:t>
            </a:r>
          </a:p>
        </p:txBody>
      </p:sp>
      <p:sp>
        <p:nvSpPr>
          <p:cNvPr id="10" name="">
            <a:extLst xmlns:a="http://schemas.openxmlformats.org/drawingml/2006/main">
              <a:ext uri="{FF2B5EF4-FFF2-40B4-BE49-F238E27FC236}">
                <a16:creationId xmlns:a16="http://schemas.microsoft.com/office/drawing/2014/main" id="{C343A152-6EFD-436B-98E0-6BB2979D113D}"/>
              </a:ext>
            </a:extLst>
          </p:cNvPr>
          <p:cNvSpPr>
            <a:spLocks xmlns:a="http://schemas.openxmlformats.org/drawingml/2006/main" noGrp="1"/>
          </p:cNvSpPr>
          <p:nvPr/>
        </p:nvSpPr>
        <p:spPr>
          <a:xfrm xmlns:a="http://schemas.openxmlformats.org/drawingml/2006/main">
            <a:off x="9105900" y="4095750"/>
            <a:ext cx="2190750" cy="781050"/>
          </a:xfrm>
          <a:prstGeom xmlns:a="http://schemas.openxmlformats.org/drawingml/2006/main" prst="roundRect">
            <a:avLst>
              <a:gd name="adj" fmla="val 14634"/>
            </a:avLst>
          </a:prstGeom>
          <a:solidFill xmlns:a="http://schemas.openxmlformats.org/drawingml/2006/main">
            <a:srgbClr val="F1DFC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02E0C4F-7F32-46A7-9114-27A2CD8ACE04}"/>
              </a:ext>
            </a:extLst>
          </p:cNvPr>
          <p:cNvSpPr>
            <a:spLocks xmlns:a="http://schemas.openxmlformats.org/drawingml/2006/main" noGrp="1"/>
          </p:cNvSpPr>
          <p:nvPr/>
        </p:nvSpPr>
        <p:spPr>
          <a:xfrm xmlns:a="http://schemas.openxmlformats.org/drawingml/2006/main">
            <a:off x="9277350" y="4267200"/>
            <a:ext cx="1809750" cy="438150"/>
          </a:xfrm>
          <a:prstGeom xmlns:a="http://schemas.openxmlformats.org/drawingml/2006/main" prst="roundRect">
            <a:avLst>
              <a:gd name="adj" fmla="val 26087"/>
            </a:avLst>
          </a:prstGeom>
          <a:noFill xmlns:a="http://schemas.openxmlformats.org/drawingml/2006/main"/>
          <a:ln xmlns:a="http://schemas.openxmlformats.org/drawingml/2006/main" w="0">
            <a:noFill/>
            <a:prstDash val="solid"/>
          </a:ln>
        </p:spPr>
        <p:txBody>
          <a:bodyPr xmlns:a="http://schemas.openxmlformats.org/drawingml/2006/main">
            <a:normAutofit fontScale="81585"/>
          </a:bodyPr>
          <a:lstStyle xmlns:a="http://schemas.openxmlformats.org/drawingml/2006/main"/>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课堂提示</a:t>
            </a:r>
          </a:p>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用内容关系验证设计选择</a:t>
            </a:r>
          </a:p>
        </p:txBody>
      </p:sp>
    </p:spTree>
    <p:extLst>
      <p:ext uri="{BB962C8B-B14F-4D97-AF65-F5344CB8AC3E}">
        <p14:creationId xmlns:p14="http://schemas.microsoft.com/office/powerpoint/2010/main" val="969763526"/>
      </p:ext>
    </p:extLst>
  </p:cSld>
</p:sld>
</file>

<file path=ppt/slides/slide21.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19202F8-C1D0-44B6-97D5-C3F4CB34C043}"/>
              </a:ext>
            </a:extLst>
          </p:cNvPr>
          <p:cNvSpPr>
            <a:spLocks xmlns:a="http://schemas.openxmlformats.org/drawingml/2006/main" noGrp="1"/>
          </p:cNvSpPr>
          <p:nvPr/>
        </p:nvSpPr>
        <p:spPr>
          <a:xfrm xmlns:a="http://schemas.openxmlformats.org/drawingml/2006/main">
            <a:off x="514350" y="361950"/>
            <a:ext cx="4381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82261D6-4CBB-4801-9286-7AE489F38DCD}"/>
              </a:ext>
            </a:extLst>
          </p:cNvPr>
          <p:cNvSpPr>
            <a:spLocks xmlns:a="http://schemas.openxmlformats.org/drawingml/2006/main" noGrp="1"/>
          </p:cNvSpPr>
          <p:nvPr/>
        </p:nvSpPr>
        <p:spPr>
          <a:xfrm xmlns:a="http://schemas.openxmlformats.org/drawingml/2006/main">
            <a:off x="514350" y="552450"/>
            <a:ext cx="2095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 / UNIVERSITY</a:t>
            </a:r>
          </a:p>
        </p:txBody>
      </p:sp>
      <p:sp>
        <p:nvSpPr>
          <p:cNvPr id="3" name="">
            <a:extLst xmlns:a="http://schemas.openxmlformats.org/drawingml/2006/main">
              <a:ext uri="{FF2B5EF4-FFF2-40B4-BE49-F238E27FC236}">
                <a16:creationId xmlns:a16="http://schemas.microsoft.com/office/drawing/2014/main" id="{B9555CE7-A0AF-4009-8177-C4CEB8335EE1}"/>
              </a:ext>
            </a:extLst>
          </p:cNvPr>
          <p:cNvSpPr>
            <a:spLocks xmlns:a="http://schemas.openxmlformats.org/drawingml/2006/main" noGrp="1"/>
          </p:cNvSpPr>
          <p:nvPr/>
        </p:nvSpPr>
        <p:spPr>
          <a:xfrm xmlns:a="http://schemas.openxmlformats.org/drawingml/2006/main">
            <a:off x="9391650" y="552450"/>
            <a:ext cx="21907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4" name="">
            <a:extLst xmlns:a="http://schemas.openxmlformats.org/drawingml/2006/main">
              <a:ext uri="{FF2B5EF4-FFF2-40B4-BE49-F238E27FC236}">
                <a16:creationId xmlns:a16="http://schemas.microsoft.com/office/drawing/2014/main" id="{383B625E-2D5F-44E8-B28F-C042DA233391}"/>
              </a:ext>
            </a:extLst>
          </p:cNvPr>
          <p:cNvSpPr>
            <a:spLocks xmlns:a="http://schemas.openxmlformats.org/drawingml/2006/main" noGrp="1"/>
          </p:cNvSpPr>
          <p:nvPr/>
        </p:nvSpPr>
        <p:spPr>
          <a:xfrm xmlns:a="http://schemas.openxmlformats.org/drawingml/2006/main">
            <a:off x="514350" y="6229350"/>
            <a:ext cx="1114425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4F84B49-DA8A-4DA7-8CAF-F11C255F53AF}"/>
              </a:ext>
            </a:extLst>
          </p:cNvPr>
          <p:cNvSpPr>
            <a:spLocks xmlns:a="http://schemas.openxmlformats.org/drawingml/2006/main" noGrp="1"/>
          </p:cNvSpPr>
          <p:nvPr/>
        </p:nvSpPr>
        <p:spPr>
          <a:xfrm xmlns:a="http://schemas.openxmlformats.org/drawingml/2006/main">
            <a:off x="514350" y="6410325"/>
            <a:ext cx="3810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21</a:t>
            </a:r>
          </a:p>
        </p:txBody>
      </p:sp>
      <p:sp>
        <p:nvSpPr>
          <p:cNvPr id="6" name="">
            <a:extLst xmlns:a="http://schemas.openxmlformats.org/drawingml/2006/main">
              <a:ext uri="{FF2B5EF4-FFF2-40B4-BE49-F238E27FC236}">
                <a16:creationId xmlns:a16="http://schemas.microsoft.com/office/drawing/2014/main" id="{84C0CBD3-4356-43F3-B03F-E46B3A0A507B}"/>
              </a:ext>
            </a:extLst>
          </p:cNvPr>
          <p:cNvSpPr>
            <a:spLocks xmlns:a="http://schemas.openxmlformats.org/drawingml/2006/main" noGrp="1"/>
          </p:cNvSpPr>
          <p:nvPr/>
        </p:nvSpPr>
        <p:spPr>
          <a:xfrm xmlns:a="http://schemas.openxmlformats.org/drawingml/2006/main">
            <a:off x="514350" y="990600"/>
            <a:ext cx="8572500" cy="514350"/>
          </a:xfrm>
          <a:prstGeom xmlns:a="http://schemas.openxmlformats.org/drawingml/2006/main" prst="roundRect">
            <a:avLst>
              <a:gd name="adj" fmla="val 22222"/>
            </a:avLst>
          </a:prstGeom>
          <a:noFill xmlns:a="http://schemas.openxmlformats.org/drawingml/2006/main"/>
          <a:ln xmlns:a="http://schemas.openxmlformats.org/drawingml/2006/main" w="0">
            <a:noFill/>
            <a:prstDash val="solid"/>
          </a:ln>
        </p:spPr>
        <p:txBody>
          <a:bodyPr xmlns:a="http://schemas.openxmlformats.org/drawingml/2006/main">
            <a:normAutofit fontScale="86506"/>
          </a:bodyPr>
          <a:lstStyle xmlns:a="http://schemas.openxmlformats.org/drawingml/2006/main"/>
          <a:p xmlns:a="http://schemas.openxmlformats.org/drawingml/2006/main">
            <a:pPr>
              <a:defRPr sz="2700" b="1">
                <a:solidFill>
                  <a:srgbClr val="171C22"/>
                </a:solidFill>
                <a:latin typeface="Aptos"/>
                <a:ea typeface="Aptos"/>
                <a:cs typeface="Aptos"/>
              </a:defRPr>
            </a:pPr>
            <a:r>
              <a:rPr sz="2700" b="1">
                <a:solidFill>
                  <a:srgbClr val="171C22"/>
                </a:solidFill>
                <a:latin typeface="Aptos"/>
                <a:ea typeface="Aptos"/>
                <a:cs typeface="Aptos"/>
              </a:rPr>
              <a:t>Colour and contrast</a:t>
            </a:r>
          </a:p>
        </p:txBody>
      </p:sp>
      <p:sp>
        <p:nvSpPr>
          <p:cNvPr id="7" name="">
            <a:extLst xmlns:a="http://schemas.openxmlformats.org/drawingml/2006/main">
              <a:ext uri="{FF2B5EF4-FFF2-40B4-BE49-F238E27FC236}">
                <a16:creationId xmlns:a16="http://schemas.microsoft.com/office/drawing/2014/main" id="{F84306F4-9E40-488B-A5FE-3D9E83E5BAA0}"/>
              </a:ext>
            </a:extLst>
          </p:cNvPr>
          <p:cNvSpPr>
            <a:spLocks xmlns:a="http://schemas.openxmlformats.org/drawingml/2006/main" noGrp="1"/>
          </p:cNvSpPr>
          <p:nvPr/>
        </p:nvSpPr>
        <p:spPr>
          <a:xfrm xmlns:a="http://schemas.openxmlformats.org/drawingml/2006/main">
            <a:off x="514350" y="1657350"/>
            <a:ext cx="8858250" cy="304800"/>
          </a:xfrm>
          <a:prstGeom xmlns:a="http://schemas.openxmlformats.org/drawingml/2006/main" prst="roundRect">
            <a:avLst>
              <a:gd name="adj" fmla="val 37500"/>
            </a:avLst>
          </a:prstGeom>
          <a:noFill xmlns:a="http://schemas.openxmlformats.org/drawingml/2006/main"/>
          <a:ln xmlns:a="http://schemas.openxmlformats.org/drawingml/2006/main" w="0">
            <a:noFill/>
            <a:prstDash val="solid"/>
          </a:ln>
        </p:spPr>
        <p:txBody>
          <a:bodyPr xmlns:a="http://schemas.openxmlformats.org/drawingml/2006/main">
            <a:normAutofit fontScale="75346"/>
          </a:bodyPr>
          <a:lstStyle xmlns:a="http://schemas.openxmlformats.org/drawingml/2006/main"/>
          <a:p xmlns:a="http://schemas.openxmlformats.org/drawingml/2006/main">
            <a:pPr>
              <a:defRPr sz="1275" b="0">
                <a:solidFill>
                  <a:srgbClr val="44515C"/>
                </a:solidFill>
                <a:latin typeface="Aptos"/>
                <a:ea typeface="Aptos"/>
                <a:cs typeface="Aptos"/>
              </a:defRPr>
            </a:pPr>
            <a:r>
              <a:rPr sz="1275" b="0">
                <a:solidFill>
                  <a:srgbClr val="44515C"/>
                </a:solidFill>
                <a:latin typeface="Aptos"/>
                <a:ea typeface="Aptos"/>
                <a:cs typeface="Aptos"/>
              </a:rPr>
              <a:t>Colour must support, not carry, meaning</a:t>
            </a:r>
          </a:p>
        </p:txBody>
      </p:sp>
      <p:sp>
        <p:nvSpPr>
          <p:cNvPr id="8" name="">
            <a:extLst xmlns:a="http://schemas.openxmlformats.org/drawingml/2006/main">
              <a:ext uri="{FF2B5EF4-FFF2-40B4-BE49-F238E27FC236}">
                <a16:creationId xmlns:a16="http://schemas.microsoft.com/office/drawing/2014/main" id="{3F5F7440-0275-4B4F-8E89-2C68BCE3FC6D}"/>
              </a:ext>
            </a:extLst>
          </p:cNvPr>
          <p:cNvSpPr>
            <a:spLocks xmlns:a="http://schemas.openxmlformats.org/drawingml/2006/main" noGrp="1"/>
          </p:cNvSpPr>
          <p:nvPr/>
        </p:nvSpPr>
        <p:spPr>
          <a:xfrm xmlns:a="http://schemas.openxmlformats.org/drawingml/2006/main">
            <a:off x="514350" y="2286000"/>
            <a:ext cx="6667500" cy="3238500"/>
          </a:xfrm>
          <a:prstGeom xmlns:a="http://schemas.openxmlformats.org/drawingml/2006/main" prst="roundRect">
            <a:avLst>
              <a:gd name="adj" fmla="val 3529"/>
            </a:avLst>
          </a:prstGeom>
          <a:solidFill xmlns:a="http://schemas.openxmlformats.org/drawingml/2006/main">
            <a:srgbClr val="24334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45394D9-B809-48B3-8A50-726B0D02453A}"/>
              </a:ext>
            </a:extLst>
          </p:cNvPr>
          <p:cNvSpPr>
            <a:spLocks xmlns:a="http://schemas.openxmlformats.org/drawingml/2006/main" noGrp="1"/>
          </p:cNvSpPr>
          <p:nvPr/>
        </p:nvSpPr>
        <p:spPr>
          <a:xfrm xmlns:a="http://schemas.openxmlformats.org/drawingml/2006/main">
            <a:off x="781050" y="2571750"/>
            <a:ext cx="6096000" cy="2476500"/>
          </a:xfrm>
          <a:prstGeom xmlns:a="http://schemas.openxmlformats.org/drawingml/2006/main" prst="roundRect">
            <a:avLst>
              <a:gd name="adj" fmla="val 4615"/>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350" b="0">
                <a:solidFill>
                  <a:srgbClr val="F7F4EF"/>
                </a:solidFill>
                <a:latin typeface="Aptos"/>
                <a:ea typeface="Aptos"/>
                <a:cs typeface="Aptos"/>
              </a:defRPr>
            </a:pPr>
            <a:r>
              <a:rPr sz="1350" b="0">
                <a:solidFill>
                  <a:srgbClr val="F7F4EF"/>
                </a:solidFill>
                <a:latin typeface="Aptos"/>
                <a:ea typeface="Aptos"/>
                <a:cs typeface="Aptos"/>
              </a:rPr>
              <a:t>&lt;main&gt;</a:t>
            </a:r>
          </a:p>
          <a:p xmlns:a="http://schemas.openxmlformats.org/drawingml/2006/main">
            <a:pPr>
              <a:defRPr sz="1350" b="0">
                <a:solidFill>
                  <a:srgbClr val="F7F4EF"/>
                </a:solidFill>
                <a:latin typeface="Aptos"/>
                <a:ea typeface="Aptos"/>
                <a:cs typeface="Aptos"/>
              </a:defRPr>
            </a:pPr>
            <a:r>
              <a:rPr sz="1350" b="0">
                <a:solidFill>
                  <a:srgbClr val="F7F4EF"/>
                </a:solidFill>
                <a:latin typeface="Aptos"/>
                <a:ea typeface="Aptos"/>
                <a:cs typeface="Aptos"/>
              </a:rPr>
              <a:t>  &lt;article&gt;</a:t>
            </a:r>
          </a:p>
          <a:p xmlns:a="http://schemas.openxmlformats.org/drawingml/2006/main">
            <a:pPr>
              <a:defRPr sz="1350" b="0">
                <a:solidFill>
                  <a:srgbClr val="F7F4EF"/>
                </a:solidFill>
                <a:latin typeface="Aptos"/>
                <a:ea typeface="Aptos"/>
                <a:cs typeface="Aptos"/>
              </a:defRPr>
            </a:pPr>
            <a:r>
              <a:rPr sz="1350" b="0">
                <a:solidFill>
                  <a:srgbClr val="F7F4EF"/>
                </a:solidFill>
                <a:latin typeface="Aptos"/>
                <a:ea typeface="Aptos"/>
                <a:cs typeface="Aptos"/>
              </a:rPr>
              <a:t>    &lt;h1&gt;Local Film Night&lt;/h1&gt;</a:t>
            </a:r>
          </a:p>
          <a:p xmlns:a="http://schemas.openxmlformats.org/drawingml/2006/main">
            <a:pPr>
              <a:defRPr sz="1350" b="0">
                <a:solidFill>
                  <a:srgbClr val="F7F4EF"/>
                </a:solidFill>
                <a:latin typeface="Aptos"/>
                <a:ea typeface="Aptos"/>
                <a:cs typeface="Aptos"/>
              </a:defRPr>
            </a:pPr>
            <a:r>
              <a:rPr sz="1350" b="0">
                <a:solidFill>
                  <a:srgbClr val="F7F4EF"/>
                </a:solidFill>
                <a:latin typeface="Aptos"/>
                <a:ea typeface="Aptos"/>
                <a:cs typeface="Aptos"/>
              </a:rPr>
              <a:t>    &lt;p&gt;Short films and discussion for new makers.&lt;/p&gt;</a:t>
            </a:r>
          </a:p>
          <a:p xmlns:a="http://schemas.openxmlformats.org/drawingml/2006/main">
            <a:pPr>
              <a:defRPr sz="1350" b="0">
                <a:solidFill>
                  <a:srgbClr val="F7F4EF"/>
                </a:solidFill>
                <a:latin typeface="Aptos"/>
                <a:ea typeface="Aptos"/>
                <a:cs typeface="Aptos"/>
              </a:defRPr>
            </a:pPr>
            <a:r>
              <a:rPr sz="1350" b="0">
                <a:solidFill>
                  <a:srgbClr val="F7F4EF"/>
                </a:solidFill>
                <a:latin typeface="Aptos"/>
                <a:ea typeface="Aptos"/>
                <a:cs typeface="Aptos"/>
              </a:rPr>
              <a:t>    &lt;h2&gt;When and where&lt;/h2&gt;</a:t>
            </a:r>
          </a:p>
          <a:p xmlns:a="http://schemas.openxmlformats.org/drawingml/2006/main">
            <a:pPr>
              <a:defRPr sz="1350" b="0">
                <a:solidFill>
                  <a:srgbClr val="F7F4EF"/>
                </a:solidFill>
                <a:latin typeface="Aptos"/>
                <a:ea typeface="Aptos"/>
                <a:cs typeface="Aptos"/>
              </a:defRPr>
            </a:pPr>
            <a:r>
              <a:rPr sz="1350" b="0">
                <a:solidFill>
                  <a:srgbClr val="F7F4EF"/>
                </a:solidFill>
                <a:latin typeface="Aptos"/>
                <a:ea typeface="Aptos"/>
                <a:cs typeface="Aptos"/>
              </a:rPr>
              <a:t>    &lt;p&gt;Friday, 7 pm, Studio Theatre.&lt;/p&gt;</a:t>
            </a:r>
          </a:p>
          <a:p xmlns:a="http://schemas.openxmlformats.org/drawingml/2006/main">
            <a:pPr>
              <a:defRPr sz="1350" b="0">
                <a:solidFill>
                  <a:srgbClr val="F7F4EF"/>
                </a:solidFill>
                <a:latin typeface="Aptos"/>
                <a:ea typeface="Aptos"/>
                <a:cs typeface="Aptos"/>
              </a:defRPr>
            </a:pPr>
            <a:r>
              <a:rPr sz="1350" b="0">
                <a:solidFill>
                  <a:srgbClr val="F7F4EF"/>
                </a:solidFill>
                <a:latin typeface="Aptos"/>
                <a:ea typeface="Aptos"/>
                <a:cs typeface="Aptos"/>
              </a:rPr>
              <a:t>    &lt;a href="#register"&gt;Register for the screening&lt;/a&gt;</a:t>
            </a:r>
          </a:p>
          <a:p xmlns:a="http://schemas.openxmlformats.org/drawingml/2006/main">
            <a:pPr>
              <a:defRPr sz="1350" b="0">
                <a:solidFill>
                  <a:srgbClr val="F7F4EF"/>
                </a:solidFill>
                <a:latin typeface="Aptos"/>
                <a:ea typeface="Aptos"/>
                <a:cs typeface="Aptos"/>
              </a:defRPr>
            </a:pPr>
            <a:r>
              <a:rPr sz="1350" b="0">
                <a:solidFill>
                  <a:srgbClr val="F7F4EF"/>
                </a:solidFill>
                <a:latin typeface="Aptos"/>
                <a:ea typeface="Aptos"/>
                <a:cs typeface="Aptos"/>
              </a:rPr>
              <a:t>  &lt;/article&gt;</a:t>
            </a:r>
          </a:p>
          <a:p xmlns:a="http://schemas.openxmlformats.org/drawingml/2006/main">
            <a:pPr>
              <a:defRPr sz="1350" b="0">
                <a:solidFill>
                  <a:srgbClr val="F7F4EF"/>
                </a:solidFill>
                <a:latin typeface="Aptos"/>
                <a:ea typeface="Aptos"/>
                <a:cs typeface="Aptos"/>
              </a:defRPr>
            </a:pPr>
            <a:r>
              <a:rPr sz="1350" b="0">
                <a:solidFill>
                  <a:srgbClr val="F7F4EF"/>
                </a:solidFill>
                <a:latin typeface="Aptos"/>
                <a:ea typeface="Aptos"/>
                <a:cs typeface="Aptos"/>
              </a:rPr>
              <a:t>&lt;/main&gt;</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bc26199ca2084780"/>
          <a:srcRect xmlns:a="http://schemas.openxmlformats.org/drawingml/2006/main" l="0" t="1893" r="0" b="1893"/>
          <a:stretch xmlns:a="http://schemas.openxmlformats.org/drawingml/2006/main">
            <a:fillRect l="0" t="0" r="0" b="0"/>
          </a:stretch>
        </p:blipFill>
        <p:spPr>
          <a:xfrm xmlns:a="http://schemas.openxmlformats.org/drawingml/2006/main">
            <a:off x="7524750" y="2286000"/>
            <a:ext cx="3714750" cy="23812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1D302E9D-9FAB-47FE-BDD1-4B4C0E761B47}"/>
              </a:ext>
            </a:extLst>
          </p:cNvPr>
          <p:cNvSpPr>
            <a:spLocks xmlns:a="http://schemas.openxmlformats.org/drawingml/2006/main" noGrp="1"/>
          </p:cNvSpPr>
          <p:nvPr/>
        </p:nvSpPr>
        <p:spPr>
          <a:xfrm xmlns:a="http://schemas.openxmlformats.org/drawingml/2006/main">
            <a:off x="514350" y="5695950"/>
            <a:ext cx="10763250" cy="400050"/>
          </a:xfrm>
          <a:prstGeom xmlns:a="http://schemas.openxmlformats.org/drawingml/2006/main" prst="roundRect">
            <a:avLst>
              <a:gd name="adj" fmla="val 28571"/>
            </a:avLst>
          </a:prstGeom>
          <a:noFill xmlns:a="http://schemas.openxmlformats.org/drawingml/2006/main"/>
          <a:ln xmlns:a="http://schemas.openxmlformats.org/drawingml/2006/main" w="0">
            <a:noFill/>
            <a:prstDash val="solid"/>
          </a:ln>
        </p:spPr>
        <p:txBody>
          <a:bodyPr xmlns:a="http://schemas.openxmlformats.org/drawingml/2006/main">
            <a:normAutofit fontScale="75508"/>
          </a:bodyPr>
          <a:lstStyle xmlns:a="http://schemas.openxmlformats.org/drawingml/2006/main"/>
          <a:p xmlns:a="http://schemas.openxmlformats.org/drawingml/2006/main">
            <a:pPr>
              <a:defRPr sz="1050" b="0">
                <a:solidFill>
                  <a:srgbClr val="44515C"/>
                </a:solidFill>
                <a:latin typeface="Aptos"/>
                <a:ea typeface="Aptos"/>
                <a:cs typeface="Aptos"/>
              </a:defRPr>
            </a:pPr>
            <a:r>
              <a:rPr sz="1050" b="0">
                <a:solidFill>
                  <a:srgbClr val="44515C"/>
                </a:solidFill>
                <a:latin typeface="Aptos"/>
                <a:ea typeface="Aptos"/>
                <a:cs typeface="Aptos"/>
              </a:rPr>
              <a:t>颜色可以建立品牌、提示状态和引导注意力，但关键意义不能只靠颜色表达。错误状态除了红色还需要文字说明，链接除了颜色还应有清楚文字与焦点状态，图表应使用可区分的标签或纹理。对比度检查不是最后的合规步骤，而是确保文字在不同亮度和视觉条件下仍可读的基本工作。选择调色板时应先测试正文、按钮文字、边框与焦点环，再决定装饰颜色，而不是反过来。</a:t>
            </a:r>
          </a:p>
        </p:txBody>
      </p:sp>
    </p:spTree>
    <p:extLst>
      <p:ext uri="{BB962C8B-B14F-4D97-AF65-F5344CB8AC3E}">
        <p14:creationId xmlns:p14="http://schemas.microsoft.com/office/powerpoint/2010/main" val="1374729022"/>
      </p:ext>
    </p:extLst>
  </p:cSld>
</p:sld>
</file>

<file path=ppt/slides/slide22.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A283076-6A28-4F7F-81AB-9616AA783609}"/>
              </a:ext>
            </a:extLst>
          </p:cNvPr>
          <p:cNvSpPr>
            <a:spLocks xmlns:a="http://schemas.openxmlformats.org/drawingml/2006/main" noGrp="1"/>
          </p:cNvSpPr>
          <p:nvPr/>
        </p:nvSpPr>
        <p:spPr>
          <a:xfrm xmlns:a="http://schemas.openxmlformats.org/drawingml/2006/main">
            <a:off x="514350" y="361950"/>
            <a:ext cx="4381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308483A-5F03-4711-BFF8-A9B12E865878}"/>
              </a:ext>
            </a:extLst>
          </p:cNvPr>
          <p:cNvSpPr>
            <a:spLocks xmlns:a="http://schemas.openxmlformats.org/drawingml/2006/main" noGrp="1"/>
          </p:cNvSpPr>
          <p:nvPr/>
        </p:nvSpPr>
        <p:spPr>
          <a:xfrm xmlns:a="http://schemas.openxmlformats.org/drawingml/2006/main">
            <a:off x="514350" y="552450"/>
            <a:ext cx="2095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 / UNIVERSITY</a:t>
            </a:r>
          </a:p>
        </p:txBody>
      </p:sp>
      <p:sp>
        <p:nvSpPr>
          <p:cNvPr id="3" name="">
            <a:extLst xmlns:a="http://schemas.openxmlformats.org/drawingml/2006/main">
              <a:ext uri="{FF2B5EF4-FFF2-40B4-BE49-F238E27FC236}">
                <a16:creationId xmlns:a16="http://schemas.microsoft.com/office/drawing/2014/main" id="{C25A3755-7747-4E1D-83E6-D5E9AA7265C8}"/>
              </a:ext>
            </a:extLst>
          </p:cNvPr>
          <p:cNvSpPr>
            <a:spLocks xmlns:a="http://schemas.openxmlformats.org/drawingml/2006/main" noGrp="1"/>
          </p:cNvSpPr>
          <p:nvPr/>
        </p:nvSpPr>
        <p:spPr>
          <a:xfrm xmlns:a="http://schemas.openxmlformats.org/drawingml/2006/main">
            <a:off x="9391650" y="552450"/>
            <a:ext cx="21907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4" name="">
            <a:extLst xmlns:a="http://schemas.openxmlformats.org/drawingml/2006/main">
              <a:ext uri="{FF2B5EF4-FFF2-40B4-BE49-F238E27FC236}">
                <a16:creationId xmlns:a16="http://schemas.microsoft.com/office/drawing/2014/main" id="{CC4A7F35-5842-4CC2-857E-36F6026A46F1}"/>
              </a:ext>
            </a:extLst>
          </p:cNvPr>
          <p:cNvSpPr>
            <a:spLocks xmlns:a="http://schemas.openxmlformats.org/drawingml/2006/main" noGrp="1"/>
          </p:cNvSpPr>
          <p:nvPr/>
        </p:nvSpPr>
        <p:spPr>
          <a:xfrm xmlns:a="http://schemas.openxmlformats.org/drawingml/2006/main">
            <a:off x="514350" y="6229350"/>
            <a:ext cx="1114425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75A536B-AC86-47B6-B280-4322A3BD6069}"/>
              </a:ext>
            </a:extLst>
          </p:cNvPr>
          <p:cNvSpPr>
            <a:spLocks xmlns:a="http://schemas.openxmlformats.org/drawingml/2006/main" noGrp="1"/>
          </p:cNvSpPr>
          <p:nvPr/>
        </p:nvSpPr>
        <p:spPr>
          <a:xfrm xmlns:a="http://schemas.openxmlformats.org/drawingml/2006/main">
            <a:off x="514350" y="6410325"/>
            <a:ext cx="3810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22</a:t>
            </a:r>
          </a:p>
        </p:txBody>
      </p:sp>
      <p:sp>
        <p:nvSpPr>
          <p:cNvPr id="6" name="">
            <a:extLst xmlns:a="http://schemas.openxmlformats.org/drawingml/2006/main">
              <a:ext uri="{FF2B5EF4-FFF2-40B4-BE49-F238E27FC236}">
                <a16:creationId xmlns:a16="http://schemas.microsoft.com/office/drawing/2014/main" id="{C52C2ECE-B788-4B22-9B36-07CD38B6260C}"/>
              </a:ext>
            </a:extLst>
          </p:cNvPr>
          <p:cNvSpPr>
            <a:spLocks xmlns:a="http://schemas.openxmlformats.org/drawingml/2006/main" noGrp="1"/>
          </p:cNvSpPr>
          <p:nvPr/>
        </p:nvSpPr>
        <p:spPr>
          <a:xfrm xmlns:a="http://schemas.openxmlformats.org/drawingml/2006/main">
            <a:off x="514350" y="990600"/>
            <a:ext cx="8572500" cy="514350"/>
          </a:xfrm>
          <a:prstGeom xmlns:a="http://schemas.openxmlformats.org/drawingml/2006/main" prst="roundRect">
            <a:avLst>
              <a:gd name="adj" fmla="val 22222"/>
            </a:avLst>
          </a:prstGeom>
          <a:noFill xmlns:a="http://schemas.openxmlformats.org/drawingml/2006/main"/>
          <a:ln xmlns:a="http://schemas.openxmlformats.org/drawingml/2006/main" w="0">
            <a:noFill/>
            <a:prstDash val="solid"/>
          </a:ln>
        </p:spPr>
        <p:txBody>
          <a:bodyPr xmlns:a="http://schemas.openxmlformats.org/drawingml/2006/main">
            <a:normAutofit fontScale="86506"/>
          </a:bodyPr>
          <a:lstStyle xmlns:a="http://schemas.openxmlformats.org/drawingml/2006/main"/>
          <a:p xmlns:a="http://schemas.openxmlformats.org/drawingml/2006/main">
            <a:pPr>
              <a:defRPr sz="2700" b="1">
                <a:solidFill>
                  <a:srgbClr val="171C22"/>
                </a:solidFill>
                <a:latin typeface="Aptos"/>
                <a:ea typeface="Aptos"/>
                <a:cs typeface="Aptos"/>
              </a:defRPr>
            </a:pPr>
            <a:r>
              <a:rPr sz="2700" b="1">
                <a:solidFill>
                  <a:srgbClr val="171C22"/>
                </a:solidFill>
                <a:latin typeface="Aptos"/>
                <a:ea typeface="Aptos"/>
                <a:cs typeface="Aptos"/>
              </a:rPr>
              <a:t>Responsive thinking</a:t>
            </a:r>
          </a:p>
        </p:txBody>
      </p:sp>
      <p:sp>
        <p:nvSpPr>
          <p:cNvPr id="7" name="">
            <a:extLst xmlns:a="http://schemas.openxmlformats.org/drawingml/2006/main">
              <a:ext uri="{FF2B5EF4-FFF2-40B4-BE49-F238E27FC236}">
                <a16:creationId xmlns:a16="http://schemas.microsoft.com/office/drawing/2014/main" id="{FAA98121-990D-4630-BEA3-4F34B558C090}"/>
              </a:ext>
            </a:extLst>
          </p:cNvPr>
          <p:cNvSpPr>
            <a:spLocks xmlns:a="http://schemas.openxmlformats.org/drawingml/2006/main" noGrp="1"/>
          </p:cNvSpPr>
          <p:nvPr/>
        </p:nvSpPr>
        <p:spPr>
          <a:xfrm xmlns:a="http://schemas.openxmlformats.org/drawingml/2006/main">
            <a:off x="514350" y="1657350"/>
            <a:ext cx="8858250" cy="304800"/>
          </a:xfrm>
          <a:prstGeom xmlns:a="http://schemas.openxmlformats.org/drawingml/2006/main" prst="roundRect">
            <a:avLst>
              <a:gd name="adj" fmla="val 37500"/>
            </a:avLst>
          </a:prstGeom>
          <a:noFill xmlns:a="http://schemas.openxmlformats.org/drawingml/2006/main"/>
          <a:ln xmlns:a="http://schemas.openxmlformats.org/drawingml/2006/main" w="0">
            <a:noFill/>
            <a:prstDash val="solid"/>
          </a:ln>
        </p:spPr>
        <p:txBody>
          <a:bodyPr xmlns:a="http://schemas.openxmlformats.org/drawingml/2006/main">
            <a:normAutofit fontScale="75346"/>
          </a:bodyPr>
          <a:lstStyle xmlns:a="http://schemas.openxmlformats.org/drawingml/2006/main"/>
          <a:p xmlns:a="http://schemas.openxmlformats.org/drawingml/2006/main">
            <a:pPr>
              <a:defRPr sz="1275" b="0">
                <a:solidFill>
                  <a:srgbClr val="44515C"/>
                </a:solidFill>
                <a:latin typeface="Aptos"/>
                <a:ea typeface="Aptos"/>
                <a:cs typeface="Aptos"/>
              </a:defRPr>
            </a:pPr>
            <a:r>
              <a:rPr sz="1275" b="0">
                <a:solidFill>
                  <a:srgbClr val="44515C"/>
                </a:solidFill>
                <a:latin typeface="Aptos"/>
                <a:ea typeface="Aptos"/>
                <a:cs typeface="Aptos"/>
              </a:rPr>
              <a:t>The layout changes because the task changes</a:t>
            </a:r>
          </a:p>
        </p:txBody>
      </p:sp>
      <p:sp>
        <p:nvSpPr>
          <p:cNvPr id="8" name="">
            <a:extLst xmlns:a="http://schemas.openxmlformats.org/drawingml/2006/main">
              <a:ext uri="{FF2B5EF4-FFF2-40B4-BE49-F238E27FC236}">
                <a16:creationId xmlns:a16="http://schemas.microsoft.com/office/drawing/2014/main" id="{BEBA4000-E2D0-43AB-9FAC-C90E6F6F41A5}"/>
              </a:ext>
            </a:extLst>
          </p:cNvPr>
          <p:cNvSpPr>
            <a:spLocks xmlns:a="http://schemas.openxmlformats.org/drawingml/2006/main" noGrp="1"/>
          </p:cNvSpPr>
          <p:nvPr/>
        </p:nvSpPr>
        <p:spPr>
          <a:xfrm xmlns:a="http://schemas.openxmlformats.org/drawingml/2006/main">
            <a:off x="514350" y="2286000"/>
            <a:ext cx="6667500" cy="3238500"/>
          </a:xfrm>
          <a:prstGeom xmlns:a="http://schemas.openxmlformats.org/drawingml/2006/main" prst="roundRect">
            <a:avLst>
              <a:gd name="adj" fmla="val 3529"/>
            </a:avLst>
          </a:prstGeom>
          <a:solidFill xmlns:a="http://schemas.openxmlformats.org/drawingml/2006/main">
            <a:srgbClr val="24334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8E9EAC8-2D67-4791-990B-1E3B0664D53E}"/>
              </a:ext>
            </a:extLst>
          </p:cNvPr>
          <p:cNvSpPr>
            <a:spLocks xmlns:a="http://schemas.openxmlformats.org/drawingml/2006/main" noGrp="1"/>
          </p:cNvSpPr>
          <p:nvPr/>
        </p:nvSpPr>
        <p:spPr>
          <a:xfrm xmlns:a="http://schemas.openxmlformats.org/drawingml/2006/main">
            <a:off x="781050" y="2571750"/>
            <a:ext cx="6096000" cy="2476500"/>
          </a:xfrm>
          <a:prstGeom xmlns:a="http://schemas.openxmlformats.org/drawingml/2006/main" prst="roundRect">
            <a:avLst>
              <a:gd name="adj" fmla="val 4615"/>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350" b="0">
                <a:solidFill>
                  <a:srgbClr val="F7F4EF"/>
                </a:solidFill>
                <a:latin typeface="Aptos"/>
                <a:ea typeface="Aptos"/>
                <a:cs typeface="Aptos"/>
              </a:defRPr>
            </a:pPr>
            <a:r>
              <a:rPr sz="1350" b="0">
                <a:solidFill>
                  <a:srgbClr val="F7F4EF"/>
                </a:solidFill>
                <a:latin typeface="Aptos"/>
                <a:ea typeface="Aptos"/>
                <a:cs typeface="Aptos"/>
              </a:rPr>
              <a:t>.page {</a:t>
            </a:r>
          </a:p>
          <a:p xmlns:a="http://schemas.openxmlformats.org/drawingml/2006/main">
            <a:pPr>
              <a:defRPr sz="1350" b="0">
                <a:solidFill>
                  <a:srgbClr val="F7F4EF"/>
                </a:solidFill>
                <a:latin typeface="Aptos"/>
                <a:ea typeface="Aptos"/>
                <a:cs typeface="Aptos"/>
              </a:defRPr>
            </a:pPr>
            <a:r>
              <a:rPr sz="1350" b="0">
                <a:solidFill>
                  <a:srgbClr val="F7F4EF"/>
                </a:solidFill>
                <a:latin typeface="Aptos"/>
                <a:ea typeface="Aptos"/>
                <a:cs typeface="Aptos"/>
              </a:rPr>
              <a:t>  display: grid;</a:t>
            </a:r>
          </a:p>
          <a:p xmlns:a="http://schemas.openxmlformats.org/drawingml/2006/main">
            <a:pPr>
              <a:defRPr sz="1350" b="0">
                <a:solidFill>
                  <a:srgbClr val="F7F4EF"/>
                </a:solidFill>
                <a:latin typeface="Aptos"/>
                <a:ea typeface="Aptos"/>
                <a:cs typeface="Aptos"/>
              </a:defRPr>
            </a:pPr>
            <a:r>
              <a:rPr sz="1350" b="0">
                <a:solidFill>
                  <a:srgbClr val="F7F4EF"/>
                </a:solidFill>
                <a:latin typeface="Aptos"/>
                <a:ea typeface="Aptos"/>
                <a:cs typeface="Aptos"/>
              </a:rPr>
              <a:t>  gap: 2rem;</a:t>
            </a:r>
          </a:p>
          <a:p xmlns:a="http://schemas.openxmlformats.org/drawingml/2006/main">
            <a:pPr>
              <a:defRPr sz="1350" b="0">
                <a:solidFill>
                  <a:srgbClr val="F7F4EF"/>
                </a:solidFill>
                <a:latin typeface="Aptos"/>
                <a:ea typeface="Aptos"/>
                <a:cs typeface="Aptos"/>
              </a:defRPr>
            </a:pPr>
            <a:r>
              <a:rPr sz="1350" b="0">
                <a:solidFill>
                  <a:srgbClr val="F7F4EF"/>
                </a:solidFill>
                <a:latin typeface="Aptos"/>
                <a:ea typeface="Aptos"/>
                <a:cs typeface="Aptos"/>
              </a:rPr>
              <a:t>}</a:t>
            </a:r>
          </a:p>
          <a:p xmlns:a="http://schemas.openxmlformats.org/drawingml/2006/main">
            <a:r>
              <a:t/>
            </a:r>
          </a:p>
          <a:p xmlns:a="http://schemas.openxmlformats.org/drawingml/2006/main">
            <a:pPr>
              <a:defRPr sz="1350" b="0">
                <a:solidFill>
                  <a:srgbClr val="F7F4EF"/>
                </a:solidFill>
                <a:latin typeface="Aptos"/>
                <a:ea typeface="Aptos"/>
                <a:cs typeface="Aptos"/>
              </a:defRPr>
            </a:pPr>
            <a:r>
              <a:rPr sz="1350" b="0">
                <a:solidFill>
                  <a:srgbClr val="F7F4EF"/>
                </a:solidFill>
                <a:latin typeface="Aptos"/>
                <a:ea typeface="Aptos"/>
                <a:cs typeface="Aptos"/>
              </a:rPr>
              <a:t>@media (min-width: 48rem) {</a:t>
            </a:r>
          </a:p>
          <a:p xmlns:a="http://schemas.openxmlformats.org/drawingml/2006/main">
            <a:pPr>
              <a:defRPr sz="1350" b="0">
                <a:solidFill>
                  <a:srgbClr val="F7F4EF"/>
                </a:solidFill>
                <a:latin typeface="Aptos"/>
                <a:ea typeface="Aptos"/>
                <a:cs typeface="Aptos"/>
              </a:defRPr>
            </a:pPr>
            <a:r>
              <a:rPr sz="1350" b="0">
                <a:solidFill>
                  <a:srgbClr val="F7F4EF"/>
                </a:solidFill>
                <a:latin typeface="Aptos"/>
                <a:ea typeface="Aptos"/>
                <a:cs typeface="Aptos"/>
              </a:rPr>
              <a:t>  .page {</a:t>
            </a:r>
          </a:p>
          <a:p xmlns:a="http://schemas.openxmlformats.org/drawingml/2006/main">
            <a:pPr>
              <a:defRPr sz="1350" b="0">
                <a:solidFill>
                  <a:srgbClr val="F7F4EF"/>
                </a:solidFill>
                <a:latin typeface="Aptos"/>
                <a:ea typeface="Aptos"/>
                <a:cs typeface="Aptos"/>
              </a:defRPr>
            </a:pPr>
            <a:r>
              <a:rPr sz="1350" b="0">
                <a:solidFill>
                  <a:srgbClr val="F7F4EF"/>
                </a:solidFill>
                <a:latin typeface="Aptos"/>
                <a:ea typeface="Aptos"/>
                <a:cs typeface="Aptos"/>
              </a:rPr>
              <a:t>    grid-template-columns: minmax(0, 1fr) 18rem;</a:t>
            </a:r>
          </a:p>
          <a:p xmlns:a="http://schemas.openxmlformats.org/drawingml/2006/main">
            <a:pPr>
              <a:defRPr sz="1350" b="0">
                <a:solidFill>
                  <a:srgbClr val="F7F4EF"/>
                </a:solidFill>
                <a:latin typeface="Aptos"/>
                <a:ea typeface="Aptos"/>
                <a:cs typeface="Aptos"/>
              </a:defRPr>
            </a:pPr>
            <a:r>
              <a:rPr sz="1350" b="0">
                <a:solidFill>
                  <a:srgbClr val="F7F4EF"/>
                </a:solidFill>
                <a:latin typeface="Aptos"/>
                <a:ea typeface="Aptos"/>
                <a:cs typeface="Aptos"/>
              </a:rPr>
              <a:t>  }</a:t>
            </a:r>
          </a:p>
          <a:p xmlns:a="http://schemas.openxmlformats.org/drawingml/2006/main">
            <a:pPr>
              <a:defRPr sz="1350" b="0">
                <a:solidFill>
                  <a:srgbClr val="F7F4EF"/>
                </a:solidFill>
                <a:latin typeface="Aptos"/>
                <a:ea typeface="Aptos"/>
                <a:cs typeface="Aptos"/>
              </a:defRPr>
            </a:pPr>
            <a:r>
              <a:rPr sz="1350" b="0">
                <a:solidFill>
                  <a:srgbClr val="F7F4EF"/>
                </a:solidFill>
                <a:latin typeface="Aptos"/>
                <a:ea typeface="Aptos"/>
                <a:cs typeface="Aptos"/>
              </a:rPr>
              <a:t>}</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4a6060b97f9c46cb"/>
          <a:srcRect xmlns:a="http://schemas.openxmlformats.org/drawingml/2006/main" l="0" t="2207" r="0" b="2207"/>
          <a:stretch xmlns:a="http://schemas.openxmlformats.org/drawingml/2006/main">
            <a:fillRect l="0" t="0" r="0" b="0"/>
          </a:stretch>
        </p:blipFill>
        <p:spPr>
          <a:xfrm xmlns:a="http://schemas.openxmlformats.org/drawingml/2006/main">
            <a:off x="7524750" y="2286000"/>
            <a:ext cx="3714750" cy="23812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5F86261B-9B23-4FDC-8A62-B450535FE410}"/>
              </a:ext>
            </a:extLst>
          </p:cNvPr>
          <p:cNvSpPr>
            <a:spLocks xmlns:a="http://schemas.openxmlformats.org/drawingml/2006/main" noGrp="1"/>
          </p:cNvSpPr>
          <p:nvPr/>
        </p:nvSpPr>
        <p:spPr>
          <a:xfrm xmlns:a="http://schemas.openxmlformats.org/drawingml/2006/main">
            <a:off x="514350" y="5695950"/>
            <a:ext cx="10763250" cy="400050"/>
          </a:xfrm>
          <a:prstGeom xmlns:a="http://schemas.openxmlformats.org/drawingml/2006/main" prst="roundRect">
            <a:avLst>
              <a:gd name="adj" fmla="val 28571"/>
            </a:avLst>
          </a:prstGeom>
          <a:noFill xmlns:a="http://schemas.openxmlformats.org/drawingml/2006/main"/>
          <a:ln xmlns:a="http://schemas.openxmlformats.org/drawingml/2006/main" w="0">
            <a:noFill/>
            <a:prstDash val="solid"/>
          </a:ln>
        </p:spPr>
        <p:txBody>
          <a:bodyPr xmlns:a="http://schemas.openxmlformats.org/drawingml/2006/main">
            <a:normAutofit fontScale="75508"/>
          </a:bodyPr>
          <a:lstStyle xmlns:a="http://schemas.openxmlformats.org/drawingml/2006/main"/>
          <a:p xmlns:a="http://schemas.openxmlformats.org/drawingml/2006/main">
            <a:pPr>
              <a:defRPr sz="1050" b="0">
                <a:solidFill>
                  <a:srgbClr val="44515C"/>
                </a:solidFill>
                <a:latin typeface="Aptos"/>
                <a:ea typeface="Aptos"/>
                <a:cs typeface="Aptos"/>
              </a:defRPr>
            </a:pPr>
            <a:r>
              <a:rPr sz="1050" b="0">
                <a:solidFill>
                  <a:srgbClr val="44515C"/>
                </a:solidFill>
                <a:latin typeface="Aptos"/>
                <a:ea typeface="Aptos"/>
                <a:cs typeface="Aptos"/>
              </a:rPr>
              <a:t>响应式设计不是把桌面页面缩成手机页面。小屏读者一次能看见的内容较少，触控目标需要更大空间，导航可能需要重新组织，图片和侧栏会影响主任务。设计时先写出每个视口最重要的动作，再决定哪些内容应保留、移动或重新排列。CSS 媒体查询只是实现手段；真正的设计问题是空间变小时，什么仍然必须立即可见，什么可以延后，什么应完全移除。</a:t>
            </a:r>
          </a:p>
        </p:txBody>
      </p:sp>
    </p:spTree>
    <p:extLst>
      <p:ext uri="{BB962C8B-B14F-4D97-AF65-F5344CB8AC3E}">
        <p14:creationId xmlns:p14="http://schemas.microsoft.com/office/powerpoint/2010/main" val="1217579840"/>
      </p:ext>
    </p:extLst>
  </p:cSld>
</p:sld>
</file>

<file path=ppt/slides/slide23.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863506A-E5D2-43A7-B10B-694786B125D7}"/>
              </a:ext>
            </a:extLst>
          </p:cNvPr>
          <p:cNvSpPr>
            <a:spLocks xmlns:a="http://schemas.openxmlformats.org/drawingml/2006/main" noGrp="1"/>
          </p:cNvSpPr>
          <p:nvPr/>
        </p:nvSpPr>
        <p:spPr>
          <a:xfrm xmlns:a="http://schemas.openxmlformats.org/drawingml/2006/main">
            <a:off x="514350" y="361950"/>
            <a:ext cx="4381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C174E0D-036F-4400-AFCD-3B2FD89858DF}"/>
              </a:ext>
            </a:extLst>
          </p:cNvPr>
          <p:cNvSpPr>
            <a:spLocks xmlns:a="http://schemas.openxmlformats.org/drawingml/2006/main" noGrp="1"/>
          </p:cNvSpPr>
          <p:nvPr/>
        </p:nvSpPr>
        <p:spPr>
          <a:xfrm xmlns:a="http://schemas.openxmlformats.org/drawingml/2006/main">
            <a:off x="514350" y="552450"/>
            <a:ext cx="2095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 / UNIVERSITY</a:t>
            </a:r>
          </a:p>
        </p:txBody>
      </p:sp>
      <p:sp>
        <p:nvSpPr>
          <p:cNvPr id="3" name="">
            <a:extLst xmlns:a="http://schemas.openxmlformats.org/drawingml/2006/main">
              <a:ext uri="{FF2B5EF4-FFF2-40B4-BE49-F238E27FC236}">
                <a16:creationId xmlns:a16="http://schemas.microsoft.com/office/drawing/2014/main" id="{14B95A9D-1119-410E-8B55-F9021DE9F9D6}"/>
              </a:ext>
            </a:extLst>
          </p:cNvPr>
          <p:cNvSpPr>
            <a:spLocks xmlns:a="http://schemas.openxmlformats.org/drawingml/2006/main" noGrp="1"/>
          </p:cNvSpPr>
          <p:nvPr/>
        </p:nvSpPr>
        <p:spPr>
          <a:xfrm xmlns:a="http://schemas.openxmlformats.org/drawingml/2006/main">
            <a:off x="9391650" y="552450"/>
            <a:ext cx="21907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4" name="">
            <a:extLst xmlns:a="http://schemas.openxmlformats.org/drawingml/2006/main">
              <a:ext uri="{FF2B5EF4-FFF2-40B4-BE49-F238E27FC236}">
                <a16:creationId xmlns:a16="http://schemas.microsoft.com/office/drawing/2014/main" id="{3827C6A0-A687-4322-9F25-A27EA2D744B4}"/>
              </a:ext>
            </a:extLst>
          </p:cNvPr>
          <p:cNvSpPr>
            <a:spLocks xmlns:a="http://schemas.openxmlformats.org/drawingml/2006/main" noGrp="1"/>
          </p:cNvSpPr>
          <p:nvPr/>
        </p:nvSpPr>
        <p:spPr>
          <a:xfrm xmlns:a="http://schemas.openxmlformats.org/drawingml/2006/main">
            <a:off x="514350" y="6229350"/>
            <a:ext cx="1114425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10D6EE1-D3E9-432D-8797-8AD5ED5DE581}"/>
              </a:ext>
            </a:extLst>
          </p:cNvPr>
          <p:cNvSpPr>
            <a:spLocks xmlns:a="http://schemas.openxmlformats.org/drawingml/2006/main" noGrp="1"/>
          </p:cNvSpPr>
          <p:nvPr/>
        </p:nvSpPr>
        <p:spPr>
          <a:xfrm xmlns:a="http://schemas.openxmlformats.org/drawingml/2006/main">
            <a:off x="514350" y="6410325"/>
            <a:ext cx="3810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23</a:t>
            </a:r>
          </a:p>
        </p:txBody>
      </p:sp>
      <p:sp>
        <p:nvSpPr>
          <p:cNvPr id="6" name="">
            <a:extLst xmlns:a="http://schemas.openxmlformats.org/drawingml/2006/main">
              <a:ext uri="{FF2B5EF4-FFF2-40B4-BE49-F238E27FC236}">
                <a16:creationId xmlns:a16="http://schemas.microsoft.com/office/drawing/2014/main" id="{008763E7-3627-496C-A1DD-09928069725A}"/>
              </a:ext>
            </a:extLst>
          </p:cNvPr>
          <p:cNvSpPr>
            <a:spLocks xmlns:a="http://schemas.openxmlformats.org/drawingml/2006/main" noGrp="1"/>
          </p:cNvSpPr>
          <p:nvPr/>
        </p:nvSpPr>
        <p:spPr>
          <a:xfrm xmlns:a="http://schemas.openxmlformats.org/drawingml/2006/main">
            <a:off x="514350" y="990600"/>
            <a:ext cx="8572500" cy="514350"/>
          </a:xfrm>
          <a:prstGeom xmlns:a="http://schemas.openxmlformats.org/drawingml/2006/main" prst="roundRect">
            <a:avLst>
              <a:gd name="adj" fmla="val 22222"/>
            </a:avLst>
          </a:prstGeom>
          <a:noFill xmlns:a="http://schemas.openxmlformats.org/drawingml/2006/main"/>
          <a:ln xmlns:a="http://schemas.openxmlformats.org/drawingml/2006/main" w="0">
            <a:noFill/>
            <a:prstDash val="solid"/>
          </a:ln>
        </p:spPr>
        <p:txBody>
          <a:bodyPr xmlns:a="http://schemas.openxmlformats.org/drawingml/2006/main">
            <a:normAutofit fontScale="86506"/>
          </a:bodyPr>
          <a:lstStyle xmlns:a="http://schemas.openxmlformats.org/drawingml/2006/main"/>
          <a:p xmlns:a="http://schemas.openxmlformats.org/drawingml/2006/main">
            <a:pPr>
              <a:defRPr sz="2700" b="1">
                <a:solidFill>
                  <a:srgbClr val="171C22"/>
                </a:solidFill>
                <a:latin typeface="Aptos"/>
                <a:ea typeface="Aptos"/>
                <a:cs typeface="Aptos"/>
              </a:defRPr>
            </a:pPr>
            <a:r>
              <a:rPr sz="2700" b="1">
                <a:solidFill>
                  <a:srgbClr val="171C22"/>
                </a:solidFill>
                <a:latin typeface="Aptos"/>
                <a:ea typeface="Aptos"/>
                <a:cs typeface="Aptos"/>
              </a:rPr>
              <a:t>CSS layout</a:t>
            </a:r>
          </a:p>
        </p:txBody>
      </p:sp>
      <p:sp>
        <p:nvSpPr>
          <p:cNvPr id="7" name="">
            <a:extLst xmlns:a="http://schemas.openxmlformats.org/drawingml/2006/main">
              <a:ext uri="{FF2B5EF4-FFF2-40B4-BE49-F238E27FC236}">
                <a16:creationId xmlns:a16="http://schemas.microsoft.com/office/drawing/2014/main" id="{86CC6B0A-9CC3-4D38-88CA-57774904810B}"/>
              </a:ext>
            </a:extLst>
          </p:cNvPr>
          <p:cNvSpPr>
            <a:spLocks xmlns:a="http://schemas.openxmlformats.org/drawingml/2006/main" noGrp="1"/>
          </p:cNvSpPr>
          <p:nvPr/>
        </p:nvSpPr>
        <p:spPr>
          <a:xfrm xmlns:a="http://schemas.openxmlformats.org/drawingml/2006/main">
            <a:off x="514350" y="1657350"/>
            <a:ext cx="8858250" cy="304800"/>
          </a:xfrm>
          <a:prstGeom xmlns:a="http://schemas.openxmlformats.org/drawingml/2006/main" prst="roundRect">
            <a:avLst>
              <a:gd name="adj" fmla="val 37500"/>
            </a:avLst>
          </a:prstGeom>
          <a:noFill xmlns:a="http://schemas.openxmlformats.org/drawingml/2006/main"/>
          <a:ln xmlns:a="http://schemas.openxmlformats.org/drawingml/2006/main" w="0">
            <a:noFill/>
            <a:prstDash val="solid"/>
          </a:ln>
        </p:spPr>
        <p:txBody>
          <a:bodyPr xmlns:a="http://schemas.openxmlformats.org/drawingml/2006/main">
            <a:normAutofit fontScale="75346"/>
          </a:bodyPr>
          <a:lstStyle xmlns:a="http://schemas.openxmlformats.org/drawingml/2006/main"/>
          <a:p xmlns:a="http://schemas.openxmlformats.org/drawingml/2006/main">
            <a:pPr>
              <a:defRPr sz="1275" b="0">
                <a:solidFill>
                  <a:srgbClr val="44515C"/>
                </a:solidFill>
                <a:latin typeface="Aptos"/>
                <a:ea typeface="Aptos"/>
                <a:cs typeface="Aptos"/>
              </a:defRPr>
            </a:pPr>
            <a:r>
              <a:rPr sz="1275" b="0">
                <a:solidFill>
                  <a:srgbClr val="44515C"/>
                </a:solidFill>
                <a:latin typeface="Aptos"/>
                <a:ea typeface="Aptos"/>
                <a:cs typeface="Aptos"/>
              </a:rPr>
              <a:t>Normal flow, flexbox and grid</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740e33e5937c4f4b"/>
          <a:srcRect xmlns:a="http://schemas.openxmlformats.org/drawingml/2006/main" l="0" t="23043" r="0" b="23043"/>
          <a:stretch xmlns:a="http://schemas.openxmlformats.org/drawingml/2006/main">
            <a:fillRect l="0" t="0" r="0" b="0"/>
          </a:stretch>
        </p:blipFill>
        <p:spPr>
          <a:xfrm xmlns:a="http://schemas.openxmlformats.org/drawingml/2006/main">
            <a:off x="9105900" y="2381250"/>
            <a:ext cx="2190750" cy="1476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D1EC4FB7-9593-4BE3-A087-4058867D7559}"/>
              </a:ext>
            </a:extLst>
          </p:cNvPr>
          <p:cNvSpPr>
            <a:spLocks xmlns:a="http://schemas.openxmlformats.org/drawingml/2006/main" noGrp="1"/>
          </p:cNvSpPr>
          <p:nvPr/>
        </p:nvSpPr>
        <p:spPr>
          <a:xfrm xmlns:a="http://schemas.openxmlformats.org/drawingml/2006/main">
            <a:off x="514350" y="2343150"/>
            <a:ext cx="8096250" cy="3181350"/>
          </a:xfrm>
          <a:prstGeom xmlns:a="http://schemas.openxmlformats.org/drawingml/2006/main" prst="roundRect">
            <a:avLst>
              <a:gd name="adj" fmla="val 3593"/>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425" b="0">
                <a:solidFill>
                  <a:srgbClr val="171C22"/>
                </a:solidFill>
                <a:latin typeface="Aptos"/>
                <a:ea typeface="Aptos"/>
                <a:cs typeface="Aptos"/>
              </a:defRPr>
            </a:pPr>
            <a:r>
              <a:rPr sz="1425" b="0">
                <a:solidFill>
                  <a:srgbClr val="171C22"/>
                </a:solidFill>
                <a:latin typeface="Aptos"/>
                <a:ea typeface="Aptos"/>
                <a:cs typeface="Aptos"/>
              </a:rPr>
              <a:t>普通文档流适合文章与连续内容，flexbox 适合一维排列，例如工具栏或简单导航，grid 适合明确的二维布局，例如主要内容与侧栏的关系。选择布局工具时应从内容关系出发，而不是因为某个工具流行。用 grid 做单一按钮可能增加不必要复杂度，用绝对定位搭建整个页面则容易在文字变长或屏幕变窄时崩坏。好的 CSS 让内容能够增长、换行和重新排列，而不是依赖固定像素位置。</a:t>
            </a:r>
          </a:p>
        </p:txBody>
      </p:sp>
      <p:sp>
        <p:nvSpPr>
          <p:cNvPr id="10" name="">
            <a:extLst xmlns:a="http://schemas.openxmlformats.org/drawingml/2006/main">
              <a:ext uri="{FF2B5EF4-FFF2-40B4-BE49-F238E27FC236}">
                <a16:creationId xmlns:a16="http://schemas.microsoft.com/office/drawing/2014/main" id="{43BD53C4-495C-4754-AE24-16432D933F66}"/>
              </a:ext>
            </a:extLst>
          </p:cNvPr>
          <p:cNvSpPr>
            <a:spLocks xmlns:a="http://schemas.openxmlformats.org/drawingml/2006/main" noGrp="1"/>
          </p:cNvSpPr>
          <p:nvPr/>
        </p:nvSpPr>
        <p:spPr>
          <a:xfrm xmlns:a="http://schemas.openxmlformats.org/drawingml/2006/main">
            <a:off x="9105900" y="4095750"/>
            <a:ext cx="2190750" cy="781050"/>
          </a:xfrm>
          <a:prstGeom xmlns:a="http://schemas.openxmlformats.org/drawingml/2006/main" prst="roundRect">
            <a:avLst>
              <a:gd name="adj" fmla="val 14634"/>
            </a:avLst>
          </a:prstGeom>
          <a:solidFill xmlns:a="http://schemas.openxmlformats.org/drawingml/2006/main">
            <a:srgbClr val="F1DFC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C362565-6520-4708-A841-D53DD6024031}"/>
              </a:ext>
            </a:extLst>
          </p:cNvPr>
          <p:cNvSpPr>
            <a:spLocks xmlns:a="http://schemas.openxmlformats.org/drawingml/2006/main" noGrp="1"/>
          </p:cNvSpPr>
          <p:nvPr/>
        </p:nvSpPr>
        <p:spPr>
          <a:xfrm xmlns:a="http://schemas.openxmlformats.org/drawingml/2006/main">
            <a:off x="9277350" y="4267200"/>
            <a:ext cx="1809750" cy="438150"/>
          </a:xfrm>
          <a:prstGeom xmlns:a="http://schemas.openxmlformats.org/drawingml/2006/main" prst="roundRect">
            <a:avLst>
              <a:gd name="adj" fmla="val 26087"/>
            </a:avLst>
          </a:prstGeom>
          <a:noFill xmlns:a="http://schemas.openxmlformats.org/drawingml/2006/main"/>
          <a:ln xmlns:a="http://schemas.openxmlformats.org/drawingml/2006/main" w="0">
            <a:noFill/>
            <a:prstDash val="solid"/>
          </a:ln>
        </p:spPr>
        <p:txBody>
          <a:bodyPr xmlns:a="http://schemas.openxmlformats.org/drawingml/2006/main">
            <a:normAutofit fontScale="81585"/>
          </a:bodyPr>
          <a:lstStyle xmlns:a="http://schemas.openxmlformats.org/drawingml/2006/main"/>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课堂提示</a:t>
            </a:r>
          </a:p>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用内容关系验证设计选择</a:t>
            </a:r>
          </a:p>
        </p:txBody>
      </p:sp>
    </p:spTree>
    <p:extLst>
      <p:ext uri="{BB962C8B-B14F-4D97-AF65-F5344CB8AC3E}">
        <p14:creationId xmlns:p14="http://schemas.microsoft.com/office/powerpoint/2010/main" val="1015979083"/>
      </p:ext>
    </p:extLst>
  </p:cSld>
</p:sld>
</file>

<file path=ppt/slides/slide24.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4FF243B-4513-47FB-9CDB-A416DC1A3ECC}"/>
              </a:ext>
            </a:extLst>
          </p:cNvPr>
          <p:cNvSpPr>
            <a:spLocks xmlns:a="http://schemas.openxmlformats.org/drawingml/2006/main" noGrp="1"/>
          </p:cNvSpPr>
          <p:nvPr/>
        </p:nvSpPr>
        <p:spPr>
          <a:xfrm xmlns:a="http://schemas.openxmlformats.org/drawingml/2006/main">
            <a:off x="514350" y="361950"/>
            <a:ext cx="4381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82481DA-182D-443B-B09B-3722AF72E7E3}"/>
              </a:ext>
            </a:extLst>
          </p:cNvPr>
          <p:cNvSpPr>
            <a:spLocks xmlns:a="http://schemas.openxmlformats.org/drawingml/2006/main" noGrp="1"/>
          </p:cNvSpPr>
          <p:nvPr/>
        </p:nvSpPr>
        <p:spPr>
          <a:xfrm xmlns:a="http://schemas.openxmlformats.org/drawingml/2006/main">
            <a:off x="514350" y="552450"/>
            <a:ext cx="2095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 / UNIVERSITY</a:t>
            </a:r>
          </a:p>
        </p:txBody>
      </p:sp>
      <p:sp>
        <p:nvSpPr>
          <p:cNvPr id="3" name="">
            <a:extLst xmlns:a="http://schemas.openxmlformats.org/drawingml/2006/main">
              <a:ext uri="{FF2B5EF4-FFF2-40B4-BE49-F238E27FC236}">
                <a16:creationId xmlns:a16="http://schemas.microsoft.com/office/drawing/2014/main" id="{C6279BBF-DF5C-4BD6-BECC-59285817F723}"/>
              </a:ext>
            </a:extLst>
          </p:cNvPr>
          <p:cNvSpPr>
            <a:spLocks xmlns:a="http://schemas.openxmlformats.org/drawingml/2006/main" noGrp="1"/>
          </p:cNvSpPr>
          <p:nvPr/>
        </p:nvSpPr>
        <p:spPr>
          <a:xfrm xmlns:a="http://schemas.openxmlformats.org/drawingml/2006/main">
            <a:off x="9391650" y="552450"/>
            <a:ext cx="21907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4" name="">
            <a:extLst xmlns:a="http://schemas.openxmlformats.org/drawingml/2006/main">
              <a:ext uri="{FF2B5EF4-FFF2-40B4-BE49-F238E27FC236}">
                <a16:creationId xmlns:a16="http://schemas.microsoft.com/office/drawing/2014/main" id="{49A7A6D4-0000-40EC-AF09-1BE2CAF9210A}"/>
              </a:ext>
            </a:extLst>
          </p:cNvPr>
          <p:cNvSpPr>
            <a:spLocks xmlns:a="http://schemas.openxmlformats.org/drawingml/2006/main" noGrp="1"/>
          </p:cNvSpPr>
          <p:nvPr/>
        </p:nvSpPr>
        <p:spPr>
          <a:xfrm xmlns:a="http://schemas.openxmlformats.org/drawingml/2006/main">
            <a:off x="514350" y="6229350"/>
            <a:ext cx="1114425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632F4C8-860F-4B41-80E2-7826177EDECB}"/>
              </a:ext>
            </a:extLst>
          </p:cNvPr>
          <p:cNvSpPr>
            <a:spLocks xmlns:a="http://schemas.openxmlformats.org/drawingml/2006/main" noGrp="1"/>
          </p:cNvSpPr>
          <p:nvPr/>
        </p:nvSpPr>
        <p:spPr>
          <a:xfrm xmlns:a="http://schemas.openxmlformats.org/drawingml/2006/main">
            <a:off x="514350" y="6410325"/>
            <a:ext cx="3810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24</a:t>
            </a:r>
          </a:p>
        </p:txBody>
      </p:sp>
      <p:sp>
        <p:nvSpPr>
          <p:cNvPr id="6" name="">
            <a:extLst xmlns:a="http://schemas.openxmlformats.org/drawingml/2006/main">
              <a:ext uri="{FF2B5EF4-FFF2-40B4-BE49-F238E27FC236}">
                <a16:creationId xmlns:a16="http://schemas.microsoft.com/office/drawing/2014/main" id="{FED904FF-1E34-496A-A11D-706522F17B2B}"/>
              </a:ext>
            </a:extLst>
          </p:cNvPr>
          <p:cNvSpPr>
            <a:spLocks xmlns:a="http://schemas.openxmlformats.org/drawingml/2006/main" noGrp="1"/>
          </p:cNvSpPr>
          <p:nvPr/>
        </p:nvSpPr>
        <p:spPr>
          <a:xfrm xmlns:a="http://schemas.openxmlformats.org/drawingml/2006/main">
            <a:off x="514350" y="990600"/>
            <a:ext cx="8572500" cy="514350"/>
          </a:xfrm>
          <a:prstGeom xmlns:a="http://schemas.openxmlformats.org/drawingml/2006/main" prst="roundRect">
            <a:avLst>
              <a:gd name="adj" fmla="val 22222"/>
            </a:avLst>
          </a:prstGeom>
          <a:noFill xmlns:a="http://schemas.openxmlformats.org/drawingml/2006/main"/>
          <a:ln xmlns:a="http://schemas.openxmlformats.org/drawingml/2006/main" w="0">
            <a:noFill/>
            <a:prstDash val="solid"/>
          </a:ln>
        </p:spPr>
        <p:txBody>
          <a:bodyPr xmlns:a="http://schemas.openxmlformats.org/drawingml/2006/main">
            <a:normAutofit fontScale="86506"/>
          </a:bodyPr>
          <a:lstStyle xmlns:a="http://schemas.openxmlformats.org/drawingml/2006/main"/>
          <a:p xmlns:a="http://schemas.openxmlformats.org/drawingml/2006/main">
            <a:pPr>
              <a:defRPr sz="2700" b="1">
                <a:solidFill>
                  <a:srgbClr val="171C22"/>
                </a:solidFill>
                <a:latin typeface="Aptos"/>
                <a:ea typeface="Aptos"/>
                <a:cs typeface="Aptos"/>
              </a:defRPr>
            </a:pPr>
            <a:r>
              <a:rPr sz="2700" b="1">
                <a:solidFill>
                  <a:srgbClr val="171C22"/>
                </a:solidFill>
                <a:latin typeface="Aptos"/>
                <a:ea typeface="Aptos"/>
                <a:cs typeface="Aptos"/>
              </a:rPr>
              <a:t>Code example: semantic page</a:t>
            </a:r>
          </a:p>
        </p:txBody>
      </p:sp>
      <p:sp>
        <p:nvSpPr>
          <p:cNvPr id="7" name="">
            <a:extLst xmlns:a="http://schemas.openxmlformats.org/drawingml/2006/main">
              <a:ext uri="{FF2B5EF4-FFF2-40B4-BE49-F238E27FC236}">
                <a16:creationId xmlns:a16="http://schemas.microsoft.com/office/drawing/2014/main" id="{D83A6876-5207-45AB-9948-46180CC2A3AD}"/>
              </a:ext>
            </a:extLst>
          </p:cNvPr>
          <p:cNvSpPr>
            <a:spLocks xmlns:a="http://schemas.openxmlformats.org/drawingml/2006/main" noGrp="1"/>
          </p:cNvSpPr>
          <p:nvPr/>
        </p:nvSpPr>
        <p:spPr>
          <a:xfrm xmlns:a="http://schemas.openxmlformats.org/drawingml/2006/main">
            <a:off x="514350" y="1657350"/>
            <a:ext cx="8858250" cy="304800"/>
          </a:xfrm>
          <a:prstGeom xmlns:a="http://schemas.openxmlformats.org/drawingml/2006/main" prst="roundRect">
            <a:avLst>
              <a:gd name="adj" fmla="val 37500"/>
            </a:avLst>
          </a:prstGeom>
          <a:noFill xmlns:a="http://schemas.openxmlformats.org/drawingml/2006/main"/>
          <a:ln xmlns:a="http://schemas.openxmlformats.org/drawingml/2006/main" w="0">
            <a:noFill/>
            <a:prstDash val="solid"/>
          </a:ln>
        </p:spPr>
        <p:txBody>
          <a:bodyPr xmlns:a="http://schemas.openxmlformats.org/drawingml/2006/main">
            <a:normAutofit fontScale="75346"/>
          </a:bodyPr>
          <a:lstStyle xmlns:a="http://schemas.openxmlformats.org/drawingml/2006/main"/>
          <a:p xmlns:a="http://schemas.openxmlformats.org/drawingml/2006/main">
            <a:pPr>
              <a:defRPr sz="1275" b="0">
                <a:solidFill>
                  <a:srgbClr val="44515C"/>
                </a:solidFill>
                <a:latin typeface="Aptos"/>
                <a:ea typeface="Aptos"/>
                <a:cs typeface="Aptos"/>
              </a:defRPr>
            </a:pPr>
            <a:r>
              <a:rPr sz="1275" b="0">
                <a:solidFill>
                  <a:srgbClr val="44515C"/>
                </a:solidFill>
                <a:latin typeface="Aptos"/>
                <a:ea typeface="Aptos"/>
                <a:cs typeface="Aptos"/>
              </a:rPr>
              <a:t>A small structure with large consequences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a880b4acb6384dbe"/>
          <a:srcRect xmlns:a="http://schemas.openxmlformats.org/drawingml/2006/main" l="522" t="0" r="522" b="0"/>
          <a:stretch xmlns:a="http://schemas.openxmlformats.org/drawingml/2006/main">
            <a:fillRect l="0" t="0" r="0" b="0"/>
          </a:stretch>
        </p:blipFill>
        <p:spPr>
          <a:xfrm xmlns:a="http://schemas.openxmlformats.org/drawingml/2006/main">
            <a:off x="9105900" y="2381250"/>
            <a:ext cx="2190750" cy="1476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7EFC230-56F6-49E8-9ABA-23ED61BE64AA}"/>
              </a:ext>
            </a:extLst>
          </p:cNvPr>
          <p:cNvSpPr>
            <a:spLocks xmlns:a="http://schemas.openxmlformats.org/drawingml/2006/main" noGrp="1"/>
          </p:cNvSpPr>
          <p:nvPr/>
        </p:nvSpPr>
        <p:spPr>
          <a:xfrm xmlns:a="http://schemas.openxmlformats.org/drawingml/2006/main">
            <a:off x="514350" y="2343150"/>
            <a:ext cx="8096250" cy="3181350"/>
          </a:xfrm>
          <a:prstGeom xmlns:a="http://schemas.openxmlformats.org/drawingml/2006/main" prst="roundRect">
            <a:avLst>
              <a:gd name="adj" fmla="val 3593"/>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425" b="0">
                <a:solidFill>
                  <a:srgbClr val="171C22"/>
                </a:solidFill>
                <a:latin typeface="Aptos"/>
                <a:ea typeface="Aptos"/>
                <a:cs typeface="Aptos"/>
              </a:defRPr>
            </a:pPr>
            <a:r>
              <a:rPr sz="1425" b="0">
                <a:solidFill>
                  <a:srgbClr val="171C22"/>
                </a:solidFill>
                <a:latin typeface="Aptos"/>
                <a:ea typeface="Aptos"/>
                <a:cs typeface="Aptos"/>
              </a:rPr>
              <a:t>下面的代码使用语义区域和连续标题来表达一个活动页面。它没有任何视觉样式，但读者仍可知道页面主题、导航位置、主要内容与报名入口。练习时先在浏览器中阅读结构，再添加 CSS。请注意链接与按钮承担不同动作，图片的替代文本说明它对当前文章的用途，而不是泛泛地写“图片”或“活动照片”。这类小型结构是后续视觉设计、响应式布局和无障碍测试的基础。</a:t>
            </a:r>
          </a:p>
        </p:txBody>
      </p:sp>
      <p:sp>
        <p:nvSpPr>
          <p:cNvPr id="10" name="">
            <a:extLst xmlns:a="http://schemas.openxmlformats.org/drawingml/2006/main">
              <a:ext uri="{FF2B5EF4-FFF2-40B4-BE49-F238E27FC236}">
                <a16:creationId xmlns:a16="http://schemas.microsoft.com/office/drawing/2014/main" id="{72DEA8D8-F145-4C39-BE31-F0E4451315F0}"/>
              </a:ext>
            </a:extLst>
          </p:cNvPr>
          <p:cNvSpPr>
            <a:spLocks xmlns:a="http://schemas.openxmlformats.org/drawingml/2006/main" noGrp="1"/>
          </p:cNvSpPr>
          <p:nvPr/>
        </p:nvSpPr>
        <p:spPr>
          <a:xfrm xmlns:a="http://schemas.openxmlformats.org/drawingml/2006/main">
            <a:off x="9105900" y="4095750"/>
            <a:ext cx="2190750" cy="781050"/>
          </a:xfrm>
          <a:prstGeom xmlns:a="http://schemas.openxmlformats.org/drawingml/2006/main" prst="roundRect">
            <a:avLst>
              <a:gd name="adj" fmla="val 14634"/>
            </a:avLst>
          </a:prstGeom>
          <a:solidFill xmlns:a="http://schemas.openxmlformats.org/drawingml/2006/main">
            <a:srgbClr val="F1DFC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AA1C75E-5768-4F31-9BEB-E55882D4DB8D}"/>
              </a:ext>
            </a:extLst>
          </p:cNvPr>
          <p:cNvSpPr>
            <a:spLocks xmlns:a="http://schemas.openxmlformats.org/drawingml/2006/main" noGrp="1"/>
          </p:cNvSpPr>
          <p:nvPr/>
        </p:nvSpPr>
        <p:spPr>
          <a:xfrm xmlns:a="http://schemas.openxmlformats.org/drawingml/2006/main">
            <a:off x="9277350" y="4267200"/>
            <a:ext cx="1809750" cy="438150"/>
          </a:xfrm>
          <a:prstGeom xmlns:a="http://schemas.openxmlformats.org/drawingml/2006/main" prst="roundRect">
            <a:avLst>
              <a:gd name="adj" fmla="val 26087"/>
            </a:avLst>
          </a:prstGeom>
          <a:noFill xmlns:a="http://schemas.openxmlformats.org/drawingml/2006/main"/>
          <a:ln xmlns:a="http://schemas.openxmlformats.org/drawingml/2006/main" w="0">
            <a:noFill/>
            <a:prstDash val="solid"/>
          </a:ln>
        </p:spPr>
        <p:txBody>
          <a:bodyPr xmlns:a="http://schemas.openxmlformats.org/drawingml/2006/main">
            <a:normAutofit fontScale="81585"/>
          </a:bodyPr>
          <a:lstStyle xmlns:a="http://schemas.openxmlformats.org/drawingml/2006/main"/>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课堂提示</a:t>
            </a:r>
          </a:p>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用内容关系验证设计选择</a:t>
            </a:r>
          </a:p>
        </p:txBody>
      </p:sp>
    </p:spTree>
    <p:extLst>
      <p:ext uri="{BB962C8B-B14F-4D97-AF65-F5344CB8AC3E}">
        <p14:creationId xmlns:p14="http://schemas.microsoft.com/office/powerpoint/2010/main" val="1432040001"/>
      </p:ext>
    </p:extLst>
  </p:cSld>
</p:sld>
</file>

<file path=ppt/slides/slide25.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3DACBCC-5BDD-47DE-A2E5-6EE35E60348D}"/>
              </a:ext>
            </a:extLst>
          </p:cNvPr>
          <p:cNvSpPr>
            <a:spLocks xmlns:a="http://schemas.openxmlformats.org/drawingml/2006/main" noGrp="1"/>
          </p:cNvSpPr>
          <p:nvPr/>
        </p:nvSpPr>
        <p:spPr>
          <a:xfrm xmlns:a="http://schemas.openxmlformats.org/drawingml/2006/main">
            <a:off x="514350" y="361950"/>
            <a:ext cx="4381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645CBD4-B999-4D14-9039-D7778EB8DC82}"/>
              </a:ext>
            </a:extLst>
          </p:cNvPr>
          <p:cNvSpPr>
            <a:spLocks xmlns:a="http://schemas.openxmlformats.org/drawingml/2006/main" noGrp="1"/>
          </p:cNvSpPr>
          <p:nvPr/>
        </p:nvSpPr>
        <p:spPr>
          <a:xfrm xmlns:a="http://schemas.openxmlformats.org/drawingml/2006/main">
            <a:off x="514350" y="552450"/>
            <a:ext cx="2095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 / UNIVERSITY</a:t>
            </a:r>
          </a:p>
        </p:txBody>
      </p:sp>
      <p:sp>
        <p:nvSpPr>
          <p:cNvPr id="3" name="">
            <a:extLst xmlns:a="http://schemas.openxmlformats.org/drawingml/2006/main">
              <a:ext uri="{FF2B5EF4-FFF2-40B4-BE49-F238E27FC236}">
                <a16:creationId xmlns:a16="http://schemas.microsoft.com/office/drawing/2014/main" id="{7A6D0CF5-B7E2-457E-AF30-C0E439DC5BE6}"/>
              </a:ext>
            </a:extLst>
          </p:cNvPr>
          <p:cNvSpPr>
            <a:spLocks xmlns:a="http://schemas.openxmlformats.org/drawingml/2006/main" noGrp="1"/>
          </p:cNvSpPr>
          <p:nvPr/>
        </p:nvSpPr>
        <p:spPr>
          <a:xfrm xmlns:a="http://schemas.openxmlformats.org/drawingml/2006/main">
            <a:off x="9391650" y="552450"/>
            <a:ext cx="21907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4" name="">
            <a:extLst xmlns:a="http://schemas.openxmlformats.org/drawingml/2006/main">
              <a:ext uri="{FF2B5EF4-FFF2-40B4-BE49-F238E27FC236}">
                <a16:creationId xmlns:a16="http://schemas.microsoft.com/office/drawing/2014/main" id="{6D975721-D20F-4A2A-91BF-A8AFD7913FCF}"/>
              </a:ext>
            </a:extLst>
          </p:cNvPr>
          <p:cNvSpPr>
            <a:spLocks xmlns:a="http://schemas.openxmlformats.org/drawingml/2006/main" noGrp="1"/>
          </p:cNvSpPr>
          <p:nvPr/>
        </p:nvSpPr>
        <p:spPr>
          <a:xfrm xmlns:a="http://schemas.openxmlformats.org/drawingml/2006/main">
            <a:off x="514350" y="6229350"/>
            <a:ext cx="1114425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D90E41A-940B-43FD-9EEF-956E6DBECE6B}"/>
              </a:ext>
            </a:extLst>
          </p:cNvPr>
          <p:cNvSpPr>
            <a:spLocks xmlns:a="http://schemas.openxmlformats.org/drawingml/2006/main" noGrp="1"/>
          </p:cNvSpPr>
          <p:nvPr/>
        </p:nvSpPr>
        <p:spPr>
          <a:xfrm xmlns:a="http://schemas.openxmlformats.org/drawingml/2006/main">
            <a:off x="514350" y="6410325"/>
            <a:ext cx="3810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25</a:t>
            </a:r>
          </a:p>
        </p:txBody>
      </p:sp>
      <p:sp>
        <p:nvSpPr>
          <p:cNvPr id="6" name="">
            <a:extLst xmlns:a="http://schemas.openxmlformats.org/drawingml/2006/main">
              <a:ext uri="{FF2B5EF4-FFF2-40B4-BE49-F238E27FC236}">
                <a16:creationId xmlns:a16="http://schemas.microsoft.com/office/drawing/2014/main" id="{5BE6E6AF-FEB6-4DC1-9EF4-DECE42E34E25}"/>
              </a:ext>
            </a:extLst>
          </p:cNvPr>
          <p:cNvSpPr>
            <a:spLocks xmlns:a="http://schemas.openxmlformats.org/drawingml/2006/main" noGrp="1"/>
          </p:cNvSpPr>
          <p:nvPr/>
        </p:nvSpPr>
        <p:spPr>
          <a:xfrm xmlns:a="http://schemas.openxmlformats.org/drawingml/2006/main">
            <a:off x="514350" y="990600"/>
            <a:ext cx="8572500" cy="514350"/>
          </a:xfrm>
          <a:prstGeom xmlns:a="http://schemas.openxmlformats.org/drawingml/2006/main" prst="roundRect">
            <a:avLst>
              <a:gd name="adj" fmla="val 22222"/>
            </a:avLst>
          </a:prstGeom>
          <a:noFill xmlns:a="http://schemas.openxmlformats.org/drawingml/2006/main"/>
          <a:ln xmlns:a="http://schemas.openxmlformats.org/drawingml/2006/main" w="0">
            <a:noFill/>
            <a:prstDash val="solid"/>
          </a:ln>
        </p:spPr>
        <p:txBody>
          <a:bodyPr xmlns:a="http://schemas.openxmlformats.org/drawingml/2006/main">
            <a:normAutofit fontScale="86506"/>
          </a:bodyPr>
          <a:lstStyle xmlns:a="http://schemas.openxmlformats.org/drawingml/2006/main"/>
          <a:p xmlns:a="http://schemas.openxmlformats.org/drawingml/2006/main">
            <a:pPr>
              <a:defRPr sz="2700" b="1">
                <a:solidFill>
                  <a:srgbClr val="171C22"/>
                </a:solidFill>
                <a:latin typeface="Aptos"/>
                <a:ea typeface="Aptos"/>
                <a:cs typeface="Aptos"/>
              </a:defRPr>
            </a:pPr>
            <a:r>
              <a:rPr sz="2700" b="1">
                <a:solidFill>
                  <a:srgbClr val="171C22"/>
                </a:solidFill>
                <a:latin typeface="Aptos"/>
                <a:ea typeface="Aptos"/>
                <a:cs typeface="Aptos"/>
              </a:rPr>
              <a:t>Code example: responsive CSS</a:t>
            </a:r>
          </a:p>
        </p:txBody>
      </p:sp>
      <p:sp>
        <p:nvSpPr>
          <p:cNvPr id="7" name="">
            <a:extLst xmlns:a="http://schemas.openxmlformats.org/drawingml/2006/main">
              <a:ext uri="{FF2B5EF4-FFF2-40B4-BE49-F238E27FC236}">
                <a16:creationId xmlns:a16="http://schemas.microsoft.com/office/drawing/2014/main" id="{2C3BE28E-6030-4DCD-8DE0-2500E27743EA}"/>
              </a:ext>
            </a:extLst>
          </p:cNvPr>
          <p:cNvSpPr>
            <a:spLocks xmlns:a="http://schemas.openxmlformats.org/drawingml/2006/main" noGrp="1"/>
          </p:cNvSpPr>
          <p:nvPr/>
        </p:nvSpPr>
        <p:spPr>
          <a:xfrm xmlns:a="http://schemas.openxmlformats.org/drawingml/2006/main">
            <a:off x="514350" y="1657350"/>
            <a:ext cx="8858250" cy="304800"/>
          </a:xfrm>
          <a:prstGeom xmlns:a="http://schemas.openxmlformats.org/drawingml/2006/main" prst="roundRect">
            <a:avLst>
              <a:gd name="adj" fmla="val 37500"/>
            </a:avLst>
          </a:prstGeom>
          <a:noFill xmlns:a="http://schemas.openxmlformats.org/drawingml/2006/main"/>
          <a:ln xmlns:a="http://schemas.openxmlformats.org/drawingml/2006/main" w="0">
            <a:noFill/>
            <a:prstDash val="solid"/>
          </a:ln>
        </p:spPr>
        <p:txBody>
          <a:bodyPr xmlns:a="http://schemas.openxmlformats.org/drawingml/2006/main">
            <a:normAutofit fontScale="75346"/>
          </a:bodyPr>
          <a:lstStyle xmlns:a="http://schemas.openxmlformats.org/drawingml/2006/main"/>
          <a:p xmlns:a="http://schemas.openxmlformats.org/drawingml/2006/main">
            <a:pPr>
              <a:defRPr sz="1275" b="0">
                <a:solidFill>
                  <a:srgbClr val="44515C"/>
                </a:solidFill>
                <a:latin typeface="Aptos"/>
                <a:ea typeface="Aptos"/>
                <a:cs typeface="Aptos"/>
              </a:defRPr>
            </a:pPr>
            <a:r>
              <a:rPr sz="1275" b="0">
                <a:solidFill>
                  <a:srgbClr val="44515C"/>
                </a:solidFill>
                <a:latin typeface="Aptos"/>
                <a:ea typeface="Aptos"/>
                <a:cs typeface="Aptos"/>
              </a:rPr>
              <a:t>Rules instead of duplicated pages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ae653364d5a44c3"/>
          <a:srcRect xmlns:a="http://schemas.openxmlformats.org/drawingml/2006/main" l="522" t="0" r="522" b="0"/>
          <a:stretch xmlns:a="http://schemas.openxmlformats.org/drawingml/2006/main">
            <a:fillRect l="0" t="0" r="0" b="0"/>
          </a:stretch>
        </p:blipFill>
        <p:spPr>
          <a:xfrm xmlns:a="http://schemas.openxmlformats.org/drawingml/2006/main">
            <a:off x="9105900" y="2381250"/>
            <a:ext cx="2190750" cy="1476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FC2599B-703F-448E-A327-EEC6D46AE9B4}"/>
              </a:ext>
            </a:extLst>
          </p:cNvPr>
          <p:cNvSpPr>
            <a:spLocks xmlns:a="http://schemas.openxmlformats.org/drawingml/2006/main" noGrp="1"/>
          </p:cNvSpPr>
          <p:nvPr/>
        </p:nvSpPr>
        <p:spPr>
          <a:xfrm xmlns:a="http://schemas.openxmlformats.org/drawingml/2006/main">
            <a:off x="514350" y="2343150"/>
            <a:ext cx="8096250" cy="3181350"/>
          </a:xfrm>
          <a:prstGeom xmlns:a="http://schemas.openxmlformats.org/drawingml/2006/main" prst="roundRect">
            <a:avLst>
              <a:gd name="adj" fmla="val 3593"/>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425" b="0">
                <a:solidFill>
                  <a:srgbClr val="171C22"/>
                </a:solidFill>
                <a:latin typeface="Aptos"/>
                <a:ea typeface="Aptos"/>
                <a:cs typeface="Aptos"/>
              </a:defRPr>
            </a:pPr>
            <a:r>
              <a:rPr sz="1425" b="0">
                <a:solidFill>
                  <a:srgbClr val="171C22"/>
                </a:solidFill>
                <a:latin typeface="Aptos"/>
                <a:ea typeface="Aptos"/>
                <a:cs typeface="Aptos"/>
              </a:rPr>
              <a:t>响应式 CSS 应尽量通过少量明确规则适应空间，而不是为手机和桌面复制两套内容。示例先让内容按单列自然排列，再在有足够宽度时建立两列。这样小屏设备得到最直接的阅读顺序，大屏设备才获得补充的空间关系。请观察代码没有固定内容高度，也没有假设标题长度。真正的测试来自把文字换成长标题、把图片换成不同尺寸，并确认布局仍能保持阅读顺序与焦点路径。</a:t>
            </a:r>
          </a:p>
        </p:txBody>
      </p:sp>
      <p:sp>
        <p:nvSpPr>
          <p:cNvPr id="10" name="">
            <a:extLst xmlns:a="http://schemas.openxmlformats.org/drawingml/2006/main">
              <a:ext uri="{FF2B5EF4-FFF2-40B4-BE49-F238E27FC236}">
                <a16:creationId xmlns:a16="http://schemas.microsoft.com/office/drawing/2014/main" id="{1584D5D8-6CD4-4ED9-AAE0-F768EF9509B1}"/>
              </a:ext>
            </a:extLst>
          </p:cNvPr>
          <p:cNvSpPr>
            <a:spLocks xmlns:a="http://schemas.openxmlformats.org/drawingml/2006/main" noGrp="1"/>
          </p:cNvSpPr>
          <p:nvPr/>
        </p:nvSpPr>
        <p:spPr>
          <a:xfrm xmlns:a="http://schemas.openxmlformats.org/drawingml/2006/main">
            <a:off x="9105900" y="4095750"/>
            <a:ext cx="2190750" cy="781050"/>
          </a:xfrm>
          <a:prstGeom xmlns:a="http://schemas.openxmlformats.org/drawingml/2006/main" prst="roundRect">
            <a:avLst>
              <a:gd name="adj" fmla="val 14634"/>
            </a:avLst>
          </a:prstGeom>
          <a:solidFill xmlns:a="http://schemas.openxmlformats.org/drawingml/2006/main">
            <a:srgbClr val="F1DFC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24A04CC-DF36-464F-8C43-59A8143935B9}"/>
              </a:ext>
            </a:extLst>
          </p:cNvPr>
          <p:cNvSpPr>
            <a:spLocks xmlns:a="http://schemas.openxmlformats.org/drawingml/2006/main" noGrp="1"/>
          </p:cNvSpPr>
          <p:nvPr/>
        </p:nvSpPr>
        <p:spPr>
          <a:xfrm xmlns:a="http://schemas.openxmlformats.org/drawingml/2006/main">
            <a:off x="9277350" y="4267200"/>
            <a:ext cx="1809750" cy="438150"/>
          </a:xfrm>
          <a:prstGeom xmlns:a="http://schemas.openxmlformats.org/drawingml/2006/main" prst="roundRect">
            <a:avLst>
              <a:gd name="adj" fmla="val 26087"/>
            </a:avLst>
          </a:prstGeom>
          <a:noFill xmlns:a="http://schemas.openxmlformats.org/drawingml/2006/main"/>
          <a:ln xmlns:a="http://schemas.openxmlformats.org/drawingml/2006/main" w="0">
            <a:noFill/>
            <a:prstDash val="solid"/>
          </a:ln>
        </p:spPr>
        <p:txBody>
          <a:bodyPr xmlns:a="http://schemas.openxmlformats.org/drawingml/2006/main">
            <a:normAutofit fontScale="81585"/>
          </a:bodyPr>
          <a:lstStyle xmlns:a="http://schemas.openxmlformats.org/drawingml/2006/main"/>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课堂提示</a:t>
            </a:r>
          </a:p>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用内容关系验证设计选择</a:t>
            </a:r>
          </a:p>
        </p:txBody>
      </p:sp>
    </p:spTree>
    <p:extLst>
      <p:ext uri="{BB962C8B-B14F-4D97-AF65-F5344CB8AC3E}">
        <p14:creationId xmlns:p14="http://schemas.microsoft.com/office/powerpoint/2010/main" val="2840275"/>
      </p:ext>
    </p:extLst>
  </p:cSld>
</p:sld>
</file>

<file path=ppt/slides/slide26.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78411F9-3E9F-41FD-99B9-17882E69A2BE}"/>
              </a:ext>
            </a:extLst>
          </p:cNvPr>
          <p:cNvSpPr>
            <a:spLocks xmlns:a="http://schemas.openxmlformats.org/drawingml/2006/main" noGrp="1"/>
          </p:cNvSpPr>
          <p:nvPr/>
        </p:nvSpPr>
        <p:spPr>
          <a:xfrm xmlns:a="http://schemas.openxmlformats.org/drawingml/2006/main">
            <a:off x="514350" y="361950"/>
            <a:ext cx="4381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1D71C32-36EC-4E38-9BA5-E5A4A2FE601E}"/>
              </a:ext>
            </a:extLst>
          </p:cNvPr>
          <p:cNvSpPr>
            <a:spLocks xmlns:a="http://schemas.openxmlformats.org/drawingml/2006/main" noGrp="1"/>
          </p:cNvSpPr>
          <p:nvPr/>
        </p:nvSpPr>
        <p:spPr>
          <a:xfrm xmlns:a="http://schemas.openxmlformats.org/drawingml/2006/main">
            <a:off x="514350" y="552450"/>
            <a:ext cx="2095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 / UNIVERSITY</a:t>
            </a:r>
          </a:p>
        </p:txBody>
      </p:sp>
      <p:sp>
        <p:nvSpPr>
          <p:cNvPr id="3" name="">
            <a:extLst xmlns:a="http://schemas.openxmlformats.org/drawingml/2006/main">
              <a:ext uri="{FF2B5EF4-FFF2-40B4-BE49-F238E27FC236}">
                <a16:creationId xmlns:a16="http://schemas.microsoft.com/office/drawing/2014/main" id="{FF5CEEF9-BC99-4EDA-9C65-597F585670B5}"/>
              </a:ext>
            </a:extLst>
          </p:cNvPr>
          <p:cNvSpPr>
            <a:spLocks xmlns:a="http://schemas.openxmlformats.org/drawingml/2006/main" noGrp="1"/>
          </p:cNvSpPr>
          <p:nvPr/>
        </p:nvSpPr>
        <p:spPr>
          <a:xfrm xmlns:a="http://schemas.openxmlformats.org/drawingml/2006/main">
            <a:off x="9391650" y="552450"/>
            <a:ext cx="21907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4" name="">
            <a:extLst xmlns:a="http://schemas.openxmlformats.org/drawingml/2006/main">
              <a:ext uri="{FF2B5EF4-FFF2-40B4-BE49-F238E27FC236}">
                <a16:creationId xmlns:a16="http://schemas.microsoft.com/office/drawing/2014/main" id="{BFFE6136-C3A3-4656-A0E1-AFBBA2A6A136}"/>
              </a:ext>
            </a:extLst>
          </p:cNvPr>
          <p:cNvSpPr>
            <a:spLocks xmlns:a="http://schemas.openxmlformats.org/drawingml/2006/main" noGrp="1"/>
          </p:cNvSpPr>
          <p:nvPr/>
        </p:nvSpPr>
        <p:spPr>
          <a:xfrm xmlns:a="http://schemas.openxmlformats.org/drawingml/2006/main">
            <a:off x="514350" y="6229350"/>
            <a:ext cx="1114425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BD36028-4AD8-47B9-8C58-09E4A79E58BE}"/>
              </a:ext>
            </a:extLst>
          </p:cNvPr>
          <p:cNvSpPr>
            <a:spLocks xmlns:a="http://schemas.openxmlformats.org/drawingml/2006/main" noGrp="1"/>
          </p:cNvSpPr>
          <p:nvPr/>
        </p:nvSpPr>
        <p:spPr>
          <a:xfrm xmlns:a="http://schemas.openxmlformats.org/drawingml/2006/main">
            <a:off x="514350" y="6410325"/>
            <a:ext cx="3810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26</a:t>
            </a:r>
          </a:p>
        </p:txBody>
      </p:sp>
      <p:sp>
        <p:nvSpPr>
          <p:cNvPr id="6" name="">
            <a:extLst xmlns:a="http://schemas.openxmlformats.org/drawingml/2006/main">
              <a:ext uri="{FF2B5EF4-FFF2-40B4-BE49-F238E27FC236}">
                <a16:creationId xmlns:a16="http://schemas.microsoft.com/office/drawing/2014/main" id="{0AD8C69C-8F12-4585-876B-202CCA9C4894}"/>
              </a:ext>
            </a:extLst>
          </p:cNvPr>
          <p:cNvSpPr>
            <a:spLocks xmlns:a="http://schemas.openxmlformats.org/drawingml/2006/main" noGrp="1"/>
          </p:cNvSpPr>
          <p:nvPr/>
        </p:nvSpPr>
        <p:spPr>
          <a:xfrm xmlns:a="http://schemas.openxmlformats.org/drawingml/2006/main">
            <a:off x="514350" y="990600"/>
            <a:ext cx="8572500" cy="514350"/>
          </a:xfrm>
          <a:prstGeom xmlns:a="http://schemas.openxmlformats.org/drawingml/2006/main" prst="roundRect">
            <a:avLst>
              <a:gd name="adj" fmla="val 22222"/>
            </a:avLst>
          </a:prstGeom>
          <a:noFill xmlns:a="http://schemas.openxmlformats.org/drawingml/2006/main"/>
          <a:ln xmlns:a="http://schemas.openxmlformats.org/drawingml/2006/main" w="0">
            <a:noFill/>
            <a:prstDash val="solid"/>
          </a:ln>
        </p:spPr>
        <p:txBody>
          <a:bodyPr xmlns:a="http://schemas.openxmlformats.org/drawingml/2006/main">
            <a:normAutofit fontScale="86506"/>
          </a:bodyPr>
          <a:lstStyle xmlns:a="http://schemas.openxmlformats.org/drawingml/2006/main"/>
          <a:p xmlns:a="http://schemas.openxmlformats.org/drawingml/2006/main">
            <a:pPr>
              <a:defRPr sz="2700" b="1">
                <a:solidFill>
                  <a:srgbClr val="171C22"/>
                </a:solidFill>
                <a:latin typeface="Aptos"/>
                <a:ea typeface="Aptos"/>
                <a:cs typeface="Aptos"/>
              </a:defRPr>
            </a:pPr>
            <a:r>
              <a:rPr sz="2700" b="1">
                <a:solidFill>
                  <a:srgbClr val="171C22"/>
                </a:solidFill>
                <a:latin typeface="Aptos"/>
                <a:ea typeface="Aptos"/>
                <a:cs typeface="Aptos"/>
              </a:rPr>
              <a:t>Accessibility audit</a:t>
            </a:r>
          </a:p>
        </p:txBody>
      </p:sp>
      <p:sp>
        <p:nvSpPr>
          <p:cNvPr id="7" name="">
            <a:extLst xmlns:a="http://schemas.openxmlformats.org/drawingml/2006/main">
              <a:ext uri="{FF2B5EF4-FFF2-40B4-BE49-F238E27FC236}">
                <a16:creationId xmlns:a16="http://schemas.microsoft.com/office/drawing/2014/main" id="{CE6EAA31-BF1F-43E7-A2EB-E9F2A1E727CF}"/>
              </a:ext>
            </a:extLst>
          </p:cNvPr>
          <p:cNvSpPr>
            <a:spLocks xmlns:a="http://schemas.openxmlformats.org/drawingml/2006/main" noGrp="1"/>
          </p:cNvSpPr>
          <p:nvPr/>
        </p:nvSpPr>
        <p:spPr>
          <a:xfrm xmlns:a="http://schemas.openxmlformats.org/drawingml/2006/main">
            <a:off x="514350" y="1657350"/>
            <a:ext cx="8858250" cy="304800"/>
          </a:xfrm>
          <a:prstGeom xmlns:a="http://schemas.openxmlformats.org/drawingml/2006/main" prst="roundRect">
            <a:avLst>
              <a:gd name="adj" fmla="val 37500"/>
            </a:avLst>
          </a:prstGeom>
          <a:noFill xmlns:a="http://schemas.openxmlformats.org/drawingml/2006/main"/>
          <a:ln xmlns:a="http://schemas.openxmlformats.org/drawingml/2006/main" w="0">
            <a:noFill/>
            <a:prstDash val="solid"/>
          </a:ln>
        </p:spPr>
        <p:txBody>
          <a:bodyPr xmlns:a="http://schemas.openxmlformats.org/drawingml/2006/main">
            <a:normAutofit fontScale="75346"/>
          </a:bodyPr>
          <a:lstStyle xmlns:a="http://schemas.openxmlformats.org/drawingml/2006/main"/>
          <a:p xmlns:a="http://schemas.openxmlformats.org/drawingml/2006/main">
            <a:pPr>
              <a:defRPr sz="1275" b="0">
                <a:solidFill>
                  <a:srgbClr val="44515C"/>
                </a:solidFill>
                <a:latin typeface="Aptos"/>
                <a:ea typeface="Aptos"/>
                <a:cs typeface="Aptos"/>
              </a:defRPr>
            </a:pPr>
            <a:r>
              <a:rPr sz="1275" b="0">
                <a:solidFill>
                  <a:srgbClr val="44515C"/>
                </a:solidFill>
                <a:latin typeface="Aptos"/>
                <a:ea typeface="Aptos"/>
                <a:cs typeface="Aptos"/>
              </a:rPr>
              <a:t>A short test before visual polish</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2556a9229324f66"/>
          <a:srcRect xmlns:a="http://schemas.openxmlformats.org/drawingml/2006/main" l="569" t="0" r="569" b="0"/>
          <a:stretch xmlns:a="http://schemas.openxmlformats.org/drawingml/2006/main">
            <a:fillRect l="0" t="0" r="0" b="0"/>
          </a:stretch>
        </p:blipFill>
        <p:spPr>
          <a:xfrm xmlns:a="http://schemas.openxmlformats.org/drawingml/2006/main">
            <a:off x="9105900" y="2381250"/>
            <a:ext cx="2190750" cy="1476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D5D0351B-3F5C-416D-809B-F4C86D957B9A}"/>
              </a:ext>
            </a:extLst>
          </p:cNvPr>
          <p:cNvSpPr>
            <a:spLocks xmlns:a="http://schemas.openxmlformats.org/drawingml/2006/main" noGrp="1"/>
          </p:cNvSpPr>
          <p:nvPr/>
        </p:nvSpPr>
        <p:spPr>
          <a:xfrm xmlns:a="http://schemas.openxmlformats.org/drawingml/2006/main">
            <a:off x="514350" y="2343150"/>
            <a:ext cx="8096250" cy="3181350"/>
          </a:xfrm>
          <a:prstGeom xmlns:a="http://schemas.openxmlformats.org/drawingml/2006/main" prst="roundRect">
            <a:avLst>
              <a:gd name="adj" fmla="val 3593"/>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425" b="0">
                <a:solidFill>
                  <a:srgbClr val="171C22"/>
                </a:solidFill>
                <a:latin typeface="Aptos"/>
                <a:ea typeface="Aptos"/>
                <a:cs typeface="Aptos"/>
              </a:defRPr>
            </a:pPr>
            <a:r>
              <a:rPr sz="1425" b="0">
                <a:solidFill>
                  <a:srgbClr val="171C22"/>
                </a:solidFill>
                <a:latin typeface="Aptos"/>
                <a:ea typeface="Aptos"/>
                <a:cs typeface="Aptos"/>
              </a:rPr>
              <a:t>本周练习的审查从最基础的问题开始：页面是否只有一个 h1，标题是否连续，链接文字是否说明目的，图片是否需要替代文本，键盘焦点是否看得见，缩放后文字是否仍可读。审查不是一次性打勾活动，而是发现设计假设的机会。若一个页面只有在鼠标、完美视力和高速网络下才可用，它就没有真正完成发布。记录问题、修改页面，再重新测试，才构成可靠过程证据。</a:t>
            </a:r>
          </a:p>
        </p:txBody>
      </p:sp>
      <p:sp>
        <p:nvSpPr>
          <p:cNvPr id="10" name="">
            <a:extLst xmlns:a="http://schemas.openxmlformats.org/drawingml/2006/main">
              <a:ext uri="{FF2B5EF4-FFF2-40B4-BE49-F238E27FC236}">
                <a16:creationId xmlns:a16="http://schemas.microsoft.com/office/drawing/2014/main" id="{B0091B1E-79C9-4F27-BAF2-C201C0222818}"/>
              </a:ext>
            </a:extLst>
          </p:cNvPr>
          <p:cNvSpPr>
            <a:spLocks xmlns:a="http://schemas.openxmlformats.org/drawingml/2006/main" noGrp="1"/>
          </p:cNvSpPr>
          <p:nvPr/>
        </p:nvSpPr>
        <p:spPr>
          <a:xfrm xmlns:a="http://schemas.openxmlformats.org/drawingml/2006/main">
            <a:off x="9105900" y="4095750"/>
            <a:ext cx="2190750" cy="781050"/>
          </a:xfrm>
          <a:prstGeom xmlns:a="http://schemas.openxmlformats.org/drawingml/2006/main" prst="roundRect">
            <a:avLst>
              <a:gd name="adj" fmla="val 14634"/>
            </a:avLst>
          </a:prstGeom>
          <a:solidFill xmlns:a="http://schemas.openxmlformats.org/drawingml/2006/main">
            <a:srgbClr val="F1DFC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5B8D4D3-8030-4D2A-8D99-7A5BC6B0286E}"/>
              </a:ext>
            </a:extLst>
          </p:cNvPr>
          <p:cNvSpPr>
            <a:spLocks xmlns:a="http://schemas.openxmlformats.org/drawingml/2006/main" noGrp="1"/>
          </p:cNvSpPr>
          <p:nvPr/>
        </p:nvSpPr>
        <p:spPr>
          <a:xfrm xmlns:a="http://schemas.openxmlformats.org/drawingml/2006/main">
            <a:off x="9277350" y="4267200"/>
            <a:ext cx="1809750" cy="438150"/>
          </a:xfrm>
          <a:prstGeom xmlns:a="http://schemas.openxmlformats.org/drawingml/2006/main" prst="roundRect">
            <a:avLst>
              <a:gd name="adj" fmla="val 26087"/>
            </a:avLst>
          </a:prstGeom>
          <a:noFill xmlns:a="http://schemas.openxmlformats.org/drawingml/2006/main"/>
          <a:ln xmlns:a="http://schemas.openxmlformats.org/drawingml/2006/main" w="0">
            <a:noFill/>
            <a:prstDash val="solid"/>
          </a:ln>
        </p:spPr>
        <p:txBody>
          <a:bodyPr xmlns:a="http://schemas.openxmlformats.org/drawingml/2006/main">
            <a:normAutofit fontScale="81585"/>
          </a:bodyPr>
          <a:lstStyle xmlns:a="http://schemas.openxmlformats.org/drawingml/2006/main"/>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课堂提示</a:t>
            </a:r>
          </a:p>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用内容关系验证设计选择</a:t>
            </a:r>
          </a:p>
        </p:txBody>
      </p:sp>
    </p:spTree>
    <p:extLst>
      <p:ext uri="{BB962C8B-B14F-4D97-AF65-F5344CB8AC3E}">
        <p14:creationId xmlns:p14="http://schemas.microsoft.com/office/powerpoint/2010/main" val="824884680"/>
      </p:ext>
    </p:extLst>
  </p:cSld>
</p:sld>
</file>

<file path=ppt/slides/slide27.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6F9CF7E-38E0-4EDE-A83E-0187150DBC04}"/>
              </a:ext>
            </a:extLst>
          </p:cNvPr>
          <p:cNvSpPr>
            <a:spLocks xmlns:a="http://schemas.openxmlformats.org/drawingml/2006/main" noGrp="1"/>
          </p:cNvSpPr>
          <p:nvPr/>
        </p:nvSpPr>
        <p:spPr>
          <a:xfrm xmlns:a="http://schemas.openxmlformats.org/drawingml/2006/main">
            <a:off x="514350" y="361950"/>
            <a:ext cx="4381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ACF0DF1-DF81-44EE-BCF9-7DFE8251F6BE}"/>
              </a:ext>
            </a:extLst>
          </p:cNvPr>
          <p:cNvSpPr>
            <a:spLocks xmlns:a="http://schemas.openxmlformats.org/drawingml/2006/main" noGrp="1"/>
          </p:cNvSpPr>
          <p:nvPr/>
        </p:nvSpPr>
        <p:spPr>
          <a:xfrm xmlns:a="http://schemas.openxmlformats.org/drawingml/2006/main">
            <a:off x="514350" y="552450"/>
            <a:ext cx="2095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 / UNIVERSITY</a:t>
            </a:r>
          </a:p>
        </p:txBody>
      </p:sp>
      <p:sp>
        <p:nvSpPr>
          <p:cNvPr id="3" name="">
            <a:extLst xmlns:a="http://schemas.openxmlformats.org/drawingml/2006/main">
              <a:ext uri="{FF2B5EF4-FFF2-40B4-BE49-F238E27FC236}">
                <a16:creationId xmlns:a16="http://schemas.microsoft.com/office/drawing/2014/main" id="{28EEFA50-4774-463D-B85B-36735C3FDCA2}"/>
              </a:ext>
            </a:extLst>
          </p:cNvPr>
          <p:cNvSpPr>
            <a:spLocks xmlns:a="http://schemas.openxmlformats.org/drawingml/2006/main" noGrp="1"/>
          </p:cNvSpPr>
          <p:nvPr/>
        </p:nvSpPr>
        <p:spPr>
          <a:xfrm xmlns:a="http://schemas.openxmlformats.org/drawingml/2006/main">
            <a:off x="9391650" y="552450"/>
            <a:ext cx="21907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4" name="">
            <a:extLst xmlns:a="http://schemas.openxmlformats.org/drawingml/2006/main">
              <a:ext uri="{FF2B5EF4-FFF2-40B4-BE49-F238E27FC236}">
                <a16:creationId xmlns:a16="http://schemas.microsoft.com/office/drawing/2014/main" id="{BFC16445-B15A-45F0-9E2D-C73B5FA1844B}"/>
              </a:ext>
            </a:extLst>
          </p:cNvPr>
          <p:cNvSpPr>
            <a:spLocks xmlns:a="http://schemas.openxmlformats.org/drawingml/2006/main" noGrp="1"/>
          </p:cNvSpPr>
          <p:nvPr/>
        </p:nvSpPr>
        <p:spPr>
          <a:xfrm xmlns:a="http://schemas.openxmlformats.org/drawingml/2006/main">
            <a:off x="514350" y="6229350"/>
            <a:ext cx="1114425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6EC139A-0151-4D54-9B5C-4D0DF97E58F2}"/>
              </a:ext>
            </a:extLst>
          </p:cNvPr>
          <p:cNvSpPr>
            <a:spLocks xmlns:a="http://schemas.openxmlformats.org/drawingml/2006/main" noGrp="1"/>
          </p:cNvSpPr>
          <p:nvPr/>
        </p:nvSpPr>
        <p:spPr>
          <a:xfrm xmlns:a="http://schemas.openxmlformats.org/drawingml/2006/main">
            <a:off x="514350" y="6410325"/>
            <a:ext cx="3810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27</a:t>
            </a:r>
          </a:p>
        </p:txBody>
      </p:sp>
      <p:sp>
        <p:nvSpPr>
          <p:cNvPr id="6" name="">
            <a:extLst xmlns:a="http://schemas.openxmlformats.org/drawingml/2006/main">
              <a:ext uri="{FF2B5EF4-FFF2-40B4-BE49-F238E27FC236}">
                <a16:creationId xmlns:a16="http://schemas.microsoft.com/office/drawing/2014/main" id="{C09E6439-7C09-4A0D-9693-4B26C909C476}"/>
              </a:ext>
            </a:extLst>
          </p:cNvPr>
          <p:cNvSpPr>
            <a:spLocks xmlns:a="http://schemas.openxmlformats.org/drawingml/2006/main" noGrp="1"/>
          </p:cNvSpPr>
          <p:nvPr/>
        </p:nvSpPr>
        <p:spPr>
          <a:xfrm xmlns:a="http://schemas.openxmlformats.org/drawingml/2006/main">
            <a:off x="514350" y="990600"/>
            <a:ext cx="8572500" cy="514350"/>
          </a:xfrm>
          <a:prstGeom xmlns:a="http://schemas.openxmlformats.org/drawingml/2006/main" prst="roundRect">
            <a:avLst>
              <a:gd name="adj" fmla="val 22222"/>
            </a:avLst>
          </a:prstGeom>
          <a:noFill xmlns:a="http://schemas.openxmlformats.org/drawingml/2006/main"/>
          <a:ln xmlns:a="http://schemas.openxmlformats.org/drawingml/2006/main" w="0">
            <a:noFill/>
            <a:prstDash val="solid"/>
          </a:ln>
        </p:spPr>
        <p:txBody>
          <a:bodyPr xmlns:a="http://schemas.openxmlformats.org/drawingml/2006/main">
            <a:normAutofit fontScale="86506"/>
          </a:bodyPr>
          <a:lstStyle xmlns:a="http://schemas.openxmlformats.org/drawingml/2006/main"/>
          <a:p xmlns:a="http://schemas.openxmlformats.org/drawingml/2006/main">
            <a:pPr>
              <a:defRPr sz="2700" b="1">
                <a:solidFill>
                  <a:srgbClr val="171C22"/>
                </a:solidFill>
                <a:latin typeface="Aptos"/>
                <a:ea typeface="Aptos"/>
                <a:cs typeface="Aptos"/>
              </a:defRPr>
            </a:pPr>
            <a:r>
              <a:rPr sz="2700" b="1">
                <a:solidFill>
                  <a:srgbClr val="171C22"/>
                </a:solidFill>
                <a:latin typeface="Aptos"/>
                <a:ea typeface="Aptos"/>
                <a:cs typeface="Aptos"/>
              </a:rPr>
              <a:t>User task</a:t>
            </a:r>
          </a:p>
        </p:txBody>
      </p:sp>
      <p:sp>
        <p:nvSpPr>
          <p:cNvPr id="7" name="">
            <a:extLst xmlns:a="http://schemas.openxmlformats.org/drawingml/2006/main">
              <a:ext uri="{FF2B5EF4-FFF2-40B4-BE49-F238E27FC236}">
                <a16:creationId xmlns:a16="http://schemas.microsoft.com/office/drawing/2014/main" id="{0FCAF098-B879-4A29-81BE-5DF44EE8DFCB}"/>
              </a:ext>
            </a:extLst>
          </p:cNvPr>
          <p:cNvSpPr>
            <a:spLocks xmlns:a="http://schemas.openxmlformats.org/drawingml/2006/main" noGrp="1"/>
          </p:cNvSpPr>
          <p:nvPr/>
        </p:nvSpPr>
        <p:spPr>
          <a:xfrm xmlns:a="http://schemas.openxmlformats.org/drawingml/2006/main">
            <a:off x="514350" y="1657350"/>
            <a:ext cx="8858250" cy="304800"/>
          </a:xfrm>
          <a:prstGeom xmlns:a="http://schemas.openxmlformats.org/drawingml/2006/main" prst="roundRect">
            <a:avLst>
              <a:gd name="adj" fmla="val 37500"/>
            </a:avLst>
          </a:prstGeom>
          <a:noFill xmlns:a="http://schemas.openxmlformats.org/drawingml/2006/main"/>
          <a:ln xmlns:a="http://schemas.openxmlformats.org/drawingml/2006/main" w="0">
            <a:noFill/>
            <a:prstDash val="solid"/>
          </a:ln>
        </p:spPr>
        <p:txBody>
          <a:bodyPr xmlns:a="http://schemas.openxmlformats.org/drawingml/2006/main">
            <a:normAutofit fontScale="75346"/>
          </a:bodyPr>
          <a:lstStyle xmlns:a="http://schemas.openxmlformats.org/drawingml/2006/main"/>
          <a:p xmlns:a="http://schemas.openxmlformats.org/drawingml/2006/main">
            <a:pPr>
              <a:defRPr sz="1275" b="0">
                <a:solidFill>
                  <a:srgbClr val="44515C"/>
                </a:solidFill>
                <a:latin typeface="Aptos"/>
                <a:ea typeface="Aptos"/>
                <a:cs typeface="Aptos"/>
              </a:defRPr>
            </a:pPr>
            <a:r>
              <a:rPr sz="1275" b="0">
                <a:solidFill>
                  <a:srgbClr val="44515C"/>
                </a:solidFill>
                <a:latin typeface="Aptos"/>
                <a:ea typeface="Aptos"/>
                <a:cs typeface="Aptos"/>
              </a:rPr>
              <a:t>Design for a concrete moment</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035e455045a412a"/>
          <a:srcRect xmlns:a="http://schemas.openxmlformats.org/drawingml/2006/main" l="244" t="0" r="244" b="0"/>
          <a:stretch xmlns:a="http://schemas.openxmlformats.org/drawingml/2006/main">
            <a:fillRect l="0" t="0" r="0" b="0"/>
          </a:stretch>
        </p:blipFill>
        <p:spPr>
          <a:xfrm xmlns:a="http://schemas.openxmlformats.org/drawingml/2006/main">
            <a:off x="9105900" y="2381250"/>
            <a:ext cx="2190750" cy="1476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03EF51C-3761-41D5-9FA7-5E1CBBA704B9}"/>
              </a:ext>
            </a:extLst>
          </p:cNvPr>
          <p:cNvSpPr>
            <a:spLocks xmlns:a="http://schemas.openxmlformats.org/drawingml/2006/main" noGrp="1"/>
          </p:cNvSpPr>
          <p:nvPr/>
        </p:nvSpPr>
        <p:spPr>
          <a:xfrm xmlns:a="http://schemas.openxmlformats.org/drawingml/2006/main">
            <a:off x="514350" y="2343150"/>
            <a:ext cx="8096250" cy="3181350"/>
          </a:xfrm>
          <a:prstGeom xmlns:a="http://schemas.openxmlformats.org/drawingml/2006/main" prst="roundRect">
            <a:avLst>
              <a:gd name="adj" fmla="val 3593"/>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425" b="0">
                <a:solidFill>
                  <a:srgbClr val="171C22"/>
                </a:solidFill>
                <a:latin typeface="Aptos"/>
                <a:ea typeface="Aptos"/>
                <a:cs typeface="Aptos"/>
              </a:defRPr>
            </a:pPr>
            <a:r>
              <a:rPr sz="1425" b="0">
                <a:solidFill>
                  <a:srgbClr val="171C22"/>
                </a:solidFill>
                <a:latin typeface="Aptos"/>
                <a:ea typeface="Aptos"/>
                <a:cs typeface="Aptos"/>
              </a:rPr>
              <a:t>今天的课堂任务是为一个小型文化活动、学生服务或阅读资源写出单页结构。先定义读者在三十秒内必须找到的内容，再写出标题大纲、导航和行动入口。随后用语义 HTML 建立骨架，暂时不要添加复杂样式。完成后让同伴只用页面结构回答：这是关于什么，谁可以参与，下一步该做什么。若他们无法回答，问题通常在信息顺序或文字，而不是颜色与动画。</a:t>
            </a:r>
          </a:p>
        </p:txBody>
      </p:sp>
      <p:sp>
        <p:nvSpPr>
          <p:cNvPr id="10" name="">
            <a:extLst xmlns:a="http://schemas.openxmlformats.org/drawingml/2006/main">
              <a:ext uri="{FF2B5EF4-FFF2-40B4-BE49-F238E27FC236}">
                <a16:creationId xmlns:a16="http://schemas.microsoft.com/office/drawing/2014/main" id="{C991E710-1BA8-4017-B281-2B0AA9541E3E}"/>
              </a:ext>
            </a:extLst>
          </p:cNvPr>
          <p:cNvSpPr>
            <a:spLocks xmlns:a="http://schemas.openxmlformats.org/drawingml/2006/main" noGrp="1"/>
          </p:cNvSpPr>
          <p:nvPr/>
        </p:nvSpPr>
        <p:spPr>
          <a:xfrm xmlns:a="http://schemas.openxmlformats.org/drawingml/2006/main">
            <a:off x="9105900" y="4095750"/>
            <a:ext cx="2190750" cy="781050"/>
          </a:xfrm>
          <a:prstGeom xmlns:a="http://schemas.openxmlformats.org/drawingml/2006/main" prst="roundRect">
            <a:avLst>
              <a:gd name="adj" fmla="val 14634"/>
            </a:avLst>
          </a:prstGeom>
          <a:solidFill xmlns:a="http://schemas.openxmlformats.org/drawingml/2006/main">
            <a:srgbClr val="F1DFC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22B1D24-4165-4C41-95A1-358FE6159DF5}"/>
              </a:ext>
            </a:extLst>
          </p:cNvPr>
          <p:cNvSpPr>
            <a:spLocks xmlns:a="http://schemas.openxmlformats.org/drawingml/2006/main" noGrp="1"/>
          </p:cNvSpPr>
          <p:nvPr/>
        </p:nvSpPr>
        <p:spPr>
          <a:xfrm xmlns:a="http://schemas.openxmlformats.org/drawingml/2006/main">
            <a:off x="9277350" y="4267200"/>
            <a:ext cx="1809750" cy="438150"/>
          </a:xfrm>
          <a:prstGeom xmlns:a="http://schemas.openxmlformats.org/drawingml/2006/main" prst="roundRect">
            <a:avLst>
              <a:gd name="adj" fmla="val 26087"/>
            </a:avLst>
          </a:prstGeom>
          <a:noFill xmlns:a="http://schemas.openxmlformats.org/drawingml/2006/main"/>
          <a:ln xmlns:a="http://schemas.openxmlformats.org/drawingml/2006/main" w="0">
            <a:noFill/>
            <a:prstDash val="solid"/>
          </a:ln>
        </p:spPr>
        <p:txBody>
          <a:bodyPr xmlns:a="http://schemas.openxmlformats.org/drawingml/2006/main">
            <a:normAutofit fontScale="81585"/>
          </a:bodyPr>
          <a:lstStyle xmlns:a="http://schemas.openxmlformats.org/drawingml/2006/main"/>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课堂提示</a:t>
            </a:r>
          </a:p>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用内容关系验证设计选择</a:t>
            </a:r>
          </a:p>
        </p:txBody>
      </p:sp>
    </p:spTree>
    <p:extLst>
      <p:ext uri="{BB962C8B-B14F-4D97-AF65-F5344CB8AC3E}">
        <p14:creationId xmlns:p14="http://schemas.microsoft.com/office/powerpoint/2010/main" val="997817876"/>
      </p:ext>
    </p:extLst>
  </p:cSld>
</p:sld>
</file>

<file path=ppt/slides/slide28.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7F7E8AC-5289-4DA0-AF2E-4197E3FF14C9}"/>
              </a:ext>
            </a:extLst>
          </p:cNvPr>
          <p:cNvSpPr>
            <a:spLocks xmlns:a="http://schemas.openxmlformats.org/drawingml/2006/main" noGrp="1"/>
          </p:cNvSpPr>
          <p:nvPr/>
        </p:nvSpPr>
        <p:spPr>
          <a:xfrm xmlns:a="http://schemas.openxmlformats.org/drawingml/2006/main">
            <a:off x="514350" y="361950"/>
            <a:ext cx="4381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FD8B416-CDEA-4B25-99BC-277DF6367012}"/>
              </a:ext>
            </a:extLst>
          </p:cNvPr>
          <p:cNvSpPr>
            <a:spLocks xmlns:a="http://schemas.openxmlformats.org/drawingml/2006/main" noGrp="1"/>
          </p:cNvSpPr>
          <p:nvPr/>
        </p:nvSpPr>
        <p:spPr>
          <a:xfrm xmlns:a="http://schemas.openxmlformats.org/drawingml/2006/main">
            <a:off x="514350" y="552450"/>
            <a:ext cx="2095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 / UNIVERSITY</a:t>
            </a:r>
          </a:p>
        </p:txBody>
      </p:sp>
      <p:sp>
        <p:nvSpPr>
          <p:cNvPr id="3" name="">
            <a:extLst xmlns:a="http://schemas.openxmlformats.org/drawingml/2006/main">
              <a:ext uri="{FF2B5EF4-FFF2-40B4-BE49-F238E27FC236}">
                <a16:creationId xmlns:a16="http://schemas.microsoft.com/office/drawing/2014/main" id="{B57C151C-7F93-499E-9465-8E1E6B420B17}"/>
              </a:ext>
            </a:extLst>
          </p:cNvPr>
          <p:cNvSpPr>
            <a:spLocks xmlns:a="http://schemas.openxmlformats.org/drawingml/2006/main" noGrp="1"/>
          </p:cNvSpPr>
          <p:nvPr/>
        </p:nvSpPr>
        <p:spPr>
          <a:xfrm xmlns:a="http://schemas.openxmlformats.org/drawingml/2006/main">
            <a:off x="9391650" y="552450"/>
            <a:ext cx="21907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4" name="">
            <a:extLst xmlns:a="http://schemas.openxmlformats.org/drawingml/2006/main">
              <a:ext uri="{FF2B5EF4-FFF2-40B4-BE49-F238E27FC236}">
                <a16:creationId xmlns:a16="http://schemas.microsoft.com/office/drawing/2014/main" id="{7864B44D-680A-475B-93D7-BF8609FD3082}"/>
              </a:ext>
            </a:extLst>
          </p:cNvPr>
          <p:cNvSpPr>
            <a:spLocks xmlns:a="http://schemas.openxmlformats.org/drawingml/2006/main" noGrp="1"/>
          </p:cNvSpPr>
          <p:nvPr/>
        </p:nvSpPr>
        <p:spPr>
          <a:xfrm xmlns:a="http://schemas.openxmlformats.org/drawingml/2006/main">
            <a:off x="514350" y="6229350"/>
            <a:ext cx="1114425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C0B556C-5339-46DD-B9E7-AA12005C9908}"/>
              </a:ext>
            </a:extLst>
          </p:cNvPr>
          <p:cNvSpPr>
            <a:spLocks xmlns:a="http://schemas.openxmlformats.org/drawingml/2006/main" noGrp="1"/>
          </p:cNvSpPr>
          <p:nvPr/>
        </p:nvSpPr>
        <p:spPr>
          <a:xfrm xmlns:a="http://schemas.openxmlformats.org/drawingml/2006/main">
            <a:off x="514350" y="6410325"/>
            <a:ext cx="3810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28</a:t>
            </a:r>
          </a:p>
        </p:txBody>
      </p:sp>
      <p:sp>
        <p:nvSpPr>
          <p:cNvPr id="6" name="">
            <a:extLst xmlns:a="http://schemas.openxmlformats.org/drawingml/2006/main">
              <a:ext uri="{FF2B5EF4-FFF2-40B4-BE49-F238E27FC236}">
                <a16:creationId xmlns:a16="http://schemas.microsoft.com/office/drawing/2014/main" id="{2C8845FF-F840-4DEA-AF05-0FEE131F09FB}"/>
              </a:ext>
            </a:extLst>
          </p:cNvPr>
          <p:cNvSpPr>
            <a:spLocks xmlns:a="http://schemas.openxmlformats.org/drawingml/2006/main" noGrp="1"/>
          </p:cNvSpPr>
          <p:nvPr/>
        </p:nvSpPr>
        <p:spPr>
          <a:xfrm xmlns:a="http://schemas.openxmlformats.org/drawingml/2006/main">
            <a:off x="514350" y="990600"/>
            <a:ext cx="8572500" cy="514350"/>
          </a:xfrm>
          <a:prstGeom xmlns:a="http://schemas.openxmlformats.org/drawingml/2006/main" prst="roundRect">
            <a:avLst>
              <a:gd name="adj" fmla="val 22222"/>
            </a:avLst>
          </a:prstGeom>
          <a:noFill xmlns:a="http://schemas.openxmlformats.org/drawingml/2006/main"/>
          <a:ln xmlns:a="http://schemas.openxmlformats.org/drawingml/2006/main" w="0">
            <a:noFill/>
            <a:prstDash val="solid"/>
          </a:ln>
        </p:spPr>
        <p:txBody>
          <a:bodyPr xmlns:a="http://schemas.openxmlformats.org/drawingml/2006/main">
            <a:normAutofit fontScale="86506"/>
          </a:bodyPr>
          <a:lstStyle xmlns:a="http://schemas.openxmlformats.org/drawingml/2006/main"/>
          <a:p xmlns:a="http://schemas.openxmlformats.org/drawingml/2006/main">
            <a:pPr>
              <a:defRPr sz="2700" b="1">
                <a:solidFill>
                  <a:srgbClr val="171C22"/>
                </a:solidFill>
                <a:latin typeface="Aptos"/>
                <a:ea typeface="Aptos"/>
                <a:cs typeface="Aptos"/>
              </a:defRPr>
            </a:pPr>
            <a:r>
              <a:rPr sz="2700" b="1">
                <a:solidFill>
                  <a:srgbClr val="171C22"/>
                </a:solidFill>
                <a:latin typeface="Aptos"/>
                <a:ea typeface="Aptos"/>
                <a:cs typeface="Aptos"/>
              </a:rPr>
              <a:t>Critique method</a:t>
            </a:r>
          </a:p>
        </p:txBody>
      </p:sp>
      <p:sp>
        <p:nvSpPr>
          <p:cNvPr id="7" name="">
            <a:extLst xmlns:a="http://schemas.openxmlformats.org/drawingml/2006/main">
              <a:ext uri="{FF2B5EF4-FFF2-40B4-BE49-F238E27FC236}">
                <a16:creationId xmlns:a16="http://schemas.microsoft.com/office/drawing/2014/main" id="{CE8D1B1D-BFEC-4FCB-B4C4-2CB919BEF0DA}"/>
              </a:ext>
            </a:extLst>
          </p:cNvPr>
          <p:cNvSpPr>
            <a:spLocks xmlns:a="http://schemas.openxmlformats.org/drawingml/2006/main" noGrp="1"/>
          </p:cNvSpPr>
          <p:nvPr/>
        </p:nvSpPr>
        <p:spPr>
          <a:xfrm xmlns:a="http://schemas.openxmlformats.org/drawingml/2006/main">
            <a:off x="514350" y="1657350"/>
            <a:ext cx="8858250" cy="304800"/>
          </a:xfrm>
          <a:prstGeom xmlns:a="http://schemas.openxmlformats.org/drawingml/2006/main" prst="roundRect">
            <a:avLst>
              <a:gd name="adj" fmla="val 37500"/>
            </a:avLst>
          </a:prstGeom>
          <a:noFill xmlns:a="http://schemas.openxmlformats.org/drawingml/2006/main"/>
          <a:ln xmlns:a="http://schemas.openxmlformats.org/drawingml/2006/main" w="0">
            <a:noFill/>
            <a:prstDash val="solid"/>
          </a:ln>
        </p:spPr>
        <p:txBody>
          <a:bodyPr xmlns:a="http://schemas.openxmlformats.org/drawingml/2006/main">
            <a:normAutofit fontScale="75346"/>
          </a:bodyPr>
          <a:lstStyle xmlns:a="http://schemas.openxmlformats.org/drawingml/2006/main"/>
          <a:p xmlns:a="http://schemas.openxmlformats.org/drawingml/2006/main">
            <a:pPr>
              <a:defRPr sz="1275" b="0">
                <a:solidFill>
                  <a:srgbClr val="44515C"/>
                </a:solidFill>
                <a:latin typeface="Aptos"/>
                <a:ea typeface="Aptos"/>
                <a:cs typeface="Aptos"/>
              </a:defRPr>
            </a:pPr>
            <a:r>
              <a:rPr sz="1275" b="0">
                <a:solidFill>
                  <a:srgbClr val="44515C"/>
                </a:solidFill>
                <a:latin typeface="Aptos"/>
                <a:ea typeface="Aptos"/>
                <a:cs typeface="Aptos"/>
              </a:rPr>
              <a:t>Evidence before preference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ad43144aa16646be"/>
          <a:srcRect xmlns:a="http://schemas.openxmlformats.org/drawingml/2006/main" l="0" t="23043" r="0" b="23043"/>
          <a:stretch xmlns:a="http://schemas.openxmlformats.org/drawingml/2006/main">
            <a:fillRect l="0" t="0" r="0" b="0"/>
          </a:stretch>
        </p:blipFill>
        <p:spPr>
          <a:xfrm xmlns:a="http://schemas.openxmlformats.org/drawingml/2006/main">
            <a:off x="9105900" y="2381250"/>
            <a:ext cx="2190750" cy="1476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30F48A6-7F48-4C06-8B2D-0EA16FBBA497}"/>
              </a:ext>
            </a:extLst>
          </p:cNvPr>
          <p:cNvSpPr>
            <a:spLocks xmlns:a="http://schemas.openxmlformats.org/drawingml/2006/main" noGrp="1"/>
          </p:cNvSpPr>
          <p:nvPr/>
        </p:nvSpPr>
        <p:spPr>
          <a:xfrm xmlns:a="http://schemas.openxmlformats.org/drawingml/2006/main">
            <a:off x="514350" y="2343150"/>
            <a:ext cx="8096250" cy="3181350"/>
          </a:xfrm>
          <a:prstGeom xmlns:a="http://schemas.openxmlformats.org/drawingml/2006/main" prst="roundRect">
            <a:avLst>
              <a:gd name="adj" fmla="val 3593"/>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425" b="0">
                <a:solidFill>
                  <a:srgbClr val="171C22"/>
                </a:solidFill>
                <a:latin typeface="Aptos"/>
                <a:ea typeface="Aptos"/>
                <a:cs typeface="Aptos"/>
              </a:defRPr>
            </a:pPr>
            <a:r>
              <a:rPr sz="1425" b="0">
                <a:solidFill>
                  <a:srgbClr val="171C22"/>
                </a:solidFill>
                <a:latin typeface="Aptos"/>
                <a:ea typeface="Aptos"/>
                <a:cs typeface="Aptos"/>
              </a:rPr>
              <a:t>批评网页时先描述可观察证据，再讨论效果。比起说“这个页面很乱”，可以说“报名链接位于三段文字之后，标题没有指出活动日期，因此读者需要滚动和猜测”。这种说法让设计者知道要测试什么，也避免把个人审美当成普遍规则。好的反馈连接任务、读者与界面决定。每次提出修改建议时，说明它要帮助哪个读者完成什么动作，并想一个可以验证结果的方法。</a:t>
            </a:r>
          </a:p>
        </p:txBody>
      </p:sp>
      <p:sp>
        <p:nvSpPr>
          <p:cNvPr id="10" name="">
            <a:extLst xmlns:a="http://schemas.openxmlformats.org/drawingml/2006/main">
              <a:ext uri="{FF2B5EF4-FFF2-40B4-BE49-F238E27FC236}">
                <a16:creationId xmlns:a16="http://schemas.microsoft.com/office/drawing/2014/main" id="{DA5C9BE8-E7DC-444A-AE43-BB1F1311A5C0}"/>
              </a:ext>
            </a:extLst>
          </p:cNvPr>
          <p:cNvSpPr>
            <a:spLocks xmlns:a="http://schemas.openxmlformats.org/drawingml/2006/main" noGrp="1"/>
          </p:cNvSpPr>
          <p:nvPr/>
        </p:nvSpPr>
        <p:spPr>
          <a:xfrm xmlns:a="http://schemas.openxmlformats.org/drawingml/2006/main">
            <a:off x="9105900" y="4095750"/>
            <a:ext cx="2190750" cy="781050"/>
          </a:xfrm>
          <a:prstGeom xmlns:a="http://schemas.openxmlformats.org/drawingml/2006/main" prst="roundRect">
            <a:avLst>
              <a:gd name="adj" fmla="val 14634"/>
            </a:avLst>
          </a:prstGeom>
          <a:solidFill xmlns:a="http://schemas.openxmlformats.org/drawingml/2006/main">
            <a:srgbClr val="F1DFC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DEB6EF3-E038-4007-ACBE-AEF34AEDFFAF}"/>
              </a:ext>
            </a:extLst>
          </p:cNvPr>
          <p:cNvSpPr>
            <a:spLocks xmlns:a="http://schemas.openxmlformats.org/drawingml/2006/main" noGrp="1"/>
          </p:cNvSpPr>
          <p:nvPr/>
        </p:nvSpPr>
        <p:spPr>
          <a:xfrm xmlns:a="http://schemas.openxmlformats.org/drawingml/2006/main">
            <a:off x="9277350" y="4267200"/>
            <a:ext cx="1809750" cy="438150"/>
          </a:xfrm>
          <a:prstGeom xmlns:a="http://schemas.openxmlformats.org/drawingml/2006/main" prst="roundRect">
            <a:avLst>
              <a:gd name="adj" fmla="val 26087"/>
            </a:avLst>
          </a:prstGeom>
          <a:noFill xmlns:a="http://schemas.openxmlformats.org/drawingml/2006/main"/>
          <a:ln xmlns:a="http://schemas.openxmlformats.org/drawingml/2006/main" w="0">
            <a:noFill/>
            <a:prstDash val="solid"/>
          </a:ln>
        </p:spPr>
        <p:txBody>
          <a:bodyPr xmlns:a="http://schemas.openxmlformats.org/drawingml/2006/main">
            <a:normAutofit fontScale="81585"/>
          </a:bodyPr>
          <a:lstStyle xmlns:a="http://schemas.openxmlformats.org/drawingml/2006/main"/>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课堂提示</a:t>
            </a:r>
          </a:p>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用内容关系验证设计选择</a:t>
            </a:r>
          </a:p>
        </p:txBody>
      </p:sp>
    </p:spTree>
    <p:extLst>
      <p:ext uri="{BB962C8B-B14F-4D97-AF65-F5344CB8AC3E}">
        <p14:creationId xmlns:p14="http://schemas.microsoft.com/office/powerpoint/2010/main" val="1223387524"/>
      </p:ext>
    </p:extLst>
  </p:cSld>
</p:sld>
</file>

<file path=ppt/slides/slide29.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F97E09E-3E07-408E-9FD7-7A6145F42DE6}"/>
              </a:ext>
            </a:extLst>
          </p:cNvPr>
          <p:cNvSpPr>
            <a:spLocks xmlns:a="http://schemas.openxmlformats.org/drawingml/2006/main" noGrp="1"/>
          </p:cNvSpPr>
          <p:nvPr/>
        </p:nvSpPr>
        <p:spPr>
          <a:xfrm xmlns:a="http://schemas.openxmlformats.org/drawingml/2006/main">
            <a:off x="514350" y="361950"/>
            <a:ext cx="4381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FDF9724-1819-4E01-B193-8D4170693F62}"/>
              </a:ext>
            </a:extLst>
          </p:cNvPr>
          <p:cNvSpPr>
            <a:spLocks xmlns:a="http://schemas.openxmlformats.org/drawingml/2006/main" noGrp="1"/>
          </p:cNvSpPr>
          <p:nvPr/>
        </p:nvSpPr>
        <p:spPr>
          <a:xfrm xmlns:a="http://schemas.openxmlformats.org/drawingml/2006/main">
            <a:off x="514350" y="552450"/>
            <a:ext cx="2095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 / UNIVERSITY</a:t>
            </a:r>
          </a:p>
        </p:txBody>
      </p:sp>
      <p:sp>
        <p:nvSpPr>
          <p:cNvPr id="3" name="">
            <a:extLst xmlns:a="http://schemas.openxmlformats.org/drawingml/2006/main">
              <a:ext uri="{FF2B5EF4-FFF2-40B4-BE49-F238E27FC236}">
                <a16:creationId xmlns:a16="http://schemas.microsoft.com/office/drawing/2014/main" id="{8410A349-53A1-4B3D-A7B6-A2F5F7DDF6D7}"/>
              </a:ext>
            </a:extLst>
          </p:cNvPr>
          <p:cNvSpPr>
            <a:spLocks xmlns:a="http://schemas.openxmlformats.org/drawingml/2006/main" noGrp="1"/>
          </p:cNvSpPr>
          <p:nvPr/>
        </p:nvSpPr>
        <p:spPr>
          <a:xfrm xmlns:a="http://schemas.openxmlformats.org/drawingml/2006/main">
            <a:off x="9391650" y="552450"/>
            <a:ext cx="21907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4" name="">
            <a:extLst xmlns:a="http://schemas.openxmlformats.org/drawingml/2006/main">
              <a:ext uri="{FF2B5EF4-FFF2-40B4-BE49-F238E27FC236}">
                <a16:creationId xmlns:a16="http://schemas.microsoft.com/office/drawing/2014/main" id="{8DD75BE8-D8AB-4423-9999-78F8D9BC0B33}"/>
              </a:ext>
            </a:extLst>
          </p:cNvPr>
          <p:cNvSpPr>
            <a:spLocks xmlns:a="http://schemas.openxmlformats.org/drawingml/2006/main" noGrp="1"/>
          </p:cNvSpPr>
          <p:nvPr/>
        </p:nvSpPr>
        <p:spPr>
          <a:xfrm xmlns:a="http://schemas.openxmlformats.org/drawingml/2006/main">
            <a:off x="514350" y="6229350"/>
            <a:ext cx="1114425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1FF6547-1781-4503-AE47-9373C33C679B}"/>
              </a:ext>
            </a:extLst>
          </p:cNvPr>
          <p:cNvSpPr>
            <a:spLocks xmlns:a="http://schemas.openxmlformats.org/drawingml/2006/main" noGrp="1"/>
          </p:cNvSpPr>
          <p:nvPr/>
        </p:nvSpPr>
        <p:spPr>
          <a:xfrm xmlns:a="http://schemas.openxmlformats.org/drawingml/2006/main">
            <a:off x="514350" y="6410325"/>
            <a:ext cx="3810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29</a:t>
            </a:r>
          </a:p>
        </p:txBody>
      </p:sp>
      <p:sp>
        <p:nvSpPr>
          <p:cNvPr id="6" name="">
            <a:extLst xmlns:a="http://schemas.openxmlformats.org/drawingml/2006/main">
              <a:ext uri="{FF2B5EF4-FFF2-40B4-BE49-F238E27FC236}">
                <a16:creationId xmlns:a16="http://schemas.microsoft.com/office/drawing/2014/main" id="{8C3445A7-E911-49C1-B625-9D7FFF019086}"/>
              </a:ext>
            </a:extLst>
          </p:cNvPr>
          <p:cNvSpPr>
            <a:spLocks xmlns:a="http://schemas.openxmlformats.org/drawingml/2006/main" noGrp="1"/>
          </p:cNvSpPr>
          <p:nvPr/>
        </p:nvSpPr>
        <p:spPr>
          <a:xfrm xmlns:a="http://schemas.openxmlformats.org/drawingml/2006/main">
            <a:off x="514350" y="990600"/>
            <a:ext cx="8572500" cy="514350"/>
          </a:xfrm>
          <a:prstGeom xmlns:a="http://schemas.openxmlformats.org/drawingml/2006/main" prst="roundRect">
            <a:avLst>
              <a:gd name="adj" fmla="val 22222"/>
            </a:avLst>
          </a:prstGeom>
          <a:noFill xmlns:a="http://schemas.openxmlformats.org/drawingml/2006/main"/>
          <a:ln xmlns:a="http://schemas.openxmlformats.org/drawingml/2006/main" w="0">
            <a:noFill/>
            <a:prstDash val="solid"/>
          </a:ln>
        </p:spPr>
        <p:txBody>
          <a:bodyPr xmlns:a="http://schemas.openxmlformats.org/drawingml/2006/main">
            <a:normAutofit fontScale="86506"/>
          </a:bodyPr>
          <a:lstStyle xmlns:a="http://schemas.openxmlformats.org/drawingml/2006/main"/>
          <a:p xmlns:a="http://schemas.openxmlformats.org/drawingml/2006/main">
            <a:pPr>
              <a:defRPr sz="2700" b="1">
                <a:solidFill>
                  <a:srgbClr val="171C22"/>
                </a:solidFill>
                <a:latin typeface="Aptos"/>
                <a:ea typeface="Aptos"/>
                <a:cs typeface="Aptos"/>
              </a:defRPr>
            </a:pPr>
            <a:r>
              <a:rPr sz="2700" b="1">
                <a:solidFill>
                  <a:srgbClr val="171C22"/>
                </a:solidFill>
                <a:latin typeface="Aptos"/>
                <a:ea typeface="Aptos"/>
                <a:cs typeface="Aptos"/>
              </a:rPr>
              <a:t>Week 1 deliverable</a:t>
            </a:r>
          </a:p>
        </p:txBody>
      </p:sp>
      <p:sp>
        <p:nvSpPr>
          <p:cNvPr id="7" name="">
            <a:extLst xmlns:a="http://schemas.openxmlformats.org/drawingml/2006/main">
              <a:ext uri="{FF2B5EF4-FFF2-40B4-BE49-F238E27FC236}">
                <a16:creationId xmlns:a16="http://schemas.microsoft.com/office/drawing/2014/main" id="{C50F7FD9-4E92-463F-8C63-403F918EB5FF}"/>
              </a:ext>
            </a:extLst>
          </p:cNvPr>
          <p:cNvSpPr>
            <a:spLocks xmlns:a="http://schemas.openxmlformats.org/drawingml/2006/main" noGrp="1"/>
          </p:cNvSpPr>
          <p:nvPr/>
        </p:nvSpPr>
        <p:spPr>
          <a:xfrm xmlns:a="http://schemas.openxmlformats.org/drawingml/2006/main">
            <a:off x="514350" y="1657350"/>
            <a:ext cx="8858250" cy="304800"/>
          </a:xfrm>
          <a:prstGeom xmlns:a="http://schemas.openxmlformats.org/drawingml/2006/main" prst="roundRect">
            <a:avLst>
              <a:gd name="adj" fmla="val 37500"/>
            </a:avLst>
          </a:prstGeom>
          <a:noFill xmlns:a="http://schemas.openxmlformats.org/drawingml/2006/main"/>
          <a:ln xmlns:a="http://schemas.openxmlformats.org/drawingml/2006/main" w="0">
            <a:noFill/>
            <a:prstDash val="solid"/>
          </a:ln>
        </p:spPr>
        <p:txBody>
          <a:bodyPr xmlns:a="http://schemas.openxmlformats.org/drawingml/2006/main">
            <a:normAutofit fontScale="75346"/>
          </a:bodyPr>
          <a:lstStyle xmlns:a="http://schemas.openxmlformats.org/drawingml/2006/main"/>
          <a:p xmlns:a="http://schemas.openxmlformats.org/drawingml/2006/main">
            <a:pPr>
              <a:defRPr sz="1275" b="0">
                <a:solidFill>
                  <a:srgbClr val="44515C"/>
                </a:solidFill>
                <a:latin typeface="Aptos"/>
                <a:ea typeface="Aptos"/>
                <a:cs typeface="Aptos"/>
              </a:defRPr>
            </a:pPr>
            <a:r>
              <a:rPr sz="1275" b="0">
                <a:solidFill>
                  <a:srgbClr val="44515C"/>
                </a:solidFill>
                <a:latin typeface="Aptos"/>
                <a:ea typeface="Aptos"/>
                <a:cs typeface="Aptos"/>
              </a:rPr>
              <a:t>A structural prototype and learning record</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0bd95bc16fb4db0"/>
          <a:srcRect xmlns:a="http://schemas.openxmlformats.org/drawingml/2006/main" l="522" t="0" r="522" b="0"/>
          <a:stretch xmlns:a="http://schemas.openxmlformats.org/drawingml/2006/main">
            <a:fillRect l="0" t="0" r="0" b="0"/>
          </a:stretch>
        </p:blipFill>
        <p:spPr>
          <a:xfrm xmlns:a="http://schemas.openxmlformats.org/drawingml/2006/main">
            <a:off x="9105900" y="2381250"/>
            <a:ext cx="2190750" cy="1476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24C988B-0D8A-495F-9B0B-EC0E93C7EA24}"/>
              </a:ext>
            </a:extLst>
          </p:cNvPr>
          <p:cNvSpPr>
            <a:spLocks xmlns:a="http://schemas.openxmlformats.org/drawingml/2006/main" noGrp="1"/>
          </p:cNvSpPr>
          <p:nvPr/>
        </p:nvSpPr>
        <p:spPr>
          <a:xfrm xmlns:a="http://schemas.openxmlformats.org/drawingml/2006/main">
            <a:off x="514350" y="2343150"/>
            <a:ext cx="8096250" cy="3181350"/>
          </a:xfrm>
          <a:prstGeom xmlns:a="http://schemas.openxmlformats.org/drawingml/2006/main" prst="roundRect">
            <a:avLst>
              <a:gd name="adj" fmla="val 3593"/>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425" b="0">
                <a:solidFill>
                  <a:srgbClr val="171C22"/>
                </a:solidFill>
                <a:latin typeface="Aptos"/>
                <a:ea typeface="Aptos"/>
                <a:cs typeface="Aptos"/>
              </a:defRPr>
            </a:pPr>
            <a:r>
              <a:rPr sz="1425" b="0">
                <a:solidFill>
                  <a:srgbClr val="171C22"/>
                </a:solidFill>
                <a:latin typeface="Aptos"/>
                <a:ea typeface="Aptos"/>
                <a:cs typeface="Aptos"/>
              </a:rPr>
              <a:t>本周结束前提交一个结构原型：包含页面标题、至少两个主要章节、一个有意义的链接、一个图片或图片占位说明，以及清楚的行动入口。附上一段简短记录，说明目标读者、他们的核心任务、你为建立层级所做的一个选择，以及同伴测试后准备修改的一个问题。这个原型不追求完成的视觉风格，它为作业一提供内容框架，并训练学生把设计判断写成可讨论、可复查的证据。</a:t>
            </a:r>
          </a:p>
        </p:txBody>
      </p:sp>
      <p:sp>
        <p:nvSpPr>
          <p:cNvPr id="10" name="">
            <a:extLst xmlns:a="http://schemas.openxmlformats.org/drawingml/2006/main">
              <a:ext uri="{FF2B5EF4-FFF2-40B4-BE49-F238E27FC236}">
                <a16:creationId xmlns:a16="http://schemas.microsoft.com/office/drawing/2014/main" id="{5C18CB9C-F2A2-46DB-8F7C-A828E3BFDB45}"/>
              </a:ext>
            </a:extLst>
          </p:cNvPr>
          <p:cNvSpPr>
            <a:spLocks xmlns:a="http://schemas.openxmlformats.org/drawingml/2006/main" noGrp="1"/>
          </p:cNvSpPr>
          <p:nvPr/>
        </p:nvSpPr>
        <p:spPr>
          <a:xfrm xmlns:a="http://schemas.openxmlformats.org/drawingml/2006/main">
            <a:off x="9105900" y="4095750"/>
            <a:ext cx="2190750" cy="781050"/>
          </a:xfrm>
          <a:prstGeom xmlns:a="http://schemas.openxmlformats.org/drawingml/2006/main" prst="roundRect">
            <a:avLst>
              <a:gd name="adj" fmla="val 14634"/>
            </a:avLst>
          </a:prstGeom>
          <a:solidFill xmlns:a="http://schemas.openxmlformats.org/drawingml/2006/main">
            <a:srgbClr val="F1DFC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9784978-4707-4383-8A07-3CA5CF923F0D}"/>
              </a:ext>
            </a:extLst>
          </p:cNvPr>
          <p:cNvSpPr>
            <a:spLocks xmlns:a="http://schemas.openxmlformats.org/drawingml/2006/main" noGrp="1"/>
          </p:cNvSpPr>
          <p:nvPr/>
        </p:nvSpPr>
        <p:spPr>
          <a:xfrm xmlns:a="http://schemas.openxmlformats.org/drawingml/2006/main">
            <a:off x="9277350" y="4267200"/>
            <a:ext cx="1809750" cy="438150"/>
          </a:xfrm>
          <a:prstGeom xmlns:a="http://schemas.openxmlformats.org/drawingml/2006/main" prst="roundRect">
            <a:avLst>
              <a:gd name="adj" fmla="val 26087"/>
            </a:avLst>
          </a:prstGeom>
          <a:noFill xmlns:a="http://schemas.openxmlformats.org/drawingml/2006/main"/>
          <a:ln xmlns:a="http://schemas.openxmlformats.org/drawingml/2006/main" w="0">
            <a:noFill/>
            <a:prstDash val="solid"/>
          </a:ln>
        </p:spPr>
        <p:txBody>
          <a:bodyPr xmlns:a="http://schemas.openxmlformats.org/drawingml/2006/main">
            <a:normAutofit fontScale="81585"/>
          </a:bodyPr>
          <a:lstStyle xmlns:a="http://schemas.openxmlformats.org/drawingml/2006/main"/>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课堂提示</a:t>
            </a:r>
          </a:p>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用内容关系验证设计选择</a:t>
            </a:r>
          </a:p>
        </p:txBody>
      </p:sp>
    </p:spTree>
    <p:extLst>
      <p:ext uri="{BB962C8B-B14F-4D97-AF65-F5344CB8AC3E}">
        <p14:creationId xmlns:p14="http://schemas.microsoft.com/office/powerpoint/2010/main" val="1705374507"/>
      </p:ext>
    </p:extLst>
  </p:cSld>
</p:sld>
</file>

<file path=ppt/slides/slide30.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E3A8695-6734-455E-8502-88D3A2711F4E}"/>
              </a:ext>
            </a:extLst>
          </p:cNvPr>
          <p:cNvSpPr>
            <a:spLocks xmlns:a="http://schemas.openxmlformats.org/drawingml/2006/main" noGrp="1"/>
          </p:cNvSpPr>
          <p:nvPr/>
        </p:nvSpPr>
        <p:spPr>
          <a:xfrm xmlns:a="http://schemas.openxmlformats.org/drawingml/2006/main">
            <a:off x="514350" y="361950"/>
            <a:ext cx="4381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6A5CB77-7269-4FEC-BC13-235C0A05B762}"/>
              </a:ext>
            </a:extLst>
          </p:cNvPr>
          <p:cNvSpPr>
            <a:spLocks xmlns:a="http://schemas.openxmlformats.org/drawingml/2006/main" noGrp="1"/>
          </p:cNvSpPr>
          <p:nvPr/>
        </p:nvSpPr>
        <p:spPr>
          <a:xfrm xmlns:a="http://schemas.openxmlformats.org/drawingml/2006/main">
            <a:off x="514350" y="552450"/>
            <a:ext cx="2095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 / UNIVERSITY</a:t>
            </a:r>
          </a:p>
        </p:txBody>
      </p:sp>
      <p:sp>
        <p:nvSpPr>
          <p:cNvPr id="3" name="">
            <a:extLst xmlns:a="http://schemas.openxmlformats.org/drawingml/2006/main">
              <a:ext uri="{FF2B5EF4-FFF2-40B4-BE49-F238E27FC236}">
                <a16:creationId xmlns:a16="http://schemas.microsoft.com/office/drawing/2014/main" id="{4B7FEC85-E076-407D-B1CF-1C318EE0A8B9}"/>
              </a:ext>
            </a:extLst>
          </p:cNvPr>
          <p:cNvSpPr>
            <a:spLocks xmlns:a="http://schemas.openxmlformats.org/drawingml/2006/main" noGrp="1"/>
          </p:cNvSpPr>
          <p:nvPr/>
        </p:nvSpPr>
        <p:spPr>
          <a:xfrm xmlns:a="http://schemas.openxmlformats.org/drawingml/2006/main">
            <a:off x="9391650" y="552450"/>
            <a:ext cx="21907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4" name="">
            <a:extLst xmlns:a="http://schemas.openxmlformats.org/drawingml/2006/main">
              <a:ext uri="{FF2B5EF4-FFF2-40B4-BE49-F238E27FC236}">
                <a16:creationId xmlns:a16="http://schemas.microsoft.com/office/drawing/2014/main" id="{6698E756-E32E-4C1F-AE9D-736AA27182D8}"/>
              </a:ext>
            </a:extLst>
          </p:cNvPr>
          <p:cNvSpPr>
            <a:spLocks xmlns:a="http://schemas.openxmlformats.org/drawingml/2006/main" noGrp="1"/>
          </p:cNvSpPr>
          <p:nvPr/>
        </p:nvSpPr>
        <p:spPr>
          <a:xfrm xmlns:a="http://schemas.openxmlformats.org/drawingml/2006/main">
            <a:off x="514350" y="6229350"/>
            <a:ext cx="1114425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65029A7-AC2A-4248-9F1E-70EC6D9E3EB7}"/>
              </a:ext>
            </a:extLst>
          </p:cNvPr>
          <p:cNvSpPr>
            <a:spLocks xmlns:a="http://schemas.openxmlformats.org/drawingml/2006/main" noGrp="1"/>
          </p:cNvSpPr>
          <p:nvPr/>
        </p:nvSpPr>
        <p:spPr>
          <a:xfrm xmlns:a="http://schemas.openxmlformats.org/drawingml/2006/main">
            <a:off x="514350" y="6410325"/>
            <a:ext cx="3810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30</a:t>
            </a:r>
          </a:p>
        </p:txBody>
      </p:sp>
      <p:sp>
        <p:nvSpPr>
          <p:cNvPr id="6" name="">
            <a:extLst xmlns:a="http://schemas.openxmlformats.org/drawingml/2006/main">
              <a:ext uri="{FF2B5EF4-FFF2-40B4-BE49-F238E27FC236}">
                <a16:creationId xmlns:a16="http://schemas.microsoft.com/office/drawing/2014/main" id="{D64D407C-BB68-48FE-B447-567824B4CC6E}"/>
              </a:ext>
            </a:extLst>
          </p:cNvPr>
          <p:cNvSpPr>
            <a:spLocks xmlns:a="http://schemas.openxmlformats.org/drawingml/2006/main" noGrp="1"/>
          </p:cNvSpPr>
          <p:nvPr/>
        </p:nvSpPr>
        <p:spPr>
          <a:xfrm xmlns:a="http://schemas.openxmlformats.org/drawingml/2006/main">
            <a:off x="514350" y="990600"/>
            <a:ext cx="8572500" cy="514350"/>
          </a:xfrm>
          <a:prstGeom xmlns:a="http://schemas.openxmlformats.org/drawingml/2006/main" prst="roundRect">
            <a:avLst>
              <a:gd name="adj" fmla="val 22222"/>
            </a:avLst>
          </a:prstGeom>
          <a:noFill xmlns:a="http://schemas.openxmlformats.org/drawingml/2006/main"/>
          <a:ln xmlns:a="http://schemas.openxmlformats.org/drawingml/2006/main" w="0">
            <a:noFill/>
            <a:prstDash val="solid"/>
          </a:ln>
        </p:spPr>
        <p:txBody>
          <a:bodyPr xmlns:a="http://schemas.openxmlformats.org/drawingml/2006/main">
            <a:normAutofit fontScale="86506"/>
          </a:bodyPr>
          <a:lstStyle xmlns:a="http://schemas.openxmlformats.org/drawingml/2006/main"/>
          <a:p xmlns:a="http://schemas.openxmlformats.org/drawingml/2006/main">
            <a:pPr>
              <a:defRPr sz="2700" b="1">
                <a:solidFill>
                  <a:srgbClr val="171C22"/>
                </a:solidFill>
                <a:latin typeface="Aptos"/>
                <a:ea typeface="Aptos"/>
                <a:cs typeface="Aptos"/>
              </a:defRPr>
            </a:pPr>
            <a:r>
              <a:rPr sz="2700" b="1">
                <a:solidFill>
                  <a:srgbClr val="171C22"/>
                </a:solidFill>
                <a:latin typeface="Aptos"/>
                <a:ea typeface="Aptos"/>
                <a:cs typeface="Aptos"/>
              </a:rPr>
              <a:t>Further learning</a:t>
            </a:r>
          </a:p>
        </p:txBody>
      </p:sp>
      <p:sp>
        <p:nvSpPr>
          <p:cNvPr id="7" name="">
            <a:extLst xmlns:a="http://schemas.openxmlformats.org/drawingml/2006/main">
              <a:ext uri="{FF2B5EF4-FFF2-40B4-BE49-F238E27FC236}">
                <a16:creationId xmlns:a16="http://schemas.microsoft.com/office/drawing/2014/main" id="{F64E57DF-AF65-4147-87EE-074A235636A2}"/>
              </a:ext>
            </a:extLst>
          </p:cNvPr>
          <p:cNvSpPr>
            <a:spLocks xmlns:a="http://schemas.openxmlformats.org/drawingml/2006/main" noGrp="1"/>
          </p:cNvSpPr>
          <p:nvPr/>
        </p:nvSpPr>
        <p:spPr>
          <a:xfrm xmlns:a="http://schemas.openxmlformats.org/drawingml/2006/main">
            <a:off x="514350" y="1657350"/>
            <a:ext cx="8858250" cy="304800"/>
          </a:xfrm>
          <a:prstGeom xmlns:a="http://schemas.openxmlformats.org/drawingml/2006/main" prst="roundRect">
            <a:avLst>
              <a:gd name="adj" fmla="val 37500"/>
            </a:avLst>
          </a:prstGeom>
          <a:noFill xmlns:a="http://schemas.openxmlformats.org/drawingml/2006/main"/>
          <a:ln xmlns:a="http://schemas.openxmlformats.org/drawingml/2006/main" w="0">
            <a:noFill/>
            <a:prstDash val="solid"/>
          </a:ln>
        </p:spPr>
        <p:txBody>
          <a:bodyPr xmlns:a="http://schemas.openxmlformats.org/drawingml/2006/main">
            <a:normAutofit fontScale="75346"/>
          </a:bodyPr>
          <a:lstStyle xmlns:a="http://schemas.openxmlformats.org/drawingml/2006/main"/>
          <a:p xmlns:a="http://schemas.openxmlformats.org/drawingml/2006/main">
            <a:pPr>
              <a:defRPr sz="1275" b="0">
                <a:solidFill>
                  <a:srgbClr val="44515C"/>
                </a:solidFill>
                <a:latin typeface="Aptos"/>
                <a:ea typeface="Aptos"/>
                <a:cs typeface="Aptos"/>
              </a:defRPr>
            </a:pPr>
            <a:r>
              <a:rPr sz="1275" b="0">
                <a:solidFill>
                  <a:srgbClr val="44515C"/>
                </a:solidFill>
                <a:latin typeface="Aptos"/>
                <a:ea typeface="Aptos"/>
                <a:cs typeface="Aptos"/>
              </a:rPr>
              <a:t>Read, inspect, test, revise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3fbec1a182594b28"/>
          <a:srcRect xmlns:a="http://schemas.openxmlformats.org/drawingml/2006/main" l="522" t="0" r="522" b="0"/>
          <a:stretch xmlns:a="http://schemas.openxmlformats.org/drawingml/2006/main">
            <a:fillRect l="0" t="0" r="0" b="0"/>
          </a:stretch>
        </p:blipFill>
        <p:spPr>
          <a:xfrm xmlns:a="http://schemas.openxmlformats.org/drawingml/2006/main">
            <a:off x="9105900" y="2381250"/>
            <a:ext cx="2190750" cy="1476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834FF2A4-6582-4CEA-95A9-44E313A2BBC0}"/>
              </a:ext>
            </a:extLst>
          </p:cNvPr>
          <p:cNvSpPr>
            <a:spLocks xmlns:a="http://schemas.openxmlformats.org/drawingml/2006/main" noGrp="1"/>
          </p:cNvSpPr>
          <p:nvPr/>
        </p:nvSpPr>
        <p:spPr>
          <a:xfrm xmlns:a="http://schemas.openxmlformats.org/drawingml/2006/main">
            <a:off x="514350" y="2343150"/>
            <a:ext cx="8096250" cy="3181350"/>
          </a:xfrm>
          <a:prstGeom xmlns:a="http://schemas.openxmlformats.org/drawingml/2006/main" prst="roundRect">
            <a:avLst>
              <a:gd name="adj" fmla="val 3593"/>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425" b="0">
                <a:solidFill>
                  <a:srgbClr val="171C22"/>
                </a:solidFill>
                <a:latin typeface="Aptos"/>
                <a:ea typeface="Aptos"/>
                <a:cs typeface="Aptos"/>
              </a:defRPr>
            </a:pPr>
            <a:r>
              <a:rPr sz="1425" b="0">
                <a:solidFill>
                  <a:srgbClr val="171C22"/>
                </a:solidFill>
                <a:latin typeface="Aptos"/>
                <a:ea typeface="Aptos"/>
                <a:cs typeface="Aptos"/>
              </a:rPr>
              <a:t>课后可阅读 MDN 关于语义 HTML、W3C 关于媒体与文本替代、以及 WebAIM 关于键盘与对比度的指南。阅读时不要只收藏链接，请选一个真实页面，用本周的问题检查它：主任务是否明显，标题树是否连贯，链接是否可预测，图片是否有工作，键盘焦点是否可见。将一项观察写进过程记录。下周我们会把这种阅读转化为更具体的 HTML 结构，并开始为不同内容类型建立可维护的页面模式。</a:t>
            </a:r>
          </a:p>
        </p:txBody>
      </p:sp>
      <p:sp>
        <p:nvSpPr>
          <p:cNvPr id="10" name="">
            <a:extLst xmlns:a="http://schemas.openxmlformats.org/drawingml/2006/main">
              <a:ext uri="{FF2B5EF4-FFF2-40B4-BE49-F238E27FC236}">
                <a16:creationId xmlns:a16="http://schemas.microsoft.com/office/drawing/2014/main" id="{926E9D9E-A7F4-48A4-98E7-18D0DEEE353B}"/>
              </a:ext>
            </a:extLst>
          </p:cNvPr>
          <p:cNvSpPr>
            <a:spLocks xmlns:a="http://schemas.openxmlformats.org/drawingml/2006/main" noGrp="1"/>
          </p:cNvSpPr>
          <p:nvPr/>
        </p:nvSpPr>
        <p:spPr>
          <a:xfrm xmlns:a="http://schemas.openxmlformats.org/drawingml/2006/main">
            <a:off x="9105900" y="4095750"/>
            <a:ext cx="2190750" cy="781050"/>
          </a:xfrm>
          <a:prstGeom xmlns:a="http://schemas.openxmlformats.org/drawingml/2006/main" prst="roundRect">
            <a:avLst>
              <a:gd name="adj" fmla="val 14634"/>
            </a:avLst>
          </a:prstGeom>
          <a:solidFill xmlns:a="http://schemas.openxmlformats.org/drawingml/2006/main">
            <a:srgbClr val="F1DFC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DBDE84F-7CFF-46B3-9775-5344C4AEAABC}"/>
              </a:ext>
            </a:extLst>
          </p:cNvPr>
          <p:cNvSpPr>
            <a:spLocks xmlns:a="http://schemas.openxmlformats.org/drawingml/2006/main" noGrp="1"/>
          </p:cNvSpPr>
          <p:nvPr/>
        </p:nvSpPr>
        <p:spPr>
          <a:xfrm xmlns:a="http://schemas.openxmlformats.org/drawingml/2006/main">
            <a:off x="9277350" y="4267200"/>
            <a:ext cx="1809750" cy="438150"/>
          </a:xfrm>
          <a:prstGeom xmlns:a="http://schemas.openxmlformats.org/drawingml/2006/main" prst="roundRect">
            <a:avLst>
              <a:gd name="adj" fmla="val 26087"/>
            </a:avLst>
          </a:prstGeom>
          <a:noFill xmlns:a="http://schemas.openxmlformats.org/drawingml/2006/main"/>
          <a:ln xmlns:a="http://schemas.openxmlformats.org/drawingml/2006/main" w="0">
            <a:noFill/>
            <a:prstDash val="solid"/>
          </a:ln>
        </p:spPr>
        <p:txBody>
          <a:bodyPr xmlns:a="http://schemas.openxmlformats.org/drawingml/2006/main">
            <a:normAutofit fontScale="81585"/>
          </a:bodyPr>
          <a:lstStyle xmlns:a="http://schemas.openxmlformats.org/drawingml/2006/main"/>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课堂提示</a:t>
            </a:r>
          </a:p>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用内容关系验证设计选择</a:t>
            </a:r>
          </a:p>
        </p:txBody>
      </p:sp>
    </p:spTree>
    <p:extLst>
      <p:ext uri="{BB962C8B-B14F-4D97-AF65-F5344CB8AC3E}">
        <p14:creationId xmlns:p14="http://schemas.microsoft.com/office/powerpoint/2010/main" val="2118616485"/>
      </p:ext>
    </p:extLst>
  </p:cSld>
</p:sld>
</file>

<file path=ppt/slides/slide31.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7866EC9-4A3B-4617-AAC3-05D0B886C384}"/>
              </a:ext>
            </a:extLst>
          </p:cNvPr>
          <p:cNvSpPr>
            <a:spLocks xmlns:a="http://schemas.openxmlformats.org/drawingml/2006/main" noGrp="1"/>
          </p:cNvSpPr>
          <p:nvPr/>
        </p:nvSpPr>
        <p:spPr>
          <a:xfrm xmlns:a="http://schemas.openxmlformats.org/drawingml/2006/main">
            <a:off x="514350" y="361950"/>
            <a:ext cx="4381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16DC0F3-2581-45E7-ABD6-27BF1C3462B5}"/>
              </a:ext>
            </a:extLst>
          </p:cNvPr>
          <p:cNvSpPr>
            <a:spLocks xmlns:a="http://schemas.openxmlformats.org/drawingml/2006/main" noGrp="1"/>
          </p:cNvSpPr>
          <p:nvPr/>
        </p:nvSpPr>
        <p:spPr>
          <a:xfrm xmlns:a="http://schemas.openxmlformats.org/drawingml/2006/main">
            <a:off x="514350" y="552450"/>
            <a:ext cx="2095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 / UNIVERSITY</a:t>
            </a:r>
          </a:p>
        </p:txBody>
      </p:sp>
      <p:sp>
        <p:nvSpPr>
          <p:cNvPr id="3" name="">
            <a:extLst xmlns:a="http://schemas.openxmlformats.org/drawingml/2006/main">
              <a:ext uri="{FF2B5EF4-FFF2-40B4-BE49-F238E27FC236}">
                <a16:creationId xmlns:a16="http://schemas.microsoft.com/office/drawing/2014/main" id="{C0F81A14-0771-4E75-9E6F-D4CCA569E1BE}"/>
              </a:ext>
            </a:extLst>
          </p:cNvPr>
          <p:cNvSpPr>
            <a:spLocks xmlns:a="http://schemas.openxmlformats.org/drawingml/2006/main" noGrp="1"/>
          </p:cNvSpPr>
          <p:nvPr/>
        </p:nvSpPr>
        <p:spPr>
          <a:xfrm xmlns:a="http://schemas.openxmlformats.org/drawingml/2006/main">
            <a:off x="9391650" y="552450"/>
            <a:ext cx="21907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4" name="">
            <a:extLst xmlns:a="http://schemas.openxmlformats.org/drawingml/2006/main">
              <a:ext uri="{FF2B5EF4-FFF2-40B4-BE49-F238E27FC236}">
                <a16:creationId xmlns:a16="http://schemas.microsoft.com/office/drawing/2014/main" id="{C92DA403-3C10-47E5-9162-CB1658D8EF43}"/>
              </a:ext>
            </a:extLst>
          </p:cNvPr>
          <p:cNvSpPr>
            <a:spLocks xmlns:a="http://schemas.openxmlformats.org/drawingml/2006/main" noGrp="1"/>
          </p:cNvSpPr>
          <p:nvPr/>
        </p:nvSpPr>
        <p:spPr>
          <a:xfrm xmlns:a="http://schemas.openxmlformats.org/drawingml/2006/main">
            <a:off x="514350" y="6229350"/>
            <a:ext cx="1114425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C362555-D603-4F1A-AE6D-65CCF98D194C}"/>
              </a:ext>
            </a:extLst>
          </p:cNvPr>
          <p:cNvSpPr>
            <a:spLocks xmlns:a="http://schemas.openxmlformats.org/drawingml/2006/main" noGrp="1"/>
          </p:cNvSpPr>
          <p:nvPr/>
        </p:nvSpPr>
        <p:spPr>
          <a:xfrm xmlns:a="http://schemas.openxmlformats.org/drawingml/2006/main">
            <a:off x="514350" y="6410325"/>
            <a:ext cx="3810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31</a:t>
            </a:r>
          </a:p>
        </p:txBody>
      </p:sp>
      <p:sp>
        <p:nvSpPr>
          <p:cNvPr id="6" name="">
            <a:extLst xmlns:a="http://schemas.openxmlformats.org/drawingml/2006/main">
              <a:ext uri="{FF2B5EF4-FFF2-40B4-BE49-F238E27FC236}">
                <a16:creationId xmlns:a16="http://schemas.microsoft.com/office/drawing/2014/main" id="{D51DDD8F-6C81-42F6-BB90-DA9EAEC295EA}"/>
              </a:ext>
            </a:extLst>
          </p:cNvPr>
          <p:cNvSpPr>
            <a:spLocks xmlns:a="http://schemas.openxmlformats.org/drawingml/2006/main" noGrp="1"/>
          </p:cNvSpPr>
          <p:nvPr/>
        </p:nvSpPr>
        <p:spPr>
          <a:xfrm xmlns:a="http://schemas.openxmlformats.org/drawingml/2006/main">
            <a:off x="514350" y="990600"/>
            <a:ext cx="8572500" cy="514350"/>
          </a:xfrm>
          <a:prstGeom xmlns:a="http://schemas.openxmlformats.org/drawingml/2006/main" prst="roundRect">
            <a:avLst>
              <a:gd name="adj" fmla="val 22222"/>
            </a:avLst>
          </a:prstGeom>
          <a:noFill xmlns:a="http://schemas.openxmlformats.org/drawingml/2006/main"/>
          <a:ln xmlns:a="http://schemas.openxmlformats.org/drawingml/2006/main" w="0">
            <a:noFill/>
            <a:prstDash val="solid"/>
          </a:ln>
        </p:spPr>
        <p:txBody>
          <a:bodyPr xmlns:a="http://schemas.openxmlformats.org/drawingml/2006/main">
            <a:normAutofit fontScale="86506"/>
          </a:bodyPr>
          <a:lstStyle xmlns:a="http://schemas.openxmlformats.org/drawingml/2006/main"/>
          <a:p xmlns:a="http://schemas.openxmlformats.org/drawingml/2006/main">
            <a:pPr>
              <a:defRPr sz="2700" b="1">
                <a:solidFill>
                  <a:srgbClr val="171C22"/>
                </a:solidFill>
                <a:latin typeface="Aptos"/>
                <a:ea typeface="Aptos"/>
                <a:cs typeface="Aptos"/>
              </a:defRPr>
            </a:pPr>
            <a:r>
              <a:rPr sz="2700" b="1">
                <a:solidFill>
                  <a:srgbClr val="171C22"/>
                </a:solidFill>
                <a:latin typeface="Aptos"/>
                <a:ea typeface="Aptos"/>
                <a:cs typeface="Aptos"/>
              </a:rPr>
              <a:t>Preparation for Week 2</a:t>
            </a:r>
          </a:p>
        </p:txBody>
      </p:sp>
      <p:sp>
        <p:nvSpPr>
          <p:cNvPr id="7" name="">
            <a:extLst xmlns:a="http://schemas.openxmlformats.org/drawingml/2006/main">
              <a:ext uri="{FF2B5EF4-FFF2-40B4-BE49-F238E27FC236}">
                <a16:creationId xmlns:a16="http://schemas.microsoft.com/office/drawing/2014/main" id="{EDE168E9-BC80-4C71-955B-7EBC7C51EA9C}"/>
              </a:ext>
            </a:extLst>
          </p:cNvPr>
          <p:cNvSpPr>
            <a:spLocks xmlns:a="http://schemas.openxmlformats.org/drawingml/2006/main" noGrp="1"/>
          </p:cNvSpPr>
          <p:nvPr/>
        </p:nvSpPr>
        <p:spPr>
          <a:xfrm xmlns:a="http://schemas.openxmlformats.org/drawingml/2006/main">
            <a:off x="514350" y="1657350"/>
            <a:ext cx="8858250" cy="304800"/>
          </a:xfrm>
          <a:prstGeom xmlns:a="http://schemas.openxmlformats.org/drawingml/2006/main" prst="roundRect">
            <a:avLst>
              <a:gd name="adj" fmla="val 37500"/>
            </a:avLst>
          </a:prstGeom>
          <a:noFill xmlns:a="http://schemas.openxmlformats.org/drawingml/2006/main"/>
          <a:ln xmlns:a="http://schemas.openxmlformats.org/drawingml/2006/main" w="0">
            <a:noFill/>
            <a:prstDash val="solid"/>
          </a:ln>
        </p:spPr>
        <p:txBody>
          <a:bodyPr xmlns:a="http://schemas.openxmlformats.org/drawingml/2006/main">
            <a:normAutofit fontScale="75346"/>
          </a:bodyPr>
          <a:lstStyle xmlns:a="http://schemas.openxmlformats.org/drawingml/2006/main"/>
          <a:p xmlns:a="http://schemas.openxmlformats.org/drawingml/2006/main">
            <a:pPr>
              <a:defRPr sz="1275" b="0">
                <a:solidFill>
                  <a:srgbClr val="44515C"/>
                </a:solidFill>
                <a:latin typeface="Aptos"/>
                <a:ea typeface="Aptos"/>
                <a:cs typeface="Aptos"/>
              </a:defRPr>
            </a:pPr>
            <a:r>
              <a:rPr sz="1275" b="0">
                <a:solidFill>
                  <a:srgbClr val="44515C"/>
                </a:solidFill>
                <a:latin typeface="Aptos"/>
                <a:ea typeface="Aptos"/>
                <a:cs typeface="Aptos"/>
              </a:rPr>
              <a:t>Bring content, not decoration</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2e10469a65b42b4"/>
          <a:srcRect xmlns:a="http://schemas.openxmlformats.org/drawingml/2006/main" l="569" t="0" r="569" b="0"/>
          <a:stretch xmlns:a="http://schemas.openxmlformats.org/drawingml/2006/main">
            <a:fillRect l="0" t="0" r="0" b="0"/>
          </a:stretch>
        </p:blipFill>
        <p:spPr>
          <a:xfrm xmlns:a="http://schemas.openxmlformats.org/drawingml/2006/main">
            <a:off x="9105900" y="2381250"/>
            <a:ext cx="2190750" cy="1476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6383B7B-C609-4AC9-AB91-7C1915FADF0B}"/>
              </a:ext>
            </a:extLst>
          </p:cNvPr>
          <p:cNvSpPr>
            <a:spLocks xmlns:a="http://schemas.openxmlformats.org/drawingml/2006/main" noGrp="1"/>
          </p:cNvSpPr>
          <p:nvPr/>
        </p:nvSpPr>
        <p:spPr>
          <a:xfrm xmlns:a="http://schemas.openxmlformats.org/drawingml/2006/main">
            <a:off x="514350" y="2343150"/>
            <a:ext cx="8096250" cy="3181350"/>
          </a:xfrm>
          <a:prstGeom xmlns:a="http://schemas.openxmlformats.org/drawingml/2006/main" prst="roundRect">
            <a:avLst>
              <a:gd name="adj" fmla="val 3593"/>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425" b="0">
                <a:solidFill>
                  <a:srgbClr val="171C22"/>
                </a:solidFill>
                <a:latin typeface="Aptos"/>
                <a:ea typeface="Aptos"/>
                <a:cs typeface="Aptos"/>
              </a:defRPr>
            </a:pPr>
            <a:r>
              <a:rPr sz="1425" b="0">
                <a:solidFill>
                  <a:srgbClr val="171C22"/>
                </a:solidFill>
                <a:latin typeface="Aptos"/>
                <a:ea typeface="Aptos"/>
                <a:cs typeface="Aptos"/>
              </a:rPr>
              <a:t>下周进入 HTML 与语义结构。请带来一个你愿意重新组织的短文本，可以是一篇介绍、一份活动说明、一段访谈或一个小型指南。准备一个目标读者描述，以及读者必须完成的一个任务。不要提前花时间寻找漂亮模板，因为我们会先检查内容关系、标题树、列表、链接与图片区的意义。越早把内容问题说清楚，后续 CSS、视觉系统和互动设计就越有稳定基础。</a:t>
            </a:r>
          </a:p>
        </p:txBody>
      </p:sp>
      <p:sp>
        <p:nvSpPr>
          <p:cNvPr id="10" name="">
            <a:extLst xmlns:a="http://schemas.openxmlformats.org/drawingml/2006/main">
              <a:ext uri="{FF2B5EF4-FFF2-40B4-BE49-F238E27FC236}">
                <a16:creationId xmlns:a16="http://schemas.microsoft.com/office/drawing/2014/main" id="{D6B3803B-E08E-4E05-85DB-1167B9065E56}"/>
              </a:ext>
            </a:extLst>
          </p:cNvPr>
          <p:cNvSpPr>
            <a:spLocks xmlns:a="http://schemas.openxmlformats.org/drawingml/2006/main" noGrp="1"/>
          </p:cNvSpPr>
          <p:nvPr/>
        </p:nvSpPr>
        <p:spPr>
          <a:xfrm xmlns:a="http://schemas.openxmlformats.org/drawingml/2006/main">
            <a:off x="9105900" y="4095750"/>
            <a:ext cx="2190750" cy="781050"/>
          </a:xfrm>
          <a:prstGeom xmlns:a="http://schemas.openxmlformats.org/drawingml/2006/main" prst="roundRect">
            <a:avLst>
              <a:gd name="adj" fmla="val 14634"/>
            </a:avLst>
          </a:prstGeom>
          <a:solidFill xmlns:a="http://schemas.openxmlformats.org/drawingml/2006/main">
            <a:srgbClr val="F1DFC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7218C99-7499-4BF1-948B-127A02B2F69F}"/>
              </a:ext>
            </a:extLst>
          </p:cNvPr>
          <p:cNvSpPr>
            <a:spLocks xmlns:a="http://schemas.openxmlformats.org/drawingml/2006/main" noGrp="1"/>
          </p:cNvSpPr>
          <p:nvPr/>
        </p:nvSpPr>
        <p:spPr>
          <a:xfrm xmlns:a="http://schemas.openxmlformats.org/drawingml/2006/main">
            <a:off x="9277350" y="4267200"/>
            <a:ext cx="1809750" cy="438150"/>
          </a:xfrm>
          <a:prstGeom xmlns:a="http://schemas.openxmlformats.org/drawingml/2006/main" prst="roundRect">
            <a:avLst>
              <a:gd name="adj" fmla="val 26087"/>
            </a:avLst>
          </a:prstGeom>
          <a:noFill xmlns:a="http://schemas.openxmlformats.org/drawingml/2006/main"/>
          <a:ln xmlns:a="http://schemas.openxmlformats.org/drawingml/2006/main" w="0">
            <a:noFill/>
            <a:prstDash val="solid"/>
          </a:ln>
        </p:spPr>
        <p:txBody>
          <a:bodyPr xmlns:a="http://schemas.openxmlformats.org/drawingml/2006/main">
            <a:normAutofit fontScale="81585"/>
          </a:bodyPr>
          <a:lstStyle xmlns:a="http://schemas.openxmlformats.org/drawingml/2006/main"/>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课堂提示</a:t>
            </a:r>
          </a:p>
          <a:p xmlns:a="http://schemas.openxmlformats.org/drawingml/2006/main">
            <a:pPr>
              <a:defRPr sz="1125" b="1">
                <a:solidFill>
                  <a:srgbClr val="171C22"/>
                </a:solidFill>
                <a:latin typeface="Aptos"/>
                <a:ea typeface="Aptos"/>
                <a:cs typeface="Aptos"/>
              </a:defRPr>
            </a:pPr>
            <a:r>
              <a:rPr sz="1125" b="1">
                <a:solidFill>
                  <a:srgbClr val="171C22"/>
                </a:solidFill>
                <a:latin typeface="Aptos"/>
                <a:ea typeface="Aptos"/>
                <a:cs typeface="Aptos"/>
              </a:rPr>
              <a:t>用内容关系验证设计选择</a:t>
            </a:r>
          </a:p>
        </p:txBody>
      </p:sp>
    </p:spTree>
    <p:extLst>
      <p:ext uri="{BB962C8B-B14F-4D97-AF65-F5344CB8AC3E}">
        <p14:creationId xmlns:p14="http://schemas.microsoft.com/office/powerpoint/2010/main" val="359235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2026-09-13T06:25:47.3440000Z</dcterms:created>
  <dcterms:modified xsi:type="dcterms:W3CDTF">2026-09-13T06:25:47.3440000Z</dcterms:modified>
</coreProperties>
</file>