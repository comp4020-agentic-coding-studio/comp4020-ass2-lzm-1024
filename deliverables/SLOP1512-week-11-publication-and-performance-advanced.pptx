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9518bb4694428" /><Relationship Type="http://schemas.openxmlformats.org/officeDocument/2006/relationships/extended-properties" Target="/docProps/app.xml" Id="R3802d7eb8cee4a11" /><Relationship Type="http://schemas.openxmlformats.org/officeDocument/2006/relationships/officeDocument" Target="/ppt/presentation.xml" Id="Raf64dde119ac47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286dac213480a"/>
  </p:sldMasterIdLst>
  <p:notesMasterIdLst>
    <p:notesMasterId xmlns:r="http://schemas.openxmlformats.org/officeDocument/2006/relationships" r:id="R528ab739d67746f9"/>
  </p:notesMasterIdLst>
  <p:sldIdLst>
    <p:sldId xmlns:r="http://schemas.openxmlformats.org/officeDocument/2006/relationships" id="256" r:id="Rd6723643ccf249e6"/>
    <p:sldId xmlns:r="http://schemas.openxmlformats.org/officeDocument/2006/relationships" id="257" r:id="R7b54d4261eb540d8"/>
    <p:sldId xmlns:r="http://schemas.openxmlformats.org/officeDocument/2006/relationships" id="258" r:id="Rc4ba95c1400b4cde"/>
    <p:sldId xmlns:r="http://schemas.openxmlformats.org/officeDocument/2006/relationships" id="259" r:id="R60c3d449b55b443a"/>
    <p:sldId xmlns:r="http://schemas.openxmlformats.org/officeDocument/2006/relationships" id="260" r:id="R45791cd1df414684"/>
    <p:sldId xmlns:r="http://schemas.openxmlformats.org/officeDocument/2006/relationships" id="261" r:id="R3c1d7ee21ea54ed8"/>
    <p:sldId xmlns:r="http://schemas.openxmlformats.org/officeDocument/2006/relationships" id="262" r:id="R4fd2b37560494b2c"/>
    <p:sldId xmlns:r="http://schemas.openxmlformats.org/officeDocument/2006/relationships" id="263" r:id="R3c207c4e6edf4d75"/>
    <p:sldId xmlns:r="http://schemas.openxmlformats.org/officeDocument/2006/relationships" id="264" r:id="Ra6bffa657be14386"/>
    <p:sldId xmlns:r="http://schemas.openxmlformats.org/officeDocument/2006/relationships" id="265" r:id="Rc3e3c29819e34019"/>
    <p:sldId xmlns:r="http://schemas.openxmlformats.org/officeDocument/2006/relationships" id="266" r:id="R9a22288aa0434f1b"/>
    <p:sldId xmlns:r="http://schemas.openxmlformats.org/officeDocument/2006/relationships" id="267" r:id="R195e95fe75564459"/>
    <p:sldId xmlns:r="http://schemas.openxmlformats.org/officeDocument/2006/relationships" id="268" r:id="R4a2c868402594c34"/>
    <p:sldId xmlns:r="http://schemas.openxmlformats.org/officeDocument/2006/relationships" id="269" r:id="Ra979571572214e9a"/>
    <p:sldId xmlns:r="http://schemas.openxmlformats.org/officeDocument/2006/relationships" id="270" r:id="R5c15c9c155f74625"/>
    <p:sldId xmlns:r="http://schemas.openxmlformats.org/officeDocument/2006/relationships" id="271" r:id="R36f510c0adea4523"/>
    <p:sldId xmlns:r="http://schemas.openxmlformats.org/officeDocument/2006/relationships" id="272" r:id="Ra5bfa2b41e1141d5"/>
    <p:sldId xmlns:r="http://schemas.openxmlformats.org/officeDocument/2006/relationships" id="273" r:id="R094800c4cbb049c9"/>
    <p:sldId xmlns:r="http://schemas.openxmlformats.org/officeDocument/2006/relationships" id="274" r:id="Rf47bf3fff1a741eb"/>
    <p:sldId xmlns:r="http://schemas.openxmlformats.org/officeDocument/2006/relationships" id="275" r:id="R5527b938727741c0"/>
    <p:sldId xmlns:r="http://schemas.openxmlformats.org/officeDocument/2006/relationships" id="276" r:id="R8707d9463f364f4d"/>
    <p:sldId xmlns:r="http://schemas.openxmlformats.org/officeDocument/2006/relationships" id="277" r:id="Rf1ca0fee887a4ce2"/>
    <p:sldId xmlns:r="http://schemas.openxmlformats.org/officeDocument/2006/relationships" id="278" r:id="R15577d664f0541eb"/>
    <p:sldId xmlns:r="http://schemas.openxmlformats.org/officeDocument/2006/relationships" id="279" r:id="Ra8327a1e33cc476b"/>
    <p:sldId xmlns:r="http://schemas.openxmlformats.org/officeDocument/2006/relationships" id="280" r:id="Rf1c2f09eac134406"/>
    <p:sldId xmlns:r="http://schemas.openxmlformats.org/officeDocument/2006/relationships" id="281" r:id="R7fba17dc8eb645ed"/>
    <p:sldId xmlns:r="http://schemas.openxmlformats.org/officeDocument/2006/relationships" id="282" r:id="Ra0b0110add1b4e2d"/>
    <p:sldId xmlns:r="http://schemas.openxmlformats.org/officeDocument/2006/relationships" id="283" r:id="R8281287d4a674780"/>
    <p:sldId xmlns:r="http://schemas.openxmlformats.org/officeDocument/2006/relationships" id="284" r:id="Re56762c0a5144ee7"/>
    <p:sldId xmlns:r="http://schemas.openxmlformats.org/officeDocument/2006/relationships" id="285" r:id="R889a4e1af2b344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02c6ef0e84875" /><Relationship Type="http://schemas.openxmlformats.org/officeDocument/2006/relationships/slideMaster" Target="/ppt/slideMasters/slideMaster1.xml" Id="Rad3286dac213480a" /><Relationship Type="http://schemas.openxmlformats.org/officeDocument/2006/relationships/notesMaster" Target="/ppt/notesMasters/notesMaster1.xml" Id="R528ab739d67746f9" /><Relationship Type="http://schemas.openxmlformats.org/officeDocument/2006/relationships/presProps" Target="/ppt/presProps.xml" Id="R029fdd2c123a4b3a" /><Relationship Type="http://schemas.openxmlformats.org/officeDocument/2006/relationships/tableStyles" Target="/ppt/tableStyles.xml" Id="R09f651fcfa864f5e" /><Relationship Type="http://schemas.openxmlformats.org/officeDocument/2006/relationships/slide" Target="/ppt/slides/slide1.xml" Id="Rd6723643ccf249e6" /><Relationship Type="http://schemas.openxmlformats.org/officeDocument/2006/relationships/slide" Target="/ppt/slides/slide2.xml" Id="R7b54d4261eb540d8" /><Relationship Type="http://schemas.openxmlformats.org/officeDocument/2006/relationships/slide" Target="/ppt/slides/slide3.xml" Id="Rc4ba95c1400b4cde" /><Relationship Type="http://schemas.openxmlformats.org/officeDocument/2006/relationships/slide" Target="/ppt/slides/slide4.xml" Id="R60c3d449b55b443a" /><Relationship Type="http://schemas.openxmlformats.org/officeDocument/2006/relationships/slide" Target="/ppt/slides/slide5.xml" Id="R45791cd1df414684" /><Relationship Type="http://schemas.openxmlformats.org/officeDocument/2006/relationships/slide" Target="/ppt/slides/slide6.xml" Id="R3c1d7ee21ea54ed8" /><Relationship Type="http://schemas.openxmlformats.org/officeDocument/2006/relationships/slide" Target="/ppt/slides/slide7.xml" Id="R4fd2b37560494b2c" /><Relationship Type="http://schemas.openxmlformats.org/officeDocument/2006/relationships/slide" Target="/ppt/slides/slide8.xml" Id="R3c207c4e6edf4d75" /><Relationship Type="http://schemas.openxmlformats.org/officeDocument/2006/relationships/slide" Target="/ppt/slides/slide9.xml" Id="Ra6bffa657be14386" /><Relationship Type="http://schemas.openxmlformats.org/officeDocument/2006/relationships/slide" Target="/ppt/slides/slide10.xml" Id="Rc3e3c29819e34019" /><Relationship Type="http://schemas.openxmlformats.org/officeDocument/2006/relationships/slide" Target="/ppt/slides/slide11.xml" Id="R9a22288aa0434f1b" /><Relationship Type="http://schemas.openxmlformats.org/officeDocument/2006/relationships/slide" Target="/ppt/slides/slide12.xml" Id="R195e95fe75564459" /><Relationship Type="http://schemas.openxmlformats.org/officeDocument/2006/relationships/slide" Target="/ppt/slides/slide13.xml" Id="R4a2c868402594c34" /><Relationship Type="http://schemas.openxmlformats.org/officeDocument/2006/relationships/slide" Target="/ppt/slides/slide14.xml" Id="Ra979571572214e9a" /><Relationship Type="http://schemas.openxmlformats.org/officeDocument/2006/relationships/slide" Target="/ppt/slides/slide15.xml" Id="R5c15c9c155f74625" /><Relationship Type="http://schemas.openxmlformats.org/officeDocument/2006/relationships/slide" Target="/ppt/slides/slide16.xml" Id="R36f510c0adea4523" /><Relationship Type="http://schemas.openxmlformats.org/officeDocument/2006/relationships/slide" Target="/ppt/slides/slide17.xml" Id="Ra5bfa2b41e1141d5" /><Relationship Type="http://schemas.openxmlformats.org/officeDocument/2006/relationships/slide" Target="/ppt/slides/slide18.xml" Id="R094800c4cbb049c9" /><Relationship Type="http://schemas.openxmlformats.org/officeDocument/2006/relationships/slide" Target="/ppt/slides/slide19.xml" Id="Rf47bf3fff1a741eb" /><Relationship Type="http://schemas.openxmlformats.org/officeDocument/2006/relationships/slide" Target="/ppt/slides/slide20.xml" Id="R5527b938727741c0" /><Relationship Type="http://schemas.openxmlformats.org/officeDocument/2006/relationships/slide" Target="/ppt/slides/slide21.xml" Id="R8707d9463f364f4d" /><Relationship Type="http://schemas.openxmlformats.org/officeDocument/2006/relationships/slide" Target="/ppt/slides/slide22.xml" Id="Rf1ca0fee887a4ce2" /><Relationship Type="http://schemas.openxmlformats.org/officeDocument/2006/relationships/slide" Target="/ppt/slides/slide23.xml" Id="R15577d664f0541eb" /><Relationship Type="http://schemas.openxmlformats.org/officeDocument/2006/relationships/slide" Target="/ppt/slides/slide24.xml" Id="Ra8327a1e33cc476b" /><Relationship Type="http://schemas.openxmlformats.org/officeDocument/2006/relationships/slide" Target="/ppt/slides/slide25.xml" Id="Rf1c2f09eac134406" /><Relationship Type="http://schemas.openxmlformats.org/officeDocument/2006/relationships/slide" Target="/ppt/slides/slide26.xml" Id="R7fba17dc8eb645ed" /><Relationship Type="http://schemas.openxmlformats.org/officeDocument/2006/relationships/slide" Target="/ppt/slides/slide27.xml" Id="Ra0b0110add1b4e2d" /><Relationship Type="http://schemas.openxmlformats.org/officeDocument/2006/relationships/slide" Target="/ppt/slides/slide28.xml" Id="R8281287d4a674780" /><Relationship Type="http://schemas.openxmlformats.org/officeDocument/2006/relationships/slide" Target="/ppt/slides/slide29.xml" Id="Re56762c0a5144ee7" /><Relationship Type="http://schemas.openxmlformats.org/officeDocument/2006/relationships/slide" Target="/ppt/slides/slide30.xml" Id="R889a4e1af2b3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0944c516a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a70ad25c44fca" /><Relationship Type="http://schemas.openxmlformats.org/officeDocument/2006/relationships/notesMaster" Target="/ppt/notesMasters/notesMaster1.xml" Id="Rf7db9d6557e3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5c08525554342" /><Relationship Type="http://schemas.openxmlformats.org/officeDocument/2006/relationships/notesMaster" Target="/ppt/notesMasters/notesMaster1.xml" Id="R4a10d4ac265642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31d178079445db" /><Relationship Type="http://schemas.openxmlformats.org/officeDocument/2006/relationships/notesMaster" Target="/ppt/notesMasters/notesMaster1.xml" Id="R5a5c13cab43b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28de703974ce6" /><Relationship Type="http://schemas.openxmlformats.org/officeDocument/2006/relationships/notesMaster" Target="/ppt/notesMasters/notesMaster1.xml" Id="R69fd920d77f748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4987b4dff74555" /><Relationship Type="http://schemas.openxmlformats.org/officeDocument/2006/relationships/notesMaster" Target="/ppt/notesMasters/notesMaster1.xml" Id="R40dadafcc00e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ebb3aab6546ed" /><Relationship Type="http://schemas.openxmlformats.org/officeDocument/2006/relationships/notesMaster" Target="/ppt/notesMasters/notesMaster1.xml" Id="Rc8dfc333f5bc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7fa305abf43c4" /><Relationship Type="http://schemas.openxmlformats.org/officeDocument/2006/relationships/notesMaster" Target="/ppt/notesMasters/notesMaster1.xml" Id="Rc3c5d2f028304c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816914ef34101" /><Relationship Type="http://schemas.openxmlformats.org/officeDocument/2006/relationships/notesMaster" Target="/ppt/notesMasters/notesMaster1.xml" Id="Rf105052fd59a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dc4f3813c74d87" /><Relationship Type="http://schemas.openxmlformats.org/officeDocument/2006/relationships/notesMaster" Target="/ppt/notesMasters/notesMaster1.xml" Id="R593d142cbbb4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ce82660a6f4bc8" /><Relationship Type="http://schemas.openxmlformats.org/officeDocument/2006/relationships/notesMaster" Target="/ppt/notesMasters/notesMaster1.xml" Id="Rb1830908b32244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4d284bc5241d1" /><Relationship Type="http://schemas.openxmlformats.org/officeDocument/2006/relationships/notesMaster" Target="/ppt/notesMasters/notesMaster1.xml" Id="R1cf04742fe2b49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f8b8da7aa44ad2" /><Relationship Type="http://schemas.openxmlformats.org/officeDocument/2006/relationships/notesMaster" Target="/ppt/notesMasters/notesMaster1.xml" Id="Raff7c0522bcf49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be499148f94625" /><Relationship Type="http://schemas.openxmlformats.org/officeDocument/2006/relationships/notesMaster" Target="/ppt/notesMasters/notesMaster1.xml" Id="R9dbf4e9d247945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3d4731456f4c29" /><Relationship Type="http://schemas.openxmlformats.org/officeDocument/2006/relationships/notesMaster" Target="/ppt/notesMasters/notesMaster1.xml" Id="R4b4a2c25a3d24a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50e7aa8f794989" /><Relationship Type="http://schemas.openxmlformats.org/officeDocument/2006/relationships/notesMaster" Target="/ppt/notesMasters/notesMaster1.xml" Id="R3f2317de79ae43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1b8cf4a8c4060" /><Relationship Type="http://schemas.openxmlformats.org/officeDocument/2006/relationships/notesMaster" Target="/ppt/notesMasters/notesMaster1.xml" Id="R0878f289d9d44a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d4d1fd332e4524" /><Relationship Type="http://schemas.openxmlformats.org/officeDocument/2006/relationships/notesMaster" Target="/ppt/notesMasters/notesMaster1.xml" Id="Rcd5d98e5bf2a4c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6f07dc4f8245ea" /><Relationship Type="http://schemas.openxmlformats.org/officeDocument/2006/relationships/notesMaster" Target="/ppt/notesMasters/notesMaster1.xml" Id="R3d971eed26954c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94332e80044df3" /><Relationship Type="http://schemas.openxmlformats.org/officeDocument/2006/relationships/notesMaster" Target="/ppt/notesMasters/notesMaster1.xml" Id="Rf090f252bacd4a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8c7ea0a6964739" /><Relationship Type="http://schemas.openxmlformats.org/officeDocument/2006/relationships/notesMaster" Target="/ppt/notesMasters/notesMaster1.xml" Id="R596cbc1a0bb44b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3aeae509e54ccb" /><Relationship Type="http://schemas.openxmlformats.org/officeDocument/2006/relationships/notesMaster" Target="/ppt/notesMasters/notesMaster1.xml" Id="R776cefb89caa40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ab037d487f4bdd" /><Relationship Type="http://schemas.openxmlformats.org/officeDocument/2006/relationships/notesMaster" Target="/ppt/notesMasters/notesMaster1.xml" Id="Rb839a956143146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3f155ec9b1402d" /><Relationship Type="http://schemas.openxmlformats.org/officeDocument/2006/relationships/notesMaster" Target="/ppt/notesMasters/notesMaster1.xml" Id="R6c76cfc40f4d46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b7f106246b4718" /><Relationship Type="http://schemas.openxmlformats.org/officeDocument/2006/relationships/notesMaster" Target="/ppt/notesMasters/notesMaster1.xml" Id="Reec60fc57db74d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62f407b3a14fab" /><Relationship Type="http://schemas.openxmlformats.org/officeDocument/2006/relationships/notesMaster" Target="/ppt/notesMasters/notesMaster1.xml" Id="R0c54f5b04b7740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fe9e3032a1410b" /><Relationship Type="http://schemas.openxmlformats.org/officeDocument/2006/relationships/notesMaster" Target="/ppt/notesMasters/notesMaster1.xml" Id="Re935bb92ba264f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4eba4a97f794f5b" /><Relationship Type="http://schemas.openxmlformats.org/officeDocument/2006/relationships/notesMaster" Target="/ppt/notesMasters/notesMaster1.xml" Id="R5946ac6171e54ab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8ede3a1bdd4474" /><Relationship Type="http://schemas.openxmlformats.org/officeDocument/2006/relationships/notesMaster" Target="/ppt/notesMasters/notesMaster1.xml" Id="R1ee32b94f0e344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f9072d96ef4bea" /><Relationship Type="http://schemas.openxmlformats.org/officeDocument/2006/relationships/notesMaster" Target="/ppt/notesMasters/notesMaster1.xml" Id="Rb1c491373e6a4f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2d4709d99c4988" /><Relationship Type="http://schemas.openxmlformats.org/officeDocument/2006/relationships/notesMaster" Target="/ppt/notesMasters/notesMaster1.xml" Id="R91a5e5400b5c47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(Hades2k), CC BY-SA 2.0, https://www.flickr.com/photos/24449221@N05/5871762782, accessed 13 Sep 2026</a:t>
            </a:r>
          </a:p>
          <a:p xmlns:a="http://schemas.openxmlformats.org/drawingml/2006/main">
            <a:r>
              <a:t>Course teaching content is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learning outcomes for SLOP1512 Week 11, grounded in the module brief: check assets, metadata, source attribution and loading decisions before publishing a preview.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framing distinguishing feature-complete from publish-ready, opening the Week 11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content: a practical asset-audit checklist for what a page ships to a first-time visitor.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comparison of raster image format trade-offs relevant to publication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Ties directly back to Week 6's srcset/sizes content, adding width/height attributes as a Core Web Vitals concern.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(Brokentaco), CC BY 2.0, https://www.flickr.com/photos/92024986@N00/2558749158,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native lazy loading and fetchpriority as complementary loading-order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font-display and preload as they relate to text visibility and Core Web Vitals.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content connecting general minification/dead-code principles to this course's own Astro build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title/meta description as the first thing a search engine or link preview reads.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the Open Graph protocol's role in link previews, directly answering the module brief's “metadata”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checklist of icon/manifest assets commonly missing at publish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(Annafur), CC BY 2.0, https://www.flickr.com/photos/13606906@N04/2923211110, accessed 13 Sep 2026</a:t>
            </a:r>
          </a:p>
          <a:p xmlns:a="http://schemas.openxmlformats.org/drawingml/2006/main">
            <a:r>
              <a:t>Directly answers the Week 11 module brief's “source attribution”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recommended ATTRIBUTION.json pattern, matching the sourcing discipline used throughout this course's own image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(twechy), CC BY 2.0, https://www.flickr.com/photos/77877011@N07/6830923298,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summary of the three Core Web Vitals metrics as published by Google's web.dev, framed for a course audit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(juhansonin), CC BY 2.0, https://www.flickr.com/photos/38869431@N00/4731324232,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connecting CLS causes to concrete fixes already established in earlier weeks.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(audioreservoir), CC BY 2.0, https://www.flickr.com/photos/53515430@N06/9491861077,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(jurvetson), CC BY 2.0, https://www.flickr.com/photos/44124348109@N01/9848225175,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(twicepix), CC BY-SA 2.0, https://www.flickr.com/photos/30713600@N00/4333178624,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(qubodup), CC BY 2.0, https://www.flickr.com/photos/21051491@N02/15204156909,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(Homedust), CC BY 2.0, https://www.flickr.com/photos/159630537@N08/41063797710, accessed 13 Sep 2026</a:t>
            </a:r>
          </a:p>
          <a:p xmlns:a="http://schemas.openxmlformats.org/drawingml/2006/main">
            <a:r>
              <a:t>Case study is an original composite example built for teaching purposes.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(freestocks.org), CC0, https://www.flickr.com/photos/135396164@N05/24336063775, accessed 13 Sep 2026</a:t>
            </a:r>
          </a:p>
          <a:p xmlns:a="http://schemas.openxmlformats.org/drawingml/2006/main">
            <a:r>
              <a:t>Case study is an original composite example built for teaching purposes.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consolidated pre-publish checklist tying together every subtopic covered this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studio task, feeds directly into Assignment 4's process dossier and the Week 12 portfolio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review rubric for publication-readiness submissions in this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synthesis slide connecting Week 11 to Weeks 6, 8, 10 and 12, per the course's actual module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Bridges directly into Week 12's module brief per src/data/slop1512.ts.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a2e24cfe642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687c3943141de" /><Relationship Type="http://schemas.openxmlformats.org/officeDocument/2006/relationships/slideLayout" Target="/ppt/slideLayouts/slideLayout1.xml" Id="R72e9ccfcd424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e9ccfcd424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2473505454d19" /><Relationship Type="http://schemas.openxmlformats.org/officeDocument/2006/relationships/image" Target="/ppt/media/image.jpeg" Id="Rdaab5b7ce3514709" /><Relationship Type="http://schemas.openxmlformats.org/officeDocument/2006/relationships/notesSlide" Target="/ppt/notesSlides/notesSlide1.xml" Id="R75bc6692aa5a49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22026d7ec460a" /><Relationship Type="http://schemas.openxmlformats.org/officeDocument/2006/relationships/notesSlide" Target="/ppt/notesSlides/notesSlide2.xml" Id="Rfadb90450864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4233d25794ce8" /><Relationship Type="http://schemas.openxmlformats.org/officeDocument/2006/relationships/notesSlide" Target="/ppt/notesSlides/notesSlide3.xml" Id="R66c42c337dbf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e0b7e23c34740" /><Relationship Type="http://schemas.openxmlformats.org/officeDocument/2006/relationships/notesSlide" Target="/ppt/notesSlides/notesSlide4.xml" Id="R4e22a516c20c49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351c58a744965" /><Relationship Type="http://schemas.openxmlformats.org/officeDocument/2006/relationships/notesSlide" Target="/ppt/notesSlides/notesSlide5.xml" Id="R690cec02863746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3e853912f46c2" /><Relationship Type="http://schemas.openxmlformats.org/officeDocument/2006/relationships/notesSlide" Target="/ppt/notesSlides/notesSlide6.xml" Id="R3e365d2163d241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5fb9cbf2a443d" /><Relationship Type="http://schemas.openxmlformats.org/officeDocument/2006/relationships/image" Target="/ppt/media/image2.jpeg" Id="Rff720a8d4fdc407a" /><Relationship Type="http://schemas.openxmlformats.org/officeDocument/2006/relationships/notesSlide" Target="/ppt/notesSlides/notesSlide7.xml" Id="R08a3d87ef719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4876d5efe4ef2" /><Relationship Type="http://schemas.openxmlformats.org/officeDocument/2006/relationships/notesSlide" Target="/ppt/notesSlides/notesSlide8.xml" Id="R55482aa325be40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6a25482ce4580" /><Relationship Type="http://schemas.openxmlformats.org/officeDocument/2006/relationships/notesSlide" Target="/ppt/notesSlides/notesSlide9.xml" Id="R72c023a04149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febb85b55462f" /><Relationship Type="http://schemas.openxmlformats.org/officeDocument/2006/relationships/notesSlide" Target="/ppt/notesSlides/notesSlide10.xml" Id="Rd2fe3c13d47f45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fbde72598472a" /><Relationship Type="http://schemas.openxmlformats.org/officeDocument/2006/relationships/notesSlide" Target="/ppt/notesSlides/notesSlide11.xml" Id="Rc03767b6958d4a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ea62457b44e46" /><Relationship Type="http://schemas.openxmlformats.org/officeDocument/2006/relationships/notesSlide" Target="/ppt/notesSlides/notesSlide12.xml" Id="Redcfe20de3a042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d3a7a3b454d9b" /><Relationship Type="http://schemas.openxmlformats.org/officeDocument/2006/relationships/notesSlide" Target="/ppt/notesSlides/notesSlide13.xml" Id="R771546f0a64c4f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0fb93fba042b5" /><Relationship Type="http://schemas.openxmlformats.org/officeDocument/2006/relationships/image" Target="/ppt/media/image3.jpeg" Id="R359424e651b34f06" /><Relationship Type="http://schemas.openxmlformats.org/officeDocument/2006/relationships/notesSlide" Target="/ppt/notesSlides/notesSlide14.xml" Id="R574245a09ecf41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bfa8e0f764007" /><Relationship Type="http://schemas.openxmlformats.org/officeDocument/2006/relationships/notesSlide" Target="/ppt/notesSlides/notesSlide15.xml" Id="Re443e137c16b44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113fd79f943ac" /><Relationship Type="http://schemas.openxmlformats.org/officeDocument/2006/relationships/image" Target="/ppt/media/image4.jpeg" Id="R32e16e56561a47d0" /><Relationship Type="http://schemas.openxmlformats.org/officeDocument/2006/relationships/notesSlide" Target="/ppt/notesSlides/notesSlide16.xml" Id="Rf1d2994684f645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ddce064624750" /><Relationship Type="http://schemas.openxmlformats.org/officeDocument/2006/relationships/notesSlide" Target="/ppt/notesSlides/notesSlide17.xml" Id="R9390ebe6077849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dd75d60f84e1d" /><Relationship Type="http://schemas.openxmlformats.org/officeDocument/2006/relationships/image" Target="/ppt/media/image5.jpeg" Id="R8cd1a243c1b74659" /><Relationship Type="http://schemas.openxmlformats.org/officeDocument/2006/relationships/notesSlide" Target="/ppt/notesSlides/notesSlide18.xml" Id="R6b32dbaeb40140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02a46a30a4c85" /><Relationship Type="http://schemas.openxmlformats.org/officeDocument/2006/relationships/notesSlide" Target="/ppt/notesSlides/notesSlide19.xml" Id="R40ded1ce880c41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68801d0054824" /><Relationship Type="http://schemas.openxmlformats.org/officeDocument/2006/relationships/image" Target="/ppt/media/image6.jpeg" Id="R204a460bf1ea4f68" /><Relationship Type="http://schemas.openxmlformats.org/officeDocument/2006/relationships/notesSlide" Target="/ppt/notesSlides/notesSlide20.xml" Id="R7ef8e563942040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017f10dfe4d66" /><Relationship Type="http://schemas.openxmlformats.org/officeDocument/2006/relationships/image" Target="/ppt/media/image7.jpeg" Id="R43bc55c4da93498a" /><Relationship Type="http://schemas.openxmlformats.org/officeDocument/2006/relationships/notesSlide" Target="/ppt/notesSlides/notesSlide21.xml" Id="R5bf3f694a81f4a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d97677f464ee6" /><Relationship Type="http://schemas.openxmlformats.org/officeDocument/2006/relationships/image" Target="/ppt/media/image8.jpeg" Id="Rc142f981831246e2" /><Relationship Type="http://schemas.openxmlformats.org/officeDocument/2006/relationships/notesSlide" Target="/ppt/notesSlides/notesSlide22.xml" Id="R98b1df63d72741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702cf139a47c6" /><Relationship Type="http://schemas.openxmlformats.org/officeDocument/2006/relationships/image" Target="/ppt/media/image9.jpeg" Id="R210e439ca1684488" /><Relationship Type="http://schemas.openxmlformats.org/officeDocument/2006/relationships/notesSlide" Target="/ppt/notesSlides/notesSlide23.xml" Id="R07d76d93c1024a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454f6d47547b1" /><Relationship Type="http://schemas.openxmlformats.org/officeDocument/2006/relationships/image" Target="/ppt/media/image10.jpeg" Id="Rfbd8824899324c09" /><Relationship Type="http://schemas.openxmlformats.org/officeDocument/2006/relationships/notesSlide" Target="/ppt/notesSlides/notesSlide24.xml" Id="R33c927190ff349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74d2c9e9b48d9" /><Relationship Type="http://schemas.openxmlformats.org/officeDocument/2006/relationships/image" Target="/ppt/media/image11.jpeg" Id="R698d5abed5f04c00" /><Relationship Type="http://schemas.openxmlformats.org/officeDocument/2006/relationships/notesSlide" Target="/ppt/notesSlides/notesSlide25.xml" Id="R83e593f546c9440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1c5a69d9d4fab" /><Relationship Type="http://schemas.openxmlformats.org/officeDocument/2006/relationships/image" Target="/ppt/media/image12.jpeg" Id="Ra01001ca33704886" /><Relationship Type="http://schemas.openxmlformats.org/officeDocument/2006/relationships/notesSlide" Target="/ppt/notesSlides/notesSlide26.xml" Id="R6359009ff88042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550a9e8724afb" /><Relationship Type="http://schemas.openxmlformats.org/officeDocument/2006/relationships/notesSlide" Target="/ppt/notesSlides/notesSlide27.xml" Id="R004cf2e13df44a4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27f7b7cd34c0e" /><Relationship Type="http://schemas.openxmlformats.org/officeDocument/2006/relationships/notesSlide" Target="/ppt/notesSlides/notesSlide28.xml" Id="Reaf6aa8a234a431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a258e103e42fb" /><Relationship Type="http://schemas.openxmlformats.org/officeDocument/2006/relationships/notesSlide" Target="/ppt/notesSlides/notesSlide29.xml" Id="R10d3ca7794eb4ba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39d7b86744066" /><Relationship Type="http://schemas.openxmlformats.org/officeDocument/2006/relationships/notesSlide" Target="/ppt/notesSlides/notesSlide30.xml" Id="R346ad57b92904a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b5b7ce3514709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FD424-DAF2-4114-A37D-81EEF80B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1564E-B494-4D1F-A61F-F15393A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1BCDA-57E3-4CB0-B314-38E1DB16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D319-9501-4E65-A1AA-0252967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 /  WEEK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14D55-241F-4D67-99F9-026EB6D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7150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Publication and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1E0DD-96B4-4323-AC53-E467E24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5524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 assets, metadata, source attribution and loading decisions before publishing a preview.</a:t>
            </a:r>
          </a:p>
        </p:txBody>
      </p:sp>
    </p:spTree>
    <p:extLst>
      <p:ext uri="{BB962C8B-B14F-4D97-AF65-F5344CB8AC3E}">
        <p14:creationId xmlns:p14="http://schemas.microsoft.com/office/powerpoint/2010/main" val="1759602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0DB5B-48AB-4820-B4FF-70572CC2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1CDAE-9638-4106-9B06-8018369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F2513-2278-49AB-9C4B-788683C0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FB9C1-079B-4A3A-B3FB-F6D7BFBB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B024B-20E8-4168-A8A1-0BD8953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lecture you can audit a page and justify that it is ready to publish.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51F4F-9EA5-415C-BF8F-C5F54AD4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822D6-9727-4BDE-9155-2613707A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FCF44-47C6-4B6F-8F42-558825AF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C3740-D882-40C9-9594-0ED5ABBB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F5777-716E-4B70-9B5F-7F411B3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7BF25-4F43-49CD-932F-7E1C574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Inspect every asset a page ships — images, fonts, scripts — and identify what is unoptimised.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A0E5-001F-4D43-AC80-CECD5B5A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16681-4776-4E91-9CC1-BD62DAAE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CDE57-57B1-462D-9705-ECCBF53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194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Describe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98F9C-EE9E-4139-B0F3-B60E4784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Write correct metadata, Open Graph tags and source attribution so the page describes itself accurately.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833A2-BD6E-4C46-B835-D3849B7C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D440A-AC27-4D81-946E-3E40F26C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D933E-D654-47C0-8095-6CF74B7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0E2D3-1092-4225-8559-3F063293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Core Web Vitals and a Lighthouse report, and act on what they say before publishing.</a:t>
            </a:r>
          </a:p>
        </p:txBody>
      </p:sp>
    </p:spTree>
    <p:extLst>
      <p:ext uri="{BB962C8B-B14F-4D97-AF65-F5344CB8AC3E}">
        <p14:creationId xmlns:p14="http://schemas.microsoft.com/office/powerpoint/2010/main" val="1033199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898F0-F47A-4437-A501-1FAB400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6F64A-C959-4759-AF94-3397915E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D5B5A-EE4C-47E0-88D3-0BEE9F66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316D4-E339-47D3-BE65-19A5563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“Done” is not the same as “ready to publish”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4D8D9-E43B-41EC-ABD3-340563C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page can render correctly on your machine and still fail its first real visitors.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E32C7-A1B3-4F49-8871-946AA03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F1246-156A-4B31-81C1-133E1577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AE8AE-3A33-4DEB-8060-203DA12F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Weeks 1–10 built structure, style, interaction, accessibility and tested revisions. This week adds the final gate: does the page perform, describe itself correctly, and credit its sources once it leaves your laptop?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0A583-965E-462E-98BF-448BFB1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0E2DA-5126-4371-A3CC-8B77BC62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DC0EF-6AAF-44DE-9EF5-DB961007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“done”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2D5D7-75AD-4AAF-8FAD-A1D1D04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905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Content is correct, layout works, links go where expected — all judged on your own fast machine and fast connection.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2C178-0B52-4353-B2EF-D15E655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3C512-4612-4F39-8353-65858751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E6DC9-09B4-4A97-9A05-712C67CD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814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“ready to publish” adds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35CAD-4344-48FE-976B-360646C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24350"/>
            <a:ext cx="4905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 sizes, metadata, attribution and load performance on a real network and a real device — conditions you cannot see from your editor.</a:t>
            </a:r>
          </a:p>
        </p:txBody>
      </p:sp>
    </p:spTree>
    <p:extLst>
      <p:ext uri="{BB962C8B-B14F-4D97-AF65-F5344CB8AC3E}">
        <p14:creationId xmlns:p14="http://schemas.microsoft.com/office/powerpoint/2010/main" val="1928045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26A26-AA66-4FBF-A484-609CC05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EE6A-4EA6-45A3-A48E-F30CC616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0A08-D40E-44DA-8BD4-FE246D3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367AE-86A1-41D8-850C-7ADA950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real asset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58E2B-4BBB-4E2E-ACC4-A1A39750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image, font, script and embed a page loads has a cost — list them before you 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FCDBD-1ACA-4D08-8106-5B8D044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E2BDC-DEDD-48ED-9DCB-4DE5263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2806C-465E-4C45-964D-3C5489C9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0E2DE-5288-4580-97E3-8EB40D17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8286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Often the largest share of page weight — check every image is sized and compressed for its actual display size.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D42EC-95E8-4410-9732-A82CC62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9F579-6D16-447C-9F9D-20C26D2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Fonts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EDA57-5F1E-46E4-A7A3-F508730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8286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font file is a network request that can delay visible text — audit how many weights and styles are actually used.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7DF6E-00E1-46E5-8631-AE73084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EC2C6-E80A-4731-A85D-8C135F31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Scripts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86C0D-816B-44B2-9A64-C3D1C25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8286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Third-party embeds (analytics, widgets, chat) each add their own request chain and can block rendering.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BBC4B-CCAA-42E8-9885-9EE292E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5DCF9-8964-4405-A759-38385C6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External embeds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C00C1-6FCE-452E-867A-515FA721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00650"/>
            <a:ext cx="8286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Maps, videos and social embeds often load their own heavy sub-resources you did not directly write.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03F52-EB18-4D89-8AD5-42F6846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0671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83F0F-2FB0-45F7-8622-69B6E88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BEDAD-26B0-4CE2-892D-4CC424E9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6E6C5-6DE8-4DA9-A2CE-D06636DE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F46B3-8B6A-4725-863D-36A9FEDF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 formats: choosing the right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9793A-8DFE-48AC-96B8-0870C5F2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JPEG, PNG, WebP and AVIF trade off compression, transparency and browser support differently.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B38C1-6125-4EE0-84D7-86D7111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8881-1711-4115-B7B6-3BAB871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D0BE2-AC2F-475C-98F9-0E49E90E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619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C7E90-F838-4152-8083-D08627FC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D5C0E-E007-4A35-BDB8-37C610B2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238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JPEG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AE5AD-8B56-46AF-8739-9439C6D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238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Best for photographs: strong lossy compression, no transparency, universal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36BED-E517-49AA-B8CD-A15BD31C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57450"/>
            <a:ext cx="2619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9B8DB-D836-488D-AFAB-56EECF30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25D0E-7ED4-4E03-B67B-EAFAAA4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19400"/>
            <a:ext cx="2238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633F1-0D16-4CAE-BCFB-438CBEF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62300"/>
            <a:ext cx="2238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Best for graphics needing transparency or flat colour — much larger files for photographic content.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A685B-D5E8-4221-BF22-660E089C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619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15D24-2443-4183-8618-6200703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55A67-3239-4861-8E5A-0EC75A50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2238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WebP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DC550-6A29-4077-9414-3AE0056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2238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Smaller than JPEG/PNG at similar quality, supports transparency, supported by all modern browsers.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D6886-5ED9-4802-B2EB-67977D7B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57450"/>
            <a:ext cx="2619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37873-4657-4C5E-A4DF-409EB36E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369F9-7275-4244-8DA0-6B926CFC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19400"/>
            <a:ext cx="2238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AVIF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B1BD1-BB25-4DBE-904E-BD1E92D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62300"/>
            <a:ext cx="2238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Often the smallest of all at equal quality, but slower to encode and still gaining full tooling support.</a:t>
            </a:r>
          </a:p>
        </p:txBody>
      </p:sp>
    </p:spTree>
    <p:extLst>
      <p:ext uri="{BB962C8B-B14F-4D97-AF65-F5344CB8AC3E}">
        <p14:creationId xmlns:p14="http://schemas.microsoft.com/office/powerpoint/2010/main" val="2050629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66DD1-5D4A-48EC-A59A-2B4B62A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52257-172B-4001-B9EC-EDB57BA6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D7EE5-204B-453A-AE67-3350902B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40571-7A00-44A0-861B-F6266E4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Responsive images, revisited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B56D-10CA-4827-A404-3EEBC69F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6 introduced srcset/sizes — this week, verify it is actually wired correctly before publishing.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00150-09F2-45CE-9C3D-3C1A3A5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6AC67-1F5F-49C1-8DD6-75D7B487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63F6A-8EAD-40F2-AAE8-F823598B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5385A-F7D4-40E2-A03B-4B387CEA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466850"/>
          </a:xfrm>
          <a:prstGeom xmlns:a="http://schemas.openxmlformats.org/drawingml/2006/main" prst="roundRect">
            <a:avLst>
              <a:gd name="adj" fmla="val 779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&lt;img src="hero-800.jpg"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srcset="hero-400.jpg 400w, hero-800.jpg 800w, hero-1600.jpg 1600w"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sizes="(min-width: 48rem) 60vw, 100vw"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width="800" height="450"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alt="Team reviewing a printed page layout"&gt;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6602E-39E8-41A9-9EE6-0CE0ED0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0477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publish-ready image also states width and height attributes — the browser reserves the correct space before the file even downloads, preventing layout shift.</a:t>
            </a:r>
          </a:p>
        </p:txBody>
      </p:sp>
    </p:spTree>
    <p:extLst>
      <p:ext uri="{BB962C8B-B14F-4D97-AF65-F5344CB8AC3E}">
        <p14:creationId xmlns:p14="http://schemas.microsoft.com/office/powerpoint/2010/main" val="836031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A2123-4F01-461A-8F81-4DA569DB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8FD05-DD81-4483-A143-E81463D6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8A2E4-5C17-4E87-A059-84C988B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23D9E-0EB4-4688-816C-5E8E60D5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Compressing images without visible quality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23452-D255-433B-B300-11309B0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correctly-sized image can still be needlessly heavy if it isn't compressed.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A9759-50EE-4B5F-A764-5BC1CB97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DC6BC-14B2-4503-8A9D-E620733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20a8d4fdc407a"/>
          <a:srcRect xmlns:a="http://schemas.openxmlformats.org/drawingml/2006/main" l="13421" t="0" r="13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9531B-9246-4832-8F28-1F29280E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Re-encoding a photo at roughly 70–80% JPEG quality is usually visually indistinguishable from the original, but can cut file size by half or more.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05EA6-2B4C-4F06-BDCD-FD6BCD5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CC6D1-47A8-4280-B0B3-BE1689A8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542AE-BDF3-471C-9A9A-020AE145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Practical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67103-957C-4FFB-946E-0BED7B7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Compress before you publish, not after a complaint — check the largest 3–4 images on a page individually.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DA97B-D896-48B3-ABBC-80927126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7D6BB-4955-4423-B38C-BCC659C9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BC127-FAB8-41A5-A709-4A5CDA43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mistake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CF950-511B-46B1-A997-31A741B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Uploading a camera-original file (often several megabytes) directly, with no resizing or re-encoding step at all.</a:t>
            </a:r>
          </a:p>
        </p:txBody>
      </p:sp>
    </p:spTree>
    <p:extLst>
      <p:ext uri="{BB962C8B-B14F-4D97-AF65-F5344CB8AC3E}">
        <p14:creationId xmlns:p14="http://schemas.microsoft.com/office/powerpoint/2010/main" val="365224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F3C8A-6013-418E-99A1-52A3E91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1189F-099B-4C9F-BE72-E75E59E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1C052-C14C-47AF-8D35-59EA129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FD0FD-6A2E-4870-A1AD-E5AE83BD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Loading strategy: eager, lazy and 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B45BF-5A64-4376-ADBD-9BB42E1E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Not every image needs to load immediately — but the first one usually does.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48080-34B6-4EA2-82B4-77820B1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7D4B2-DE30-4DDC-9E3B-3E8815CB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B7BE3-9001-4EFC-B9C1-7C041DFE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5B7F0-5E4A-4E83-9700-AA85B30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5621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Hero image: load immediately, it's the first thing seen --&gt;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&lt;img src="hero.jpg" fetchpriority="high" alt="..."&gt;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Below-the-fold image: defer until near viewport --&gt;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&lt;img src="gallery-3.jpg" loading="lazy" alt="..."&gt;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70938-F804-4E31-BD7B-7D1873C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477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loading="lazy" on off-screen images and fetchpriority="high" on the hero image both target the same goal: get the content the visitor sees first onto the screen first.</a:t>
            </a:r>
          </a:p>
        </p:txBody>
      </p:sp>
    </p:spTree>
    <p:extLst>
      <p:ext uri="{BB962C8B-B14F-4D97-AF65-F5344CB8AC3E}">
        <p14:creationId xmlns:p14="http://schemas.microsoft.com/office/powerpoint/2010/main" val="215596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65293-0449-45BA-84FA-7BCCCDB3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08FD3-EB3E-4F40-9A84-CA73FB2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9BC3F-CA51-49F1-9396-38C8D62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0140C-89D6-47BE-B768-FBC17DC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Web fonts: display, subsetting, preloading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FF08F-AA89-4878-962C-0001836D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font file that blocks text from appearing is one of the most common publish-day surprises.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AE2E6-958C-46C5-94B2-A365F8D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A6060-471C-43B9-BE9F-AABCDA0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244A4-0736-4E58-A5A4-4DC3712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B7B66-5FEC-4FFC-9952-B6944BBA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&lt;link rel="preload" href="/fonts/body.woff2"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as="font" type="font/woff2" crossorigin&gt;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@font-face {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font-family: "Body";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src: url("/fonts/body.woff2") format("woff2");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font-display: swap;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2B9E0-2787-4629-A9A9-C494145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477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font-display: swap shows fallback text immediately and swaps in the web font once it loads, instead of leaving text invisible while the font downloads.</a:t>
            </a:r>
          </a:p>
        </p:txBody>
      </p:sp>
    </p:spTree>
    <p:extLst>
      <p:ext uri="{BB962C8B-B14F-4D97-AF65-F5344CB8AC3E}">
        <p14:creationId xmlns:p14="http://schemas.microsoft.com/office/powerpoint/2010/main" val="2128753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5DF4B-AB68-44BD-8D66-880820F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BBF46-3ADA-4BEF-A8EE-BBC117A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24F55-C1CF-453D-802C-3731AEF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A16F1-F700-4F29-8D14-578D25D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Minification and removing dead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CED11-5973-45D1-BD92-604AB2F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Whitespace, comments and unused CSS/JS all cost bytes on every single page 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6D92B-A50B-4542-930D-5B8D15D0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948D7-3636-448E-BBA7-588A769F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09F9D-B625-45E2-A3A6-E74B5CA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A162A-4D1E-4354-800D-52B6FE6C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BB23F-2412-44C5-81E8-03495DBB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B5440-1D2D-4EA6-8931-9E1FF564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05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Build tools strip whitespace, comments and shorten variable names in CSS/JS — no behaviour change, smaller 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3E9D-C808-4536-93E6-1CF4B8C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DCB08-0B18-4AC0-AB17-4A6B7327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C88E0-5F47-489B-9903-3707913E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Dead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8D6E0-E679-44ED-91E4-30105236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62300"/>
            <a:ext cx="4905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Unused CSS rules and unused JavaScript functions still cost download and parse time even if they never run.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FD48D-74D9-46DF-91FB-4CDA134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Astro's build step already minifies output automatically — the audit here is checking you have not hand-pasted a whole unused library or framework into a page for one small feature.</a:t>
            </a:r>
          </a:p>
        </p:txBody>
      </p:sp>
    </p:spTree>
    <p:extLst>
      <p:ext uri="{BB962C8B-B14F-4D97-AF65-F5344CB8AC3E}">
        <p14:creationId xmlns:p14="http://schemas.microsoft.com/office/powerpoint/2010/main" val="16079214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364B0-5886-4EEE-AD4C-2517C73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691A2-B231-4492-B832-BE803532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2ED30-DF61-4EA1-AC3E-2C9671F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386C2-412D-4642-ACFE-B6DA6D3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Page metadata: title and 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7C37C-4E88-4E58-AAF0-1FA0AB33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two lines a search result or shared link actually shows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0329-ED30-491B-A561-F39AC04E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50B0C-1642-49EA-B37D-658B03AE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4282F-3C92-4084-A4AA-41A25FD4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96098-B3DC-41F2-98D2-D3CD1684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&lt;title&gt;Portfolio site — Jordan Lee, web design&lt;/title&gt;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&lt;meta name="description"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content="A responsive, accessible portfolio built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          for SLOP1512, showcasing three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          interactive case studies."&gt;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CD40C-179E-47E0-A3A9-DB11E77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page needs its own distinct title and description — a template placeholder like “Untitled” or a copy-pasted description on every page is a genuine publish-readiness failure.</a:t>
            </a:r>
          </a:p>
        </p:txBody>
      </p:sp>
    </p:spTree>
    <p:extLst>
      <p:ext uri="{BB962C8B-B14F-4D97-AF65-F5344CB8AC3E}">
        <p14:creationId xmlns:p14="http://schemas.microsoft.com/office/powerpoint/2010/main" val="15248453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C8C87-F2E3-412E-9A42-4CA4C1E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68ECF-A26F-4588-AC37-D371001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844BC-A19D-480F-B7F7-F88CFDCC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F6AA-3D57-48B0-947F-13CDF2EA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Open Graph tags: what a shared link shows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381AF-2222-4863-BE3E-A88C55D6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When a URL is pasted into chat or social media, these tags control the preview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1BFB9-BA99-4EEC-9303-59B6E56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673E3-CC44-4002-95DE-486CFDC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E498B-3268-4B6D-89E7-314B048E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0E6AC-8CA1-4B14-B2DD-1D62EA62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&lt;meta property="og:title" content="Portfolio site — Jordan Lee"&gt;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&lt;meta property="og:description" content="A responsive, accessible portfolio."&gt;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&lt;meta property="og:image" content="https://example.edu/og-cover.jpg"&gt;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&lt;meta property="og:url" content="https://example.edu/"&gt;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6F04D-9959-4AE1-A406-4705C042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Without an og:image, most platforms show a blank or generic preview card — a working link that still looks broken the moment someone shares it.</a:t>
            </a:r>
          </a:p>
        </p:txBody>
      </p:sp>
    </p:spTree>
    <p:extLst>
      <p:ext uri="{BB962C8B-B14F-4D97-AF65-F5344CB8AC3E}">
        <p14:creationId xmlns:p14="http://schemas.microsoft.com/office/powerpoint/2010/main" val="762943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1BCD4-9D4F-44C8-9D26-62A22F0A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4E2E-BC31-4FEF-AEFF-F7B89808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A815A-0D34-48CC-8104-4FFCC264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C82FB-08F7-46A9-B5D4-D818A0A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Favicons and touch icons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0EEEC-AB12-410B-85DE-E4AF801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small, unglamorous checklist that is easy to forget entirely.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3DA0E-15E0-4A8E-9A95-4080D444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8F78A-071B-4A6C-A3B2-11D100E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2CFE-48B7-410B-857C-9FC16A9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4000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C7831A"/>
                </a:solidFill>
                <a:latin typeface="Courier New"/>
                <a:ea typeface="Courier New"/>
                <a:cs typeface="Courier New"/>
              </a:rPr>
              <a:t>favicon.ico / favicon.svg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CA476-1DC9-4C6D-AA6D-8AF65A65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647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shown in the browser tab and bookmarks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E01F0-F5F3-420E-BCE1-4346B417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049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B810F-6917-4367-9D52-59B67E92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4000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C7831A"/>
                </a:solidFill>
                <a:latin typeface="Courier New"/>
                <a:ea typeface="Courier New"/>
                <a:cs typeface="Courier New"/>
              </a:rPr>
              <a:t>apple-touch-icon.png (180×180)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B5C19-D603-49B7-9535-46735EE2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647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used when a visitor adds the page to an iOS home 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68434-327F-44C4-AB64-D605369E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049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C69C3-48B3-49EA-AB14-E37B5647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4000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C7831A"/>
                </a:solidFill>
                <a:latin typeface="Courier New"/>
                <a:ea typeface="Courier New"/>
                <a:cs typeface="Courier New"/>
              </a:rPr>
              <a:t>site.webmanifest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B0613-8D07-40B6-9E7B-507F20F1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647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names and icons the page if added to an Android home 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D8915-99B4-4A8C-8932-7DBE0A7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049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6324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8F99D-686A-4BAC-BA3F-2773FB6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958E0-2EE3-4042-AB70-C4834D50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803F2-55FF-4DF3-91C9-552F7EA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5EA97-24BC-44AA-BBC7-7A5236E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source attribution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BFBA4-8347-4B95-80A2-E1C3D7FD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photograph, icon or quote used in this course's decks and sites is someone else's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75843-055B-4C58-B530-1DFE517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F521B-ED92-4293-AF46-A1E095CD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424e651b34f06"/>
          <a:srcRect xmlns:a="http://schemas.openxmlformats.org/drawingml/2006/main" l="9666" t="0" r="96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E44CC-91DC-42CE-8CAA-B6773F72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Creative Commons or public-domain licence permits reuse, but almost all of them still require crediting the creator — using an image without attribution can violate the very licence that made it usable.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6DC37-7A12-4045-B873-8306F3C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0C617-2DD7-4881-853C-872067D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DAD1C-59A4-4974-97F1-2A997134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Minimum credit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AE7C0-6E54-4C21-B2F5-D4706EDD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Creator name, licence, and a link back to the source — recorded somewhere a reader can actually find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2A6E3-752D-420B-B4C5-D62B8FF0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DABEA-66B3-4D09-8274-AA730A8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6B33E-0357-46F9-9EA4-70D2052D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Academic parallel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4B70B-E503-4740-A7B8-EF764787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is the same principle as citing a source in an essay: reuse is fine, silent reuse is not.</a:t>
            </a:r>
          </a:p>
        </p:txBody>
      </p:sp>
    </p:spTree>
    <p:extLst>
      <p:ext uri="{BB962C8B-B14F-4D97-AF65-F5344CB8AC3E}">
        <p14:creationId xmlns:p14="http://schemas.microsoft.com/office/powerpoint/2010/main" val="15328797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54D8D-ACBC-42AB-BF90-483C9E4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1718-5233-4170-8694-DC4EA7C2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7F14-B443-417E-A8CA-5F0C432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85AA5-D9D8-4B47-B025-C670DD0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working attribution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1E7B9-E339-4A45-9A54-1E62B181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Record it once, in a predictable place, at the time you download the asset — not from memory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79DE-7A1E-4987-A4EF-2242CF57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E8B88-7E69-4752-BF0F-5B9E5460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B6DC7-FDAC-4103-8F04-5C33A089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05BBC-2349-4704-AA10-20A64641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210300" cy="2228850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"file": "hero.jpg",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"title": "Team reviewing a printed layout",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"creator": "Jane Doe",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"license": "CC BY 2.0",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"source": "https://example.com/photos/12345",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"accessed": "2026-09-13"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EE1F0-CB1D-453F-ABA8-187752C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6766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ED69A-E902-420F-B4E1-15409478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C609F-C0A9-4EE6-B62F-0F6EE3EB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2956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this shape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628DD-3E27-4D5B-8149-FFCBFFFE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295650" cy="1676400"/>
          </a:xfrm>
          <a:prstGeom xmlns:a="http://schemas.openxmlformats.org/drawingml/2006/main" prst="roundRect">
            <a:avLst>
              <a:gd name="adj" fmla="val 6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field needed to satisfy a CC BY licence's attribution requirement is present, and the file lives alongside the assets it describes so it cannot go missing.</a:t>
            </a:r>
          </a:p>
        </p:txBody>
      </p:sp>
    </p:spTree>
    <p:extLst>
      <p:ext uri="{BB962C8B-B14F-4D97-AF65-F5344CB8AC3E}">
        <p14:creationId xmlns:p14="http://schemas.microsoft.com/office/powerpoint/2010/main" val="534187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CF891-3CB0-40AB-BDF6-A904F99A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8A4BE-E157-4FE8-A5A6-EA07074B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29F57-1DAA-4202-B42A-0E840AEE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6FA5D-60C5-41DF-BF1A-024427A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a Creative Commons licence correctly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8282A-BF6B-4258-AD23-41E4EF0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Not all CC licences permit the same reuse — read the actual letters, not just the icon.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74C13-0CFD-4A14-82E4-BE6653EC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C2156-D33D-47BA-9675-9085DBD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16e56561a47d0"/>
          <a:srcRect xmlns:a="http://schemas.openxmlformats.org/drawingml/2006/main" l="0" t="15861" r="0" b="15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81B00-5682-4634-BEBE-7D482325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CC0 / Public 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54098-3F5F-4EF2-A9EE-246697A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6286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no attribution legally required (crediting anyway is still good practice)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2AE24-0B99-4CAA-9446-CCF0DDE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CC 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FE4C8-156F-496A-8B0C-FED48E7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6286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reuse and even modify freely, but attribution is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928DB-368F-4F07-8016-5F2EB91E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CC BY-SA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A367F-E1B0-45B0-8D31-E384427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6286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attribution required, and anything you build with it must share alike under the same licence</a:t>
            </a:r>
          </a:p>
        </p:txBody>
      </p:sp>
    </p:spTree>
    <p:extLst>
      <p:ext uri="{BB962C8B-B14F-4D97-AF65-F5344CB8AC3E}">
        <p14:creationId xmlns:p14="http://schemas.microsoft.com/office/powerpoint/2010/main" val="569628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52A55-3823-4864-AB72-375DDE07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7351F-8CAA-4FA6-895F-64F5EC91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F10C5-5DF2-4E92-89A3-88EB5BDA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B7FF5-3FAC-4D01-8CE6-BF250FB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Core Web Vitals: the three metrics that matter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3955B-3222-4ACE-9C18-EFBF4AB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Google's real-user metrics for loading, responsiveness and visual stability.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FBBDA-D37C-4EA9-ACE7-2667DBDB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2226B-81F3-49D2-A1C7-F239C41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B849B-B599-4486-8709-26BF89A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4671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8BF78-F269-4C9A-A80A-626D2EF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423C7-2CDB-4744-B516-48A4B42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3086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22998-C353-4643-89D5-5C385569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086100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Largest Contentful Paint: how long until the biggest visible element (often a hero image) finishes rendering. Target: under 2.5s.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95C99-9B28-4300-AB2E-8750AD57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4671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7CED1-5598-4AAE-B269-F7B4852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F9112-4870-4F0E-A9BD-4586B189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3086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68D4D-408C-48CD-87FC-2F492D98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3086100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Interaction to Next Paint: how quickly the page responds to a click, tap or keypress. Target: under 200ms.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2794F-CD69-4CFF-A2C5-C35CDDC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34671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5B4F2-CF50-46FE-ACE1-0D84654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C71B5-90CF-4E56-9428-DAE2417E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086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1292B-0E56-449A-80F7-4B662D5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3086100" cy="2152650"/>
          </a:xfrm>
          <a:prstGeom xmlns:a="http://schemas.openxmlformats.org/drawingml/2006/main" prst="roundRect">
            <a:avLst>
              <a:gd name="adj" fmla="val 53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Cumulative Layout Shift: how much visible content jumps around as the page loads. Target: under 0.1.</a:t>
            </a:r>
          </a:p>
        </p:txBody>
      </p:sp>
    </p:spTree>
    <p:extLst>
      <p:ext uri="{BB962C8B-B14F-4D97-AF65-F5344CB8AC3E}">
        <p14:creationId xmlns:p14="http://schemas.microsoft.com/office/powerpoint/2010/main" val="1155027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0B3B2-74D4-434A-B26C-EE3B5DE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71CAC-54ED-4DF8-A7B7-87F8974C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A826C-0E3B-4B32-902D-393329C8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00085-2C32-4376-BB07-006920FD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Measuring LCP with real tooling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34DBB-9BEC-4722-8703-15436BF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Do not guess — read what the browser itself 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A0180-263A-4AF6-B539-50446241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85679-A42D-40EA-9949-602994F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1a243c1b74659"/>
          <a:srcRect xmlns:a="http://schemas.openxmlformats.org/drawingml/2006/main" l="15533" t="0" r="15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7A0B9-D2EA-4F06-9E05-DE4C3BE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Chrome DevTools' Performance panel and the Lighthouse panel both report a measured LCP time and identify exactly which element on the page was counted as the largest.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C86D5-3624-4FE1-9BDF-D32F47FA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17719-6CA9-426D-8E30-53C7ACF8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C60D-6F18-4794-844D-6802C0EC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to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4A547-124B-46EE-920E-003A94F6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Is the LCP element the hero image or heading you intended? If it's an unrelated element, something is rendering unexpectedly late.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05EDA-6274-48B6-BA7E-E0E47B19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DD446-C3DA-40EB-8B44-EC8F60ED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F5E09-82DA-4B90-879A-CCD59B61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Field vs lab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CDA0D-8724-495E-B2CF-FD87B171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Lighthouse gives one lab measurement; PageSpeed Insights also reports real-user field data when enough visits exist.</a:t>
            </a:r>
          </a:p>
        </p:txBody>
      </p:sp>
    </p:spTree>
    <p:extLst>
      <p:ext uri="{BB962C8B-B14F-4D97-AF65-F5344CB8AC3E}">
        <p14:creationId xmlns:p14="http://schemas.microsoft.com/office/powerpoint/2010/main" val="12410681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7FF25-0C00-4E28-8E2F-04DBEFD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AC82F-3333-4CD2-A736-F07150BB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96372-680F-4BEB-AA5D-5231CB7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BC2BA-7D0A-407B-BEC3-AF170C0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Preventing layout shift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7A50-6394-43D3-AA96-4FEE2ABC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CLS is almost always caused by content whose final size isn't known until it loads.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0DF31-C4E7-4962-9DAA-A19A7083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B303E-1960-4658-8947-46B8E636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E5D73-F647-4FEA-9062-8680A68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27EF9-3831-480A-B1D1-0B7230FF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5621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img, video, iframe {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aspect-ratio: attr(width) / attr(height);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.ad-slot {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min-height: 250px; /* reserve space before the ad loads */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BA473-7ADE-4325-8F70-82CAB82D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477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Explicit width/height on images (Week 6) and aspect-ratio reservation on embeds are the two most common fixes for a visible page-load jump.</a:t>
            </a:r>
          </a:p>
        </p:txBody>
      </p:sp>
    </p:spTree>
    <p:extLst>
      <p:ext uri="{BB962C8B-B14F-4D97-AF65-F5344CB8AC3E}">
        <p14:creationId xmlns:p14="http://schemas.microsoft.com/office/powerpoint/2010/main" val="19654584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322FF-B0EE-4AB0-AC4E-AB086B72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4126C-ABE2-442C-8DF1-A0A123AB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4B780-F54B-4CBD-9E2C-E400CD70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5E18D-8D32-48BF-817B-FD6953BE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on a throttled connection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DB724-3DAF-4B12-8704-BE1F0752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Your dev machine's wifi is not representative of a real visitor's phone on the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56CB5-686F-401C-BB48-AB4D7BA1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2CBD3-A1EA-4EDB-806A-10ACD81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a460bf1ea4f68"/>
          <a:srcRect xmlns:a="http://schemas.openxmlformats.org/drawingml/2006/main" l="13331" t="0" r="133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8F18E-6C4B-4B47-A5A9-AA17D077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DevTools' network throttling presets (“Slow 4G”, “Fast 3G”) simulate realistic latency and bandwidth, revealing loading problems a fast office connection completely hides.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FD9FB-8D38-48C1-9290-B7B7B076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160D0-A024-4C7F-A0CE-36B38E19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98124-807B-42AD-960D-4697F25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EAC5B-E99F-4207-8D60-3D22CA27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3-second load on your machine can become 12+ seconds simulated on Slow 4G — test the experience that a real visitor gets.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A6C16-CDDA-45F6-9C4C-D1590EA3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491F5-3D42-4C41-87F4-323AC82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D14DF-EA76-47E7-8ACB-0D689238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CPU throttling too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CD28B-3678-4BC8-857D-4402CF7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Pair network throttling with CPU throttling (4–6x slowdown) to approximate an average mobile device, not a developer laptop.</a:t>
            </a:r>
          </a:p>
        </p:txBody>
      </p:sp>
    </p:spTree>
    <p:extLst>
      <p:ext uri="{BB962C8B-B14F-4D97-AF65-F5344CB8AC3E}">
        <p14:creationId xmlns:p14="http://schemas.microsoft.com/office/powerpoint/2010/main" val="3303855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4F2EA-0DAF-4C33-A46F-68D881F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302C6-712F-479C-A6D3-2FA7C7DB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977D4-05E9-4A78-AE6D-3B6BF2F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CB924-DE15-4218-AFA7-CE62A342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files to a live URL: what hosting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A3275-40A7-4E8E-968A-FE3610A2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Publishing is not just “upload the folder” — a host serves, compresses and caches your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66476-8328-43E5-A3B1-21E293C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4936C-E460-4C14-943F-500AE1FA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c55c4da93498a"/>
          <a:srcRect xmlns:a="http://schemas.openxmlformats.org/drawingml/2006/main" l="12455" t="0" r="12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08EA6-595F-4647-AF41-7C678F1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static host (like the one this course's platform deploys to) serves pre-built files directly, applies HTTP compression (gzip/brotli) and sets caching headers so returning visitors re-download less.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81A10-1248-49BA-9710-466B6C4A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F7DD4-657B-4EBD-AADA-BB15D477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755A1-39F9-4844-AB90-631CB85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before publishing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C7936-AAB5-4924-968A-311A6553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Confirm the deployed build actually matches your latest local build — a stale cached deploy is a common last-minute surprise.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3474A-41D1-4594-B523-0CAFB8B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91EC0-25F8-4BF5-A9A3-081E1C02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04739-CC74-4043-8315-9258690F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Cache-Control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19F09-456B-4039-AC78-A6CEA453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Long cache lifetimes for versioned assets (like hashed filenames) and short lifetimes for HTML keep updates visible quickly.</a:t>
            </a:r>
          </a:p>
        </p:txBody>
      </p:sp>
    </p:spTree>
    <p:extLst>
      <p:ext uri="{BB962C8B-B14F-4D97-AF65-F5344CB8AC3E}">
        <p14:creationId xmlns:p14="http://schemas.microsoft.com/office/powerpoint/2010/main" val="13347907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D28C0-4DBB-49FF-A200-8027CB8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822CA-9954-4B1C-9EA4-F2D5220B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C8CE5-2E59-4E33-8B44-84C37963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14096-E5E6-40CD-ADE5-04C6FBC1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CDNs and DNS: how bytes travel to a 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C3DC5-7E6C-4CB6-8348-3AD66C3E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content delivery network puts copies of your files physically closer to each visitor.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8E62B-3CB4-4C91-88ED-B6A493C7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1685A-274E-4992-BDE4-4856C7A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f981831246e2"/>
          <a:srcRect xmlns:a="http://schemas.openxmlformats.org/drawingml/2006/main" l="8808" t="0" r="8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C3441-3852-4F9C-B9C2-C925E333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Instead of every visitor's request travelling to one origin server, a CDN caches your published files at edge locations worldwide, cutting the physical distance data has to travel.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01507-EF4B-4A10-8F9B-C7E0460B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54FE3-3A36-41A7-8ECC-2961329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456E0-7AD8-4AC5-8063-0804271D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this matters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F431D-A0C0-44BC-AEFB-7F1AAA1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visitor far from your host's region can see a much slower LCP purely from network distance — a CDN is a real performance fix, not just an optimisation buzzword.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4E424-45FC-4221-85B4-A05EBFED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BCD47-9AF5-46CD-A0E9-96766B90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BFFD0-5360-4458-954C-E4B5A779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DNS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938B2-70F1-42C7-8AC6-A32B5576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new domain also costs a DNS lookup on first visit; browsers cache this, but it still adds to first-load latency.</a:t>
            </a:r>
          </a:p>
        </p:txBody>
      </p:sp>
    </p:spTree>
    <p:extLst>
      <p:ext uri="{BB962C8B-B14F-4D97-AF65-F5344CB8AC3E}">
        <p14:creationId xmlns:p14="http://schemas.microsoft.com/office/powerpoint/2010/main" val="16307692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3BDF2-9EB3-49FC-9596-0C04586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5CCAD-C706-4070-BC99-8D220BC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17BAF-146E-46DF-BDC7-0B887978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5FA6A-7D9D-4049-88DB-1A518536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a Lighthouse / PageSpeed Insights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45F37-6032-40CC-AC11-45E476C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number is a summary; the audit list underneath is where the real work 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DE405-2887-4D31-8CBF-8116B3A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D3177-34E7-41FA-9A90-058E177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e439ca1684488"/>
          <a:srcRect xmlns:a="http://schemas.openxmlformats.org/drawingml/2006/main" l="8808" t="0" r="8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B1215-C1BB-492D-BB41-FE0C6645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overall performance score (0–100) is useful for tracking trend over time, but the individual audits — “serve images in next-gen formats,” “eliminate render-blocking resources” — are the actionable checklist.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606BF-23CB-4A88-9C9B-6D7E1BFE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6BB47-349E-4DC6-8329-FF6FEFB4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27455-1F14-4654-BD24-75A3504D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Prioritise by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A7E5E-DEA2-46B3-94E3-96ADD48C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Fix audits Lighthouse marks as high-impact on LCP/CLS first; a passed low-impact audit rarely changes the visitor's experience.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AB7BB-75B7-4838-9870-52ECAFBF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391B6-F6AA-475E-A920-0F4FF46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C3FC3-B0F0-4DF2-8102-8BA0D7C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Re-run after every fix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F8E48-90F9-42BA-941C-3A03266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Each fix can shift which audit is now the biggest remaining opportunity — treat this as an iterative loop, not a one-time report.</a:t>
            </a:r>
          </a:p>
        </p:txBody>
      </p:sp>
    </p:spTree>
    <p:extLst>
      <p:ext uri="{BB962C8B-B14F-4D97-AF65-F5344CB8AC3E}">
        <p14:creationId xmlns:p14="http://schemas.microsoft.com/office/powerpoint/2010/main" val="9885558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64BF1-61E1-461C-8A5C-0FA5228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8CF8E-F65C-4E6C-B6B7-C6D3617C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92370-9186-4730-834C-8593C101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01CA1-450E-45EE-9FE2-6CEB7F6F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Case study, before: an unaudited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1559D-96FE-4E8F-B359-9A6E7DA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real composite example — what the page looked like before this week's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CA6BE-5514-4052-86C4-BBE515B8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7EE30-F985-4DBB-B14A-111E6B8D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8824899324c09"/>
          <a:srcRect xmlns:a="http://schemas.openxmlformats.org/drawingml/2006/main" l="13367" t="0" r="13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976FD-9D51-4952-989A-0564DA9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original page shipped four camera-original JPEGs (avg. 3.2MB each), no width/height attributes, no meta description, and a font loaded with no font-display rule.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F0138-9D79-4CEA-8341-74896879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A717E-CA58-4B00-9DE5-4CE54267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A02B4-8CB0-4D44-A8DA-B734F88F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Measured before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A3A85-FCD3-47C2-B984-FF1F2EE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LCP 4.8s on Slow 4G; CLS 0.34 from images popping in without reserved space; generic “Untitled” link preview.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13DBF-511C-42B0-915E-DE1A9F61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B4F53-92D4-4E06-BD3E-4FF45B9F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86E05-E6BE-469C-89AC-D68DC3E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199EA-020D-481F-BC18-1EA408E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 publish-readiness pass had been run at all — every asset was still exactly as first authored.</a:t>
            </a:r>
          </a:p>
        </p:txBody>
      </p:sp>
    </p:spTree>
    <p:extLst>
      <p:ext uri="{BB962C8B-B14F-4D97-AF65-F5344CB8AC3E}">
        <p14:creationId xmlns:p14="http://schemas.microsoft.com/office/powerpoint/2010/main" val="12025705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ECF43-3394-4585-B426-ECC5BF2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A2814-7291-43D7-B14F-C4314AF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CCE60-29DD-4E8A-ACF7-072AF2EA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812C4-7D06-43C7-8072-586450DB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Case study, after: the Week 11 pass applied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AC7FF-8EF6-43FE-8C2E-AE600205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Same content, now measurably ready to publish.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94848-5DC4-42D7-AAF6-14A7905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14863-76B6-4973-919E-3D53A1E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d5abed5f04c00"/>
          <a:srcRect xmlns:a="http://schemas.openxmlformats.org/drawingml/2006/main" l="13367" t="0" r="13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17490-80BA-42DE-A3D3-21F3E39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 resized and compressed to WebP (avg. 180KB), width/height attributes added, a written meta description and og:image added, font-display: swap applied.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626A7-9390-4279-9D07-4F9DD29A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F7FF4-A91C-408E-949B-58DB64B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15A1E-48C4-42D9-AD68-E602738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Measured 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F2D56-CD51-4B09-BA9A-E78D5DEC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LCP 1.9s on Slow 4G; CLS 0.02; link previews now show the correct title, description and image.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DF9A1-3BF9-489E-A61F-B0F6F81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8846B-17C1-4D80-A568-918FDF8B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2C87F-0C90-4FB2-99BE-403CF78F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48F71-9760-4551-84A8-196DB4B7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None of these fixes changed the page's design — they changed only what it costs a real visitor to see it.</a:t>
            </a:r>
          </a:p>
        </p:txBody>
      </p:sp>
    </p:spTree>
    <p:extLst>
      <p:ext uri="{BB962C8B-B14F-4D97-AF65-F5344CB8AC3E}">
        <p14:creationId xmlns:p14="http://schemas.microsoft.com/office/powerpoint/2010/main" val="8127827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D17C4-E82E-4E68-B155-35CA8390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226A3-88A6-4C28-9A62-BD4A89EB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C1ED0-D4D9-4513-9D1A-B233396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88B28-D0E3-4B2B-BA17-7FBB3175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Pre-publish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6DF55-4CD3-474C-8B4C-1A2F796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Run this list before every submission or public deploy this course asks for.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8EEAF-A24C-4633-A828-02106C1E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D5F64-0943-46E3-AC1F-9DB2A13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001ca33704886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8100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6868B-9D46-4F92-A3B2-50CDEA98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71C6-FCD0-4895-94F3-25ADCBE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87448-B594-46E6-947D-9D28325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5A819-43E2-4206-97E7-B478A4C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image sized, compressed and given width/height.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81C9A-2178-49C3-B3E9-99E57E61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812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D4102-9FE7-4300-AF64-3B4E9F33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B7813-990F-4F04-A0A4-EE6BDB3C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432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67F02-5A91-4177-BC61-8FD871A9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861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5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Unique title, meta description, Open Graph and favicon 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6A26-407C-49D3-A6B1-2EE71502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00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018B5-B7CD-4BC1-A834-965458DA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AA64D-242B-4F00-B02D-7CACEDD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7195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Attribution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C3448-B122-4D01-9AAC-6DE8CE0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1485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reused image, icon or quote credited with licence and source link.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76671-FB1F-488F-A36D-B36F7AB6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2291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E1243-04D7-4D3D-9AFF-4A82329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0A60F-0E47-4F00-8BF3-CD3C8FC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848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3BE6B-B2C6-45B8-BFFE-793DD2DA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86100"/>
            <a:ext cx="3848100" cy="2819400"/>
          </a:xfrm>
          <a:prstGeom xmlns:a="http://schemas.openxmlformats.org/drawingml/2006/main" prst="roundRect">
            <a:avLst>
              <a:gd name="adj" fmla="val 40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LCP, INP and CLS measured with Lighthouse under throttled network and CPU conditions, and the top 2–3 audits acted on before submitting.</a:t>
            </a:r>
          </a:p>
        </p:txBody>
      </p:sp>
    </p:spTree>
    <p:extLst>
      <p:ext uri="{BB962C8B-B14F-4D97-AF65-F5344CB8AC3E}">
        <p14:creationId xmlns:p14="http://schemas.microsoft.com/office/powerpoint/2010/main" val="18052749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26771-7239-4523-A994-7E86E147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2E626-43B9-43E4-8F17-C13605F8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77B54-CA90-44BE-A080-7E10529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BF60E-2753-4969-B25A-AA616CF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77319-B846-4E8A-8E67-61925C39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Audit and fix one page from an earlier week's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037B1-997A-44F5-B8BE-E20BC14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E39EE-1599-4612-A2AD-581CDEE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7B0FF-F293-4333-8E85-03AE311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AFC13-FB81-4AC7-B7F4-5030BC98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Take a page you built earlier in this course. Run Lighthouse, record the LCP/INP/CLS scores, then fix the two highest-impact audits it lists.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092AA-DA50-4832-A18C-5935A1D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F4CB8-6DAB-4E87-B994-37E6380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85725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Add a correct title, meta description and at least one Open Graph tag. Add an ATTRIBUTION.json entry for every non-original image on the page.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E4EFD-C365-40CE-8E16-D78C4DDC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 to 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CE34D-2C6B-40D4-963A-6B3A915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Before/after Lighthouse scores, the two audits you fixed and how, and your completed ATTRIBUTION.json for that page.</a:t>
            </a:r>
          </a:p>
        </p:txBody>
      </p:sp>
    </p:spTree>
    <p:extLst>
      <p:ext uri="{BB962C8B-B14F-4D97-AF65-F5344CB8AC3E}">
        <p14:creationId xmlns:p14="http://schemas.microsoft.com/office/powerpoint/2010/main" val="6914408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7EE76-1D30-4361-8FD7-44EA3D18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AC8D5-2DF2-4501-B4D8-E3D703F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5739E-2F5C-40B4-AEA7-B8F406A0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9B7AB-465F-4290-B333-D61719C1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A96F9-7527-4679-8F46-2F4F0B8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How publication-readiness is assessed in project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1C33A-5CA3-4BA9-AB4A-358516D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8BD65-2A9D-40D9-BC4C-787E2200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C30FE-AA29-4491-9057-828A301A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Assets are optimised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A4A67-9EC8-4667-842C-CB022112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 correctly sized, compressed and given width/height; unused code removed.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47BF2-C8E2-48AF-8E2D-FEAEA34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31B32-999C-4E3C-9FEE-E7E5812E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Metadata is accurate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86DCA-E2AF-4FD1-83B7-EF39463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Unique title, meta description and working Open Graph tags for every page.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FB42C-2F37-4EE9-AD66-F91538B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1AED5-F8F4-43AB-AEFE-3B85C1FA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Sources are credited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856B7-2802-4FE1-A61F-59FB4B2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reused image, icon or quote has a recorded creator, licence and link.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E0E75-1225-49E2-A1DA-D336CFF0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D4FD2-B79C-4DC5-AE8D-4A3DF9C2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Core Web Vitals measured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28F06-A660-4D37-B76F-10C79089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LCP, INP and CLS reported from a throttled test, not just a fast local connection.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6650E-1D39-4678-9D8D-C11D88D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8805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E9FE0-FC71-4C1D-8DF1-E8B881AE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41662-BA54-4C79-8484-6E667D5E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5FC7A-762A-4BA1-9B25-C7C3C1D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FB2DE-CE50-42C4-B627-9100C025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Connections to earlier weeks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7FCD2-B8F9-48E4-8B69-E7CD88E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Publication and performance closes the loop on decisions made since Week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AFD57-3959-49AC-8FAE-12D95EAE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C5E88-97B1-41E1-B6A7-9A09849B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307BD-C375-45A8-AB34-3EFB59A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30168-0F7F-438A-A2F0-77767BCD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086D0-4448-48F5-BA01-B42760E0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6 — responsive images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D221C-F17D-4142-9A2F-A4614DBD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05375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srcset/sizes and width/height attributes from Week 6 are exactly what CLS and LCP measure here.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1491F-D6DA-428F-BC84-B09AB91E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5B8A1-C23C-4D36-B858-3ABDE288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EDEFC-CAD0-4BA4-BDB4-B0186A4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8 — accessibility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8132B-0C11-408D-8C2A-08C130A0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62300"/>
            <a:ext cx="4905375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Alt text audited in Week 8 lives in the same asset-audit pass as file size and format checked this week.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E7A8B-5877-4F75-A1D8-12C494E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00B5D-0C5C-4BD4-8608-8D259D7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079F5-B0B7-4970-BABD-B0AE4848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10 — user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D2978-8376-45C0-9C27-DA43E082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90537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blocker found by a real user is worthless if the page that fixes it never actually loads for them in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7D9C0-1D29-45FC-A7E5-1E21068F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0535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73483-CF34-433B-9861-B70F6E3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958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0E2F2-E0B1-447C-824A-63E3A1D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673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12 (next)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2C3E0-8460-47C1-BB92-E4A8577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410200"/>
            <a:ext cx="490537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portfolio review presents the finished, published site — this week is the last gate before that becomes public.</a:t>
            </a:r>
          </a:p>
        </p:txBody>
      </p:sp>
    </p:spTree>
    <p:extLst>
      <p:ext uri="{BB962C8B-B14F-4D97-AF65-F5344CB8AC3E}">
        <p14:creationId xmlns:p14="http://schemas.microsoft.com/office/powerpoint/2010/main" val="16241854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EF081-CBE4-4303-AC5A-3D6B039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AD98C-2762-4197-A9C3-640EE084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5B990-F0CE-46C2-8A7A-88C69EE4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FE962-63FA-4F44-89DD-4FFFABA9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4CF94-B049-4B78-B9E4-3E0B9E0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12: Portfolio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8D331-78D4-416B-BFCF-3A4054C5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2E6B2-831B-4017-A6CF-ACEA4F3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500E3-07AB-4A2D-B185-51040566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287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Present the final site, explain the design system behind it, and reflect on the testing and revision evidence gathered across the course — including the publish-readiness pass completed this week.</a:t>
            </a:r>
          </a:p>
        </p:txBody>
      </p:sp>
    </p:spTree>
    <p:extLst>
      <p:ext uri="{BB962C8B-B14F-4D97-AF65-F5344CB8AC3E}">
        <p14:creationId xmlns:p14="http://schemas.microsoft.com/office/powerpoint/2010/main" val="404553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2026-09-13T08:06:13.6310000Z</dcterms:created>
  <dcterms:modified xsi:type="dcterms:W3CDTF">2026-09-13T08:06:13.6310000Z</dcterms:modified>
</coreProperties>
</file>