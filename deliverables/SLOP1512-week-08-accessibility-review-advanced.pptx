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8537fa12cd4b58" /><Relationship Type="http://schemas.openxmlformats.org/officeDocument/2006/relationships/extended-properties" Target="/docProps/app.xml" Id="R709b0a21f3da4fa9" /><Relationship Type="http://schemas.openxmlformats.org/officeDocument/2006/relationships/officeDocument" Target="/ppt/presentation.xml" Id="R002c61db992d4f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dbd7d37fe04009"/>
  </p:sldMasterIdLst>
  <p:notesMasterIdLst>
    <p:notesMasterId xmlns:r="http://schemas.openxmlformats.org/officeDocument/2006/relationships" r:id="R711ccab094b74f32"/>
  </p:notesMasterIdLst>
  <p:sldIdLst>
    <p:sldId xmlns:r="http://schemas.openxmlformats.org/officeDocument/2006/relationships" id="256" r:id="Rede4d781605047f6"/>
    <p:sldId xmlns:r="http://schemas.openxmlformats.org/officeDocument/2006/relationships" id="257" r:id="R2454726b75b44674"/>
    <p:sldId xmlns:r="http://schemas.openxmlformats.org/officeDocument/2006/relationships" id="258" r:id="Rb632ad4bbc784eb3"/>
    <p:sldId xmlns:r="http://schemas.openxmlformats.org/officeDocument/2006/relationships" id="259" r:id="R8b2638d8fec94503"/>
    <p:sldId xmlns:r="http://schemas.openxmlformats.org/officeDocument/2006/relationships" id="260" r:id="R686c8cb27f594c20"/>
    <p:sldId xmlns:r="http://schemas.openxmlformats.org/officeDocument/2006/relationships" id="261" r:id="Rbcaf998ed24843d4"/>
    <p:sldId xmlns:r="http://schemas.openxmlformats.org/officeDocument/2006/relationships" id="262" r:id="R4a218082f6e84e4d"/>
    <p:sldId xmlns:r="http://schemas.openxmlformats.org/officeDocument/2006/relationships" id="263" r:id="R3d54e3bda0bd4565"/>
    <p:sldId xmlns:r="http://schemas.openxmlformats.org/officeDocument/2006/relationships" id="264" r:id="R07f163ff6ef2479c"/>
    <p:sldId xmlns:r="http://schemas.openxmlformats.org/officeDocument/2006/relationships" id="265" r:id="R800531eb335947dd"/>
    <p:sldId xmlns:r="http://schemas.openxmlformats.org/officeDocument/2006/relationships" id="266" r:id="R9325b8f5fb6f41ce"/>
    <p:sldId xmlns:r="http://schemas.openxmlformats.org/officeDocument/2006/relationships" id="267" r:id="R4a73fc2c3732476e"/>
    <p:sldId xmlns:r="http://schemas.openxmlformats.org/officeDocument/2006/relationships" id="268" r:id="R241aa210d72341e5"/>
    <p:sldId xmlns:r="http://schemas.openxmlformats.org/officeDocument/2006/relationships" id="269" r:id="R7d2675ca61394bb3"/>
    <p:sldId xmlns:r="http://schemas.openxmlformats.org/officeDocument/2006/relationships" id="270" r:id="Rbebcdfe7a21f48a3"/>
    <p:sldId xmlns:r="http://schemas.openxmlformats.org/officeDocument/2006/relationships" id="271" r:id="Rf3f98ee24809496b"/>
    <p:sldId xmlns:r="http://schemas.openxmlformats.org/officeDocument/2006/relationships" id="272" r:id="R1f6cb464b8974b28"/>
    <p:sldId xmlns:r="http://schemas.openxmlformats.org/officeDocument/2006/relationships" id="273" r:id="R3cb77da365894510"/>
    <p:sldId xmlns:r="http://schemas.openxmlformats.org/officeDocument/2006/relationships" id="274" r:id="Rec4331928d7943a6"/>
    <p:sldId xmlns:r="http://schemas.openxmlformats.org/officeDocument/2006/relationships" id="275" r:id="Rc561a763d49e4994"/>
    <p:sldId xmlns:r="http://schemas.openxmlformats.org/officeDocument/2006/relationships" id="276" r:id="R9bfeca87d6f74ca4"/>
    <p:sldId xmlns:r="http://schemas.openxmlformats.org/officeDocument/2006/relationships" id="277" r:id="R834a0ecd3130447d"/>
    <p:sldId xmlns:r="http://schemas.openxmlformats.org/officeDocument/2006/relationships" id="278" r:id="Rf83c3100aec844d0"/>
    <p:sldId xmlns:r="http://schemas.openxmlformats.org/officeDocument/2006/relationships" id="279" r:id="Rbc018fc6b5d94387"/>
    <p:sldId xmlns:r="http://schemas.openxmlformats.org/officeDocument/2006/relationships" id="280" r:id="R67213785275445f2"/>
    <p:sldId xmlns:r="http://schemas.openxmlformats.org/officeDocument/2006/relationships" id="281" r:id="Rb9c6d8df7abd4f08"/>
    <p:sldId xmlns:r="http://schemas.openxmlformats.org/officeDocument/2006/relationships" id="282" r:id="R9184a5f4e39846d5"/>
    <p:sldId xmlns:r="http://schemas.openxmlformats.org/officeDocument/2006/relationships" id="283" r:id="Rae1ad15b3ae849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57d6d341eb445d" /><Relationship Type="http://schemas.openxmlformats.org/officeDocument/2006/relationships/slideMaster" Target="/ppt/slideMasters/slideMaster1.xml" Id="R1edbd7d37fe04009" /><Relationship Type="http://schemas.openxmlformats.org/officeDocument/2006/relationships/notesMaster" Target="/ppt/notesMasters/notesMaster1.xml" Id="R711ccab094b74f32" /><Relationship Type="http://schemas.openxmlformats.org/officeDocument/2006/relationships/presProps" Target="/ppt/presProps.xml" Id="Ra2e8b1e34fd94dec" /><Relationship Type="http://schemas.openxmlformats.org/officeDocument/2006/relationships/tableStyles" Target="/ppt/tableStyles.xml" Id="R33f84d29cbba49b0" /><Relationship Type="http://schemas.openxmlformats.org/officeDocument/2006/relationships/slide" Target="/ppt/slides/slide1.xml" Id="Rede4d781605047f6" /><Relationship Type="http://schemas.openxmlformats.org/officeDocument/2006/relationships/slide" Target="/ppt/slides/slide2.xml" Id="R2454726b75b44674" /><Relationship Type="http://schemas.openxmlformats.org/officeDocument/2006/relationships/slide" Target="/ppt/slides/slide3.xml" Id="Rb632ad4bbc784eb3" /><Relationship Type="http://schemas.openxmlformats.org/officeDocument/2006/relationships/slide" Target="/ppt/slides/slide4.xml" Id="R8b2638d8fec94503" /><Relationship Type="http://schemas.openxmlformats.org/officeDocument/2006/relationships/slide" Target="/ppt/slides/slide5.xml" Id="R686c8cb27f594c20" /><Relationship Type="http://schemas.openxmlformats.org/officeDocument/2006/relationships/slide" Target="/ppt/slides/slide6.xml" Id="Rbcaf998ed24843d4" /><Relationship Type="http://schemas.openxmlformats.org/officeDocument/2006/relationships/slide" Target="/ppt/slides/slide7.xml" Id="R4a218082f6e84e4d" /><Relationship Type="http://schemas.openxmlformats.org/officeDocument/2006/relationships/slide" Target="/ppt/slides/slide8.xml" Id="R3d54e3bda0bd4565" /><Relationship Type="http://schemas.openxmlformats.org/officeDocument/2006/relationships/slide" Target="/ppt/slides/slide9.xml" Id="R07f163ff6ef2479c" /><Relationship Type="http://schemas.openxmlformats.org/officeDocument/2006/relationships/slide" Target="/ppt/slides/slide10.xml" Id="R800531eb335947dd" /><Relationship Type="http://schemas.openxmlformats.org/officeDocument/2006/relationships/slide" Target="/ppt/slides/slide11.xml" Id="R9325b8f5fb6f41ce" /><Relationship Type="http://schemas.openxmlformats.org/officeDocument/2006/relationships/slide" Target="/ppt/slides/slide12.xml" Id="R4a73fc2c3732476e" /><Relationship Type="http://schemas.openxmlformats.org/officeDocument/2006/relationships/slide" Target="/ppt/slides/slide13.xml" Id="R241aa210d72341e5" /><Relationship Type="http://schemas.openxmlformats.org/officeDocument/2006/relationships/slide" Target="/ppt/slides/slide14.xml" Id="R7d2675ca61394bb3" /><Relationship Type="http://schemas.openxmlformats.org/officeDocument/2006/relationships/slide" Target="/ppt/slides/slide15.xml" Id="Rbebcdfe7a21f48a3" /><Relationship Type="http://schemas.openxmlformats.org/officeDocument/2006/relationships/slide" Target="/ppt/slides/slide16.xml" Id="Rf3f98ee24809496b" /><Relationship Type="http://schemas.openxmlformats.org/officeDocument/2006/relationships/slide" Target="/ppt/slides/slide17.xml" Id="R1f6cb464b8974b28" /><Relationship Type="http://schemas.openxmlformats.org/officeDocument/2006/relationships/slide" Target="/ppt/slides/slide18.xml" Id="R3cb77da365894510" /><Relationship Type="http://schemas.openxmlformats.org/officeDocument/2006/relationships/slide" Target="/ppt/slides/slide19.xml" Id="Rec4331928d7943a6" /><Relationship Type="http://schemas.openxmlformats.org/officeDocument/2006/relationships/slide" Target="/ppt/slides/slide20.xml" Id="Rc561a763d49e4994" /><Relationship Type="http://schemas.openxmlformats.org/officeDocument/2006/relationships/slide" Target="/ppt/slides/slide21.xml" Id="R9bfeca87d6f74ca4" /><Relationship Type="http://schemas.openxmlformats.org/officeDocument/2006/relationships/slide" Target="/ppt/slides/slide22.xml" Id="R834a0ecd3130447d" /><Relationship Type="http://schemas.openxmlformats.org/officeDocument/2006/relationships/slide" Target="/ppt/slides/slide23.xml" Id="Rf83c3100aec844d0" /><Relationship Type="http://schemas.openxmlformats.org/officeDocument/2006/relationships/slide" Target="/ppt/slides/slide24.xml" Id="Rbc018fc6b5d94387" /><Relationship Type="http://schemas.openxmlformats.org/officeDocument/2006/relationships/slide" Target="/ppt/slides/slide25.xml" Id="R67213785275445f2" /><Relationship Type="http://schemas.openxmlformats.org/officeDocument/2006/relationships/slide" Target="/ppt/slides/slide26.xml" Id="Rb9c6d8df7abd4f08" /><Relationship Type="http://schemas.openxmlformats.org/officeDocument/2006/relationships/slide" Target="/ppt/slides/slide27.xml" Id="R9184a5f4e39846d5" /><Relationship Type="http://schemas.openxmlformats.org/officeDocument/2006/relationships/slide" Target="/ppt/slides/slide28.xml" Id="Rae1ad15b3ae849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ac4380c0f74a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a6b26dd8614289" /><Relationship Type="http://schemas.openxmlformats.org/officeDocument/2006/relationships/notesMaster" Target="/ppt/notesMasters/notesMaster1.xml" Id="R7bb08c0f218a45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d9240e00934be4" /><Relationship Type="http://schemas.openxmlformats.org/officeDocument/2006/relationships/notesMaster" Target="/ppt/notesMasters/notesMaster1.xml" Id="Rf3519f81dd574c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27edd60c2f4681" /><Relationship Type="http://schemas.openxmlformats.org/officeDocument/2006/relationships/notesMaster" Target="/ppt/notesMasters/notesMaster1.xml" Id="Raaf09082a9454b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7bbfe1126d4245" /><Relationship Type="http://schemas.openxmlformats.org/officeDocument/2006/relationships/notesMaster" Target="/ppt/notesMasters/notesMaster1.xml" Id="Rf2b660b622df41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e3881a4ece4f34" /><Relationship Type="http://schemas.openxmlformats.org/officeDocument/2006/relationships/notesMaster" Target="/ppt/notesMasters/notesMaster1.xml" Id="R134d7ba469a143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8e62ff8b3a446d" /><Relationship Type="http://schemas.openxmlformats.org/officeDocument/2006/relationships/notesMaster" Target="/ppt/notesMasters/notesMaster1.xml" Id="Rdb42789f139042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31dc06d0944fe3" /><Relationship Type="http://schemas.openxmlformats.org/officeDocument/2006/relationships/notesMaster" Target="/ppt/notesMasters/notesMaster1.xml" Id="Rca8e89cf2a334a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5d0ad2638b4915" /><Relationship Type="http://schemas.openxmlformats.org/officeDocument/2006/relationships/notesMaster" Target="/ppt/notesMasters/notesMaster1.xml" Id="Rb9310a503bff44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c8c2ea3f42428b" /><Relationship Type="http://schemas.openxmlformats.org/officeDocument/2006/relationships/notesMaster" Target="/ppt/notesMasters/notesMaster1.xml" Id="R317970b27efe4a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57980ff8be4604" /><Relationship Type="http://schemas.openxmlformats.org/officeDocument/2006/relationships/notesMaster" Target="/ppt/notesMasters/notesMaster1.xml" Id="Ra8bcaa915c2b44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0a075612eb4e46" /><Relationship Type="http://schemas.openxmlformats.org/officeDocument/2006/relationships/notesMaster" Target="/ppt/notesMasters/notesMaster1.xml" Id="R887adf7ed4194c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f52872b50e484d" /><Relationship Type="http://schemas.openxmlformats.org/officeDocument/2006/relationships/notesMaster" Target="/ppt/notesMasters/notesMaster1.xml" Id="R12fad18e3d5b44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19b10a0f32c4b83" /><Relationship Type="http://schemas.openxmlformats.org/officeDocument/2006/relationships/notesMaster" Target="/ppt/notesMasters/notesMaster1.xml" Id="R436ffb19b26f42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2405cbc69e4375" /><Relationship Type="http://schemas.openxmlformats.org/officeDocument/2006/relationships/notesMaster" Target="/ppt/notesMasters/notesMaster1.xml" Id="R32d68c74d49e4d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e4c8c11a8234411" /><Relationship Type="http://schemas.openxmlformats.org/officeDocument/2006/relationships/notesMaster" Target="/ppt/notesMasters/notesMaster1.xml" Id="R735a7cca785a42d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34f2403ee5b47b6" /><Relationship Type="http://schemas.openxmlformats.org/officeDocument/2006/relationships/notesMaster" Target="/ppt/notesMasters/notesMaster1.xml" Id="R5d781a54fec54fe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715a58314fe4a6e" /><Relationship Type="http://schemas.openxmlformats.org/officeDocument/2006/relationships/notesMaster" Target="/ppt/notesMasters/notesMaster1.xml" Id="R81f9723b6af048d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47b5d8e98054b51" /><Relationship Type="http://schemas.openxmlformats.org/officeDocument/2006/relationships/notesMaster" Target="/ppt/notesMasters/notesMaster1.xml" Id="R3189cfa9ec844e8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ee378eba58c469e" /><Relationship Type="http://schemas.openxmlformats.org/officeDocument/2006/relationships/notesMaster" Target="/ppt/notesMasters/notesMaster1.xml" Id="Rb32ff9e1b8234dd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fcc6f3a73ab4cba" /><Relationship Type="http://schemas.openxmlformats.org/officeDocument/2006/relationships/notesMaster" Target="/ppt/notesMasters/notesMaster1.xml" Id="R74e6ad15c780418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037f73ec82d4035" /><Relationship Type="http://schemas.openxmlformats.org/officeDocument/2006/relationships/notesMaster" Target="/ppt/notesMasters/notesMaster1.xml" Id="R1557ccbc48464fd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527f35bfae949ca" /><Relationship Type="http://schemas.openxmlformats.org/officeDocument/2006/relationships/notesMaster" Target="/ppt/notesMasters/notesMaster1.xml" Id="R13134cc15ee6475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0ed2ec400b0427c" /><Relationship Type="http://schemas.openxmlformats.org/officeDocument/2006/relationships/notesMaster" Target="/ppt/notesMasters/notesMaster1.xml" Id="R5d2a6b788228456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72d5f469dbe4a2d" /><Relationship Type="http://schemas.openxmlformats.org/officeDocument/2006/relationships/notesMaster" Target="/ppt/notesMasters/notesMaster1.xml" Id="R07bee0a1362d490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2a41bfa5bc14124" /><Relationship Type="http://schemas.openxmlformats.org/officeDocument/2006/relationships/notesMaster" Target="/ppt/notesMasters/notesMaster1.xml" Id="R6cb281be217a4ba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da63f089b2a483b" /><Relationship Type="http://schemas.openxmlformats.org/officeDocument/2006/relationships/notesMaster" Target="/ppt/notesMasters/notesMaster1.xml" Id="Rf8aa2ba289c8482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268d4e7cbf74301" /><Relationship Type="http://schemas.openxmlformats.org/officeDocument/2006/relationships/notesMaster" Target="/ppt/notesMasters/notesMaster1.xml" Id="R63ef9052b1a147f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2efa0cf789143d1" /><Relationship Type="http://schemas.openxmlformats.org/officeDocument/2006/relationships/notesMaster" Target="/ppt/notesMasters/notesMaster1.xml" Id="R6e9bfd6eb5cd4b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Unsplash: https://unsplash.com/photos/4MoIpDcSlr4 — photographer Compagnons (@sigmund), “Blind man using a braille screen reader”, Québec, Canada, accessed 13 Sep 2026</a:t>
            </a:r>
          </a:p>
          <a:p xmlns:a="http://schemas.openxmlformats.org/drawingml/2006/main">
            <a:r>
              <a:t>Course teaching content is original.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course learning outcomes, aligned to Week 8's accessibility-review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framing device opening the lecture.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Standard WCAG conformance-level reference (W3C WCAG 2.2, October 2023).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synthesis of WCAG's POUR structure (Perceivable, Operable, Understandable, Robust).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overview table mapping this session's five-part audit to specific WCAG 2.2 success criteria.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WCAG 1.3.1-based audit content. Unsplash+ (licensed): https://unsplash.com/photos/computer-screen-displaying-code-for-a-simple-website-TzoTtbgFOR8 — photographer Planet Volumes,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repeatable heading-audit method, extending Week 2's semantic-structure content into a review procedure.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WCAG 1.4.3/1.4.11-based audit content. Unsplash: https://unsplash.com/photos/a-split-screen-displays-black-and-white-contrast-Cc5gk6_SUy4 — photographer Phil Desforges (@storybyphil),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repeatable contrast-audit method referencing WebAIM's Contrast Checker as the standard tool.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WCAG 2.4.7/2.4.11-based audit content. Unsplash: https://unsplash.com/photos/close-up-of-a-hand-typing-on-a-computer-keyboard-Qh1degtlisQ — photographer Alicia Christin Gerald (@allysphotos),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keyboard-only audit method referencing WCAG 2.1.1 Keyboard, 2.1.2 No Keyboard Trap and 2.4.3 Focus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WCAG 1.1.1-based audit content, extending Week 2's image-role framework into a review procedure. Unsplash: https://unsplash.com/photos/white-and-green-braille-paper-dCC7LtjU1WA — photographer Elena Mozhvilo (@miracleday),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text-alternative audit method building on Week 2's image classification (decorative/informative/functional/complex).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bridge from automated checking to assistive-technology testing. Unsplash: https://unsplash.com/photos/a-woman-in-a-wheel-chair-working-on-a-computer-hqaeIsK3S2w — photographer CDC (@cdc),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WCAG 1.2.2/1.2.4/1.2.5-based content on captions and media alternatives. Unsplash: https://unsplash.com/photos/grayscale-photo-of-woman-doing-silent-hand-sign-BcjdbyKWquw — photographer Kristina Flour (@tinaflour),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WCAG 2.2.2/2.3.3-based audit content on motion, animation and vestibular safety.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motion-audit method referencing the prefers-reduced-motion media feature.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WCAG 1.4.4/1.4.10-based audit content on zoom and reflow. Unsplash: https://unsplash.com/photos/a-text-snippet-focused-through-a-magnifying-glass-wgbZ4ZeJCV0 — photographer Planet Volumes,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process guidance on combining automated and manual accessibility testing. Unsplash+ (licensed): https://unsplash.com/photos/a-close-up-of-a-clipboard-with-a-checklist-on-it-o5D1-gQ1344 — photographer A. C. (@3tnik),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table distinguishing automated-detectable findings from manual-review-only findings.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universal-design framing, drawing the built-environment parallel explicit for a digital audience. Unsplash: https://unsplash.com/photos/a-handicapped-sign-is-painted-on-the-pavement-jt7WiIQOzPQ — photographer Jakub Pabis (@jakubpabis), Huntingdon, UK,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severity-triage framework applied to accessibility-audit findings.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finding-writeup template used across this session's studio audit.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8 studio audit, directly implementing the session brief's five-part accessibility check.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review rubric, aligned to Assignment 3's ‘Accessible forms and keyboard use’ and ‘Testing evidence and revision’ criteria.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summary of recurring accessibility-audit findings, consolidating the session's five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External resources: W3C WCAG 2.2 specification and quick reference; WebAIM Contrast Checker. Accessed 13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394f91379f42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608613c2bd4da9" /><Relationship Type="http://schemas.openxmlformats.org/officeDocument/2006/relationships/slideLayout" Target="/ppt/slideLayouts/slideLayout1.xml" Id="Rbe02c39527084c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02c39527084c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7ee8211544186" /><Relationship Type="http://schemas.openxmlformats.org/officeDocument/2006/relationships/image" Target="/ppt/media/image.jpeg" Id="Rc860532cf0074b0e" /><Relationship Type="http://schemas.openxmlformats.org/officeDocument/2006/relationships/notesSlide" Target="/ppt/notesSlides/notesSlide1.xml" Id="R85f0faeaac844f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342cfc60d4d60" /><Relationship Type="http://schemas.openxmlformats.org/officeDocument/2006/relationships/notesSlide" Target="/ppt/notesSlides/notesSlide2.xml" Id="Ra443eb5a900c43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15eef21184b7e" /><Relationship Type="http://schemas.openxmlformats.org/officeDocument/2006/relationships/notesSlide" Target="/ppt/notesSlides/notesSlide3.xml" Id="R95e6d1f505e24b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61f7694744401" /><Relationship Type="http://schemas.openxmlformats.org/officeDocument/2006/relationships/notesSlide" Target="/ppt/notesSlides/notesSlide4.xml" Id="R9436638c2eb14e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895f564ab49f5" /><Relationship Type="http://schemas.openxmlformats.org/officeDocument/2006/relationships/notesSlide" Target="/ppt/notesSlides/notesSlide5.xml" Id="Rf829ca5593c747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a068f4b5144c1" /><Relationship Type="http://schemas.openxmlformats.org/officeDocument/2006/relationships/notesSlide" Target="/ppt/notesSlides/notesSlide6.xml" Id="R119489d03d374a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e59852a5741f0" /><Relationship Type="http://schemas.openxmlformats.org/officeDocument/2006/relationships/image" Target="/ppt/media/image2.jpeg" Id="Rccbb2bb2693c4371" /><Relationship Type="http://schemas.openxmlformats.org/officeDocument/2006/relationships/notesSlide" Target="/ppt/notesSlides/notesSlide7.xml" Id="R3ee924e1d1894c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2b43302c549b0" /><Relationship Type="http://schemas.openxmlformats.org/officeDocument/2006/relationships/notesSlide" Target="/ppt/notesSlides/notesSlide8.xml" Id="R0f77a7b8b1174b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17f0d13394f9a" /><Relationship Type="http://schemas.openxmlformats.org/officeDocument/2006/relationships/image" Target="/ppt/media/image3.jpeg" Id="Rd5e76347169045f0" /><Relationship Type="http://schemas.openxmlformats.org/officeDocument/2006/relationships/notesSlide" Target="/ppt/notesSlides/notesSlide9.xml" Id="R4000e47e7c1c4d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be67115394d07" /><Relationship Type="http://schemas.openxmlformats.org/officeDocument/2006/relationships/notesSlide" Target="/ppt/notesSlides/notesSlide10.xml" Id="Ra341681c3db147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ed89fc75b4d35" /><Relationship Type="http://schemas.openxmlformats.org/officeDocument/2006/relationships/image" Target="/ppt/media/image4.jpeg" Id="Ra8969f3a42c84469" /><Relationship Type="http://schemas.openxmlformats.org/officeDocument/2006/relationships/notesSlide" Target="/ppt/notesSlides/notesSlide11.xml" Id="Red6cff35560246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d1e1b66924c1a" /><Relationship Type="http://schemas.openxmlformats.org/officeDocument/2006/relationships/notesSlide" Target="/ppt/notesSlides/notesSlide12.xml" Id="R7821a16dd27e4e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3d172945a417b" /><Relationship Type="http://schemas.openxmlformats.org/officeDocument/2006/relationships/image" Target="/ppt/media/image5.jpeg" Id="R26f5344b7d80489e" /><Relationship Type="http://schemas.openxmlformats.org/officeDocument/2006/relationships/notesSlide" Target="/ppt/notesSlides/notesSlide13.xml" Id="Rd63d10c58ffb4c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426dfbd654f73" /><Relationship Type="http://schemas.openxmlformats.org/officeDocument/2006/relationships/notesSlide" Target="/ppt/notesSlides/notesSlide14.xml" Id="R80b62aeeda3d477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1d67b3ee345d5" /><Relationship Type="http://schemas.openxmlformats.org/officeDocument/2006/relationships/image" Target="/ppt/media/image6.jpeg" Id="Rf6b020563a784f26" /><Relationship Type="http://schemas.openxmlformats.org/officeDocument/2006/relationships/notesSlide" Target="/ppt/notesSlides/notesSlide15.xml" Id="R098cceb7e7df467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e75b7e2224b0f" /><Relationship Type="http://schemas.openxmlformats.org/officeDocument/2006/relationships/image" Target="/ppt/media/image7.jpeg" Id="Rbe55b1cc910e43ea" /><Relationship Type="http://schemas.openxmlformats.org/officeDocument/2006/relationships/notesSlide" Target="/ppt/notesSlides/notesSlide16.xml" Id="R61ab79b2002a44e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7cd9fedf343cc" /><Relationship Type="http://schemas.openxmlformats.org/officeDocument/2006/relationships/notesSlide" Target="/ppt/notesSlides/notesSlide17.xml" Id="Ra35e6e2dd7204c3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da5df79f545b8" /><Relationship Type="http://schemas.openxmlformats.org/officeDocument/2006/relationships/notesSlide" Target="/ppt/notesSlides/notesSlide18.xml" Id="R2726fd4f6310413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a82ab8516443f" /><Relationship Type="http://schemas.openxmlformats.org/officeDocument/2006/relationships/image" Target="/ppt/media/image8.jpeg" Id="Rcc53377d45f34074" /><Relationship Type="http://schemas.openxmlformats.org/officeDocument/2006/relationships/notesSlide" Target="/ppt/notesSlides/notesSlide19.xml" Id="R2e8af94e6f86489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6295bbc9a43ac" /><Relationship Type="http://schemas.openxmlformats.org/officeDocument/2006/relationships/image" Target="/ppt/media/image9.jpeg" Id="R3dbda81c9b4b430b" /><Relationship Type="http://schemas.openxmlformats.org/officeDocument/2006/relationships/notesSlide" Target="/ppt/notesSlides/notesSlide20.xml" Id="R446dcc3897384c2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b1f0a32eb486d" /><Relationship Type="http://schemas.openxmlformats.org/officeDocument/2006/relationships/notesSlide" Target="/ppt/notesSlides/notesSlide21.xml" Id="R2264ceddade044d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fa313a95e44bc" /><Relationship Type="http://schemas.openxmlformats.org/officeDocument/2006/relationships/image" Target="/ppt/media/image10.jpeg" Id="R846c61417c374c4c" /><Relationship Type="http://schemas.openxmlformats.org/officeDocument/2006/relationships/notesSlide" Target="/ppt/notesSlides/notesSlide22.xml" Id="Rdd6582c66a664fe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f011700fd45bb" /><Relationship Type="http://schemas.openxmlformats.org/officeDocument/2006/relationships/notesSlide" Target="/ppt/notesSlides/notesSlide23.xml" Id="R254e6a6382e94fd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0e800f75a4d17" /><Relationship Type="http://schemas.openxmlformats.org/officeDocument/2006/relationships/notesSlide" Target="/ppt/notesSlides/notesSlide24.xml" Id="R68fdcbe389be41b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f00f965774caa" /><Relationship Type="http://schemas.openxmlformats.org/officeDocument/2006/relationships/notesSlide" Target="/ppt/notesSlides/notesSlide25.xml" Id="R037c8b22570d427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516a7babc49aa" /><Relationship Type="http://schemas.openxmlformats.org/officeDocument/2006/relationships/notesSlide" Target="/ppt/notesSlides/notesSlide26.xml" Id="R268dac307fc14c7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1c7c7b57448f7" /><Relationship Type="http://schemas.openxmlformats.org/officeDocument/2006/relationships/notesSlide" Target="/ppt/notesSlides/notesSlide27.xml" Id="R10eebc20635b4d0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46b1316c5480e" /><Relationship Type="http://schemas.openxmlformats.org/officeDocument/2006/relationships/notesSlide" Target="/ppt/notesSlides/notesSlide28.xml" Id="R28e4bba7b3494c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1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0532cf0074b0e"/>
          <a:srcRect xmlns:a="http://schemas.openxmlformats.org/drawingml/2006/main" l="18750" t="0" r="18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0"/>
            <a:ext cx="5715000" cy="6858000"/>
          </a:xfrm>
          <a:prstGeom xmlns:a="http://schemas.openxmlformats.org/drawingml/2006/main" prst="roundRect">
            <a:avLst>
              <a:gd name="adj" fmla="val 20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87802-EE80-4397-92A0-75AF64FB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48E4C-4F0E-4FD4-936B-E99535E3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048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0AC9E-3BA1-4DAE-BCEA-7E13A8D8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29527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DF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1DFC0"/>
                </a:solidFill>
                <a:latin typeface="Aptos"/>
                <a:ea typeface="Aptos"/>
                <a:cs typeface="Aptos"/>
              </a:rPr>
              <a:t>SLOP1512 / UNIVERSITY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5D2CB-8348-42F6-8F6D-9E1A6AE1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4000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DFC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DFC0"/>
                </a:solidFill>
                <a:latin typeface="Aptos"/>
                <a:ea typeface="Aptos"/>
                <a:cs typeface="Aptos"/>
              </a:rPr>
              <a:t>SLOP1512  /  WEEK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82306-1E52-41E8-92EF-8521CBED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581025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Accessibility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45E30-6E43-4FA2-9ECD-6A355D96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5524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practical, WCAG 2.2-referenced audit of headings, contrast, focus visibility, text alternatives and motion settings.</a:t>
            </a:r>
          </a:p>
        </p:txBody>
      </p:sp>
    </p:spTree>
    <p:extLst>
      <p:ext uri="{BB962C8B-B14F-4D97-AF65-F5344CB8AC3E}">
        <p14:creationId xmlns:p14="http://schemas.microsoft.com/office/powerpoint/2010/main" val="11638979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CED9F-C762-4E74-9BD1-0A073EC0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860D7-149D-4312-A1E8-479763B8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F86CD-45AE-4922-8A5E-83082AEA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77B70-D123-4967-85E4-615D66D7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Technical outcomes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FDF79-AEC1-418F-AE1B-A14B5D2B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By the end of this session you can run a structured accessibility audit, not just eyeball a page.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027B6-021A-4E1E-9ED8-5B4F1B02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0F086-962A-4798-9BF4-F4FA4310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94320-3C5F-48BB-9E52-651B7ED2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333375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BF904-B580-490A-95EA-FC25865E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8663B-122C-4D04-9876-6343E278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914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80275-9F7F-44FD-B4F1-84220848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914650" cy="1171575"/>
          </a:xfrm>
          <a:prstGeom xmlns:a="http://schemas.openxmlformats.org/drawingml/2006/main" prst="roundRect">
            <a:avLst>
              <a:gd name="adj" fmla="val 97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Run the five-part practical check against a real page: headings, contrast, focus, text alternatives, motion.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B6656-ECC5-4A4C-A493-77731C24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76500"/>
            <a:ext cx="333375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3C614-908F-40D6-9144-9E2D4866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860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6B7B4-4C2E-4FCA-920B-35264CCD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76550"/>
            <a:ext cx="2914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6E0D2-DBE3-4E96-A553-9A34E61C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257550"/>
            <a:ext cx="2914650" cy="1171575"/>
          </a:xfrm>
          <a:prstGeom xmlns:a="http://schemas.openxmlformats.org/drawingml/2006/main" prst="roundRect">
            <a:avLst>
              <a:gd name="adj" fmla="val 97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Attach the specific WCAG 2.2 success criterion to every finding — not just “this feels wrong”.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8F32A6-3244-4556-A3FF-F3CDEFB6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76500"/>
            <a:ext cx="333375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6A76B7-BBF1-4323-94AC-91503851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E02BE-A413-4109-9F57-83B081DE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76550"/>
            <a:ext cx="2914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B8E5C6-7C6F-4013-8461-3B2D72A6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57550"/>
            <a:ext cx="2914650" cy="1171575"/>
          </a:xfrm>
          <a:prstGeom xmlns:a="http://schemas.openxmlformats.org/drawingml/2006/main" prst="roundRect">
            <a:avLst>
              <a:gd name="adj" fmla="val 97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Propose one concrete, testable revision per finding and know how you would confirm it worked.</a:t>
            </a:r>
          </a:p>
        </p:txBody>
      </p:sp>
    </p:spTree>
    <p:extLst>
      <p:ext uri="{BB962C8B-B14F-4D97-AF65-F5344CB8AC3E}">
        <p14:creationId xmlns:p14="http://schemas.microsoft.com/office/powerpoint/2010/main" val="19188289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F95AFD-3D35-47BF-A6CE-14F906DF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39395-0706-412B-8092-B960A803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C58E0-3A3B-4CCA-BABD-685F0109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503DE-6F94-4D49-8895-A602C195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Review is a different skill from building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26B0A-DF7F-4E7F-9E5A-81DAB60B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page can look finished and still fail people who don't browse the way you 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90127-B7E3-43C3-8A82-9FA00A5A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18F82-A1FE-44AB-8C00-5B52DB32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A90F0-1E73-4187-9D8B-0FC4FDB3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10287000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Building teaches you to make something work for yourself, on your machine, with your mouse and your eyesight. Reviewing asks a harder question: does it work for someone who tabs through with a keyboard, listens with a screen reader, or needs 200% zoom?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A9B0A-C055-48CB-8E40-18F1B1CC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286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7200E-41C0-4E03-AF7F-DDCAAC98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8FA92-B787-400C-805E-76A7E988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Passive assumption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9ED84-7188-4176-967C-73B703CB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4867275" cy="10287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“It looks fine to me” treats one body and one set of tools as the default reader.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4983B-36AB-4E90-AAA2-49D9A768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619500"/>
            <a:ext cx="5286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3262E-1419-458F-A0DF-99EF1766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8290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EC74FC-6BD3-42AC-9976-49029122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01955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Active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9749A8-B015-4FA0-9626-02F3FAD1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400550"/>
            <a:ext cx="4867275" cy="10287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structured audit checks the page against named criteria, using the tools an actual reader would use.</a:t>
            </a:r>
          </a:p>
        </p:txBody>
      </p:sp>
    </p:spTree>
    <p:extLst>
      <p:ext uri="{BB962C8B-B14F-4D97-AF65-F5344CB8AC3E}">
        <p14:creationId xmlns:p14="http://schemas.microsoft.com/office/powerpoint/2010/main" val="10719508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DA640F-4A4A-4ABB-A7A7-14A523E6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3FFE9-59C5-4AE1-B08B-597720F2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5C6FF-846B-4AAF-8F1D-C826851E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717C6-F714-49D8-B520-C6775C18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WCAG in one slide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3C9CD-E43D-47C5-85BE-AA39BDFA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Web Content Accessibility Guidelines give the audit its vocabulary and its pass/fail 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4A5CE-031D-47A8-8860-1D279FF7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5B78C-6AED-44A8-A1FB-5ABD30A6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04624-200B-42BE-9D5A-8206EEB6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5240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38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Level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C1885-D3F1-4294-AE1C-EC5122B8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52700"/>
            <a:ext cx="3238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38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6B9A5-2B33-4333-B2D4-FCC14083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52700"/>
            <a:ext cx="4381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38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Use in practice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73BE6-FABD-4647-A09C-D70B1497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382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E79C3-EBD2-417F-84EF-822D5931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524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642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73350-7EE6-422A-957B-1FC1B1B1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00400"/>
            <a:ext cx="3238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Minimum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3D514-F7E9-481B-97C9-A204DF31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00400"/>
            <a:ext cx="438150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Absolute baseline; failing A blocks basic access for some users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DC9B67-373C-44CD-BD18-417C2699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0382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EB7D8-1322-49D7-A57C-B9484F65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1524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642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AA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3C5BB-C3E8-483D-8F10-53D3CCD6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76700"/>
            <a:ext cx="3238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Course and industry 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7E8FAF-E33C-4E54-8289-9E3F7171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438150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level this course, and most organisations, design and test 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35A25-D27D-4530-A38F-8D8E450F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10382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C19818-F609-427E-AC9C-1988832A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524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642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AAA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28E5AB-C3D9-467D-8047-10962F76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0"/>
            <a:ext cx="3238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Enhanced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B720F9-5514-4556-A3C1-E2CF121A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53000"/>
            <a:ext cx="438150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Not achievable for all content types; used selectively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447D89-95BB-4D7C-BF22-0D2F817B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382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88A5BD-2F31-445F-8244-51506A4A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2870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05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Reference: W3C, Web Content Accessibility Guidelines (WCAG) 2.2, October 2023.</a:t>
            </a:r>
          </a:p>
        </p:txBody>
      </p:sp>
    </p:spTree>
    <p:extLst>
      <p:ext uri="{BB962C8B-B14F-4D97-AF65-F5344CB8AC3E}">
        <p14:creationId xmlns:p14="http://schemas.microsoft.com/office/powerpoint/2010/main" val="3073650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16B6E6-59F0-47AC-B417-FEFB43B2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C11EB-A57E-4DF8-A1A9-B1E855B9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8635D-8A89-4045-837D-F5D5713E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05B1B-B367-4EA5-A44D-F8A0E277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POUR — the four principles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6E56E-717C-42C2-8E3C-DB9F3672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Every WCAG success criterion sits under one of four principles.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AE8B1-F84C-4A87-AED6-F5031469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3EE67-A76F-4651-9662-003F0D25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71F21-A718-4309-B30E-19294618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2476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38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Principle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73804-FEB6-462A-B668-6D00F302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52700"/>
            <a:ext cx="38100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38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Requirement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40AA3-A94A-40F7-A244-F2591EBC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52700"/>
            <a:ext cx="26670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38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Audit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54385-AFE1-4C44-B845-3EE129BE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382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8A5B27-D3DE-471B-AF06-9DDD32A4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85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05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Perceivable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3B3AD-D39F-4700-BEFD-737A30E2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43250"/>
            <a:ext cx="40005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Information must be presentable so users can perceive 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B8CDA-3104-46F6-A967-062693BE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667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Alt text, captions, contrast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69E71-E4F0-4F71-B1CD-7741A864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0382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3143B-8C3D-40A5-8EF0-EA6FA1C7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285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05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Operable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1100D-36E4-4854-97A3-DA028A12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67150"/>
            <a:ext cx="40005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Interface and navigation must be operable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64942-0002-4641-A611-AF14A7BE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67150"/>
            <a:ext cx="2667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31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Keyboard access, focus order, no traps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AD39DA-8812-41A3-A6FD-CB7001A3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10382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04A252-F5CB-4068-B331-7DE59337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285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05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Understandable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90E455-3314-4F1E-B37B-745632CD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91050"/>
            <a:ext cx="40005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Information and operation must be understandable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A1BBE7-BC48-4A4B-9DB3-DF38C2B3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2667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Clear labels, predictable navigation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0DF0EF-DC74-48F0-9C39-49FDE400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382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90BE98-875D-4482-A04F-AACC2FC7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285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05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Robust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749814-9C83-4018-8FFC-C2915991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314950"/>
            <a:ext cx="40005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Content must work with current and future assistive tech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29C663-0145-45BB-9B0B-31311B31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14950"/>
            <a:ext cx="2667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21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Valid markup, correct roles and names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C722D0-B924-4317-AFD3-F0E5C5D1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382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56258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C4C275-A73C-4985-AC7E-D285DB42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E791C-DD71-40DD-838E-70E6C69D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E88C6-EEB9-48CF-8F57-4380392D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07FA0-5B27-4283-A81C-66C54830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five-part practical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1CA64-6827-4ED0-81FD-2E57148C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checklist this session's studio audit works through, with the WCAG reference for each part.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28273-10F9-40A4-B5D2-32154695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B653E-3BA5-4D0B-A75F-1BA3447A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57844-4F9D-468F-A086-8DA43B98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2095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0877E-568B-46D1-A832-191962C5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95550"/>
            <a:ext cx="2857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reference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B639F-0C5C-4D6A-9D4E-455868AD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4381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Pass looks like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6979C-E684-4931-B8A1-DAB08C40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10477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E09AD-8C54-4757-BD81-1BF05D16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2476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Headings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13930-68BD-4003-97CA-7F58CC34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9900"/>
            <a:ext cx="30480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1.3.1 Info and Relationships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E74F4-A058-4F11-ADFD-7C9AD785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9900"/>
            <a:ext cx="4381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Logical order, no skipped levels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A89C2-18C9-41A5-9D03-6EE3E87D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8050"/>
            <a:ext cx="10477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D1BD36-8500-41F7-BD86-8ACF7BB3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2476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Contrast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08E12-B6B9-43A1-9C60-7CD3C1D8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00450"/>
            <a:ext cx="30480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1.4.3 / 1.4.11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CBC723-2147-411E-AEB2-79002519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4381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4.5:1 text, 3:1 UI components and graphics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5C2424-F898-4C3A-9806-932EBF09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10477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28FB6D-FB32-4257-9085-A52453C8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2476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Focus visibility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140DDF-CB60-4B1C-A7DF-1A7F214E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91000"/>
            <a:ext cx="30480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2.4.7 / 2.4.11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25650D-78D6-4D51-A713-B8EC48FD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4381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Every interactive element shows a visible indicator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45C73C-0034-4F8F-AD90-3774D99A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10477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DE792D-FF57-4166-BD60-2F91601D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2476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Text alternatives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777549-C4F8-4531-8159-B2989BED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81550"/>
            <a:ext cx="30480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1.1.1 Non-text Content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C4D2C7-B43A-4701-A8D5-A2F64BE6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81550"/>
            <a:ext cx="4381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Every non-text item has a role-appropriate alt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F6BE6C-CD3E-4C8A-8F75-3EA13AE3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10477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1FCBC8-E76A-464C-9E28-245E7CFB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72100"/>
            <a:ext cx="2476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Motion settings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C9B4AF-EB1A-48D1-AB36-A744D523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72100"/>
            <a:ext cx="30480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2.2.2 / 2.3.3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ED4F86-015F-4004-8B99-2B3EC0AC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72100"/>
            <a:ext cx="4381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Animation can be paused; no unconsented vestibular triggers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7FF6C7-A252-4680-924B-337B0FBB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477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647841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60332B-09EF-4272-97F3-89621629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8C6AB-C946-4743-ACAD-7F0C9E44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89741-F88A-4C3E-986C-BD10C70F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B365A-354E-4228-AE34-5DC2CD17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Check 1 / 5 — heading 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D86ED-88D0-4CCA-B425-8B720561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heading sequence is the outline a screen reader user hears before anything else.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9D767-CA7E-4BFE-B8F2-BD2AE9D6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95A9C-26F4-4817-9A55-B586D3E8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b2bb2693c4371"/>
          <a:srcRect xmlns:a="http://schemas.openxmlformats.org/drawingml/2006/main" l="5674" t="0" r="56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381250"/>
            <a:ext cx="4419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02F87-BEDB-4EAD-BC9F-2DA5F68E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600075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WCAG 1.3.1 Info and Relationships requires that structure conveyed visually is also conveyed in markup. A heading skips from h2 straight to h4 breaks that relationship even if it still looks fine on screen.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01AF7-4714-4AE1-BCC7-89C075B3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6000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F0E75-64BD-4F12-B6F4-D8A714A9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6873C-4D27-480D-B502-F472B04B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5581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6C72D-747E-471B-A5D5-94D8DCF1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5581650" cy="571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One h1 per page; h2 for main sections; h3 only nested inside its h2; no level skipped.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91CEF9-1D90-46EC-B8BC-C6B778DC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6000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DF1569-3046-423C-8A02-3D2F8EF6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8DFC50-217A-4BE2-B825-EFE0FA97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5581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4A1E70-B74B-4A31-8716-DDE85944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5581650" cy="571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Headings chosen for font size rather than structure; a visually “big” paragraph marked up as h2.</a:t>
            </a:r>
          </a:p>
        </p:txBody>
      </p:sp>
    </p:spTree>
    <p:extLst>
      <p:ext uri="{BB962C8B-B14F-4D97-AF65-F5344CB8AC3E}">
        <p14:creationId xmlns:p14="http://schemas.microsoft.com/office/powerpoint/2010/main" val="4633415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C2BB41-480E-4FEF-AA61-8F2629D8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BF5B6-B77B-451E-A61E-77BDEA8A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43F1E-625B-414C-9CA6-8EAD4C90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A2735-8299-439F-9029-C7923BF5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Heading audit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76824-BBA9-4C53-9583-1D184880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repeatable four-step check for any page.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4EBD3-F196-4825-9DDC-C1E6287E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A02C7-B0E1-4D37-9A00-3457C1DE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8284E-E36A-4DCF-B388-EB7F7DF9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0AE00-12F0-45FC-993A-8104E9A5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8127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C825B-DAE0-4484-BF7F-0B8366C5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62225"/>
            <a:ext cx="95631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List every heading on the page in order, ignoring the body text between them.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28D0C-B314-4326-AC6E-6739D542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BC90D-8DF8-44FE-970E-962BA6BD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16BF9-C33D-4BFC-B58D-EA9E31F4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90875"/>
            <a:ext cx="95631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Read the list alone — does it form a coherent outline of the page?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21E26-2461-4C7D-B4B1-C2848DAF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3869C-AFCA-4066-93F2-B59F3F27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11D46-4284-4A70-B0BD-1E6900EE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9525"/>
            <a:ext cx="95631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Check that heading levels nest without skipping (h2 → h3, never h2 → h4).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C34B4-BA6F-4436-A0E2-189A9237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96A701-45B9-4118-AF90-4B0E083A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71D1E-A1A1-4AAF-B996-D6119420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48175"/>
            <a:ext cx="95631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Confirm each landmark region (nav, main, aside) has at most one heading naming 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EDDA28-959F-4CE0-A2BA-CC918B96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0012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Run this with a browser's accessibility tree or headings-list extension, not just by eye.</a:t>
            </a:r>
          </a:p>
        </p:txBody>
      </p:sp>
    </p:spTree>
    <p:extLst>
      <p:ext uri="{BB962C8B-B14F-4D97-AF65-F5344CB8AC3E}">
        <p14:creationId xmlns:p14="http://schemas.microsoft.com/office/powerpoint/2010/main" val="19359768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11D98D-905C-41C8-9851-96520DDA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8C3C9-6133-4ABE-94FC-80DF2B0A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817C6-86FE-40AA-BB4A-95E34FB3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C1D54-F79D-488A-9A52-84D16FF5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Check 2 / 5 — colour contrast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89DD5-7864-4DAE-9DB7-C6411843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Contrast is measured as a ratio, not a subjective impression of legibility.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DD57F-09FC-4051-86D5-CDA5FA8C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ED993-404B-4367-BCD7-AB4C0144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76347169045f0"/>
          <a:srcRect xmlns:a="http://schemas.openxmlformats.org/drawingml/2006/main" l="4922" t="0" r="4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381250"/>
            <a:ext cx="4419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AB986-4EEC-44CB-A3B3-1A9C133B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6000750" cy="10287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WCAG 1.4.3 sets a 4.5:1 minimum contrast ratio for normal text and 3:1 for large text (AA). WCAG 1.4.11 extends a 3:1 minimum to UI components and meaningful graphics, such as button borders and icons.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4EEDF-0765-4C0F-AAE7-8B417502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6000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24ABB-F474-4E2E-9D09-2E26A372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4A858-91F0-4BEA-82FE-1D8E8F2F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5581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E9CA3-5349-441B-B9E6-34C45FB1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581650" cy="571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Body text measures at least 4.5:1 against its background; focus outlines and icons measure at least 3:1.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AF981-620A-4987-B830-C52F64AA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6000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85AB0E-520E-4605-AD5F-52F145DB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C59F2E-5E20-44F3-B430-E206AF6A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5581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FF10BB-2641-49C4-87C5-58BCD8CA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5581650" cy="571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Light grey body text on white, or a brand-colour button whose border disappears against the page.</a:t>
            </a:r>
          </a:p>
        </p:txBody>
      </p:sp>
    </p:spTree>
    <p:extLst>
      <p:ext uri="{BB962C8B-B14F-4D97-AF65-F5344CB8AC3E}">
        <p14:creationId xmlns:p14="http://schemas.microsoft.com/office/powerpoint/2010/main" val="13283866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1390F6-A56F-4BAD-8DD4-25637D0C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9AD4F-CA53-4D8E-A8D2-166D6D89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BA27E-B03C-4504-BF62-92BDE1A6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8FEA5-4AB5-4D24-BD48-7A0E7A91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Contrast audit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B6BD4-ECA4-4D4E-A373-D443E0A3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measured check, repeated for every distinct colour pairing on the page.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CDED8-3396-45DB-A1FF-C8C66028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AFC19-466B-4010-AE46-8DF66BA3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77F08-5EC9-4776-A15B-B644EBAC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31ED2-1ACB-461E-AB50-B90B9BEC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8127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C757E-F0DE-4558-9CD3-1823BB77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62225"/>
            <a:ext cx="95631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List every foreground/background colour pairing used for text, icons and borders.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FA3AF-5675-4FFB-99E0-32827AEC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5DC3D-09DC-4AA1-9277-5748AD97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A612E-0893-4FE3-A846-88227E68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90875"/>
            <a:ext cx="95631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Measure each pairing's ratio with a contrast-checking tool.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CE040-B0C4-4E24-9F36-D84DEAFB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2D5F5-3FD1-4B65-BED5-A1A4BA1A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00680F-AB5E-4406-B013-D9240B2F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9525"/>
            <a:ext cx="95631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Record the ratio next to the required threshold for that pairing's role.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1913C-618E-4259-84E1-DBCA2B04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B9F82E-9638-4C87-9CE5-A9C4B7BA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9C200-6AAB-4F45-8A29-9FCDB323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48175"/>
            <a:ext cx="95631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Flag any pairing under threshold and note the specific hex values involved.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D1E685-5E76-47CA-A92C-5487EF79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0012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Tool: WebAIM Contrast Checker or a browser DevTools contrast inspector; both report a numeric ratio.</a:t>
            </a:r>
          </a:p>
        </p:txBody>
      </p:sp>
    </p:spTree>
    <p:extLst>
      <p:ext uri="{BB962C8B-B14F-4D97-AF65-F5344CB8AC3E}">
        <p14:creationId xmlns:p14="http://schemas.microsoft.com/office/powerpoint/2010/main" val="7604779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BFADD4-CB33-4971-A732-8872384F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8A8EE-1059-47A5-84FC-8A49C570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EE39C-1004-4F21-BFEC-7D360651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D5B2E-2DA3-4E45-B3FA-2FF95C30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Check 3 / 5 — focus visibility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DED07-4AE1-4A48-AAEE-766DB2C1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keyboard user only knows where they are on a page from a visible focus indicator.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94770-C15F-4A68-8C5D-1651E1A4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76CB2-5EAD-4D8D-BCA3-224C8BA5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69f3a42c84469"/>
          <a:srcRect xmlns:a="http://schemas.openxmlformats.org/drawingml/2006/main" l="9918" t="0" r="99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381250"/>
            <a:ext cx="4419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826BA-4FE8-4C8E-8B21-889A745D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6000750" cy="10287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WCAG 2.4.7 Focus Visible requires a visible indicator on every focusable element. WCAG 2.4.11 Focus Not Obscured (new in 2.2) requires that indicator not be hidden behind a sticky header or overlay.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F2F55-B2AE-4E00-A1CD-A538849B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6000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91C67-6826-4255-BE62-CE6ABD47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6A2C7-056C-4040-AB82-C38BA579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5581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4438C-6942-47CA-81AE-15C19BF7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581650" cy="571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Tabbing through the page always shows a clear outline or highlight on the active element.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722FEC-EEB0-4AE3-8DDF-2A9D7523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6000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65706-1238-41C9-A2D3-834A0C21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37122F-0BFF-4D66-8BB1-67492702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5581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5DCF45-1CFD-4C19-A12C-ADEB73D9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5581650" cy="571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outline: none removed in CSS with nothing put in its place; a focused link hidden under a fixed nav bar.</a:t>
            </a:r>
          </a:p>
        </p:txBody>
      </p:sp>
    </p:spTree>
    <p:extLst>
      <p:ext uri="{BB962C8B-B14F-4D97-AF65-F5344CB8AC3E}">
        <p14:creationId xmlns:p14="http://schemas.microsoft.com/office/powerpoint/2010/main" val="13767332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A24BB0-6924-4E28-B54B-3A6121FD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B82EA-494D-4D69-9A59-5CB98302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925BF-FC91-4559-B578-1FF9096F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8F171-36D0-45C5-BED7-EF457446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Keyboard navigation audit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0722B-956E-43C7-B27F-698FB32E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Unplug the mouse and try to complete the page's core task.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FED0B-442C-4849-93B7-B8798EC3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CA606-5EB3-436C-85F3-FD592369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29F0A-F6F0-4136-87EF-3319E0B0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FA9BA-7BCA-44E7-9263-6FF038FF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8127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2B77C-49A2-4292-AF04-BD117303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62225"/>
            <a:ext cx="95631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Disconnect or ignore the mouse; use Tab, Shift+Tab, Enter and Space only.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BB509-5E47-4D9D-8E69-DFB93C44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86742-DAAE-48BB-B85D-35A4706A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68514-1CF4-43D0-A773-5525CC96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90875"/>
            <a:ext cx="95631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Confirm the tab order matches the visual reading order (WCAG 2.4.3).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5CB75-A7FA-4854-A5AC-F3C00D41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BBAE4-F08D-4D42-BCE9-13EECE0F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808C11-4F44-4A7D-83C2-0C23ABFF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9525"/>
            <a:ext cx="95631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Check every menu, modal and form can be opened, used and closed by keyboard.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33E41-2976-4745-A820-2CA3EFE7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607DFF-F393-48BF-953A-CD90467E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628008-30F8-4562-9B94-CEAFFF2B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48175"/>
            <a:ext cx="95631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Confirm nothing traps focus so it cannot be tabbed back out (WCAG 2.1.2).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CA21AC-675C-40C4-BBA7-C042EEDA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0012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keyboard trap inside a modal is one of the most common, and most severe, findings in a real audit.</a:t>
            </a:r>
          </a:p>
        </p:txBody>
      </p:sp>
    </p:spTree>
    <p:extLst>
      <p:ext uri="{BB962C8B-B14F-4D97-AF65-F5344CB8AC3E}">
        <p14:creationId xmlns:p14="http://schemas.microsoft.com/office/powerpoint/2010/main" val="18400765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3FCBCA-D864-4EE2-9200-46ED0B7D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0EB8B-2577-4918-87D5-19EB25F5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BB30B-AEDC-4381-B40C-493E54FF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05A80-DDB1-4907-82E6-ECE46C0D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Check 4 / 5 — text alternatives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B1916-C4D6-4E6F-A83F-5B134613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Every non-text item needs an alternative that matches its role, not a generic label.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D77B4-AAB9-4BD1-B204-0F0EBE68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CBB28-DD7B-4929-A4ED-2003949A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f5344b7d80489e"/>
          <a:srcRect xmlns:a="http://schemas.openxmlformats.org/drawingml/2006/main" l="11609" t="0" r="116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381250"/>
            <a:ext cx="4419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AA4D8-A891-47F2-B32C-8E86346B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6000750" cy="10287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WCAG 1.1.1 Non-text Content requires a text alternative that serves the same purpose. A decorative image gets an empty alt; an informative image gets a description; a functional icon gets the action it performs.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5581EA-3AE4-4FB7-B8A8-B2E7F2D9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6000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67456-DEA0-4AF3-A9D9-3DF5AAC1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8B821-37B2-4D65-83E2-0097AFEF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5581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5811C-F85B-4751-9B4F-DC6154E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581650" cy="571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chart's alt text states its conclusion; a search-icon button's alt or label reads “Search”.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3DCA1-2BCD-4E69-B52B-833339ED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6000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906BC-8D43-4335-9B8F-66752516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F78343-CB23-448F-8227-EB0E53CE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5581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A2EC8B-C939-49B6-B8F3-A2CD0E78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5581650" cy="571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alt="image123.jpg", a missing alt attribute entirely, or decorative alt text read aloud as noise.</a:t>
            </a:r>
          </a:p>
        </p:txBody>
      </p:sp>
    </p:spTree>
    <p:extLst>
      <p:ext uri="{BB962C8B-B14F-4D97-AF65-F5344CB8AC3E}">
        <p14:creationId xmlns:p14="http://schemas.microsoft.com/office/powerpoint/2010/main" val="3587200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5A5A9-43EC-49C8-8646-35C32704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39CBA-52C8-4E19-97D4-157A5F3C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63CF7-91BF-4B69-A59E-2541AB4F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4851B-FF07-4D1E-A767-26D42789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Text alternative audit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49A01-FF0B-4DA3-978D-13A510EA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Classify before you write — the right alt text depends on the image's job.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F3360-3D4D-4FDC-856B-740B2FAF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84AFC-8B29-41B8-B5D3-07A9BBDB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F5AE2-CB6E-4C2C-AF5B-E3668869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05693-3C97-46F2-A48A-D9C5DAD1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8127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07446-5973-4FE9-A319-C934CCE7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62225"/>
            <a:ext cx="95631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List every image, icon and SVG on the page.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8C545-3F55-4F47-94AD-B3F94B5E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0F9F0-2BDA-4978-966D-0AC6D68F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AA530-49F6-4C3C-B763-FC5B35E5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90875"/>
            <a:ext cx="95631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Classify each as decorative, informative, functional or complex.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F7C4C-8FFF-4DF0-BECA-9901668F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BB35D-3CE2-4EF1-85B5-D2132CEE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D07653-3A88-4ECC-B6D3-EC57D5D2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9525"/>
            <a:ext cx="95631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Write or check alt text matched to that role (empty for decorative, descriptive for informative).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894073-EB4C-450E-A5D5-71C6EE40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4725AC-90D2-4E36-BD7D-AEA867CC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946712-7788-4420-802A-CD777C97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48175"/>
            <a:ext cx="95631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Turn off images in the browser and confirm the page still makes sense.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E6CF22-6794-41B7-B2EC-68FC70FA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0012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For a complex image such as a chart, put the full explanation in visible or linked text, not only in the alt attribute.</a:t>
            </a:r>
          </a:p>
        </p:txBody>
      </p:sp>
    </p:spTree>
    <p:extLst>
      <p:ext uri="{BB962C8B-B14F-4D97-AF65-F5344CB8AC3E}">
        <p14:creationId xmlns:p14="http://schemas.microsoft.com/office/powerpoint/2010/main" val="10184874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51FF51-F130-4A1F-BD71-BA8D95A8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EAB88-9F0A-47E1-AF36-A90A8D6C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51FD9-C285-42A1-9F10-5528A357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D9B47-9288-45B6-8662-CA032CCD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Assistive technology in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23A12-707D-46BB-91DB-A7B6871A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An automated scan cannot tell you what a real screen-reader pass reveals.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9071F-64BA-4899-ABC5-B0269126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CE947-CF7F-4C90-AC11-D9B38854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020563a784f26"/>
          <a:srcRect xmlns:a="http://schemas.openxmlformats.org/drawingml/2006/main" l="0" t="22511" r="0" b="225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381250"/>
            <a:ext cx="4419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C4855-0E94-45ED-89A1-8D303E2E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6000750" cy="1066800"/>
          </a:xfrm>
          <a:prstGeom xmlns:a="http://schemas.openxmlformats.org/drawingml/2006/main" prst="roundRect">
            <a:avLst>
              <a:gd name="adj" fmla="val 10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345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Automated tools check for missing attributes and structural errors, not for whether the experience actually makes sense read aloud, navigated by switch, or controlled by voice. A real audit runs the page with the tool a reader would use.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DDF12E-6FA9-4AD3-AFC4-653A0F94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6000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8A5FA-8C03-4B13-AF07-68FFAE4E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E5330-19CE-4058-BD9D-EED05239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5581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Screen readers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61E81-D947-4604-A6F2-26970921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5581650" cy="190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NVDA, JAWS or VoiceOver read the accessibility tree aloud, in document order.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7445B-45FC-468B-A654-D065BD7B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6000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6B344-6351-4302-A9C4-7BA00121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7C1EA-2528-43AC-ABC8-EBD5E933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5581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Switch and voice 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B27F6E-0F64-4C19-B136-B1AC3AA8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5581650" cy="190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single-switch or voice-command user depends entirely on a correct, complete tab order.</a:t>
            </a:r>
          </a:p>
        </p:txBody>
      </p:sp>
    </p:spTree>
    <p:extLst>
      <p:ext uri="{BB962C8B-B14F-4D97-AF65-F5344CB8AC3E}">
        <p14:creationId xmlns:p14="http://schemas.microsoft.com/office/powerpoint/2010/main" val="5960046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7F78C-8017-4BE6-84C9-EBA96266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225D3-86BA-40D5-A6B3-D0DE5C66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5D64A-92F3-4E5C-8F66-C922DA6B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A5E9E-C834-40DC-9129-82698972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Captions and media alternatives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3A690-949C-4833-9D85-485E10E4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Audio and video content need their own, separate accessible versions.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8DDFC-52C2-4893-A9AC-DF01D7A6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4B9CF-BC42-4E56-94DB-424D1BDC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5b1cc910e43ea"/>
          <a:srcRect xmlns:a="http://schemas.openxmlformats.org/drawingml/2006/main" l="11534" t="0" r="115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381250"/>
            <a:ext cx="4419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C99CF-BD48-473E-9FCF-07EC4017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6000750" cy="10287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WCAG 1.2.2 requires captions for prerecorded audio in video; 1.2.4 extends this to live audio; 1.2.5 asks for audio description of important visual information a viewer would otherwise miss.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6E2362-2C38-4569-891A-93BBFBDD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6000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817CF-FC77-419E-94F6-4B3F87A2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23ACE-2619-4ECA-B6A4-2AEE53E3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5581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CC522-E532-4876-8C6A-4DA44F35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581650" cy="571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Accurate, synchronised captions cover dialogue and relevant sound effects; a transcript is available.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69998-5DEC-42A0-8FA9-B704F040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6000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CECB37-6B99-4273-87DC-C73880E9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22349-2977-4B3E-A679-1FEF88C7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5581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2CD58-0718-45F9-A58B-49E7D623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5581650" cy="571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Auto-generated captions left uncorrected, or a video with no caption track at all.</a:t>
            </a:r>
          </a:p>
        </p:txBody>
      </p:sp>
    </p:spTree>
    <p:extLst>
      <p:ext uri="{BB962C8B-B14F-4D97-AF65-F5344CB8AC3E}">
        <p14:creationId xmlns:p14="http://schemas.microsoft.com/office/powerpoint/2010/main" val="13970681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AF76F8-CF14-4175-85A0-5772A77F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8D02D-07B5-4334-B536-526164CC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C8BB8-7AD3-4FFC-85F3-681969D3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3EE5B-C646-4F12-A78D-51DD9B80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Check 5 / 5 — motion and animation settings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937F2-5B77-4501-96E2-76CCF1BD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Movement on screen can disorient or physically harm some readers.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9BE86-F423-465E-A458-EBBA7C6D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369A3-16A1-4B38-AC11-28E3A43A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C36D0-4BBB-4FC3-A34C-61367AB1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102870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WCAG 2.2.2 Pause, Stop, Hide requires a control for any moving, blinking or auto-updating content lasting more than five seconds. WCAG 2.3.3 (AAA) asks that motion triggered by interaction can be disabled entirely for readers who experience vestibular discomfort.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FBE72-3474-46AB-8758-20C8D4FB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5286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D64A9-176B-47BD-9A4E-0BBC1B28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ADB21-FCE9-45DD-B3EA-548875A3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75194-EE67-4148-8754-B9F9AE04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4867275" cy="10287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An auto-advancing carousel has a visible pause button; the page honours prefers-reduced-motion.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49344-0BA3-4B1D-AB9D-C4F57D27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695700"/>
            <a:ext cx="5286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459D5-AA47-4740-85DE-5F31A342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9052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2B3FD-12AC-4C8A-B081-555003FD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09575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E7B625-68F3-476A-9E22-DF209BF3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476750"/>
            <a:ext cx="4867275" cy="10287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Background video autoplays with no pause control, or a parallax effect cannot be turned off.</a:t>
            </a:r>
          </a:p>
        </p:txBody>
      </p:sp>
    </p:spTree>
    <p:extLst>
      <p:ext uri="{BB962C8B-B14F-4D97-AF65-F5344CB8AC3E}">
        <p14:creationId xmlns:p14="http://schemas.microsoft.com/office/powerpoint/2010/main" val="8160774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214F77-7EA4-494D-BCF9-13978DE3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FB2A4-C48E-4FEC-9F5F-4BB1F840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081EE-CB41-4950-95D6-9AA95F00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6F9A9-B8CD-4B60-88A9-09E9A39D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Motion audit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4AABA-912A-4F9D-84E3-2CA81F96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Check both the default experience and the reduced-motion experience.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DCF58-716D-4AF1-9C3D-936E8F6B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31C20-BD1C-49E7-A39D-AE7463A6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694D3-5789-4BA4-AD8D-30269D64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EE0BC-560E-4B44-B16C-5F47D8AA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8127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EBF0F-2496-4406-9FE0-78AD9BC0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62225"/>
            <a:ext cx="95631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List every animation, auto-playing carousel, video and auto-refreshing region on the page.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7273F-8ECA-430B-880B-2FC2AE67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F42F2-525A-440E-97DE-5334F836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29E3D-EDDB-44A8-A378-37B8FF4B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90875"/>
            <a:ext cx="95631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Confirm each one lasting over five seconds has a visible pause, stop or hide control.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EBED0-0F3B-49E5-8F5D-206A2169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565CF-0CF9-47B5-A265-56160FFE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A585A6-3E05-410E-92C7-280E9A61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9525"/>
            <a:ext cx="95631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Enable the OS or browser's reduced-motion setting and reload the page.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0723C-DA60-4BF5-A164-F1E9C442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520219-13E2-450D-9A3E-D0BF829E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A91321-135F-4240-A68B-6C4C5770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48175"/>
            <a:ext cx="95631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Confirm large parallax or zoom effects are removed or substantially reduced under that setting.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160973-2B9F-4E3D-B5EA-03FBF6E2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0012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Test with prefers-reduced-motion: reduce active — this is a real, checkable browser setting, not a theoretical one.</a:t>
            </a:r>
          </a:p>
        </p:txBody>
      </p:sp>
    </p:spTree>
    <p:extLst>
      <p:ext uri="{BB962C8B-B14F-4D97-AF65-F5344CB8AC3E}">
        <p14:creationId xmlns:p14="http://schemas.microsoft.com/office/powerpoint/2010/main" val="4904084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7B8F71-94F9-423E-B864-63262453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E8351-F8F8-4CDB-8F62-C29883F4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E615F-F306-4313-9C88-E6181457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7267E-8463-46FC-99BA-E5320868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Zoom, reflow and text resize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3AEE2-B187-4741-956D-91CC0B25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Low vision is far more common than total blindness, and easier to test for.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1016B-22C3-4643-8083-27C02D9E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7AF9E-3327-42BF-9B9A-BBF2B7E3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3377d45f34074"/>
          <a:srcRect xmlns:a="http://schemas.openxmlformats.org/drawingml/2006/main" l="7063" t="0" r="70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381250"/>
            <a:ext cx="4419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5B4B7-C673-46AF-B913-E14B1FE7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6000750" cy="10287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WCAG 1.4.4 requires text to remain readable and functional at 200% zoom. WCAG 1.4.10 Reflow requires content to reflow into a single column at that zoom, without needing to scroll in two directions.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AEC9B-F373-4965-8292-33A82074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6000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504DE-E18D-4A98-B64C-07D0303B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05DDA-E37D-4AC2-A387-C6AFE4CE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5581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05D8B-EFDE-4360-A299-E5B7355F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581650" cy="571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At 200% browser zoom, text reflows, nothing overlaps, and every control stays reachable.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CAFA2-8D50-421A-9088-8EEAE39F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6000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A7799-D0B8-4D2C-A37F-0D560F2B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715F0-92C9-4E5D-9E42-941EE107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5581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744F3-A5EA-4765-AF71-93F43DB5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5581650" cy="571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Zooming causes horizontal scrolling, clipped text, or overlapping fixed-position elements.</a:t>
            </a:r>
          </a:p>
        </p:txBody>
      </p:sp>
    </p:spTree>
    <p:extLst>
      <p:ext uri="{BB962C8B-B14F-4D97-AF65-F5344CB8AC3E}">
        <p14:creationId xmlns:p14="http://schemas.microsoft.com/office/powerpoint/2010/main" val="20743448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5E8E4C-9773-4A0D-AA18-AD01EC10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145CD-FAE7-4D70-9F99-E4391615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E6999-A856-448C-959D-69D26371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48113-98D5-4EC8-8FEA-5C506384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Audit tooling and process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4A804-C252-4A69-9809-44CD048D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Automated scanners are a fast first pass, never the whole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E2896-763F-41D5-B712-BAD617FE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8AE29-7DAE-4857-87CA-7BBF98ED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da81c9b4b430b"/>
          <a:srcRect xmlns:a="http://schemas.openxmlformats.org/drawingml/2006/main" l="9918" t="0" r="99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381250"/>
            <a:ext cx="4419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17E52-2DFC-4C73-9CC6-ED02A741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6000750" cy="1066800"/>
          </a:xfrm>
          <a:prstGeom xmlns:a="http://schemas.openxmlformats.org/drawingml/2006/main" prst="roundRect">
            <a:avLst>
              <a:gd name="adj" fmla="val 10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345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Automated tools such as axe DevTools, Lighthouse and WAVE reliably catch missing attributes and contrast failures. They cannot judge whether alt text is meaningful, whether a tab order makes sense, or whether captions are accurate.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AA2EC-2CD7-4088-94B5-24BDAF24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6000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80E04-214C-4ECD-A25D-2D728EDD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75BAC-69FC-436E-9B9F-8F572EAA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5581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Automated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5C12D-8E51-4B40-91FF-0A7C1B9F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5581650" cy="190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Run a scanner first to catch structural errors quickly and cheaply.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E2DD9-EB7F-4878-9349-7B0C4821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6000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6A8E18-20D5-400D-B448-F10A2243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B028A1-DED4-462D-B23E-8A060F62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5581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Manual 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2611F-1FFD-4365-8C8E-30C599BD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5581650" cy="190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Follow with keyboard-only and screen-reader passes for anything a scanner cannot judge.</a:t>
            </a:r>
          </a:p>
        </p:txBody>
      </p:sp>
    </p:spTree>
    <p:extLst>
      <p:ext uri="{BB962C8B-B14F-4D97-AF65-F5344CB8AC3E}">
        <p14:creationId xmlns:p14="http://schemas.microsoft.com/office/powerpoint/2010/main" val="75747010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9C95BC-D787-46C5-A3DD-68CF5009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AD483-E328-483D-BA78-6442826D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200B4-E2BB-4708-8015-0185DECB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80164-8187-4370-B5DD-6322782B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automated tools miss vs. catch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AEA5C-659C-4C20-A693-38562EAB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Knowing the boundary tells you where to spend manual review 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040BD-DB80-4B5B-8B02-B2439D21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602BC-93FF-4AAD-BD45-9BBD7834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D892D-4A3D-4305-844C-67EB610A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3619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Finding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DC290-90C8-421A-94F2-53F8C921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95550"/>
            <a:ext cx="190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Detected by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18D1D-4873-4A63-BDEC-3CF24010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4000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Note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FBF0A-4CBC-4D36-9A8C-CC96121E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10477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6CC8F-5C8B-4C1D-A055-3ACF80C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36195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Missing alt attribute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C6369-8C3E-4418-8679-01AE5923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9900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Automated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93C9F-84C0-4B54-A5FC-3866C1F2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9900"/>
            <a:ext cx="4000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Flags the absence, not whether text present is meaningful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27749-D5CB-4ECF-9605-2AAECCB8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8050"/>
            <a:ext cx="10477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9308E-59CC-421D-AD76-17DDB987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36195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Contrast ratio below threshold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FE812-EDFE-46D6-913C-A6671398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00450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Automated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73455-06B6-4FCA-86BA-28D67F58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4000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Measures precisely against the numeric ratio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DDD3F-40F6-4763-AD4B-CB5BD401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10477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FE484B-A9A4-4029-A2FA-9FD1E9C4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36195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Alt text quality and relevance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271324-D369-41E1-9A8B-948ED14B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91000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Manual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A2184C-E054-420B-BE67-641C59B1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4000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Requires human judgement of purpose and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88E6C8-3F59-407B-B43C-A417FF95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10477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0C19ED-ED8D-4435-AD4C-DDABB07A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36195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Logical tab order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424547-C4ED-4823-83DE-26E514B7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81550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0279C0-C322-483C-A6C7-5C6F3207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81550"/>
            <a:ext cx="4000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Requires an actual keyboard pass through the page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189AB5-8D62-4A74-959A-19123DFE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10477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646958-A5E1-4B1E-A402-11E1D0ED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72100"/>
            <a:ext cx="36195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Caption accuracy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D9926E-61B4-46B8-B58E-9F9E0322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72100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Manual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83FB44-5038-4B18-988B-31D8ED54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72100"/>
            <a:ext cx="4000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Requires watching with sound off, captions 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9F9880-8939-486A-A8BD-87F1479D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477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037281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FDC2D8-E3C8-46D6-9D6C-735AF4F2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79E8A-03DC-4664-873D-73228F5F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5AEF2-2C70-4202-A532-5544AEC9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98008-B3B7-4478-AC60-58882A36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Universal design — the physical and digital parallel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2F652-8281-4C7F-AEF0-41F21BD8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Accessible features built for a specific need routinely help everyone.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F3E55-34E3-42F9-9B58-D0026A40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2BF73-AEAE-4F68-984B-A0329908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c61417c374c4c"/>
          <a:srcRect xmlns:a="http://schemas.openxmlformats.org/drawingml/2006/main" l="9918" t="0" r="99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381250"/>
            <a:ext cx="4419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A1536-C303-4ECE-A312-767D64CE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6000750" cy="10287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An accessible parking space or a kerb cut was built for wheelchair users, but a parent with a stroller and a delivery worker with a trolley use it too. Digital accessibility features work the same way.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EA9F8-E8FF-4CD1-A7E5-FCF51606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6000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EFAFA-3595-41BD-951D-0B32D139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CC60FF-E726-428E-B5D8-27C4A983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5581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Captions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67722-855E-48E2-96E6-F272B64D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581650" cy="571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Built for deaf and hard-of-hearing users; used constantly in noisy rooms and silent offices.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C5E55-B15E-462A-A841-45B97CDE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6000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ABEF33-BED2-404D-87EA-E8D73AA1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8238B-9460-4CD1-86FD-81099D24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5581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High contrast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3FA23D-522C-463F-BA2B-E751FAF5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5581650" cy="571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Built for low vision; makes every reader's page legible in direct sunlight.</a:t>
            </a:r>
          </a:p>
        </p:txBody>
      </p:sp>
    </p:spTree>
    <p:extLst>
      <p:ext uri="{BB962C8B-B14F-4D97-AF65-F5344CB8AC3E}">
        <p14:creationId xmlns:p14="http://schemas.microsoft.com/office/powerpoint/2010/main" val="2069047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FFCF82-5A06-4A3F-8F47-20EECEF6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3A903-C873-45AB-B17C-68FBAF90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E7B43-DFAE-4271-ADA3-D21140FA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58D59-0D7A-4551-B0E2-E772E34A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Severity and prioritisation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9CC8B-A33C-4E8F-AA37-0F662669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Not every finding blocks a task equally — triage before you fix.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26EED-DFF1-4208-A85F-240FB571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AB03B-3A19-4C6C-A3DF-F253497A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0A2A5-12C9-47F8-94FF-5D654BB3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190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Severity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A17FC-0B04-4BFD-8CA3-D212FC01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95550"/>
            <a:ext cx="4000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B9F5A-4A2E-428D-8113-362EE063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95550"/>
            <a:ext cx="33337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2A4AC-688B-4E10-A98C-D7DDF2A1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10477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156E0-DEFE-4239-8AA5-612EA0F1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78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Critical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B54624-CE14-4EF7-8F02-584DBC35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9900"/>
            <a:ext cx="40005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Blocks a core task entirely for some users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0396E-786A-4B24-B127-FF8FE4A7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09900"/>
            <a:ext cx="33337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Keyboard trap in the checkout form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6915B-2B77-4990-B468-B9D2AEA1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10477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812092-83EF-4082-B3BA-8CD2797C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78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Serious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B6E409-D343-46CE-ADB4-C83FC3E0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40005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Makes a task very difficult but not impossible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CB829B-DF8D-49B4-A811-F5C76CD2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33337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Contrast failure on primary body 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85B171-AE2F-4A72-87BA-EF954AD6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10477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8C2B70-C887-4EF0-B973-BC00B57F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78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Moderate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F6F764-02F5-46E5-9BCA-37F79465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67200"/>
            <a:ext cx="40005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Adds friction without blocking the task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9E050-69BF-47E4-AC1B-4EA0A82E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67200"/>
            <a:ext cx="33337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Inconsistent heading levels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10DB7D-8CDF-4161-BABC-D93BAB45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63F58F-F9B6-4D58-93CE-11CE9C84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78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Minor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9D0977-98A0-4D08-9233-A578B717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95850"/>
            <a:ext cx="40005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Cosmetic or edge-case impact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68805C-F9E1-4935-B4BA-CD231E46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95850"/>
            <a:ext cx="33337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31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Slightly imprecise alt text on a decorative image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85C117-941B-418F-9B3A-9AFE42D7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72100"/>
            <a:ext cx="10477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453613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9095F0-C0DC-46EB-AF67-75451599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D4F8E-59B3-48C9-8991-9C0FABFC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BF6F4-AEFC-4A4B-834F-F4EFCBB1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FF00E-A038-4FB8-BA87-CDDF66B0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Writing up a finding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1775D-1129-4FA1-B252-4A00A302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finding is only useful to a developer if it is specific enough to act 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BD395-B485-41C2-A058-E3A7B378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96853-E6A2-428F-B71A-F0410CBB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E2129-6CFE-4510-969C-FADBB187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C113C-7EB2-4396-AB92-9285AF8A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8127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76F4B-1FEE-4E32-B639-FFCB1966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62225"/>
            <a:ext cx="95631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Location: the exact page, component or element where the problem occurs.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868A5-CF7B-4FA8-96F4-339B109C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B6D2D-9FFA-447A-A748-86C9574F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9D377-40A1-4569-B921-9E3DA0F7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90875"/>
            <a:ext cx="95631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Criterion: the specific WCAG success criterion it fails, by number.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693F50-6897-471C-AE56-CA91B90B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27409-5687-46B7-82F5-4594ED00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94D66-0665-42DE-9727-C71F4445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9525"/>
            <a:ext cx="95631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Impact: which users are blocked, and how severely (see the previous slide).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3B567-A25C-44B9-BC61-338D4E1F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AF01B-8B93-4386-A0A6-C60EB83A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9DBF13-FCFC-434D-9F52-B2E6E829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48175"/>
            <a:ext cx="95631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Fix and retest: a concrete proposed change, and how you will confirm it worked.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252D7A-B7A1-432C-8931-D4DC3C6A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0012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finding without a WCAG reference is an opinion; a finding with one is a testable claim.</a:t>
            </a:r>
          </a:p>
        </p:txBody>
      </p:sp>
    </p:spTree>
    <p:extLst>
      <p:ext uri="{BB962C8B-B14F-4D97-AF65-F5344CB8AC3E}">
        <p14:creationId xmlns:p14="http://schemas.microsoft.com/office/powerpoint/2010/main" val="1623582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17608-1095-4D1C-8FAF-A307C349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F7EC1-EABF-411E-896B-B8EB993A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75866-E36B-4B7F-9195-0F1ACB9C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0FAE9-7B8E-435E-A7E9-3D00D6BB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Week 8 studio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C6753-AE30-4191-811E-A63222B6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What you produce and submit for this session.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DEF70-295B-4030-8EAB-9F2CB930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D3D1E-98F7-4E5C-A5E8-C99B728C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9FFF0-70CD-4262-8197-8778E363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07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FB3ED-09B2-49F8-9559-948763D7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76500"/>
            <a:ext cx="81915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20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Choose a page from your own project or a public site. Run the five-part audit: headings, contrast, focus visibility, text alternatives and motion settings.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FC33D-EB50-4919-AAE6-74B28A37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07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Constraints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63745-1E49-452C-B132-05D5E470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38500"/>
            <a:ext cx="8191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355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Every finding must name its WCAG 2.2 success criterion and a severity rating. Test at least one check with a real keyboard-only or screen-reader pass, not tooling alone.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4042C-8C8C-4D84-972C-C2DAB0DD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000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07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Evidence to submit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9BD0C-9CD1-45F0-8694-0E76A30D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48150"/>
            <a:ext cx="8191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355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 five-row findings table (check, WCAG reference, severity, evidence, proposed fix) and 100 words on the single highest-severity finding.</a:t>
            </a:r>
          </a:p>
        </p:txBody>
      </p:sp>
    </p:spTree>
    <p:extLst>
      <p:ext uri="{BB962C8B-B14F-4D97-AF65-F5344CB8AC3E}">
        <p14:creationId xmlns:p14="http://schemas.microsoft.com/office/powerpoint/2010/main" val="214502880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FA6107-0949-47A1-B27C-406C1F39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207C9-F1B8-448F-8C1A-B8E0155A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7F13A-EFBB-4F63-B846-38C9BD1F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FF168-6C59-43F7-87F1-2938D6ED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Review rubric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175EF-D5C0-4C82-A096-CFEC6C4F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How this audit is assessed, and how it feeds into Assignment 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5E09F-87B8-4EA2-89FC-BF3A3BDC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3BB04-57BE-4AAB-824C-DFE9804B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F0969-9A08-4EE8-AA5F-2D741E18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12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AD164-12F9-4A7E-BDD5-705BC1B4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76500"/>
            <a:ext cx="7429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All five checks attempted, not just the easiest ones.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F4EA5-7AEF-4468-9D0E-FE2A0188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9953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2C243-09A8-497C-AD6D-F9E721D4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12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CA77CA-BCE4-4CB4-B6BD-1D94D094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19450"/>
            <a:ext cx="7429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Each finding cites the correct WCAG 2.2 success criterion.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DA8F42-7EE4-4B04-BB30-60D2F2C6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9953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74C0F7-8125-4B1E-9300-DEE767B5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12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62150-78CF-4D61-B592-A84F8A48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62400"/>
            <a:ext cx="7429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Findings include what was tested and how, not just an assertion.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8D5861-B088-41DC-938D-7A708324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9953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C1BCB5-19E2-47BB-B6B0-3CDBAA5D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12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Actionability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7F0B7-0290-47C2-84C7-9490BE62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05350"/>
            <a:ext cx="7429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Each finding pairs with one concrete, testable proposed fix.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0F77F1-9338-4D88-95E6-FD2FC851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0175"/>
            <a:ext cx="9953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77227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C7D422-F480-41C3-8023-E7679024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7DEE9-4327-4AD9-A0D5-6674CE73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649C8-A5D0-45E0-88F1-15B972A7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2C13A-B6EC-43DC-9EBB-D6E1CC23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Common findings from real audits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61038-9767-40BC-BB00-D75AA7E4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same handful of problems recur across almost every unreviewed site.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15AA7-2422-411B-887F-13F9CC03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A695D-9BD3-4001-B6FB-B0800CED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99456-1C99-4706-91D8-8671DB37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3333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762B2-E335-458E-8978-E1D56505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BF19F-A37F-48FC-9012-7C0E45B9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914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Structure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77231-37BF-42D9-993B-736734CF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914650" cy="1266825"/>
          </a:xfrm>
          <a:prstGeom xmlns:a="http://schemas.openxmlformats.org/drawingml/2006/main" prst="roundRect">
            <a:avLst>
              <a:gd name="adj" fmla="val 902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Skipped heading levels; multiple h1s; landmark regions missing or duplicated.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9893EA-5618-4431-9DD6-6B95C392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76500"/>
            <a:ext cx="3333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171D8-3D26-4371-90B1-1141DF5B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860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BEF7A-FC7A-45E4-8118-57AADA9E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76550"/>
            <a:ext cx="2914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Interaction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739B6-501F-41E1-8BB1-07B5B33B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257550"/>
            <a:ext cx="2914650" cy="1266825"/>
          </a:xfrm>
          <a:prstGeom xmlns:a="http://schemas.openxmlformats.org/drawingml/2006/main" prst="roundRect">
            <a:avLst>
              <a:gd name="adj" fmla="val 902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Removed focus outlines; keyboard traps in modals and menus; unlabelled icon buttons.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C9DDA-D57B-4291-ABDA-F245FF60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76500"/>
            <a:ext cx="3333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F30104-0341-43E1-B2EC-EDCE8A75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01EA34-5CD5-44CA-B053-08770E23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76550"/>
            <a:ext cx="2914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2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Media and colour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D752ED-A99E-4A8B-85CD-4834A217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57550"/>
            <a:ext cx="2914650" cy="1266825"/>
          </a:xfrm>
          <a:prstGeom xmlns:a="http://schemas.openxmlformats.org/drawingml/2006/main" prst="roundRect">
            <a:avLst>
              <a:gd name="adj" fmla="val 902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Body text under 4.5:1 contrast; decorative alt text on informative images; uncaptioned video.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1A75D0-6A9B-478D-87FB-DA9F61E3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29200"/>
            <a:ext cx="102870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74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Recognising these patterns quickly is what turns a slow audit into a fast one.</a:t>
            </a:r>
          </a:p>
        </p:txBody>
      </p:sp>
    </p:spTree>
    <p:extLst>
      <p:ext uri="{BB962C8B-B14F-4D97-AF65-F5344CB8AC3E}">
        <p14:creationId xmlns:p14="http://schemas.microsoft.com/office/powerpoint/2010/main" val="16303792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05240-22A6-4C2D-84F4-662068B1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EB42E-CEC4-4C11-ACF2-CAD01D75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18E16-9D09-4273-8E32-08F79E6C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52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AUDIT  /  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68E65-968A-42CB-B061-3DDB172E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Recommended practice and preparation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F36AD-7FD2-4174-9B3C-7B50AEC6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382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Before next session.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7038A-5FB0-447C-BF87-301002E6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5F464-C543-4088-BD20-7FEE9471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23857-F180-4248-812A-5F2EB9FE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857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07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Standards reference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D5D33-1B80-4FF5-90A9-CF357C78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28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W3C, Web Content Accessibility Guidelines (WCAG) 2.2: https://www.w3.org/TR/WCAG22/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FEE90-52CC-4950-B97A-DC20EEC4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238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07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Tooling reference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D1791-0145-473C-AA5E-36C1D482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02870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241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WebAIM, Contrast Checker: https://webaim.org/resources/contrastchecker/ — W3C WAI, How to Meet WCAG (Quick Reference): https://www.w3.org/WAI/WCAG22/quickref/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BC219-8420-47D6-B44E-71B2E6C8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857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07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Bring to Week 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C5F28-3198-4EAF-B4D2-AF6935AA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9906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78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Your completed five-part audit findings table, ready to inform this week's content-system and navigation planning.</a:t>
            </a:r>
          </a:p>
        </p:txBody>
      </p:sp>
    </p:spTree>
    <p:extLst>
      <p:ext uri="{BB962C8B-B14F-4D97-AF65-F5344CB8AC3E}">
        <p14:creationId xmlns:p14="http://schemas.microsoft.com/office/powerpoint/2010/main" val="15697957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2026-09-13T07:20:03.8450000Z</dcterms:created>
  <dcterms:modified xsi:type="dcterms:W3CDTF">2026-09-13T07:20:03.8450000Z</dcterms:modified>
</coreProperties>
</file>