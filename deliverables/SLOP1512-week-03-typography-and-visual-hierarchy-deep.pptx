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6af973c994743" /><Relationship Type="http://schemas.openxmlformats.org/officeDocument/2006/relationships/extended-properties" Target="/docProps/app.xml" Id="R4b5973347152406f" /><Relationship Type="http://schemas.openxmlformats.org/officeDocument/2006/relationships/officeDocument" Target="/ppt/presentation.xml" Id="R516b8509bbaa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b726f7629947f6"/>
  </p:sldMasterIdLst>
  <p:notesMasterIdLst>
    <p:notesMasterId xmlns:r="http://schemas.openxmlformats.org/officeDocument/2006/relationships" r:id="R6cd39d2e27094d8c"/>
  </p:notesMasterIdLst>
  <p:sldIdLst>
    <p:sldId xmlns:r="http://schemas.openxmlformats.org/officeDocument/2006/relationships" id="256" r:id="R5cc62504c3ff43e3"/>
    <p:sldId xmlns:r="http://schemas.openxmlformats.org/officeDocument/2006/relationships" id="257" r:id="R32ba1aa71b384629"/>
    <p:sldId xmlns:r="http://schemas.openxmlformats.org/officeDocument/2006/relationships" id="258" r:id="R7aa9db238e9b443c"/>
    <p:sldId xmlns:r="http://schemas.openxmlformats.org/officeDocument/2006/relationships" id="259" r:id="R0c28f025b3f941da"/>
    <p:sldId xmlns:r="http://schemas.openxmlformats.org/officeDocument/2006/relationships" id="260" r:id="Rba4d421bea6f4cee"/>
    <p:sldId xmlns:r="http://schemas.openxmlformats.org/officeDocument/2006/relationships" id="261" r:id="R1d2f1f2544a14ca3"/>
    <p:sldId xmlns:r="http://schemas.openxmlformats.org/officeDocument/2006/relationships" id="262" r:id="R306142980f314d11"/>
    <p:sldId xmlns:r="http://schemas.openxmlformats.org/officeDocument/2006/relationships" id="263" r:id="R181073b941184ad2"/>
    <p:sldId xmlns:r="http://schemas.openxmlformats.org/officeDocument/2006/relationships" id="264" r:id="R978476317bf34995"/>
    <p:sldId xmlns:r="http://schemas.openxmlformats.org/officeDocument/2006/relationships" id="265" r:id="R1b26ad93459746dd"/>
    <p:sldId xmlns:r="http://schemas.openxmlformats.org/officeDocument/2006/relationships" id="266" r:id="R48fd013aea474911"/>
    <p:sldId xmlns:r="http://schemas.openxmlformats.org/officeDocument/2006/relationships" id="267" r:id="R99a0990a91b045e4"/>
    <p:sldId xmlns:r="http://schemas.openxmlformats.org/officeDocument/2006/relationships" id="268" r:id="Rf835c38330b2497e"/>
    <p:sldId xmlns:r="http://schemas.openxmlformats.org/officeDocument/2006/relationships" id="269" r:id="Re626c8f6a32344c8"/>
    <p:sldId xmlns:r="http://schemas.openxmlformats.org/officeDocument/2006/relationships" id="270" r:id="Rd4245b0c23544817"/>
    <p:sldId xmlns:r="http://schemas.openxmlformats.org/officeDocument/2006/relationships" id="271" r:id="Rdfae046d21e54b06"/>
    <p:sldId xmlns:r="http://schemas.openxmlformats.org/officeDocument/2006/relationships" id="272" r:id="R711509207e5f4d67"/>
    <p:sldId xmlns:r="http://schemas.openxmlformats.org/officeDocument/2006/relationships" id="273" r:id="Re1d44c1b856b4987"/>
    <p:sldId xmlns:r="http://schemas.openxmlformats.org/officeDocument/2006/relationships" id="274" r:id="R7c1fc1d3c3a24d25"/>
    <p:sldId xmlns:r="http://schemas.openxmlformats.org/officeDocument/2006/relationships" id="275" r:id="Rc4b36220d4d9429b"/>
    <p:sldId xmlns:r="http://schemas.openxmlformats.org/officeDocument/2006/relationships" id="276" r:id="R511b95922a27473e"/>
    <p:sldId xmlns:r="http://schemas.openxmlformats.org/officeDocument/2006/relationships" id="277" r:id="Rd17dd8a586fa416d"/>
    <p:sldId xmlns:r="http://schemas.openxmlformats.org/officeDocument/2006/relationships" id="278" r:id="R323346b358c44d08"/>
    <p:sldId xmlns:r="http://schemas.openxmlformats.org/officeDocument/2006/relationships" id="279" r:id="Rc18dbc1aa9a34716"/>
    <p:sldId xmlns:r="http://schemas.openxmlformats.org/officeDocument/2006/relationships" id="280" r:id="Re84c8f337e3d48b9"/>
    <p:sldId xmlns:r="http://schemas.openxmlformats.org/officeDocument/2006/relationships" id="281" r:id="Raae7457516a44976"/>
    <p:sldId xmlns:r="http://schemas.openxmlformats.org/officeDocument/2006/relationships" id="282" r:id="Rec2fb32e44a344da"/>
    <p:sldId xmlns:r="http://schemas.openxmlformats.org/officeDocument/2006/relationships" id="283" r:id="Rac3708cca4494b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e32686c5143b3" /><Relationship Type="http://schemas.openxmlformats.org/officeDocument/2006/relationships/slideMaster" Target="/ppt/slideMasters/slideMaster1.xml" Id="Re1b726f7629947f6" /><Relationship Type="http://schemas.openxmlformats.org/officeDocument/2006/relationships/notesMaster" Target="/ppt/notesMasters/notesMaster1.xml" Id="R6cd39d2e27094d8c" /><Relationship Type="http://schemas.openxmlformats.org/officeDocument/2006/relationships/presProps" Target="/ppt/presProps.xml" Id="R1e1c0ece4967478e" /><Relationship Type="http://schemas.openxmlformats.org/officeDocument/2006/relationships/tableStyles" Target="/ppt/tableStyles.xml" Id="R62694ebdbd6b4c50" /><Relationship Type="http://schemas.openxmlformats.org/officeDocument/2006/relationships/slide" Target="/ppt/slides/slide1.xml" Id="R5cc62504c3ff43e3" /><Relationship Type="http://schemas.openxmlformats.org/officeDocument/2006/relationships/slide" Target="/ppt/slides/slide2.xml" Id="R32ba1aa71b384629" /><Relationship Type="http://schemas.openxmlformats.org/officeDocument/2006/relationships/slide" Target="/ppt/slides/slide3.xml" Id="R7aa9db238e9b443c" /><Relationship Type="http://schemas.openxmlformats.org/officeDocument/2006/relationships/slide" Target="/ppt/slides/slide4.xml" Id="R0c28f025b3f941da" /><Relationship Type="http://schemas.openxmlformats.org/officeDocument/2006/relationships/slide" Target="/ppt/slides/slide5.xml" Id="Rba4d421bea6f4cee" /><Relationship Type="http://schemas.openxmlformats.org/officeDocument/2006/relationships/slide" Target="/ppt/slides/slide6.xml" Id="R1d2f1f2544a14ca3" /><Relationship Type="http://schemas.openxmlformats.org/officeDocument/2006/relationships/slide" Target="/ppt/slides/slide7.xml" Id="R306142980f314d11" /><Relationship Type="http://schemas.openxmlformats.org/officeDocument/2006/relationships/slide" Target="/ppt/slides/slide8.xml" Id="R181073b941184ad2" /><Relationship Type="http://schemas.openxmlformats.org/officeDocument/2006/relationships/slide" Target="/ppt/slides/slide9.xml" Id="R978476317bf34995" /><Relationship Type="http://schemas.openxmlformats.org/officeDocument/2006/relationships/slide" Target="/ppt/slides/slide10.xml" Id="R1b26ad93459746dd" /><Relationship Type="http://schemas.openxmlformats.org/officeDocument/2006/relationships/slide" Target="/ppt/slides/slide11.xml" Id="R48fd013aea474911" /><Relationship Type="http://schemas.openxmlformats.org/officeDocument/2006/relationships/slide" Target="/ppt/slides/slide12.xml" Id="R99a0990a91b045e4" /><Relationship Type="http://schemas.openxmlformats.org/officeDocument/2006/relationships/slide" Target="/ppt/slides/slide13.xml" Id="Rf835c38330b2497e" /><Relationship Type="http://schemas.openxmlformats.org/officeDocument/2006/relationships/slide" Target="/ppt/slides/slide14.xml" Id="Re626c8f6a32344c8" /><Relationship Type="http://schemas.openxmlformats.org/officeDocument/2006/relationships/slide" Target="/ppt/slides/slide15.xml" Id="Rd4245b0c23544817" /><Relationship Type="http://schemas.openxmlformats.org/officeDocument/2006/relationships/slide" Target="/ppt/slides/slide16.xml" Id="Rdfae046d21e54b06" /><Relationship Type="http://schemas.openxmlformats.org/officeDocument/2006/relationships/slide" Target="/ppt/slides/slide17.xml" Id="R711509207e5f4d67" /><Relationship Type="http://schemas.openxmlformats.org/officeDocument/2006/relationships/slide" Target="/ppt/slides/slide18.xml" Id="Re1d44c1b856b4987" /><Relationship Type="http://schemas.openxmlformats.org/officeDocument/2006/relationships/slide" Target="/ppt/slides/slide19.xml" Id="R7c1fc1d3c3a24d25" /><Relationship Type="http://schemas.openxmlformats.org/officeDocument/2006/relationships/slide" Target="/ppt/slides/slide20.xml" Id="Rc4b36220d4d9429b" /><Relationship Type="http://schemas.openxmlformats.org/officeDocument/2006/relationships/slide" Target="/ppt/slides/slide21.xml" Id="R511b95922a27473e" /><Relationship Type="http://schemas.openxmlformats.org/officeDocument/2006/relationships/slide" Target="/ppt/slides/slide22.xml" Id="Rd17dd8a586fa416d" /><Relationship Type="http://schemas.openxmlformats.org/officeDocument/2006/relationships/slide" Target="/ppt/slides/slide23.xml" Id="R323346b358c44d08" /><Relationship Type="http://schemas.openxmlformats.org/officeDocument/2006/relationships/slide" Target="/ppt/slides/slide24.xml" Id="Rc18dbc1aa9a34716" /><Relationship Type="http://schemas.openxmlformats.org/officeDocument/2006/relationships/slide" Target="/ppt/slides/slide25.xml" Id="Re84c8f337e3d48b9" /><Relationship Type="http://schemas.openxmlformats.org/officeDocument/2006/relationships/slide" Target="/ppt/slides/slide26.xml" Id="Raae7457516a44976" /><Relationship Type="http://schemas.openxmlformats.org/officeDocument/2006/relationships/slide" Target="/ppt/slides/slide27.xml" Id="Rec2fb32e44a344da" /><Relationship Type="http://schemas.openxmlformats.org/officeDocument/2006/relationships/slide" Target="/ppt/slides/slide28.xml" Id="Rac3708cca449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53ea99ec1348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bb08eec4654732" /><Relationship Type="http://schemas.openxmlformats.org/officeDocument/2006/relationships/notesMaster" Target="/ppt/notesMasters/notesMaster1.xml" Id="Rb2f42f1ce2b64b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4699d75c2f460b" /><Relationship Type="http://schemas.openxmlformats.org/officeDocument/2006/relationships/notesMaster" Target="/ppt/notesMasters/notesMaster1.xml" Id="R9391cf64a6b040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bd6b0233374f41" /><Relationship Type="http://schemas.openxmlformats.org/officeDocument/2006/relationships/notesMaster" Target="/ppt/notesMasters/notesMaster1.xml" Id="R4ff7dc2b04654c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f44dd7b8054e00" /><Relationship Type="http://schemas.openxmlformats.org/officeDocument/2006/relationships/notesMaster" Target="/ppt/notesMasters/notesMaster1.xml" Id="Rae1ac4f146894c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21ba456f374a87" /><Relationship Type="http://schemas.openxmlformats.org/officeDocument/2006/relationships/notesMaster" Target="/ppt/notesMasters/notesMaster1.xml" Id="R6b2bdc2ea3c042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8b7168b714ba8" /><Relationship Type="http://schemas.openxmlformats.org/officeDocument/2006/relationships/notesMaster" Target="/ppt/notesMasters/notesMaster1.xml" Id="R4af7bdbb3b174d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9c5558b3841ce" /><Relationship Type="http://schemas.openxmlformats.org/officeDocument/2006/relationships/notesMaster" Target="/ppt/notesMasters/notesMaster1.xml" Id="R146f1f6a7cb34b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ef5c64eb444954" /><Relationship Type="http://schemas.openxmlformats.org/officeDocument/2006/relationships/notesMaster" Target="/ppt/notesMasters/notesMaster1.xml" Id="Rf0e6ae5ebadf42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b7e14836d04980" /><Relationship Type="http://schemas.openxmlformats.org/officeDocument/2006/relationships/notesMaster" Target="/ppt/notesMasters/notesMaster1.xml" Id="Rcd8994e6930447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c2412513654cd7" /><Relationship Type="http://schemas.openxmlformats.org/officeDocument/2006/relationships/notesMaster" Target="/ppt/notesMasters/notesMaster1.xml" Id="Rdd0fc963454346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3f80004529467d" /><Relationship Type="http://schemas.openxmlformats.org/officeDocument/2006/relationships/notesMaster" Target="/ppt/notesMasters/notesMaster1.xml" Id="R867049e7404b41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d9cd19540b47a6" /><Relationship Type="http://schemas.openxmlformats.org/officeDocument/2006/relationships/notesMaster" Target="/ppt/notesMasters/notesMaster1.xml" Id="R8e9c1923308d44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70b24e1896470b" /><Relationship Type="http://schemas.openxmlformats.org/officeDocument/2006/relationships/notesMaster" Target="/ppt/notesMasters/notesMaster1.xml" Id="Re27a16076e6b4a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be5798689f4fdb" /><Relationship Type="http://schemas.openxmlformats.org/officeDocument/2006/relationships/notesMaster" Target="/ppt/notesMasters/notesMaster1.xml" Id="R94daed06d0794d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73032325f84805" /><Relationship Type="http://schemas.openxmlformats.org/officeDocument/2006/relationships/notesMaster" Target="/ppt/notesMasters/notesMaster1.xml" Id="R099cd91c7f024a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4058a4a39b4a40" /><Relationship Type="http://schemas.openxmlformats.org/officeDocument/2006/relationships/notesMaster" Target="/ppt/notesMasters/notesMaster1.xml" Id="Rc1a32f2b2b794d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9f2630c37f4bc3" /><Relationship Type="http://schemas.openxmlformats.org/officeDocument/2006/relationships/notesMaster" Target="/ppt/notesMasters/notesMaster1.xml" Id="R2e9abcbb660649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ef3ecf8f6a4f79" /><Relationship Type="http://schemas.openxmlformats.org/officeDocument/2006/relationships/notesMaster" Target="/ppt/notesMasters/notesMaster1.xml" Id="R0ff5db1b7ff541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dd8247c58b4b30" /><Relationship Type="http://schemas.openxmlformats.org/officeDocument/2006/relationships/notesMaster" Target="/ppt/notesMasters/notesMaster1.xml" Id="Rfbd9f1da2bf349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1b9c12926042c5" /><Relationship Type="http://schemas.openxmlformats.org/officeDocument/2006/relationships/notesMaster" Target="/ppt/notesMasters/notesMaster1.xml" Id="R6f7a322566cb41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4b2b6e1caa4e9d" /><Relationship Type="http://schemas.openxmlformats.org/officeDocument/2006/relationships/notesMaster" Target="/ppt/notesMasters/notesMaster1.xml" Id="R36f6135fa87c40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2887bf4a4d4de1" /><Relationship Type="http://schemas.openxmlformats.org/officeDocument/2006/relationships/notesMaster" Target="/ppt/notesMasters/notesMaster1.xml" Id="R9dffe72232dc44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1e01e9ad974e87" /><Relationship Type="http://schemas.openxmlformats.org/officeDocument/2006/relationships/notesMaster" Target="/ppt/notesMasters/notesMaster1.xml" Id="R6a0f27671ba540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294edcf869466a" /><Relationship Type="http://schemas.openxmlformats.org/officeDocument/2006/relationships/notesMaster" Target="/ppt/notesMasters/notesMaster1.xml" Id="R57475b2de14c429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aa973355374917" /><Relationship Type="http://schemas.openxmlformats.org/officeDocument/2006/relationships/notesMaster" Target="/ppt/notesMasters/notesMaster1.xml" Id="Rc7ffa013967d4f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500e24e7fc409e" /><Relationship Type="http://schemas.openxmlformats.org/officeDocument/2006/relationships/notesMaster" Target="/ppt/notesMasters/notesMaster1.xml" Id="R6cac063d372a41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823c91350a14031" /><Relationship Type="http://schemas.openxmlformats.org/officeDocument/2006/relationships/notesMaster" Target="/ppt/notesMasters/notesMaster1.xml" Id="R4067603d94814b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a62fe9a0994497" /><Relationship Type="http://schemas.openxmlformats.org/officeDocument/2006/relationships/notesMaster" Target="/ppt/notesMasters/notesMaster1.xml" Id="R868bf1692312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"Gutenberg-Bibel Bd1 005 r Genesis.jpg" — https://commons.wikimedia.org/wiki/File:Gutenberg-Bibel_Bd1_005_r_Genesis.jpg — Public domain (artwork: Johannes Gutenberg; photo: Staatsbibliothek Berlin).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"Typography Line Terms.svg" — https://commons.wikimedia.org/wiki/File:Typography_Line_Terms.svg — Public domain, author Max Naylor.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"Serif and sans-serif 01.svg" — https://commons.wikimedia.org/wiki/File:Serif_and_sans-serif_01.svg — CC BY-SA 3.0 / GFDL, © David Remahl 2004.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"Upper case and lower case types.jpg" — https://commons.wikimedia.org/wiki/File:Upper_case_and_lower_case_types.jpg — CC BY 2.0, author Maggie McCain.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"1882 Cincinnati Type Foundry specimen book detail p83.png" — https://commons.wikimedia.org/wiki/File:1882_Cincinnati_Type_Foundry_specimen_book_detail_p83.png — Public domain, Cincinnati Type Foundry.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"Wood letterpress type.jpg" — https://commons.wikimedia.org/wiki/File:Wood_letterpress_type.jpg — CC BY-SA 4.0, author Michellecornelison.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"Metal movable type.jpg" — https://commons.wikimedia.org/wiki/File:Metal_movable_type.jpg — CC BY-SA 3.0 / CC BY 2.5 / GFDL, author Willi Heidelbach.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"WCAG web safe contrast ratio.svg" — https://commons.wikimedia.org/wiki/File:WCAG_web_safe_contrast_ratio.svg — CC BY-SA 4.0 / GFDL, author Cmglee.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"Linotype Old Style Type Specimen (27541718163).jpg" — https://commons.wikimedia.org/wiki/File:Linotype_Old_Style_Type_Specimen_(27541718163).jpg — CC BY 2.0, author James Puckett.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"Gutenberg.press.jpg" — https://commons.wikimedia.org/wiki/File:Gutenberg.press.jpg — Public domain, author George H. Williams.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Wikimedia Commons, "Printer in 1568-ce.png" — https://commons.wikimedia.org/wiki/File:Printer_in_1568-ce.png — Public domain (PD-old-100-expired), artist Jost Amman (1539–1591). Accessed 13 Sep 2026. Original SLOP1512 Week 3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29953492b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b3bcafa8054222" /><Relationship Type="http://schemas.openxmlformats.org/officeDocument/2006/relationships/slideLayout" Target="/ppt/slideLayouts/slideLayout1.xml" Id="R57192fb5b03b4b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192fb5b03b4b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8f4169cc04193" /><Relationship Type="http://schemas.openxmlformats.org/officeDocument/2006/relationships/image" Target="/ppt/media/image.jpeg" Id="Rcbfe7a8e199443b6" /><Relationship Type="http://schemas.openxmlformats.org/officeDocument/2006/relationships/notesSlide" Target="/ppt/notesSlides/notesSlide1.xml" Id="R82d1a44f0fc74e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c4db5d31e42dd" /><Relationship Type="http://schemas.openxmlformats.org/officeDocument/2006/relationships/notesSlide" Target="/ppt/notesSlides/notesSlide2.xml" Id="R4a8771fc7aac46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123039e0e44eb" /><Relationship Type="http://schemas.openxmlformats.org/officeDocument/2006/relationships/notesSlide" Target="/ppt/notesSlides/notesSlide3.xml" Id="Rdcd47b10d6f74d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6bf56b80f4ca7" /><Relationship Type="http://schemas.openxmlformats.org/officeDocument/2006/relationships/notesSlide" Target="/ppt/notesSlides/notesSlide4.xml" Id="R6f1f821d0cc14d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c530309b94b0f" /><Relationship Type="http://schemas.openxmlformats.org/officeDocument/2006/relationships/image" Target="/ppt/media/image.png" Id="R3fc08da318a34953" /><Relationship Type="http://schemas.openxmlformats.org/officeDocument/2006/relationships/notesSlide" Target="/ppt/notesSlides/notesSlide5.xml" Id="Rf20fb453943e4b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97a5c0db24108" /><Relationship Type="http://schemas.openxmlformats.org/officeDocument/2006/relationships/image" Target="/ppt/media/image2.png" Id="R3e7b8569ea64442e" /><Relationship Type="http://schemas.openxmlformats.org/officeDocument/2006/relationships/notesSlide" Target="/ppt/notesSlides/notesSlide6.xml" Id="Rb16e83b6b66642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389784954434b" /><Relationship Type="http://schemas.openxmlformats.org/officeDocument/2006/relationships/image" Target="/ppt/media/image2.jpeg" Id="Rc3a0b552ceb4468f" /><Relationship Type="http://schemas.openxmlformats.org/officeDocument/2006/relationships/notesSlide" Target="/ppt/notesSlides/notesSlide7.xml" Id="Rca2438593069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82c27c8cb477c" /><Relationship Type="http://schemas.openxmlformats.org/officeDocument/2006/relationships/image" Target="/ppt/media/image3.png" Id="R2cdc8f3381dc43cd" /><Relationship Type="http://schemas.openxmlformats.org/officeDocument/2006/relationships/notesSlide" Target="/ppt/notesSlides/notesSlide8.xml" Id="R10abd41a9ca1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14ce3a8f24717" /><Relationship Type="http://schemas.openxmlformats.org/officeDocument/2006/relationships/notesSlide" Target="/ppt/notesSlides/notesSlide9.xml" Id="R603d19522c1a45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72110fcb14e63" /><Relationship Type="http://schemas.openxmlformats.org/officeDocument/2006/relationships/notesSlide" Target="/ppt/notesSlides/notesSlide10.xml" Id="Rfba129e6107f44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cd7fcaf6a4932" /><Relationship Type="http://schemas.openxmlformats.org/officeDocument/2006/relationships/notesSlide" Target="/ppt/notesSlides/notesSlide11.xml" Id="R12c89f47e8a649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9b62bb31a42f7" /><Relationship Type="http://schemas.openxmlformats.org/officeDocument/2006/relationships/notesSlide" Target="/ppt/notesSlides/notesSlide12.xml" Id="Rff25a7cb4a0747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36bc153da4b38" /><Relationship Type="http://schemas.openxmlformats.org/officeDocument/2006/relationships/notesSlide" Target="/ppt/notesSlides/notesSlide13.xml" Id="R1864b3bf3d0a47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aeb11f29c4462" /><Relationship Type="http://schemas.openxmlformats.org/officeDocument/2006/relationships/image" Target="/ppt/media/image3.jpeg" Id="R5220b96a608d419f" /><Relationship Type="http://schemas.openxmlformats.org/officeDocument/2006/relationships/notesSlide" Target="/ppt/notesSlides/notesSlide14.xml" Id="Rb6a30c0675e24b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1be7c51514642" /><Relationship Type="http://schemas.openxmlformats.org/officeDocument/2006/relationships/notesSlide" Target="/ppt/notesSlides/notesSlide15.xml" Id="R1dda113c039c41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ff66d333a4770" /><Relationship Type="http://schemas.openxmlformats.org/officeDocument/2006/relationships/notesSlide" Target="/ppt/notesSlides/notesSlide16.xml" Id="Rfd4259573bc64b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ed57486e54de6" /><Relationship Type="http://schemas.openxmlformats.org/officeDocument/2006/relationships/image" Target="/ppt/media/image4.jpeg" Id="Rff1db65db58f47eb" /><Relationship Type="http://schemas.openxmlformats.org/officeDocument/2006/relationships/notesSlide" Target="/ppt/notesSlides/notesSlide17.xml" Id="Rd5a004d306c24f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f7772c88c42d6" /><Relationship Type="http://schemas.openxmlformats.org/officeDocument/2006/relationships/notesSlide" Target="/ppt/notesSlides/notesSlide18.xml" Id="R65962b0409aa44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0dd00eace49e9" /><Relationship Type="http://schemas.openxmlformats.org/officeDocument/2006/relationships/image" Target="/ppt/media/image4.png" Id="Rbe9d682d819b49df" /><Relationship Type="http://schemas.openxmlformats.org/officeDocument/2006/relationships/notesSlide" Target="/ppt/notesSlides/notesSlide19.xml" Id="Rb5d843599d5f42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c45993eaf4203" /><Relationship Type="http://schemas.openxmlformats.org/officeDocument/2006/relationships/notesSlide" Target="/ppt/notesSlides/notesSlide20.xml" Id="R5b523b8da07b4e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90389b5174763" /><Relationship Type="http://schemas.openxmlformats.org/officeDocument/2006/relationships/notesSlide" Target="/ppt/notesSlides/notesSlide21.xml" Id="R9b55a258003d45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9d6c4e3d14185" /><Relationship Type="http://schemas.openxmlformats.org/officeDocument/2006/relationships/image" Target="/ppt/media/image5.jpeg" Id="R13ad637e53a54c26" /><Relationship Type="http://schemas.openxmlformats.org/officeDocument/2006/relationships/notesSlide" Target="/ppt/notesSlides/notesSlide22.xml" Id="Re98fb5b050ee43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44c608d15475a" /><Relationship Type="http://schemas.openxmlformats.org/officeDocument/2006/relationships/notesSlide" Target="/ppt/notesSlides/notesSlide23.xml" Id="Rcef32af5de4e47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a6fea00524007" /><Relationship Type="http://schemas.openxmlformats.org/officeDocument/2006/relationships/notesSlide" Target="/ppt/notesSlides/notesSlide24.xml" Id="Rdc23361f2d6642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670a8b1c24b60" /><Relationship Type="http://schemas.openxmlformats.org/officeDocument/2006/relationships/image" Target="/ppt/media/image6.jpeg" Id="R1702bc5fa998472a" /><Relationship Type="http://schemas.openxmlformats.org/officeDocument/2006/relationships/notesSlide" Target="/ppt/notesSlides/notesSlide25.xml" Id="R82f901b61cc042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60e1023d54ed0" /><Relationship Type="http://schemas.openxmlformats.org/officeDocument/2006/relationships/notesSlide" Target="/ppt/notesSlides/notesSlide26.xml" Id="Re85e8898cc794af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c22114db47d2" /><Relationship Type="http://schemas.openxmlformats.org/officeDocument/2006/relationships/notesSlide" Target="/ppt/notesSlides/notesSlide27.xml" Id="R375fa9c2893e46a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3c8b41d3a4fbc" /><Relationship Type="http://schemas.openxmlformats.org/officeDocument/2006/relationships/image" Target="/ppt/media/image5.png" Id="Rac57e4a565904e3c" /><Relationship Type="http://schemas.openxmlformats.org/officeDocument/2006/relationships/notesSlide" Target="/ppt/notesSlides/notesSlide28.xml" Id="R2c96d9e8110d49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e7a8e199443b6"/>
          <a:srcRect xmlns:a="http://schemas.openxmlformats.org/drawingml/2006/main" l="0" t="10656" r="0" b="10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oundRect">
            <a:avLst>
              <a:gd name="adj" fmla="val 19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0CCD8-4D9C-4F5E-8DDD-47FC6FA8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FF0A2-41C1-40E1-8F41-54177C31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685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764EA-C0E2-46A2-89F7-43E19E49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102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E812B-4D8C-4F0C-9CA7-F800F2F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334000" cy="1190625"/>
          </a:xfrm>
          <a:prstGeom xmlns:a="http://schemas.openxmlformats.org/drawingml/2006/main" prst="roundRect">
            <a:avLst>
              <a:gd name="adj" fmla="val 96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73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Typography and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Visual Hierarchy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82C07-FB67-4B73-8C39-4400ACA4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4953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9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3: What a reader notices first, and why</a:t>
            </a:r>
          </a:p>
        </p:txBody>
      </p:sp>
    </p:spTree>
    <p:extLst>
      <p:ext uri="{BB962C8B-B14F-4D97-AF65-F5344CB8AC3E}">
        <p14:creationId xmlns:p14="http://schemas.microsoft.com/office/powerpoint/2010/main" val="2141753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968F8-B903-4E88-98BD-C8DCEECF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74EEB-3CA8-4061-9888-BC1BD251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8C21D-92A2-42B7-98EC-695B6F8B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75360-C926-41C3-8DC8-783A0F16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0F17B-E509-40F9-BFEA-C97EC596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2BC91-4E1A-4296-BF01-42D924B9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Week 3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18578-73C6-4452-86C3-D274CA7E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Given the same words, why does one layout read easily and another feel like work?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99CCA-5F0F-4263-A4BB-285F841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8309E-7113-4668-A738-E711AF69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961241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5A19-AFF4-4A58-ADDF-7510575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58B6E-17F3-489E-8A7F-E18960C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722B3-9846-4645-A6DC-23370F7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F2D52-0E63-4D77-AEC7-4461844E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E162A-729B-45E4-A655-500BF490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A8739-E678-40B0-917F-C85FBEEA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meaning to legibility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C7493-7622-4F2B-AB9F-CA2AC238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2 gave the document a correct outline. Week 3 decides how that outline is seen, scanned and understood at a glance.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F508E-9294-4CA4-8204-8E70AAEC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B2327-F702-4FA6-8068-6E2E88B3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846442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29EC3-1A2D-4E51-A9B3-5C0F42D9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EBAE6-9832-4903-B982-46014EDE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EBC4B-742C-477D-9FCB-6222FA4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AC50-B8E4-4583-94A2-865675E9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BF1C3-D1D6-4905-944C-3C575F61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60755-97CE-416B-98E4-6D49953F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1431B-16E5-4524-93B9-308B0A6A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67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1ADCA-1566-4914-B431-2078C858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DD074-ECCA-45CD-9BB4-BC1AED96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124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Type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0FE05-1F3B-401B-BE2F-BF94B3C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31242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Choose a consistent ratio and apply it to every heading level.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822C5-15BA-479B-9B7C-E1B54F5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467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AA620-A226-49FB-9F7F-E129A6B1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13CA7-916E-4010-879A-25940664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3124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 and leading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16535-3262-4682-A3BE-6586D7EF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31242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Keep lines readable in length and comfortably spaced.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2A9BA-70BE-4E78-946C-A905E95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34671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B778C-9B1A-4F8D-84C8-6022520E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B12EA-28F9-4CF2-A1DD-D968277A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31242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Contrast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3B079-7D25-4B45-8A65-D3CACD6B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31242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Verify colour pairs pass WCAG 2.1 AA before shipping.</a:t>
            </a:r>
          </a:p>
        </p:txBody>
      </p:sp>
    </p:spTree>
    <p:extLst>
      <p:ext uri="{BB962C8B-B14F-4D97-AF65-F5344CB8AC3E}">
        <p14:creationId xmlns:p14="http://schemas.microsoft.com/office/powerpoint/2010/main" val="75176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30560-DC72-4C46-BE69-F64FF759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CD1FD-30F7-437F-8AD3-CCCE199D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BAE5D-59D0-44F2-B444-11BDE2A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6969-5998-4890-B700-5924E3C4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98CF7-FAA9-47F7-AD63-8F7065FD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970FA-8FD6-4423-91F8-44B9D17F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Anatomy of a letterform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08da318a34953"/>
          <a:srcRect xmlns:a="http://schemas.openxmlformats.org/drawingml/2006/main" l="31394" t="0" r="313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0B72A-4708-4FFD-B829-A62EFCB8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Baseline, x-height, ascenders and descenders together decide how a typeface performs at small sizes on screen.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F58F6-5D07-472E-97B2-63EBE538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997882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E7CDA-1225-4D89-9E4E-919B42B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B6158-5D8F-49B9-9853-8E8CE2D7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40642-EF58-4AAE-8497-C5921F8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CAD88-691F-4922-95F8-9A878D69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042EC-1A9D-472D-8CB7-2E1D2B13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DCD22-9217-408F-8DA5-30D0DEB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Serif, sans-serif, monospace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b8569ea64442e"/>
          <a:srcRect xmlns:a="http://schemas.openxmlformats.org/drawingml/2006/main" l="36046" t="0" r="360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33A8D-B74D-4AE9-A9B5-226B1E5E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Serif suits long print-like reading. Sans-serif suits screens and UI. Monospace signals code or tabular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31E33-4513-4F47-87FA-EDDF754E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691213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C2801-8CDB-4B72-9D2B-044D3A75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344DE-8196-4FC2-B883-5A2750B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8FDC7-8207-46A2-92F7-D42F6BD8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ABFC7-389A-4D21-A975-376F4B5A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1CD74-C7B0-4DEA-A2DB-F56D4A4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27004-E732-4C39-BE33-4DA9CD3C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Choosing and pairing typefaces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0b552ceb4468f"/>
          <a:srcRect xmlns:a="http://schemas.openxmlformats.org/drawingml/2006/main" l="0" t="1852" r="0" b="1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668A4-0469-4403-8240-3AA9FCF8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Pair a distinct heading face with a highly legible body face — the same discipline that separated capital letters from lower case in the printer's own type case.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BFADD-83D6-4C04-B579-F6ACCF74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948296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A8235-6EA8-4FC7-B405-A766A1C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9324E-D634-41C6-90B2-814110C4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C01F4-9830-4B9A-BEE9-48A5A56B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30D56-651F-42C0-8810-2775F41D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AF19C-532A-4D33-8C4F-F1CC9F91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0D284-FAE1-469E-99B3-754202FE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Type specimens as a reference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c8f3381dc43cd"/>
          <a:srcRect xmlns:a="http://schemas.openxmlformats.org/drawingml/2006/main" l="0" t="800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19799-902D-4432-97DB-BE323F3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Type foundries published specimen sheets so a designer could compare weight, size and spacing before setting a page. A modern web type scale serves the same purpose.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613B9-DCFA-4098-ADC3-26B79B3D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478936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22F6D-F430-4911-9FE9-FF2DDAB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A91C0-A032-4ECA-9D84-AFED5C3F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34425-D586-4BFE-9D4D-E9A97F53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60450-72FE-4295-8C0E-CF1248FC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6CD8C-22CB-4540-A1DC-0408EC5E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60EF1-5FBC-4D40-BD6F-5FA55CBB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Type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B3063-FCE3-4D05-A541-6BA6CCF4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type scale is a small set of related sizes, not a random list. Consistency makes hierarchy predictable.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A9D2F-848B-44CB-8F7D-5F4243A1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EF40B-42AE-4F5E-A342-14DDD29A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5549147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A42C5-F86B-4CED-B55C-135AAF39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2DE01-565E-4CD7-8008-D4D58FE1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4AB47-B2EB-4F23-8554-3FA54DF5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C1F3D-147F-4AC2-8DE0-5D42F120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65401-3A67-4945-B031-DD6A897E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1D64C-0102-4E33-A929-E5FD1490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Modular scale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EE1D8-757C-4E87-84EC-C0B76087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596DC-4D72-4E1E-80FC-AAE9067B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66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&lt;style&gt;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:root {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--step-0: 1rem;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--step-1: 1.25rem;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--step-2: 1.563rem;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--step-3: 1.953rem;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--step-4: 2.441rem;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&lt;/style&gt;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1E1AB-F4DF-4A9B-B545-E2B07C1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952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code as a rule: what does it fix, and what does it leave flexible?</a:t>
            </a:r>
          </a:p>
        </p:txBody>
      </p:sp>
    </p:spTree>
    <p:extLst>
      <p:ext uri="{BB962C8B-B14F-4D97-AF65-F5344CB8AC3E}">
        <p14:creationId xmlns:p14="http://schemas.microsoft.com/office/powerpoint/2010/main" val="1501745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BE584-6F34-4073-9328-280C837B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6EB42-4EC4-4EC3-B6F9-1CEC5028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BA6B4-0D7F-486E-B9C0-97C84B67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ED19C-8617-4BAC-97E4-ED0A540B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3EEE7-243A-4FE7-AADC-D3E8ED1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CDD19-9772-4BAE-8FBA-619CB173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Measure: line length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93A66-A95F-4C3D-A8AC-DCB7A0F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Aim for 45 to 75 characters per line. Shorter lines fragment thought; longer lines lose the start of the next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0802E-2697-4AD5-BA3A-31BB3080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68272-A7BA-493B-8E6B-3522A0F2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111152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B8A2E-E9CA-4EA3-B17B-3775C48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AE0B5-F9EA-4861-8E5C-D5D7F777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4086F-CE80-4CED-BB10-53258BE8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79A18-6661-49BE-A0BB-F9DDA23B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989E5-5CC0-443B-9EB9-EA6B3A5F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7D02F-E37F-4FD0-8F26-2988A4B6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Setting measure in CSS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5AAC9-1708-49D8-8800-C5085975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FC0F9-83F4-41B1-8351-5EFD63CD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&lt;style&gt;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.prose {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max-width: 65ch;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margin-inline: auto;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&lt;/style&gt;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8CBD3-58A8-4AC9-B513-069B453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952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code as a rule: what does it fix, and what does it leave flexible?</a:t>
            </a:r>
          </a:p>
        </p:txBody>
      </p:sp>
    </p:spTree>
    <p:extLst>
      <p:ext uri="{BB962C8B-B14F-4D97-AF65-F5344CB8AC3E}">
        <p14:creationId xmlns:p14="http://schemas.microsoft.com/office/powerpoint/2010/main" val="18709446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F84FF-9EDF-4D5D-BBC5-807AEF3E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B2A31-B06E-4658-9196-E02E46E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6820C-36DE-4AB5-91E8-D3D97A50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0D556-B56F-44BE-959E-190DBD2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B76E4-7B47-4429-83CB-7BAB1311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197DA-B34C-4426-BF03-1A6E56CE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Leading and measure interact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B8BA9-9E9B-477E-88AF-B55C43A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Body text reads best around 1.4 to 1.6 line height. A wider measure needs looser leading so the eye can find the next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0E625-89E3-41CE-8F45-15796BA7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F3803-BED0-4AD3-82A9-70FBB0D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18415454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79651-6E0D-40F4-8953-134D3EE4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AB137-A06A-4941-9987-CF7F5EA8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1C547-CFE7-4A4C-A95A-31CE5B2E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AB014-D314-4EFF-A2C3-13AF26A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3EA6E-5597-4905-B5C1-5ED9113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CF7FA-5273-4724-AFEE-98A3A83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Letter spacing and tracking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0b96a608d419f"/>
          <a:srcRect xmlns:a="http://schemas.openxmlformats.org/drawingml/2006/main" l="0" t="1852" r="0" b="1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0A602-0D69-4A90-8CAF-062E223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Increase tracking slightly for small capitals or short labels. A hand compositor spaced individual wood letters the same way — by eye, one gap at a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2EC1B-4DEB-48CD-82DB-4309C606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4675885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4655D-B09C-48BF-9A22-021AF64F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88DA-0A1F-4FF4-8EA3-628721B3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3AB80-7E60-4389-9BFF-CEBA113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DDF83-25E9-4E22-B5E3-75696B10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9C4F5-5F82-45A6-B61D-7895013C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6B248-44A8-4CFD-B05A-FC62C1AF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visual hierarchy 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3BA76-F490-4F2C-994E-96109A62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 ordered set of size, weight, colour, spacing and position that tells a reader what to read first, second and last.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ED0FF-83DF-4532-AA2C-FA2A9A27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F710D-A7D9-4171-972E-7436218C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7985956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5E679-4A5A-4E64-BDFD-B90F31A4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F1D76-AF05-413F-B82D-C65E92E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8578F-8794-4252-9B00-14B9AA01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AAAA7-8A60-4CE6-9A6B-0B001CF4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15AE0-9B26-45C8-ABB8-9DEE4EC9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A00BB-1151-4A37-AFE1-81B79164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Hierarchy without new markup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1573F-F439-4905-BD1B-D36DB6BB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CSS already has the h1 to h6 outline to work with. Style existing structure before inventing new wrapper elements.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96C62-AFD6-4CA7-AB21-4C00BE2A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F815F-1399-43D3-80E1-F4AEA2AF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6248468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6BEE2-03C9-403E-98AC-99D721DD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BB1AC-C446-4C1B-80DC-B877653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B6D5C-C10D-4D8D-9E21-6C4049DC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0AA8D-FBC6-4598-8AF4-0D42C98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E4F27-D79F-4EDD-A9B6-FA3CB520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D7979-768B-4618-83E8-7FDD74BF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Size, weight and colour as signals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db65db58f47eb"/>
          <a:srcRect xmlns:a="http://schemas.openxmlformats.org/drawingml/2006/main" l="4008" t="0" r="4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F7660-859F-42B1-B4D3-BC6A7DCC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Increase size and weight together for the most important text. Each metal sort in a composing stick was one deliberate, sized decision — CSS hierarchy is the same discipline, just faster to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DF1E-A858-453F-8038-9A7AC49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5689815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B24A3-58D9-4F61-A745-5834CF2F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30751-D952-4309-B786-F73ED9BA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4069C-0B71-43CE-A3FF-A9F955DB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00AF5-4168-4E71-B59B-7210F86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592F3-6A29-4A11-9EA1-7281A7EF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40F35-6843-4A6A-93AB-92BBFF0A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Whitespace creates grouping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2423C-8739-4180-BC95-69D30004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Related items sit close together. Unrelated items are separated by larger gaps. Proximity is a hierarchy tool, not empty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79237-C061-481C-8665-282953BF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6489F-4629-468B-A346-D9A967F5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18177622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15491-19AE-4540-A691-AD43C83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95446-4A5D-4980-8049-4A8F5AFC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0B3D8-5E25-48F4-A26E-22DA65C6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28846-A9B4-439E-81C4-6F013C0C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BBD24-F771-4EA9-BBFF-83464083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339C2-4DB8-4C9A-8944-A16AB1A1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Contrast for legibility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d682d819b49df"/>
          <a:srcRect xmlns:a="http://schemas.openxmlformats.org/drawingml/2006/main" l="26923" t="0" r="2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EAC3B-A733-4A38-937A-970A4199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WCAG 2.1 AA requires 4.5:1 for normal body text and 3:1 for large text (24px or 19px bold and above).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3BE8C-F89F-4D0F-97E7-05C0469E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2634777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717A1-9ED2-4E2F-982D-B4762EE8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2E46B-D16E-4104-B9D0-DB1D70C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01502-B0F9-40A0-961A-42DFB161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5EFDC-5802-48E4-A2C5-C48FB6FF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E50FE-F65C-49A3-AAB6-1F759D07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25DE4-57EB-4DDE-AD8A-6123657C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Responsive type with clamp()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C9C17-763E-4B2A-9B8B-8470FF32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8892B-C531-4750-B2B8-B6419F05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&lt;style&gt;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h1 {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font-size: clamp(1.75rem, 4vw + 1rem, 3rem);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&lt;/style&gt;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52A17-E157-4D13-8E88-C3F257E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952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code as a rule: what does it fix, and what does it leave flexible?</a:t>
            </a:r>
          </a:p>
        </p:txBody>
      </p:sp>
    </p:spTree>
    <p:extLst>
      <p:ext uri="{BB962C8B-B14F-4D97-AF65-F5344CB8AC3E}">
        <p14:creationId xmlns:p14="http://schemas.microsoft.com/office/powerpoint/2010/main" val="15496470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B860F-6CD5-479D-BB9A-0BB7FC9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1218F-346C-496D-813D-3C80308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139B4-07D1-4060-ADFE-20B766B2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5A16F-0F82-4987-BBD2-455436C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E572F-EB78-4A47-A93A-5FD58843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074F4-C084-4D41-8B2E-9574957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Relative units: rem over px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C0256-E24B-44E8-A6D9-6974DDC4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rem scales with a reader's browser font-size setting. A fixed px value silently ignores accessibility zoom preferences.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C7688-2C9B-417E-9508-2BE4D953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96DA7-11C5-46DF-8ECA-7AEAB22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8388803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783B3-7011-4AA3-B2B9-BA594DE2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D7705-10B0-4644-839A-CF5D541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CB2DF-F864-4AEB-8496-60FF764E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F5925-C588-456E-8225-715BEC1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F4AC1-AAA9-4E46-B5E7-3DC8ED63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D6CD2-CF18-485E-BA1B-345A4A49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Loading web fonts responsibly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d637e53a54c26"/>
          <a:srcRect xmlns:a="http://schemas.openxmlformats.org/drawingml/2006/main" l="0" t="1622" r="0" b="1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1B7FF-AD35-413B-B2AC-C9F6C8C2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Linotype specimen sheet let a print shop preview a typeface before committing metal to a page. font-display gives a browser the same kind of preview control while a web font downloads.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2DC11-E1C8-48A4-97CD-68E613F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9114568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FBF62-3EB8-40AF-85F4-F349700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3B226-219A-4F6F-805D-993C483D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E08EC-0AED-46F3-8C7D-CDA73A40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1EB3-9F5B-4A90-BB77-F26A3E9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114DD-41ED-4D0D-8DDA-D9FC80E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5EA5F-0143-42A4-B697-B67DB1A2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font-display and layout shift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FF5FC-2429-43F7-ACEA-4E96895B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52377-38D1-46B4-8B2C-D74D0756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&lt;style&gt;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@font-face {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font-family: "Body";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src: url("/fonts/body.woff2") format("woff2");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font-display: swap;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>
              <a:defRPr sz="1575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&lt;/style&gt;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6BD98-2C55-459F-92E0-699994BC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9525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code as a rule: what does it fix, and what does it leave flexible?</a:t>
            </a:r>
          </a:p>
        </p:txBody>
      </p:sp>
    </p:spTree>
    <p:extLst>
      <p:ext uri="{BB962C8B-B14F-4D97-AF65-F5344CB8AC3E}">
        <p14:creationId xmlns:p14="http://schemas.microsoft.com/office/powerpoint/2010/main" val="11056993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00294-6287-474D-A93F-E7CB8C03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F4799-0A66-48C2-B7D5-334ABAF1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68096-E63C-40FE-BF23-4ABDFBC4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6A7C3-9E5E-4D3E-A658-D9DEDD24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FA725-1A3C-49FA-A2C3-172D5B4C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8C2AB-F0FB-4809-8244-A9226845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hierarchy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D41AA-543B-4D27-9DC1-121525E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Too many sizes, centred body paragraphs, all-caps long text, low-contrast grey-on-white and unstyled default heading tags.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readers scan before they read. A clear type scale and hierarchy let them find the right entry point in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apply the rule to a real page, then check it at both a narrow and a wide viewport 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D1A63-8E76-43B5-BEBF-5AFB936A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2EA02-F0F2-40A2-B4B3-7A5C317F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rule applied, page checked, viewport width and observed result.</a:t>
            </a:r>
          </a:p>
        </p:txBody>
      </p:sp>
    </p:spTree>
    <p:extLst>
      <p:ext uri="{BB962C8B-B14F-4D97-AF65-F5344CB8AC3E}">
        <p14:creationId xmlns:p14="http://schemas.microsoft.com/office/powerpoint/2010/main" val="17475690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6B7BB-B5BF-4A35-9963-3DE0290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5C528-13E6-4D0C-B8D4-032EEBF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AF15E-372B-4D46-83ED-50C57B4D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A8F90-64FC-451C-A357-10B3FC9F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C0220-1629-4653-9E62-00B721AB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57032-8D0E-40C9-BB70-4B140745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press to browser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2bc5fa998472a"/>
          <a:srcRect xmlns:a="http://schemas.openxmlformats.org/drawingml/2006/main" l="0" t="1707" r="0" b="17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7F7B3-2956-4D58-8911-571A4F9F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Gutenberg's movable-type press made consistent, repeatable typography possible at scale for the first time. CSS type rules do the same job for a website: one rule, applied everywhere it belongs.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5542F-FAE0-4EB6-A786-315924C9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9464729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E5586-BDFE-4CDA-894C-BA3B28E4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69F40-3005-414A-AE04-58CD52A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0F698-086F-4697-90AD-544985D7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FE832-7F8F-4A66-8358-00FA15A7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BD34A-6B21-4BF5-835A-125758AB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5F56F-AB60-450A-8A50-E02DF118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exercise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49B05-B8AB-42BF-8149-ACB0753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a five-step type scale with clamp(), apply it to an existing semantic outline from Week 2, then squint at the rendered page — can you still tell what matters most?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Evidence to record: ratio chosen, page tested, viewport width and observed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701F0-98E4-4401-B10E-CA584A28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9B306-5613-4B67-8911-8E54C1F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Bring the before/after screenshots and your ratio choice to the next studio session.</a:t>
            </a:r>
          </a:p>
        </p:txBody>
      </p:sp>
    </p:spTree>
    <p:extLst>
      <p:ext uri="{BB962C8B-B14F-4D97-AF65-F5344CB8AC3E}">
        <p14:creationId xmlns:p14="http://schemas.microsoft.com/office/powerpoint/2010/main" val="17795500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6D314-A74A-4732-9F11-EABDE4E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D6344-9C2A-4E03-9E95-496A056B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99433-CADB-4DE8-9D11-6DC115A7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77082-EEBF-433A-8DED-CF2FC4AA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042B9-1940-4AB4-AFF5-04E74F2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251AE-23BD-4AA7-A4B6-74F13784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Testable review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B9E6D-49E3-4472-9E12-D215603D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07E50-4B25-49B0-8F6E-72A2029B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0C34F-14AB-425C-9A01-ECE0311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Type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DD356-FAF4-493A-AB48-F3A706C5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Ratio applied consistently across h1 to h6.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6994E-1685-475A-89C4-F58DB505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9550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C5203-9DBA-459F-BDEC-BD5674DF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2669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98A32-62E7-4FAB-A9E4-EADCDE51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5745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EEBDF-A13E-4A9C-B1E6-80FCC608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3845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45–75 characters per line at body size.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122E6-ED5A-4DCF-8C63-38D34C99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89463-E89B-413E-B83E-B8E0DE7A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3E8D7-0D56-4867-8399-F2996B5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Contrast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C7CEB-AF4C-490D-B32A-A6ADE51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Body text passes 4.5:1 against its background.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A8329-65CE-4898-A550-6CD61158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95750"/>
            <a:ext cx="51911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5C06C-0D89-46F3-BB1D-922DF4C4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FBCBE-084B-49E5-9CE9-B2DE841C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57700"/>
            <a:ext cx="4848225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Squint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DEC59-0C15-4329-BECC-C3A9278D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38700"/>
            <a:ext cx="4848225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Hierarchy still reads with the page blurred.</a:t>
            </a:r>
          </a:p>
        </p:txBody>
      </p:sp>
    </p:spTree>
    <p:extLst>
      <p:ext uri="{BB962C8B-B14F-4D97-AF65-F5344CB8AC3E}">
        <p14:creationId xmlns:p14="http://schemas.microsoft.com/office/powerpoint/2010/main" val="15973568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41CF0-C25D-4BC6-85B0-E97A9CF1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146C0-F8DC-4928-A9CF-4A774C7F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AD48E-6B76-4E00-9DBB-CA2D537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EA389-7F5E-4B9D-A883-BBD1F70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AEE0D-DF70-4A58-9BAF-9A7FAE0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CF491-EE8E-45E0-84E8-B1B3FADA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49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 sources and next week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7e4a565904e3c"/>
          <a:srcRect xmlns:a="http://schemas.openxmlformats.org/drawingml/2006/main" l="0" t="21988" r="0" b="21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9B166-674C-4A7A-8AE1-E4D0DCAA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All photographs and diagrams on this deck are freely licensed Wikimedia Commons images (public domain or CC BY / CC BY-SA), credited on the source-record page distributed with these notes. Next week: layout with CSS — turning a well-set type system into flexbox and grid for narrow and wide screens.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C2438-585E-41A8-86AD-312B7DC0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486059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2026-09-13T07:22:54.7090000Z</dcterms:created>
  <dcterms:modified xsi:type="dcterms:W3CDTF">2026-09-13T07:22:54.7090000Z</dcterms:modified>
</coreProperties>
</file>