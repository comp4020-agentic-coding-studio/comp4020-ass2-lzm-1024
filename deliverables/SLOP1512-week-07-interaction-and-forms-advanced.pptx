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a15c45a0ce4055" /><Relationship Type="http://schemas.openxmlformats.org/officeDocument/2006/relationships/extended-properties" Target="/docProps/app.xml" Id="Rf1f16a76ceac46d7" /><Relationship Type="http://schemas.openxmlformats.org/officeDocument/2006/relationships/officeDocument" Target="/ppt/presentation.xml" Id="R08573ee8927e40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24af229ca8486f"/>
  </p:sldMasterIdLst>
  <p:notesMasterIdLst>
    <p:notesMasterId xmlns:r="http://schemas.openxmlformats.org/officeDocument/2006/relationships" r:id="Rf29f0855a157412a"/>
  </p:notesMasterIdLst>
  <p:sldIdLst>
    <p:sldId xmlns:r="http://schemas.openxmlformats.org/officeDocument/2006/relationships" id="256" r:id="R6b483550caa44c19"/>
    <p:sldId xmlns:r="http://schemas.openxmlformats.org/officeDocument/2006/relationships" id="257" r:id="R06823bfa468e4629"/>
    <p:sldId xmlns:r="http://schemas.openxmlformats.org/officeDocument/2006/relationships" id="258" r:id="Rc116deda5aa74fa7"/>
    <p:sldId xmlns:r="http://schemas.openxmlformats.org/officeDocument/2006/relationships" id="259" r:id="Rf644199c5ad3499e"/>
    <p:sldId xmlns:r="http://schemas.openxmlformats.org/officeDocument/2006/relationships" id="260" r:id="Rb510b69d742b492f"/>
    <p:sldId xmlns:r="http://schemas.openxmlformats.org/officeDocument/2006/relationships" id="261" r:id="Rff673a05e11b42b4"/>
    <p:sldId xmlns:r="http://schemas.openxmlformats.org/officeDocument/2006/relationships" id="262" r:id="R3044c373b2a341c7"/>
    <p:sldId xmlns:r="http://schemas.openxmlformats.org/officeDocument/2006/relationships" id="263" r:id="R62fd1f171c344a61"/>
    <p:sldId xmlns:r="http://schemas.openxmlformats.org/officeDocument/2006/relationships" id="264" r:id="R567777b3ea6c446f"/>
    <p:sldId xmlns:r="http://schemas.openxmlformats.org/officeDocument/2006/relationships" id="265" r:id="R5a1ceafe4ea245ab"/>
    <p:sldId xmlns:r="http://schemas.openxmlformats.org/officeDocument/2006/relationships" id="266" r:id="R97ea20d7fc4e4d61"/>
    <p:sldId xmlns:r="http://schemas.openxmlformats.org/officeDocument/2006/relationships" id="267" r:id="Rc1dc2e2909214408"/>
    <p:sldId xmlns:r="http://schemas.openxmlformats.org/officeDocument/2006/relationships" id="268" r:id="R81755de7dba1495c"/>
    <p:sldId xmlns:r="http://schemas.openxmlformats.org/officeDocument/2006/relationships" id="269" r:id="R57412ca1b4eb4592"/>
    <p:sldId xmlns:r="http://schemas.openxmlformats.org/officeDocument/2006/relationships" id="270" r:id="R13bf13ffebe74314"/>
    <p:sldId xmlns:r="http://schemas.openxmlformats.org/officeDocument/2006/relationships" id="271" r:id="Rced744cc3a724c2b"/>
    <p:sldId xmlns:r="http://schemas.openxmlformats.org/officeDocument/2006/relationships" id="272" r:id="R09960e2521b946ea"/>
    <p:sldId xmlns:r="http://schemas.openxmlformats.org/officeDocument/2006/relationships" id="273" r:id="Re4c26de310544a01"/>
    <p:sldId xmlns:r="http://schemas.openxmlformats.org/officeDocument/2006/relationships" id="274" r:id="R920e7a5d4fd848af"/>
    <p:sldId xmlns:r="http://schemas.openxmlformats.org/officeDocument/2006/relationships" id="275" r:id="R61bab6b6f79f4dd9"/>
    <p:sldId xmlns:r="http://schemas.openxmlformats.org/officeDocument/2006/relationships" id="276" r:id="Re09e62e22fde47ee"/>
    <p:sldId xmlns:r="http://schemas.openxmlformats.org/officeDocument/2006/relationships" id="277" r:id="R234f2dc12ee04a0a"/>
    <p:sldId xmlns:r="http://schemas.openxmlformats.org/officeDocument/2006/relationships" id="278" r:id="Rb98981a54304434a"/>
    <p:sldId xmlns:r="http://schemas.openxmlformats.org/officeDocument/2006/relationships" id="279" r:id="Rd2602e8940e54613"/>
    <p:sldId xmlns:r="http://schemas.openxmlformats.org/officeDocument/2006/relationships" id="280" r:id="Ra15fb15ff0a448c7"/>
    <p:sldId xmlns:r="http://schemas.openxmlformats.org/officeDocument/2006/relationships" id="281" r:id="R7be86907a3eb4740"/>
    <p:sldId xmlns:r="http://schemas.openxmlformats.org/officeDocument/2006/relationships" id="282" r:id="R9a2476dfd6b24384"/>
    <p:sldId xmlns:r="http://schemas.openxmlformats.org/officeDocument/2006/relationships" id="283" r:id="R066509c373bb40e2"/>
    <p:sldId xmlns:r="http://schemas.openxmlformats.org/officeDocument/2006/relationships" id="284" r:id="R16c125331db1473b"/>
    <p:sldId xmlns:r="http://schemas.openxmlformats.org/officeDocument/2006/relationships" id="285" r:id="Rc51803a4f6b644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2ccb3e4a914cfb" /><Relationship Type="http://schemas.openxmlformats.org/officeDocument/2006/relationships/slideMaster" Target="/ppt/slideMasters/slideMaster1.xml" Id="R4324af229ca8486f" /><Relationship Type="http://schemas.openxmlformats.org/officeDocument/2006/relationships/notesMaster" Target="/ppt/notesMasters/notesMaster1.xml" Id="Rf29f0855a157412a" /><Relationship Type="http://schemas.openxmlformats.org/officeDocument/2006/relationships/presProps" Target="/ppt/presProps.xml" Id="R2ece1e3feacf45cd" /><Relationship Type="http://schemas.openxmlformats.org/officeDocument/2006/relationships/tableStyles" Target="/ppt/tableStyles.xml" Id="Rc50a32b7b66c4026" /><Relationship Type="http://schemas.openxmlformats.org/officeDocument/2006/relationships/slide" Target="/ppt/slides/slide1.xml" Id="R6b483550caa44c19" /><Relationship Type="http://schemas.openxmlformats.org/officeDocument/2006/relationships/slide" Target="/ppt/slides/slide2.xml" Id="R06823bfa468e4629" /><Relationship Type="http://schemas.openxmlformats.org/officeDocument/2006/relationships/slide" Target="/ppt/slides/slide3.xml" Id="Rc116deda5aa74fa7" /><Relationship Type="http://schemas.openxmlformats.org/officeDocument/2006/relationships/slide" Target="/ppt/slides/slide4.xml" Id="Rf644199c5ad3499e" /><Relationship Type="http://schemas.openxmlformats.org/officeDocument/2006/relationships/slide" Target="/ppt/slides/slide5.xml" Id="Rb510b69d742b492f" /><Relationship Type="http://schemas.openxmlformats.org/officeDocument/2006/relationships/slide" Target="/ppt/slides/slide6.xml" Id="Rff673a05e11b42b4" /><Relationship Type="http://schemas.openxmlformats.org/officeDocument/2006/relationships/slide" Target="/ppt/slides/slide7.xml" Id="R3044c373b2a341c7" /><Relationship Type="http://schemas.openxmlformats.org/officeDocument/2006/relationships/slide" Target="/ppt/slides/slide8.xml" Id="R62fd1f171c344a61" /><Relationship Type="http://schemas.openxmlformats.org/officeDocument/2006/relationships/slide" Target="/ppt/slides/slide9.xml" Id="R567777b3ea6c446f" /><Relationship Type="http://schemas.openxmlformats.org/officeDocument/2006/relationships/slide" Target="/ppt/slides/slide10.xml" Id="R5a1ceafe4ea245ab" /><Relationship Type="http://schemas.openxmlformats.org/officeDocument/2006/relationships/slide" Target="/ppt/slides/slide11.xml" Id="R97ea20d7fc4e4d61" /><Relationship Type="http://schemas.openxmlformats.org/officeDocument/2006/relationships/slide" Target="/ppt/slides/slide12.xml" Id="Rc1dc2e2909214408" /><Relationship Type="http://schemas.openxmlformats.org/officeDocument/2006/relationships/slide" Target="/ppt/slides/slide13.xml" Id="R81755de7dba1495c" /><Relationship Type="http://schemas.openxmlformats.org/officeDocument/2006/relationships/slide" Target="/ppt/slides/slide14.xml" Id="R57412ca1b4eb4592" /><Relationship Type="http://schemas.openxmlformats.org/officeDocument/2006/relationships/slide" Target="/ppt/slides/slide15.xml" Id="R13bf13ffebe74314" /><Relationship Type="http://schemas.openxmlformats.org/officeDocument/2006/relationships/slide" Target="/ppt/slides/slide16.xml" Id="Rced744cc3a724c2b" /><Relationship Type="http://schemas.openxmlformats.org/officeDocument/2006/relationships/slide" Target="/ppt/slides/slide17.xml" Id="R09960e2521b946ea" /><Relationship Type="http://schemas.openxmlformats.org/officeDocument/2006/relationships/slide" Target="/ppt/slides/slide18.xml" Id="Re4c26de310544a01" /><Relationship Type="http://schemas.openxmlformats.org/officeDocument/2006/relationships/slide" Target="/ppt/slides/slide19.xml" Id="R920e7a5d4fd848af" /><Relationship Type="http://schemas.openxmlformats.org/officeDocument/2006/relationships/slide" Target="/ppt/slides/slide20.xml" Id="R61bab6b6f79f4dd9" /><Relationship Type="http://schemas.openxmlformats.org/officeDocument/2006/relationships/slide" Target="/ppt/slides/slide21.xml" Id="Re09e62e22fde47ee" /><Relationship Type="http://schemas.openxmlformats.org/officeDocument/2006/relationships/slide" Target="/ppt/slides/slide22.xml" Id="R234f2dc12ee04a0a" /><Relationship Type="http://schemas.openxmlformats.org/officeDocument/2006/relationships/slide" Target="/ppt/slides/slide23.xml" Id="Rb98981a54304434a" /><Relationship Type="http://schemas.openxmlformats.org/officeDocument/2006/relationships/slide" Target="/ppt/slides/slide24.xml" Id="Rd2602e8940e54613" /><Relationship Type="http://schemas.openxmlformats.org/officeDocument/2006/relationships/slide" Target="/ppt/slides/slide25.xml" Id="Ra15fb15ff0a448c7" /><Relationship Type="http://schemas.openxmlformats.org/officeDocument/2006/relationships/slide" Target="/ppt/slides/slide26.xml" Id="R7be86907a3eb4740" /><Relationship Type="http://schemas.openxmlformats.org/officeDocument/2006/relationships/slide" Target="/ppt/slides/slide27.xml" Id="R9a2476dfd6b24384" /><Relationship Type="http://schemas.openxmlformats.org/officeDocument/2006/relationships/slide" Target="/ppt/slides/slide28.xml" Id="R066509c373bb40e2" /><Relationship Type="http://schemas.openxmlformats.org/officeDocument/2006/relationships/slide" Target="/ppt/slides/slide29.xml" Id="R16c125331db1473b" /><Relationship Type="http://schemas.openxmlformats.org/officeDocument/2006/relationships/slide" Target="/ppt/slides/slide30.xml" Id="Rc51803a4f6b644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1d189f476744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65705698154cee" /><Relationship Type="http://schemas.openxmlformats.org/officeDocument/2006/relationships/notesMaster" Target="/ppt/notesMasters/notesMaster1.xml" Id="R5a1223f2d0c74a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3da1a60faa4669" /><Relationship Type="http://schemas.openxmlformats.org/officeDocument/2006/relationships/notesMaster" Target="/ppt/notesMasters/notesMaster1.xml" Id="Rff34c5789fb046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5e671d828e4d13" /><Relationship Type="http://schemas.openxmlformats.org/officeDocument/2006/relationships/notesMaster" Target="/ppt/notesMasters/notesMaster1.xml" Id="R180011c03afb47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dea212561c4aba" /><Relationship Type="http://schemas.openxmlformats.org/officeDocument/2006/relationships/notesMaster" Target="/ppt/notesMasters/notesMaster1.xml" Id="Rfa7b51ccbe054c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362a0a53924451" /><Relationship Type="http://schemas.openxmlformats.org/officeDocument/2006/relationships/notesMaster" Target="/ppt/notesMasters/notesMaster1.xml" Id="R4e885963bda44d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4a39b6c76d4501" /><Relationship Type="http://schemas.openxmlformats.org/officeDocument/2006/relationships/notesMaster" Target="/ppt/notesMasters/notesMaster1.xml" Id="Rb8508095bda64e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88fedcabd44584" /><Relationship Type="http://schemas.openxmlformats.org/officeDocument/2006/relationships/notesMaster" Target="/ppt/notesMasters/notesMaster1.xml" Id="R661446e23cdd45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850b85471c4054" /><Relationship Type="http://schemas.openxmlformats.org/officeDocument/2006/relationships/notesMaster" Target="/ppt/notesMasters/notesMaster1.xml" Id="R93a00c73197c41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a8114f44c240da" /><Relationship Type="http://schemas.openxmlformats.org/officeDocument/2006/relationships/notesMaster" Target="/ppt/notesMasters/notesMaster1.xml" Id="R581a03efd6ba43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cf1af94fa54592" /><Relationship Type="http://schemas.openxmlformats.org/officeDocument/2006/relationships/notesMaster" Target="/ppt/notesMasters/notesMaster1.xml" Id="R6468fcf60c2547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cce472747046ef" /><Relationship Type="http://schemas.openxmlformats.org/officeDocument/2006/relationships/notesMaster" Target="/ppt/notesMasters/notesMaster1.xml" Id="R4d77b8574a854f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4a9d2144854e8f" /><Relationship Type="http://schemas.openxmlformats.org/officeDocument/2006/relationships/notesMaster" Target="/ppt/notesMasters/notesMaster1.xml" Id="Rfc4dfd548b2b43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a3c2fe34ee46a9" /><Relationship Type="http://schemas.openxmlformats.org/officeDocument/2006/relationships/notesMaster" Target="/ppt/notesMasters/notesMaster1.xml" Id="Rf8d828a808ee49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6916c120694cf3" /><Relationship Type="http://schemas.openxmlformats.org/officeDocument/2006/relationships/notesMaster" Target="/ppt/notesMasters/notesMaster1.xml" Id="R58d1c869afac4f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43ec05195546db" /><Relationship Type="http://schemas.openxmlformats.org/officeDocument/2006/relationships/notesMaster" Target="/ppt/notesMasters/notesMaster1.xml" Id="R88b003d2230e440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819bc86f794374" /><Relationship Type="http://schemas.openxmlformats.org/officeDocument/2006/relationships/notesMaster" Target="/ppt/notesMasters/notesMaster1.xml" Id="R8b7a5e0282344b4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966dca490fe4b6e" /><Relationship Type="http://schemas.openxmlformats.org/officeDocument/2006/relationships/notesMaster" Target="/ppt/notesMasters/notesMaster1.xml" Id="Re654a282890944a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9cfb54d51444ca5" /><Relationship Type="http://schemas.openxmlformats.org/officeDocument/2006/relationships/notesMaster" Target="/ppt/notesMasters/notesMaster1.xml" Id="R439e8ca436e848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da7bc06303c4c35" /><Relationship Type="http://schemas.openxmlformats.org/officeDocument/2006/relationships/notesMaster" Target="/ppt/notesMasters/notesMaster1.xml" Id="R71f91696d5804bf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6e765a791bb4347" /><Relationship Type="http://schemas.openxmlformats.org/officeDocument/2006/relationships/notesMaster" Target="/ppt/notesMasters/notesMaster1.xml" Id="R700fdd273cdf42a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78796819d2d4210" /><Relationship Type="http://schemas.openxmlformats.org/officeDocument/2006/relationships/notesMaster" Target="/ppt/notesMasters/notesMaster1.xml" Id="R056149edb434483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26dca5ec74f4835" /><Relationship Type="http://schemas.openxmlformats.org/officeDocument/2006/relationships/notesMaster" Target="/ppt/notesMasters/notesMaster1.xml" Id="Rf7a43da1f2654bb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1ec3ffcba934cc8" /><Relationship Type="http://schemas.openxmlformats.org/officeDocument/2006/relationships/notesMaster" Target="/ppt/notesMasters/notesMaster1.xml" Id="Rc456a9c2bd5d4e6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8345b78ae8d4083" /><Relationship Type="http://schemas.openxmlformats.org/officeDocument/2006/relationships/notesMaster" Target="/ppt/notesMasters/notesMaster1.xml" Id="Rcc5fc82bda4f4cf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f9207b27e404186" /><Relationship Type="http://schemas.openxmlformats.org/officeDocument/2006/relationships/notesMaster" Target="/ppt/notesMasters/notesMaster1.xml" Id="R9fe6d37deb26442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1ea1f2b74f54722" /><Relationship Type="http://schemas.openxmlformats.org/officeDocument/2006/relationships/notesMaster" Target="/ppt/notesMasters/notesMaster1.xml" Id="R20bfc9cf0b07408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c9a15cb1b894260" /><Relationship Type="http://schemas.openxmlformats.org/officeDocument/2006/relationships/notesMaster" Target="/ppt/notesMasters/notesMaster1.xml" Id="Rcc363b833de847c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1b92828c2eb4a3d" /><Relationship Type="http://schemas.openxmlformats.org/officeDocument/2006/relationships/notesMaster" Target="/ppt/notesMasters/notesMaster1.xml" Id="R28ec4aaa51d74cb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d47eba6ee9b4184" /><Relationship Type="http://schemas.openxmlformats.org/officeDocument/2006/relationships/notesMaster" Target="/ppt/notesMasters/notesMaster1.xml" Id="Rfb7615fac66440e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5d28b49582e41db" /><Relationship Type="http://schemas.openxmlformats.org/officeDocument/2006/relationships/notesMaster" Target="/ppt/notesMasters/notesMaster1.xml" Id="R3bc19533981249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7 cover. Wikimedia Commons: File:Backlit keyboard.jpg — https://commons.wikimedia.org/wiki/File:Backlit_keyboard.jpg — CC BY-SA 4.0 —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7 learning outcomes, aligned to webModules[6].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Directly maps webAssignments[2] criteria to this week's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Restates the W3C WAI-ARIA Authoring Practices Guide's First Rule of ARIA. Original framing for SLOP1512.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decision framework synthesising WAI-ARIA APG guidance for SLOP1512 Week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Commons: File:Keyboard with fingers.jpg — https://commons.wikimedia.org/wiki/File:Keyboard_with_fingers.jpg — CC BY-SA 4.0 —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code examples following WCAG 2.4.6 (Headings and Labels) and WAI-ARIA labelling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before/after example. Relates to WCAG 1.3.1 (Info and Relationships) and 3.3.2 (Labels or Instructions).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grouping example, tied to WCAG 1.3.1 and the HTML Standard's fieldset/legend semantics.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Commons: File:Single switch onscreen keyboard.jpg (photographer vtsaran) — https://commons.wikimedia.org/wiki/File:Single_switch_onscreen_keyboard.jpg — CC BY 2.0 —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Commons: File:Hands are typing on a laptop keyboard while a clock rests next to the device.jpg — https://commons.wikimedia.org/wiki/File:Hands_are_typing_on_a_laptop_keyboard_while_a_clock_rests_next_to_the_device.jpg — CC BY 2.0 —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explanation of :focus-visible vs. the historical outline:none anti-pattern, tied to WCAG 2.4.7 (Focus Visible).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Commons: File:Artwork of typing using a computer keyboard.jpg — https://commons.wikimedia.org/wiki/File:Artwork_of_typing_using_a_computer_keyboard.jpg — CC BY-SA 4.0 —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skip-link pattern, standard practice per WCAG 2.4.1 (Bypass Blocks).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Standard disclosure widget pattern from the WAI-ARIA Authoring Practices Guide, reproduced for SLOP1512.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synthesis of the WAI-ARIA APG modal dialog pattern's four focus-management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Commons: File:Refreshable Braille display.jpg — https://commons.wikimedia.org/wiki/File:Refreshable_Braille_display.jpg — CC BY-SA 3.0 —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code following WCAG 3.3.1 (Error Identification) and 4.1.2 (Name, Role, Value).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error-summary pattern and wording guidance, aligned to WCAG 3.3.1 and 3.3.3 (Error Suggestion).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comparison table of ARIA live region roles/attributes, per WAI-ARIA 1.2 live region semantics.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Commons: File:Sign language interpreter, 2012 (01).jpg — https://commons.wikimedia.org/wiki/File:Sign_language_interpreter,_2012_(01).jpg — CC BY-SA 2.0 —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before/after comparison, direct expansion of the studio's div-soup-vs-native-elements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Commons: File:WTBBL magnifier 01.jpg — https://commons.wikimedia.org/wiki/File:WTBBL_magnifier_01.jpg — CC BY-SA 3.0 —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Commons: File:Code on computer monitor (Unsplash).jpg (photographer Markus Spiske) — https://commons.wikimedia.org/wiki/File:Code_on_computer_monitor_(Unsplash).jpg — CC0 —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keyboard test protocol, directly answering the Week 7 brief's “test focus order, labels, errors and keyboard access”.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Commons: File:Hands are seen typing on a laptop keyboard.jpg — https://commons.wikimedia.org/wiki/File:Hands_are_seen_typing_on_a_laptop_keyboard.jpg — CC BY 2.0 —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interaction-map template, the concrete artefact answering webAssignments[2]'s 'testing evidence and revision' criterion.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7 studio exercise, directly implementing webModules[6] and feeding webAssignments[2].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review rubric mapped one-to-one onto webAssignments[2]'s four criteria.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Consolidated source record for all ten images placed in this deck, plus external standards references, accessed 13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85ddf1ab324f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f5b251570148e5" /><Relationship Type="http://schemas.openxmlformats.org/officeDocument/2006/relationships/slideLayout" Target="/ppt/slideLayouts/slideLayout1.xml" Id="R88990ba4416e45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990ba4416e45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db513b87245a9" /><Relationship Type="http://schemas.openxmlformats.org/officeDocument/2006/relationships/image" Target="/ppt/media/image.jpeg" Id="Re1bbbc14c19b48c0" /><Relationship Type="http://schemas.openxmlformats.org/officeDocument/2006/relationships/notesSlide" Target="/ppt/notesSlides/notesSlide1.xml" Id="Recc1d943d49b43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cf185f5a84f8d" /><Relationship Type="http://schemas.openxmlformats.org/officeDocument/2006/relationships/notesSlide" Target="/ppt/notesSlides/notesSlide2.xml" Id="R65d38e22f7f649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5817a07a54c88" /><Relationship Type="http://schemas.openxmlformats.org/officeDocument/2006/relationships/notesSlide" Target="/ppt/notesSlides/notesSlide3.xml" Id="Rb8d6328e353447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e86b977614e92" /><Relationship Type="http://schemas.openxmlformats.org/officeDocument/2006/relationships/notesSlide" Target="/ppt/notesSlides/notesSlide4.xml" Id="R8f080e7a64f248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c80db8ac54dfd" /><Relationship Type="http://schemas.openxmlformats.org/officeDocument/2006/relationships/notesSlide" Target="/ppt/notesSlides/notesSlide5.xml" Id="Re484ae91c55445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608a46f4845da" /><Relationship Type="http://schemas.openxmlformats.org/officeDocument/2006/relationships/image" Target="/ppt/media/image2.jpeg" Id="R028cae6f1ff5452a" /><Relationship Type="http://schemas.openxmlformats.org/officeDocument/2006/relationships/notesSlide" Target="/ppt/notesSlides/notesSlide6.xml" Id="Ra9ddd06ebe1f4b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5c567efcd4974" /><Relationship Type="http://schemas.openxmlformats.org/officeDocument/2006/relationships/notesSlide" Target="/ppt/notesSlides/notesSlide7.xml" Id="R663159526b0648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c5109d32647cc" /><Relationship Type="http://schemas.openxmlformats.org/officeDocument/2006/relationships/notesSlide" Target="/ppt/notesSlides/notesSlide8.xml" Id="R2a5b21142d5f4f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a570759284f3b" /><Relationship Type="http://schemas.openxmlformats.org/officeDocument/2006/relationships/notesSlide" Target="/ppt/notesSlides/notesSlide9.xml" Id="Ra825f02289da4d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a4547a20740e0" /><Relationship Type="http://schemas.openxmlformats.org/officeDocument/2006/relationships/image" Target="/ppt/media/image3.jpeg" Id="Reb2b318082724cd0" /><Relationship Type="http://schemas.openxmlformats.org/officeDocument/2006/relationships/notesSlide" Target="/ppt/notesSlides/notesSlide10.xml" Id="R0ad53643cadc4d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239dfe8644bf6" /><Relationship Type="http://schemas.openxmlformats.org/officeDocument/2006/relationships/image" Target="/ppt/media/image4.jpeg" Id="R852eebe4026548a6" /><Relationship Type="http://schemas.openxmlformats.org/officeDocument/2006/relationships/notesSlide" Target="/ppt/notesSlides/notesSlide11.xml" Id="R9c3147860a4947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cf55cef31460b" /><Relationship Type="http://schemas.openxmlformats.org/officeDocument/2006/relationships/notesSlide" Target="/ppt/notesSlides/notesSlide12.xml" Id="Rb7966128e1d645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601ff4bbb47aa" /><Relationship Type="http://schemas.openxmlformats.org/officeDocument/2006/relationships/image" Target="/ppt/media/image5.jpeg" Id="R852f7ab603aa4a1a" /><Relationship Type="http://schemas.openxmlformats.org/officeDocument/2006/relationships/notesSlide" Target="/ppt/notesSlides/notesSlide13.xml" Id="R063312072c7141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f9c7b2c1e4c2c" /><Relationship Type="http://schemas.openxmlformats.org/officeDocument/2006/relationships/notesSlide" Target="/ppt/notesSlides/notesSlide14.xml" Id="Rba0fa4a1abad49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ede0edf124491" /><Relationship Type="http://schemas.openxmlformats.org/officeDocument/2006/relationships/notesSlide" Target="/ppt/notesSlides/notesSlide15.xml" Id="R1211cf2b402149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be4073948427a" /><Relationship Type="http://schemas.openxmlformats.org/officeDocument/2006/relationships/notesSlide" Target="/ppt/notesSlides/notesSlide16.xml" Id="R52e02f04a1cc41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58176c1c74a1e" /><Relationship Type="http://schemas.openxmlformats.org/officeDocument/2006/relationships/image" Target="/ppt/media/image6.jpeg" Id="R0b1deb3bfe5944b9" /><Relationship Type="http://schemas.openxmlformats.org/officeDocument/2006/relationships/notesSlide" Target="/ppt/notesSlides/notesSlide17.xml" Id="R2955b7d7df9f495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98e76db90485b" /><Relationship Type="http://schemas.openxmlformats.org/officeDocument/2006/relationships/notesSlide" Target="/ppt/notesSlides/notesSlide18.xml" Id="R44358e41c0e54da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c8ba5b9004078" /><Relationship Type="http://schemas.openxmlformats.org/officeDocument/2006/relationships/notesSlide" Target="/ppt/notesSlides/notesSlide19.xml" Id="Rdd7cab4c472a47b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64b1d1d2749d5" /><Relationship Type="http://schemas.openxmlformats.org/officeDocument/2006/relationships/notesSlide" Target="/ppt/notesSlides/notesSlide20.xml" Id="Rdcbced4f55ae433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96ec518fa4cae" /><Relationship Type="http://schemas.openxmlformats.org/officeDocument/2006/relationships/image" Target="/ppt/media/image7.jpeg" Id="R706db455c1714961" /><Relationship Type="http://schemas.openxmlformats.org/officeDocument/2006/relationships/notesSlide" Target="/ppt/notesSlides/notesSlide21.xml" Id="R7a48f86ea2c546b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4dd82a85c48fb" /><Relationship Type="http://schemas.openxmlformats.org/officeDocument/2006/relationships/notesSlide" Target="/ppt/notesSlides/notesSlide22.xml" Id="R35249574ee80431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43f0ceb404eea" /><Relationship Type="http://schemas.openxmlformats.org/officeDocument/2006/relationships/image" Target="/ppt/media/image8.jpeg" Id="R591c267c26064a90" /><Relationship Type="http://schemas.openxmlformats.org/officeDocument/2006/relationships/notesSlide" Target="/ppt/notesSlides/notesSlide23.xml" Id="R06d1d20aaedf4a3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72f57049c4be6" /><Relationship Type="http://schemas.openxmlformats.org/officeDocument/2006/relationships/image" Target="/ppt/media/image9.jpeg" Id="R3abaaab4adcc4119" /><Relationship Type="http://schemas.openxmlformats.org/officeDocument/2006/relationships/notesSlide" Target="/ppt/notesSlides/notesSlide24.xml" Id="R95bbb7f01bb54e5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5b9e9f083466a" /><Relationship Type="http://schemas.openxmlformats.org/officeDocument/2006/relationships/notesSlide" Target="/ppt/notesSlides/notesSlide25.xml" Id="Ra1c1eb691c8e465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c8f371a2e495d" /><Relationship Type="http://schemas.openxmlformats.org/officeDocument/2006/relationships/image" Target="/ppt/media/image10.jpeg" Id="R0d967f96cd494564" /><Relationship Type="http://schemas.openxmlformats.org/officeDocument/2006/relationships/notesSlide" Target="/ppt/notesSlides/notesSlide26.xml" Id="Rb08a8c3402a2467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dcc43670d4e32" /><Relationship Type="http://schemas.openxmlformats.org/officeDocument/2006/relationships/notesSlide" Target="/ppt/notesSlides/notesSlide27.xml" Id="R4cc879da87fc4e2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08f7a942c4128" /><Relationship Type="http://schemas.openxmlformats.org/officeDocument/2006/relationships/notesSlide" Target="/ppt/notesSlides/notesSlide28.xml" Id="Reabcf557b29047a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7054e36e14835" /><Relationship Type="http://schemas.openxmlformats.org/officeDocument/2006/relationships/notesSlide" Target="/ppt/notesSlides/notesSlide29.xml" Id="R486b705c3349484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50bd6cb6f43bf" /><Relationship Type="http://schemas.openxmlformats.org/officeDocument/2006/relationships/notesSlide" Target="/ppt/notesSlides/notesSlide30.xml" Id="Rb30eb3ffb1e648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bbc14c19b48c0"/>
          <a:srcRect xmlns:a="http://schemas.openxmlformats.org/drawingml/2006/main" l="25781" t="0" r="257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oundRect">
            <a:avLst>
              <a:gd name="adj" fmla="val 1935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99D72-0E1E-4767-9347-3388D18C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E6477-8A10-4500-BA18-92A21AA5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048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36287-4251-4D69-986A-E6662490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3238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6B144-0C0D-48F4-B6BF-A0F0AEE6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6197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Interaction and Forms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F01EF-D645-45A6-9EEB-797DE0BF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552450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Building clear navigation and accessible forms — and proving, with evidence, that focus order, labels, errors and keyboard access all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EFD79-E457-403E-8B62-83832FAB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5524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28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C0A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C0AE"/>
                </a:solidFill>
                <a:latin typeface="Aptos"/>
                <a:ea typeface="Aptos"/>
                <a:cs typeface="Aptos"/>
              </a:rPr>
              <a:t>Feeds Assignment 3: Accessible interaction prototype (25%)</a:t>
            </a:r>
          </a:p>
        </p:txBody>
      </p:sp>
    </p:spTree>
    <p:extLst>
      <p:ext uri="{BB962C8B-B14F-4D97-AF65-F5344CB8AC3E}">
        <p14:creationId xmlns:p14="http://schemas.microsoft.com/office/powerpoint/2010/main" val="6444528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BB0B3-A7D6-4A01-A415-4513D4A3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5DA6C-6F52-44FA-A49F-16C24026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39D99-80DE-472A-AD86-09CE746A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ED1B2-D3C6-4DFC-9897-95026793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Technical outcomes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BD26A-A503-44AE-B837-24233401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By the end of this lecture you can build, test and defend an accessible interactive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BB9F7-E83F-495D-A296-5CA4675A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4260E-714A-4215-AE3E-56E1766F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7FE49-2C50-4509-B7D8-52DD96CB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A66B6-768B-45FD-8B91-1F9C42D7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FF493-A04A-4BC2-9E18-CF0579E2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2952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F2236-70F7-488E-95B8-BA65E53F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Choose native controls first; label every one; group related choices with fieldset and legend.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A646E-F1C7-4CC1-8BBC-0720D314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193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B0C9E-0866-4431-8223-D9C07497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098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5E97D-E775-4E4F-A322-357B95CF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81300"/>
            <a:ext cx="2952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D2BF04-42E9-415B-A571-08260322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2420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Drive every control with only a keyboard; confirm focus order, visible focus and screen-reader announcement.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5452E-A4C0-4C74-8A45-9F6B6AF8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B42C5-721D-4AA2-8755-30097276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098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6323C-B08C-455C-8A22-D3E6B683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81300"/>
            <a:ext cx="2952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Prove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37B3A-0178-4E8C-AA47-EE3AC79E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2420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Record what you tested as evidence — the interaction map this week produces feeds Assignment 3 directly.</a:t>
            </a:r>
          </a:p>
        </p:txBody>
      </p:sp>
    </p:spTree>
    <p:extLst>
      <p:ext uri="{BB962C8B-B14F-4D97-AF65-F5344CB8AC3E}">
        <p14:creationId xmlns:p14="http://schemas.microsoft.com/office/powerpoint/2010/main" val="19256822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73C893-F969-4C3A-87F6-BC1662A1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D483C-1709-4643-9EEB-FFA77FB0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EA70C-7823-476F-A6EE-6F15D116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7C9EA-3D7E-4731-BE05-DA83D754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this week is graded work, not theory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28BD0-1E7B-46F0-ACC2-41B38F27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Assignment 3 — Accessible interaction prototype — 25%, due 5:00 pm Friday 7 May 2027.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3108D-595D-4C5B-85AF-216C220C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08236-525A-4B6D-8AC8-A6AD5D65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2FBC2-EE09-4FC0-8EAB-443DF49D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381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93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Assignment 3 criterion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6C43D-06F4-4F04-B6B2-AB362DEE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95550"/>
            <a:ext cx="4476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93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Built directly from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80849-EF2D-4EF6-BB62-1BFE8C3B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287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71E32-0C88-4082-9EE8-F3D2B2F1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47625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Task flow and interaction clarity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5EED9-38F3-45D6-9DDE-6AE901E3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67050"/>
            <a:ext cx="45720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This week's navigation and form-structure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81DAB-AF76-48F4-9F56-4E88E24C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287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2F691-C8B7-430F-BACC-ED8C6B2C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47625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Accessible forms and keyboard 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2BD47-5E1E-4610-9EB1-53238C04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71900"/>
            <a:ext cx="45720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Labels, fieldset/legend, focus order, visible focus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F417A-C456-4B37-A8BA-54BA8371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287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36650-5117-4E8D-A6D2-8F9A9CA7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47625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Visual feedback and technical care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8F20C-5DFC-495B-8B8C-B4A32B42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45720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Error states, live regions, colour-independent feedback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574FA-5502-49E2-B187-CB2C4806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0287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1371A-18D1-4E58-BD71-3E11E730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47625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Testing evidence and revision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849ED8-838D-4894-A337-BE4EF552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81600"/>
            <a:ext cx="45720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keyboard test protocol and interaction map, slides 26–28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56D935-F621-4DCA-BF65-87E3FDC0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0287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44420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A5E630-2B83-42B7-9043-82FB2661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8B419-3A6C-496F-A0E3-FB2C635E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BEB88-EBAE-43E1-BA2B-B0D56BE7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694CB-4544-47C6-9767-DFA757E7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Two ways to build any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AB617-9FC4-42D0-87BE-ED0B3D6B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native element or a custom widget built from generic markup — the choice has consequences.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47E20-3FDC-4928-BB33-24ADF243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0F2B5-D407-457D-A414-98D5DFBC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D4C17-7AAF-4559-A6E5-5DA1B5E3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52863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04213-1E4F-47D7-86D1-AB014F49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0EDE3-5AA9-4F45-9C77-18E6AE69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Native element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DAD1A-0602-4B08-8A0C-72B5A717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905375" cy="1343025"/>
          </a:xfrm>
          <a:prstGeom xmlns:a="http://schemas.openxmlformats.org/drawingml/2006/main" prst="roundRect">
            <a:avLst>
              <a:gd name="adj" fmla="val 85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&lt;button&gt;, &lt;input&gt;, &lt;select&gt;, &lt;a href&gt;. The browser supplies role, name, state, keyboard behaviour and focus handling for free.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4F885-8A83-4182-94A0-A7CE30C3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57450"/>
            <a:ext cx="52863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9A602-5315-4A27-820B-A9DC3DC2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479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CA392-2C3D-40AE-BCF5-A00EF5E2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1940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Custom widget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4F714-CF4B-4BB3-B2C2-63D62A19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162300"/>
            <a:ext cx="4905375" cy="1343025"/>
          </a:xfrm>
          <a:prstGeom xmlns:a="http://schemas.openxmlformats.org/drawingml/2006/main" prst="roundRect">
            <a:avLst>
              <a:gd name="adj" fmla="val 85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&lt;div&gt; or &lt;span&gt; styled to look like a control. None of role, keyboard behaviour or state exist until you add every one yourself with ARIA and script.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B208A-34E2-42A1-A59A-06D401A7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10287000" cy="704850"/>
          </a:xfrm>
          <a:prstGeom xmlns:a="http://schemas.openxmlformats.org/drawingml/2006/main" prst="roundRect">
            <a:avLst>
              <a:gd name="adj" fmla="val 1621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First Rule of ARIA (W3C WAI-ARIA Authoring Practices): if a native HTML element has the semantics and behaviour you need, use it instead of repurposing an element and adding ARIA.</a:t>
            </a:r>
          </a:p>
        </p:txBody>
      </p:sp>
    </p:spTree>
    <p:extLst>
      <p:ext uri="{BB962C8B-B14F-4D97-AF65-F5344CB8AC3E}">
        <p14:creationId xmlns:p14="http://schemas.microsoft.com/office/powerpoint/2010/main" val="19752065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319A77-960B-4119-958D-D9B6C31F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0E8B1-19B3-4504-AC03-48D29EEC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A4AFE-3BFD-4C2C-8DEE-752C3B7C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F12ED-DD36-4DDF-8177-8E96BAE4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When ARIA is actually warranted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AF922-70C8-4196-97B6-1E7A9CAC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short decision method, not a reflex reach for aria-* attributes.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2A3A6-DB3D-4F76-AEB4-12B5B6DC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78A39-45DF-4846-BB5C-479E16AC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9F70D-967D-47FC-920A-1F70D166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8CFE2-4695-4D63-9CCD-B34C794F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857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09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58FEB-9718-419D-85D3-6544D307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05075"/>
            <a:ext cx="96964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Can this be a native element (button, input, select, a, details)? If yes, use it and stop.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0E271-D140-45D0-9950-C117A370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AF94C-B0AF-452E-9C83-9890E4D8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2857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09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7F948-E328-45A1-9F3A-2A668982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48025"/>
            <a:ext cx="96964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Is there no native equivalent (a tablist, a combobox, a tree)? Only then look at the ARIA Authoring Practices Guide pattern for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73882-A369-4B43-8CF4-438254E0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53CC5-DF46-4A15-BE77-CA3C0870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2857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09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E66C5-C995-4035-BB5A-18ACCE96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90975"/>
            <a:ext cx="96964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Copy that pattern's exact role, state attributes and keyboard behaviour — not just the role.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57FF2F-2F1F-4752-80FE-330C5837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6E3CA-4221-41F5-950F-C40532FC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52975"/>
            <a:ext cx="2857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09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2F468-8443-4BCA-BBBD-0546DED9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33925"/>
            <a:ext cx="96964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Test with a keyboard and a screen reader before shipping. ARIA that is not tested is often worse than no ARIA.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ECFA1-7846-403B-B7F0-46F0F68B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0965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Bad ARIA is worse than no ARIA: it tells assistive technology a promise (“this is a working tab list”) that the script does not keep.</a:t>
            </a:r>
          </a:p>
        </p:txBody>
      </p:sp>
    </p:spTree>
    <p:extLst>
      <p:ext uri="{BB962C8B-B14F-4D97-AF65-F5344CB8AC3E}">
        <p14:creationId xmlns:p14="http://schemas.microsoft.com/office/powerpoint/2010/main" val="2716563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FA17E-BB8D-4671-99D7-0E8814D5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295AD-0E98-47F9-8A0E-469A7EE8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37AEE-5C3F-4962-908A-8E140111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0E7F7-C8D5-40BD-AB43-AAC299E0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One semantic contract, many input devices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C75C4-DD4C-40C3-9C4B-ABC23278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Correct roles and keyboard behaviour are what let radically different devices operate the same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0B37E-6993-45A5-AAAC-2E4DA5BF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F03E3-4953-4418-850C-9E6C4D03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cae6f1ff5452a"/>
          <a:srcRect xmlns:a="http://schemas.openxmlformats.org/drawingml/2006/main" l="14915" t="0" r="149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381250"/>
            <a:ext cx="4419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59BDD-AD96-49D0-B350-CE8DE4ED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000750" cy="142875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mouse click, a keyboard Enter, a switch-scan selection and a screen-reader “activate” gesture are all different inputs. A correctly built control responds to all of them because it exposes one role and one activation behaviour — not four separate implementations.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CAFFE-0690-4FE1-80A8-E95C3763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E6666-557C-46F0-8527-1DD3B8D9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577C9-3B19-49C6-B7D0-46688EB4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5619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Practical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48B39-9546-4503-8B02-59CD8932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561975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If it only works with a mouse, it is not finished — whatever the design review said.</a:t>
            </a:r>
          </a:p>
        </p:txBody>
      </p:sp>
    </p:spTree>
    <p:extLst>
      <p:ext uri="{BB962C8B-B14F-4D97-AF65-F5344CB8AC3E}">
        <p14:creationId xmlns:p14="http://schemas.microsoft.com/office/powerpoint/2010/main" val="1860903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46FE9-907E-4883-BE46-DAAA6199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D3152-4D7B-42E2-90E4-E721B8E2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2A19A-6E39-42E4-AF2E-7CD198C4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AECBB-88CA-4414-A3B5-FA00633C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Labels — three ways to name a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9CCA6-D0CE-4477-B753-1DF0403F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aria-label and aria-labelledby exist for edge cases, not as a substitute for a visible label.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0AD74-EEA8-4180-B840-527ECA82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D801E-E865-4EF5-A803-850EF7FD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0CF60-5109-4A6F-BDF8-6301C00A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47295-A1A2-4900-9AD4-CD8691F5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287000" cy="2590800"/>
          </a:xfrm>
          <a:prstGeom xmlns:a="http://schemas.openxmlformats.org/drawingml/2006/main" prst="roundRect">
            <a:avLst>
              <a:gd name="adj" fmla="val 441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&lt;!-- Preferred: explicit label, visible and clickable --&gt;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&lt;label for="email"&gt;Email address&lt;/label&gt;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&lt;input id="email" type="email" autocomplete="email"&gt;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&lt;!-- No visible text available (icon-only button) --&gt;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&lt;button aria-label="Close dialog"&gt;✕&lt;/button&gt;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&lt;!-- Label built from existing visible text elsewhere --&gt;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&lt;h2 id="billing"&gt;Billing address&lt;/h2&gt;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&lt;input aria-labelledby="billing" name="address1"&gt;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4BA95-94DE-4D7C-A217-79EF058D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03822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Rule of thumb: use a visible &lt;label for&gt; by default. Reach for aria-label only when no visible text can serve as the name; use aria-labelledby to reuse text that already exists on the page.</a:t>
            </a:r>
          </a:p>
        </p:txBody>
      </p:sp>
    </p:spTree>
    <p:extLst>
      <p:ext uri="{BB962C8B-B14F-4D97-AF65-F5344CB8AC3E}">
        <p14:creationId xmlns:p14="http://schemas.microsoft.com/office/powerpoint/2010/main" val="9925858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DA97F-DDC9-44F0-BDAD-6E08AD4D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6EDCB-76D8-45AE-A0D5-54554EFD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34EC7-2CD2-49E8-B7AE-C170FCAD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71CD2-DBEB-42FA-AE04-CB53E987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Placeholders are not labels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11763-8164-486E-95A0-2DC15BAA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placeholder is a hint that disappears; a label is a permanent, programmatically associated name.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0EAB9-76DA-4633-998B-60142012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E5ED9-276B-4BCA-A33F-8D1A4CB5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F3CD3-ABCF-4D2E-8023-7306C40B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6000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367E2-DF70-4223-88E9-CDACACFF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619750" cy="1924050"/>
          </a:xfrm>
          <a:prstGeom xmlns:a="http://schemas.openxmlformats.org/drawingml/2006/main" prst="roundRect">
            <a:avLst>
              <a:gd name="adj" fmla="val 594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&lt;!-- Fails: placeholder only --&gt;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&lt;input type="text" placeholder="Full name"&gt;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&lt;!-- Passes: label kept, placeholder optional --&gt;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&lt;label for="fullname"&gt;Full name&lt;/label&gt;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&lt;input id="fullname" type="text"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   placeholder="e.g. Priya Shah"&gt;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11C00-8D6D-4568-9DEF-47F4AC41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81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8201E-3BFC-4373-81CE-81DB6195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199D7-2C4A-46AF-86D3-0B3BB6D7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43200"/>
            <a:ext cx="4000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Vanishes on 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4B054-4F8F-45A2-98BC-136A3029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4000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hint disappears the moment someone starts typing, so a person who looks away loses the field's name.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3DFEF-3A13-46E4-A0B1-1CD2D079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43300"/>
            <a:ext cx="4381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3364F-994F-4129-99BB-2013C9AF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338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CDCA2-CC04-41EB-AD34-FF941553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05250"/>
            <a:ext cx="4000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Inconsistent contrast and exposure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28CF32-852B-4D86-A25A-1491150C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48150"/>
            <a:ext cx="400050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Placeholder text is often low-contrast and some screen readers announce it differently from a real label, or not at all.</a:t>
            </a:r>
          </a:p>
        </p:txBody>
      </p:sp>
    </p:spTree>
    <p:extLst>
      <p:ext uri="{BB962C8B-B14F-4D97-AF65-F5344CB8AC3E}">
        <p14:creationId xmlns:p14="http://schemas.microsoft.com/office/powerpoint/2010/main" val="20011945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A4337-2AAE-43B4-98BE-02CD8E0D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7F0D3-FF0F-4AD2-9BA3-C25ADDCD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21AC7-00D3-4916-8689-03148303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AD82A-14EE-4E6C-B52F-F38C2DAA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Grouping related choices — fieldset and legend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28F14-1346-4BAE-9BD8-AFBFA9BD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screen reader announces the group's name before it announces each option inside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3E11A-A4DF-4D10-99C8-67CC5CB1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6B34B-0E55-403D-BA6E-B1C2AD8E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CE10A-18B7-4B58-81D7-716274AE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129D8-1CFA-4276-8469-2694B5D6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287000" cy="2019300"/>
          </a:xfrm>
          <a:prstGeom xmlns:a="http://schemas.openxmlformats.org/drawingml/2006/main" prst="roundRect">
            <a:avLst>
              <a:gd name="adj" fmla="val 566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&lt;fieldset&gt;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&lt;legend&gt;Preferred contact method&lt;/legend&gt;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&lt;label&gt;&lt;input type="radio" name="contact" value="email"&gt; Email&lt;/label&gt;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&lt;label&gt;&lt;input type="radio" name="contact" value="phone"&gt; Phone&lt;/label&gt;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&lt;label&gt;&lt;input type="radio" name="contact" value="post"&gt; Post&lt;/label&gt;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&lt;/fieldset&gt;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CC23C-2131-4F91-8123-D11EBD9B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1038225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Without fieldset/legend, a screen reader reads three unrelated radio buttons named “Email”, “Phone”, “Post” with no shared question. With it, each announces as “Preferred contact method, Email, radio button, 1 of 3”.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5DE22-F76C-4ACB-9057-9983B9E2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038225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Use fieldset/legend for any radio group, checkbox group, or a short run of related inputs (e.g. a date split into day/month/year).</a:t>
            </a:r>
          </a:p>
        </p:txBody>
      </p:sp>
    </p:spTree>
    <p:extLst>
      <p:ext uri="{BB962C8B-B14F-4D97-AF65-F5344CB8AC3E}">
        <p14:creationId xmlns:p14="http://schemas.microsoft.com/office/powerpoint/2010/main" val="2677879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62E185-FF84-4566-960B-4296E3F7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93279-772B-4BC0-8F78-4703E960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C81D2-F3E1-44E1-A6B9-5981E510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84CE4-2DAF-4393-9E52-E1E88397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Semantics survive the input device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00B8F-F660-43AF-BA79-86A7ABBD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Switch-scanning access relies on the same roles and tab order as keyboard and screen-reader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544E1-70F3-4F97-A49B-29F82FCF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A1C3E-D727-49F1-8A9D-D9C407DA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b318082724cd0"/>
          <a:srcRect xmlns:a="http://schemas.openxmlformats.org/drawingml/2006/main" l="0" t="10625" r="0" b="10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209800"/>
            <a:ext cx="3810000" cy="40005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0AF16-B5BD-4BE8-99AD-3A8F31F6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600075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single-switch user does not press keys directly. Software scans through focusable elements in order and the user presses one switch at the right moment to select the highlighted item.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7B859-D0B9-4F61-B2B0-CE0688A0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6000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A0D2E-5DF1-40E9-989D-DE5A97E5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3CC9D-F446-4DB0-8323-2AAD2370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5619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breaks this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EE4D7-463A-4BEB-B93C-A9CAB51D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561975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control with no accessible name, a group with no fieldset, or a tab order that jumps around the page all make scanning slower or impossible.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51887-E86B-4D84-A250-F66905C6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6AABD-8620-4893-BB1C-85211EC6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FC7A23-3921-4999-AA24-F0DDC483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5619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this week fixes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9D09C-D105-43AB-A67A-832B16DB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561975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Correct labels, grouping and DOM order are exactly the fixes — the same ones that help keyboard and screen-reader users.</a:t>
            </a:r>
          </a:p>
        </p:txBody>
      </p:sp>
    </p:spTree>
    <p:extLst>
      <p:ext uri="{BB962C8B-B14F-4D97-AF65-F5344CB8AC3E}">
        <p14:creationId xmlns:p14="http://schemas.microsoft.com/office/powerpoint/2010/main" val="13445102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026B7-21FD-4311-9EC3-A873C423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7535C-0818-48D5-91CC-05E993D9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97B34-EB5B-4137-A96A-F1D111FB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66DC3-115A-410C-9565-D57D520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Focus order — DOM order, not visual 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D9F01-1B4B-494F-8771-4E21416D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Tab order follows the HTML source order. CSS can move things visually without moving them logically.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B231E-753E-41F1-911F-4A79AD37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72322-A125-47C6-84E1-6E44D3A3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eebe4026548a6"/>
          <a:srcRect xmlns:a="http://schemas.openxmlformats.org/drawingml/2006/main" l="9950" t="0" r="99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2381250"/>
            <a:ext cx="365760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ABA19-E102-42CD-B2EF-1E2E0E6C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6667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4A388-5D86-4A68-A336-2BBE2843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6286500" cy="1066800"/>
          </a:xfrm>
          <a:prstGeom xmlns:a="http://schemas.openxmlformats.org/drawingml/2006/main" prst="roundRect">
            <a:avLst>
              <a:gd name="adj" fmla="val 10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34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&lt;!-- tabindex pitfalls --&gt;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tabindex="0"   /* joins natural tab order — fine */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tabindex="-1"  /* focusable only by script — fine, e.g. skip target */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tabindex="3"   /* positive value: rewrites tab order — avoid */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A815C-89B9-415C-9397-99931DD4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666750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If a CSS grid or flexbox reorder makes the visual layout diverge from the HTML order, keyboard users tab through the page in an order that no longer matches what they see.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D458E-F59E-4F99-B859-274D0D46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6667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Fix the HTML order first. Reach for a positive tabindex only as a last resort — it is fragile and rarely necessary.</a:t>
            </a:r>
          </a:p>
        </p:txBody>
      </p:sp>
    </p:spTree>
    <p:extLst>
      <p:ext uri="{BB962C8B-B14F-4D97-AF65-F5344CB8AC3E}">
        <p14:creationId xmlns:p14="http://schemas.microsoft.com/office/powerpoint/2010/main" val="3048638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681B4-01FA-4378-A4C6-43028DD9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40B90-F345-42E6-9F8C-E895E1C1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FF7EB-C412-4213-A5BF-2EF3D273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D781A-3DFB-4674-B9A5-B68865D3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Visible focus — and the outline: none anti-pattern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7E837-E579-4112-97E6-CA2DC937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Removing the focus ring without replacing it hides where keyboard attention is on the page.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E972E-BC33-4AEE-9128-59EF816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2D73B-6F68-4811-9FF9-FBFD9E1B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98982-9AFE-4FAD-A9B9-2CE2A4D6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72C5F-7449-48B9-B738-77BCC3D0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287000" cy="2305050"/>
          </a:xfrm>
          <a:prstGeom xmlns:a="http://schemas.openxmlformats.org/drawingml/2006/main" prst="roundRect">
            <a:avLst>
              <a:gd name="adj" fmla="val 495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/* Anti-pattern: focus becomes invisible for every user */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button:focus { outline: none;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/* Correct: hide the ring only for pointer users, keep it for keyboard */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button:focus:not(:focus-visible) { outline: none; }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button:focus-visible {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outline: 3px solid #C7831A;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outline-offset: 2px;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F61B1-5E51-4E17-969E-BF9AED02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103822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11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:focus-visible lets the browser show a focus ring for keyboard and switch users while suppressing it after a mouse click — without hiding it altogether.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59501-FA87-43B2-AA31-8379DF40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72150"/>
            <a:ext cx="1038225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54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Never ship outline: none alone. Test every interactive element by tabbing to it and checking the ring is visible against its background.</a:t>
            </a:r>
          </a:p>
        </p:txBody>
      </p:sp>
    </p:spTree>
    <p:extLst>
      <p:ext uri="{BB962C8B-B14F-4D97-AF65-F5344CB8AC3E}">
        <p14:creationId xmlns:p14="http://schemas.microsoft.com/office/powerpoint/2010/main" val="21373451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826D4D-5487-40AF-96CE-D724B44E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4ACC8-940F-475E-B9DF-906D6DF8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CEA94-8F19-4D93-BA1F-479FBA05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2E897-524C-40BE-B3F8-3517AF82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Keyboard-only is the default test, not an edge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66DE3-35D1-4D0B-A608-AEADB78E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Unplug the mouse before you call an interaction finished.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6D201-1558-4A1C-BD51-EAAB56BE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B2215-5ABC-4BB2-A5CC-653C5150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f7ab603aa4a1a"/>
          <a:srcRect xmlns:a="http://schemas.openxmlformats.org/drawingml/2006/main" l="0" t="2871" r="0" b="28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247900"/>
            <a:ext cx="4419600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8A2F0-48E2-4416-B626-6339F42C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6000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AFC2A-B3F3-4C5C-BC8E-5E09A894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4E221-655A-41D1-80B0-5A404DB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619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Who relies on this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0FA76-60B6-410D-9E30-B31429DF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5619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044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People with motor impairments using only a keyboard or switch, screen-reader users, and power users — keyboard access is not a minority accommodation, it is baseline correctness.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FA27D-E6FA-402F-B326-18B02B4E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6000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FBB84-873F-4B49-8D2B-1E5BC468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88FE6-887E-48F7-9812-07B3EC45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619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habit to build now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ED9C3-5AEE-4E0A-A0CF-2CAA3EAF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6197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Before checking a form into the studio task, tab through it start to finish with your hand off the mouse.</a:t>
            </a:r>
          </a:p>
        </p:txBody>
      </p:sp>
    </p:spTree>
    <p:extLst>
      <p:ext uri="{BB962C8B-B14F-4D97-AF65-F5344CB8AC3E}">
        <p14:creationId xmlns:p14="http://schemas.microsoft.com/office/powerpoint/2010/main" val="8395662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61836-B34A-4F4C-B6E8-FC02CA4C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2FA2D-C50C-4E25-B86E-103DA368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01235-F0E9-4277-AD78-780370C7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B3404-D583-4B7E-AF88-05357247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Skip links — the first tab stop on any page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EF256-39E6-4594-80C8-387950C7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Let a keyboard user bypass repeated navigation instead of tabbing through it on every page.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561DC-EF77-4E66-970E-3C4EE771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885B5-07E5-47C8-B643-1C5A29F8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E53C5-F565-4083-97B8-B71A5809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74A3E-D149-4088-B064-A3751F66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287000" cy="2495550"/>
          </a:xfrm>
          <a:prstGeom xmlns:a="http://schemas.openxmlformats.org/drawingml/2006/main" prst="roundRect">
            <a:avLst>
              <a:gd name="adj" fmla="val 458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&lt;body&gt;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&lt;a class="skip-link" href="#main"&gt;Skip to main content&lt;/a&gt;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&lt;nav&gt;… 12 links …&lt;/nav&gt;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&lt;main id="main"&gt;…&lt;/main&gt;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&lt;/body&gt;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.skip-link {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position: absolute; left: -999px;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.skip-link:focus { left: 1rem; top: 1rem; } /* becomes visible on focus */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0059A-E47D-4956-BF6C-DFA49D48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03822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link must be the first focusable element and must become visible on focus — hiding it with display:none removes it from the tab order entirely.</a:t>
            </a:r>
          </a:p>
        </p:txBody>
      </p:sp>
    </p:spTree>
    <p:extLst>
      <p:ext uri="{BB962C8B-B14F-4D97-AF65-F5344CB8AC3E}">
        <p14:creationId xmlns:p14="http://schemas.microsoft.com/office/powerpoint/2010/main" val="393634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B6792-E69A-4F44-A94F-C0461681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FB818-716F-47DB-88D0-BF16BF6F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A3993-1831-457B-AD16-53653141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766FE-F39E-49B8-B350-416412C0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Disclosure pattern — aria-expanded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977D2-3123-48F2-821E-03C1A6C5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toggle button must announce its own current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D9134-0AA4-4A9D-8FE0-2E3369A5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D4254-A62E-41AD-B280-CF039673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86E55-BE84-4770-B4A1-996ADC09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BEB6E-A3E4-40D5-A97B-9E62C6DE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287000" cy="2686050"/>
          </a:xfrm>
          <a:prstGeom xmlns:a="http://schemas.openxmlformats.org/drawingml/2006/main" prst="roundRect">
            <a:avLst>
              <a:gd name="adj" fmla="val 42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&lt;button aria-expanded="false" aria-controls="filters-panel" id="filters-btn"&gt;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Show filters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&lt;/button&gt;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&lt;div id="filters-panel" hidden&gt;… filter controls …&lt;/div&gt;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// On click: toggle the hidden attribute and flip aria-expanded to match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btn.addEventListener("click", () =&gt; {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const open = panel.hasAttribute("hidden");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panel.toggleAttribute("hidden", !open);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btn.setAttribute("aria-expanded", String(open));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6655772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38EDC-66EB-42B4-9A57-72E89DBE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B98B0-9D33-41FA-B3FD-00EC976B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7E448-552C-42B5-955C-BDFEA457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993C3-0DD8-4804-8CFA-F44F7C9B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Modal dialog — trapping and returning focus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6D199-D80F-4CFD-8E06-BB124472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Four behaviours a modal must get right, or it breaks keyboard use entirely.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5E4F9-EFCF-47C0-95BA-D331ABC4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4AD22-E343-4958-B277-16144CA0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495EF-B8AA-4BD6-9D6A-47EEDD5F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On open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2FD86-9B40-4CBE-9D66-DB9017DD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19350"/>
            <a:ext cx="7620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Move focus to the dialog (its heading or first control).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C48EF-744A-4692-9DB9-F7ECA21A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99441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13ECA-E143-4B3A-B66D-20EF2F0B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While open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259EC-CA4A-42F4-A511-F958258A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7620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Tab and Shift+Tab cycle only through elements inside the dialog.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6951E-54DB-4BF7-8AA4-8C249EB1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99441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D3775-936B-4037-B7DD-6AEB5B56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Escape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515C6-B153-48E2-B346-55A73EC3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48150"/>
            <a:ext cx="7620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Closes the dialog without requiring a pointer.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68AA1-E2FB-43AB-95C8-942C684D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99441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D1340-7AC4-46FC-8769-DC97517A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On close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83CBD-BD7C-4609-9279-6844FB87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62550"/>
            <a:ext cx="7620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Focus returns to the element that opened it, not to the top of the page.</a:t>
            </a:r>
          </a:p>
        </p:txBody>
      </p:sp>
    </p:spTree>
    <p:extLst>
      <p:ext uri="{BB962C8B-B14F-4D97-AF65-F5344CB8AC3E}">
        <p14:creationId xmlns:p14="http://schemas.microsoft.com/office/powerpoint/2010/main" val="9559534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BD53C-1DFB-42DF-95FE-45B72866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1103E-D3E3-4A64-961B-16F1A54B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0D5F2-5D0D-4CD1-B98C-9124C8AF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2124A-3ED1-4ADF-B564-8B763344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Semantics are read, not just seen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96265-3306-4402-A111-F91B8EAC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Every role, label and state you set is consumed by assistive technology as data, not as a visual hint.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A194D-B4FD-42A6-BA4C-796EB179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9A627-C511-440D-8AD2-4A32A0B7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deb3bfe5944b9"/>
          <a:srcRect xmlns:a="http://schemas.openxmlformats.org/drawingml/2006/main" l="6500" t="0" r="6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228850"/>
            <a:ext cx="4419600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2DFFD-BEF4-475F-B026-B0F493B8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600075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refreshable Braille display renders the accessibility tree's exposed name, role and state as raised pin patterns — there is no visual layout to fall back on if the underlying markup is wrong.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EC118-2DF0-4B62-8325-39A10A41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000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63761-51D6-4351-8A80-04CC482D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5303D-5882-489F-9039-582D9F48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5619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this means for you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72462-58CF-4854-9684-B314B39A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5619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80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control that “looks right” in a screenshot can still be unusable here if its role or name is missing — test the tree, not just the screen.</a:t>
            </a:r>
          </a:p>
        </p:txBody>
      </p:sp>
    </p:spTree>
    <p:extLst>
      <p:ext uri="{BB962C8B-B14F-4D97-AF65-F5344CB8AC3E}">
        <p14:creationId xmlns:p14="http://schemas.microsoft.com/office/powerpoint/2010/main" val="1756541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10F81-1863-4001-974A-162DBEEF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CBBC8-FAE2-40F2-979B-1853BBF8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5872C-8013-42F3-BC29-DD86D148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1A7C1-249B-49DD-BDE1-F8FEC4B3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Accessible error handling — connect the message to the field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323FC-FBB0-4644-BFF5-BD480443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aria-describedby links help and error text directly to the control that owns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66D71-DF80-499B-8178-03A0DDF1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224A7-29C4-4554-AC6C-96078C99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33792-800D-49A5-8924-C24C4098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17388-50A1-4742-9B15-1D18CC68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287000" cy="2495550"/>
          </a:xfrm>
          <a:prstGeom xmlns:a="http://schemas.openxmlformats.org/drawingml/2006/main" prst="roundRect">
            <a:avLst>
              <a:gd name="adj" fmla="val 458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&lt;label for="email"&gt;Email address&lt;/label&gt;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&lt;input id="email" type="email"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   aria-describedby="email-error"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   aria-invalid="true"&gt;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&lt;p id="email-error" role="alert"&gt;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Enter an email address in the form name@example.com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&lt;/p&gt;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CA94B-B25E-4FEA-A4BD-02DE9C1C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03822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aria-describedby makes the screen reader announce the error immediately after the field name. aria-invalid marks the field's state; role="alert" announces new error text as soon as it appears.</a:t>
            </a:r>
          </a:p>
        </p:txBody>
      </p:sp>
    </p:spTree>
    <p:extLst>
      <p:ext uri="{BB962C8B-B14F-4D97-AF65-F5344CB8AC3E}">
        <p14:creationId xmlns:p14="http://schemas.microsoft.com/office/powerpoint/2010/main" val="16588901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19666D-D1E8-4F61-8C16-8091B723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7ECA2-A7A9-48CB-9231-4F80A965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C089F-0D81-4ABC-BD7E-C90929FB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677B2-C850-498E-9721-C7327CED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Error summaries — and wording that tells someone what to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C849D-ABB4-41A6-A183-3E4C86C7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red border communicates nothing to someone who cannot see colour, and nothing at all to a screen reader.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28E08-F345-452F-AB28-F12B2182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85287-A5A0-442F-A63F-B6229718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61395-3F68-41F2-A92F-019FFF68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4A5A7-C509-4D9D-87D5-4AE7AEDA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287000" cy="1828800"/>
          </a:xfrm>
          <a:prstGeom xmlns:a="http://schemas.openxmlformats.org/drawingml/2006/main" prst="roundRect">
            <a:avLst>
              <a:gd name="adj" fmla="val 62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&lt;div role="alert" class="error-summary"&gt;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&lt;h2&gt;2 problems need fixing&lt;/h2&gt;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&lt;ul&gt;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&lt;li&gt;&lt;a href="#email"&gt;Email address is missing&lt;/a&gt;&lt;/li&gt;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&lt;li&gt;&lt;a href="#password"&gt;Password must be at least 8 characters&lt;/a&gt;&lt;/li&gt;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&lt;/ul&gt;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&lt;/div&gt;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FCB8C-5177-4F39-AC50-7C63C0C4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52863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67AD3-3797-4815-9845-366C7EE8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0D55E-98C5-48C0-BAE6-298CBC6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Vague (avoid)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AA05E-05D7-48E7-AB37-93603162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4905375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“Invalid input.” — does not say which field, or what a valid value looks like.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0B1F6-D35A-4A55-A95F-0B3878BD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629150"/>
            <a:ext cx="52863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AFC3C-3186-4645-B86A-F5E0A40E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8196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E0962-AC5C-44B3-BFBF-87D55743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991100"/>
            <a:ext cx="4905375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Actionable (use)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6D6D6-35B7-4EBB-AA73-29FC7BCE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334000"/>
            <a:ext cx="4905375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6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“Enter a password of at least 8 characters.” — names the field, the rule, and how to fix it.</a:t>
            </a:r>
          </a:p>
        </p:txBody>
      </p:sp>
    </p:spTree>
    <p:extLst>
      <p:ext uri="{BB962C8B-B14F-4D97-AF65-F5344CB8AC3E}">
        <p14:creationId xmlns:p14="http://schemas.microsoft.com/office/powerpoint/2010/main" val="49338212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0AB545-9BD0-427D-89DF-51412A15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C18BE-7DCC-4711-8878-E79199DB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E7526-E2C6-4227-A2B3-F4F055BF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6C1CE-1ACF-4260-846A-4926ADF8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Live regions — announcing change without moving focus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9048F-6D62-4A46-835A-ED165B6D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aria-live tells a screen reader to announce new or changed content automatically.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E98F7-1898-4FD8-97E3-295C449E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27CA7-5585-40EC-B9CD-98D528D8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5B7B9-FE87-4957-8FDD-9ABB6716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3048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93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Attribute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AABEF-1157-464E-A896-BE3BA430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590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93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Behaviour and 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296D5-4F55-4CDE-8CE8-0C6DD1DC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287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3026F-0F78-4663-9837-321585EB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810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aria-live="polite"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DC609-261C-4E50-8CF8-4D24F063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8950"/>
            <a:ext cx="59055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Waits for the user to pause. Use for status text, save confirmations, result counts.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0CA38-AC49-427B-9947-16EEC653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287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482BF-55BA-4690-84F5-B87A078C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3810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aria-live="assertive"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B4C9A-FA5E-448E-A8DE-BC3A5954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33800"/>
            <a:ext cx="59055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Interrupts immediately. Reserve for time-critical errors, e.g. a form submission failure.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3EF76-BA9C-4430-8AB4-350A3895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0287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4969F-67E6-498B-9F74-3E7B47C8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3810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role="status"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AFABF-6ABB-4CCD-B87D-1785A3BA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38650"/>
            <a:ext cx="59055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Shorthand for a polite live region; commonly used for “Saving…” / “Saved” messages.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8DE82-D28E-4584-A95F-EC1F1FCB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10287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3BA955-B44F-4F77-B1A0-6A77C34C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3810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role="alert"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1AFCF9-2E07-4013-8DC0-B342C475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59055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Shorthand for an assertive live region; the pattern used on the previous two slides.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11F8E-1A5A-4B63-850B-17FA53CE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10287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06868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C084D-A56A-43CB-AD04-8CB2A4A6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3E8E4-AF6C-4940-B5BB-D657BAEE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E3497-746C-488B-8E31-9AE63CA6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CB5F1-13B0-4F88-BE5E-18D17EFB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Announcing across every channel at once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CD7A8-E834-4D30-96D6-9439CB32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change that is only visible fails everyone who is not looking at that exact spot when it happens.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88F41-98A5-483C-8638-007DA265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2045B-F544-4541-B83F-320E81E5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db455c1714961"/>
          <a:srcRect xmlns:a="http://schemas.openxmlformats.org/drawingml/2006/main" l="0" t="17672" r="0" b="17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228850"/>
            <a:ext cx="4419600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72F6C-E3CD-4850-9352-37BD7163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6000750" cy="1428750"/>
          </a:xfrm>
          <a:prstGeom xmlns:a="http://schemas.openxmlformats.org/drawingml/2006/main" prst="roundRect">
            <a:avLst>
              <a:gd name="adj" fmla="val 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An interpreter renders one message through a second channel simultaneously, without waiting to be asked. A live region does the same job for a web page — the same update reaches a screen reader the instant it reaches the screen.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B020A-EFC7-4ACE-8340-E03F3DC7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6000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6B882-40C4-486E-96D5-9D0B8DD5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0A1EA-C8E3-4E07-94AD-E2CD46DF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5619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Design rule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A2894-9B78-48A2-9C3F-B71ECD0A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5619750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Never rely on a single sense (sight only, sound only) to carry a form's feedback.</a:t>
            </a:r>
          </a:p>
        </p:txBody>
      </p:sp>
    </p:spTree>
    <p:extLst>
      <p:ext uri="{BB962C8B-B14F-4D97-AF65-F5344CB8AC3E}">
        <p14:creationId xmlns:p14="http://schemas.microsoft.com/office/powerpoint/2010/main" val="15918584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2291C-E71B-4E27-86F7-00288C1F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D7C3A-ACB2-4C78-B738-667CBA59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4A389-27C2-49A0-9691-B704AE0A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804C0-7F3B-4105-9618-A2ECE963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Before and after — the same form, two implementations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E29C8-94A7-45FD-8645-F5DD4FC8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Identical appearance is possible with wildly different accessibility.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219EE-6955-475E-A1AC-FF754F2F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CE903-3211-45ED-8AC7-8D2CBBFA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18856-2423-47B6-AC8C-0E798BB3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52863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F5DDE-58FB-4A9F-A5CA-35E07591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4905375" cy="2209800"/>
          </a:xfrm>
          <a:prstGeom xmlns:a="http://schemas.openxmlformats.org/drawingml/2006/main" prst="roundRect">
            <a:avLst>
              <a:gd name="adj" fmla="val 517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&lt;!-- div-soup: name only, no role, no keyboard support --&gt;</a:t>
            </a:r>
          </a:p>
          <a:p xmlns:a="http://schemas.openxmlformats.org/drawingml/2006/main">
            <a:pPr algn="l">
              <a:defRPr sz="11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&lt;div class="field"&gt;</a:t>
            </a:r>
          </a:p>
          <a:p xmlns:a="http://schemas.openxmlformats.org/drawingml/2006/main">
            <a:pPr algn="l">
              <a:defRPr sz="11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&lt;div class="field-label"&gt;Email&lt;/div&gt;</a:t>
            </a:r>
          </a:p>
          <a:p xmlns:a="http://schemas.openxmlformats.org/drawingml/2006/main">
            <a:pPr algn="l">
              <a:defRPr sz="11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&lt;div class="input" contenteditable="true"&gt;&lt;/div&gt;</a:t>
            </a:r>
          </a:p>
          <a:p xmlns:a="http://schemas.openxmlformats.org/drawingml/2006/main">
            <a:pPr algn="l">
              <a:defRPr sz="11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&lt;/div&gt;</a:t>
            </a:r>
          </a:p>
          <a:p xmlns:a="http://schemas.openxmlformats.org/drawingml/2006/main">
            <a:pPr algn="l">
              <a:defRPr sz="11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&lt;div class="btn" onclick="submit()"&gt;Submit&lt;/div&gt;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010F0-D36C-4745-847F-19DE628F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81250"/>
            <a:ext cx="52863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213C9-F39C-40E5-943F-C5B759D8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514600"/>
            <a:ext cx="4905375" cy="2209800"/>
          </a:xfrm>
          <a:prstGeom xmlns:a="http://schemas.openxmlformats.org/drawingml/2006/main" prst="roundRect">
            <a:avLst>
              <a:gd name="adj" fmla="val 517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&lt;!-- native: name, role, keyboard behaviour for free --&gt;</a:t>
            </a:r>
          </a:p>
          <a:p xmlns:a="http://schemas.openxmlformats.org/drawingml/2006/main">
            <a:pPr algn="l">
              <a:defRPr sz="11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&lt;label for="email"&gt;Email&lt;/label&gt;</a:t>
            </a:r>
          </a:p>
          <a:p xmlns:a="http://schemas.openxmlformats.org/drawingml/2006/main">
            <a:pPr algn="l">
              <a:defRPr sz="11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&lt;input id="email" type="email" required&gt;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&lt;button type="submit"&gt;Submit&lt;/button&gt;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31F56-2161-45B8-B63B-C2882AB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10287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left version has no accessible name, no keyboard activation and no submit semantics. The right version gets all three from the browser, at zero extra script.</a:t>
            </a:r>
          </a:p>
        </p:txBody>
      </p:sp>
    </p:spTree>
    <p:extLst>
      <p:ext uri="{BB962C8B-B14F-4D97-AF65-F5344CB8AC3E}">
        <p14:creationId xmlns:p14="http://schemas.microsoft.com/office/powerpoint/2010/main" val="44075180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9EB8AA-D750-4C5C-B6EF-26AC54C7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13ADF-5840-4905-ACC4-010125C7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A4082-C9F0-40E3-8F28-451EB195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1DB10-361E-4B9C-975F-B51A8944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Visual feedback needs more than colour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FE768-6BE8-4B56-B19B-59676085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WCAG 1.4.1 requires that a state or error is identifiable without relying on colour alone.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B6ED2-40D8-4A15-BCAC-6EFECA3B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7E359-CBB8-4AEA-A637-0C8364DF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c267c26064a90"/>
          <a:srcRect xmlns:a="http://schemas.openxmlformats.org/drawingml/2006/main" l="6500" t="0" r="6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228850"/>
            <a:ext cx="4419600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2FAAA-8DA8-4229-801A-AF5754EA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600075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red border alone fails for a colour-blind user, and can fail entirely at high magnification if it falls outside the zoomed viewport.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69279-461D-4F2B-A59C-6CFAAB6F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000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94F50-2E70-4C79-B984-12AA2F0B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131D0-4260-4A4B-A93A-CA9D5966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5619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Pair colour with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ADDED7-DCA2-4A50-BADB-F9F90C0C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561975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An icon, an explicit word (“Error”), and text placed directly beside the field — not only a coloured border.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B2333-F2C3-4BDB-B4F2-AD6EE947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6000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BC328-8777-45C7-9CBC-F3280BC4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BE8FE-A419-4272-A149-C1167D65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5619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Also 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D04520-D4B4-4F08-B577-5DAFF1B5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56197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Text reflows and stays readable at 200% browser zoom, and every state has at least 3:1 contrast against its background (WCAG 1.4.11).</a:t>
            </a:r>
          </a:p>
        </p:txBody>
      </p:sp>
    </p:spTree>
    <p:extLst>
      <p:ext uri="{BB962C8B-B14F-4D97-AF65-F5344CB8AC3E}">
        <p14:creationId xmlns:p14="http://schemas.microsoft.com/office/powerpoint/2010/main" val="3678284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1DF6C-7976-4809-8F23-1176D7FF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7D636-37BF-4939-81F8-02568962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E701C-9588-4BC3-97CC-5D07051E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1B1EC-E601-4CB9-A88D-D589467A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Testing in the browser — the accessibility tree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3EFAB-7460-4D9C-B106-1BD417A7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DevTools exposes the same name, role and state a screen reader receives.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B3FA3-742E-4F3C-8123-80C3DC73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73694-89C1-414B-85CA-A5D9250A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aaab4adcc4119"/>
          <a:srcRect xmlns:a="http://schemas.openxmlformats.org/drawingml/2006/main" l="11357" t="0" r="113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228850"/>
            <a:ext cx="4419600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30835-0861-45FD-AA93-7ACE80A3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E54DF-3439-47E4-B0F4-F9E99781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47925"/>
            <a:ext cx="2857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09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A3A06-5DF6-412B-8C70-FCE91F89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56007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Open the browser's Accessibility panel (DevTools) alongside the Elements panel.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38EF6-38F8-4F0D-B727-4B1B7AD6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FA1D4-37D4-4132-8557-27912616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76575"/>
            <a:ext cx="2857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09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C0441-46B0-425A-800B-4F315F02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57525"/>
            <a:ext cx="56007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Select a control and confirm its computed name, role and state match what you intended.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BB936-F466-448D-AF8E-432D68C9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83444-6711-4775-86AD-434CFEFD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05225"/>
            <a:ext cx="2857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09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D6AF2E-FDC7-4B02-96B8-F56C244C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86175"/>
            <a:ext cx="56007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Confirm the tab order in the panel matches the visual reading order.</a:t>
            </a:r>
          </a:p>
        </p:txBody>
      </p:sp>
    </p:spTree>
    <p:extLst>
      <p:ext uri="{BB962C8B-B14F-4D97-AF65-F5344CB8AC3E}">
        <p14:creationId xmlns:p14="http://schemas.microsoft.com/office/powerpoint/2010/main" val="8144799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860C60-5BFE-4F18-BD4A-F5DBCBF8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12924-86C4-41D0-8CD0-82D8E45A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F28C5-1927-4E73-A2F3-BD8C8138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A4FC6-1EF3-4FC6-B27F-0DE39FD3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keyboard test protocol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FA33D-5D99-463F-99A8-61C3CF9C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fixed sequence to run on every interactive page before it is considered done.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3F042-5EA4-4A92-B0F7-CA66052F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87587-C115-4BF7-B8DA-1A5786DF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79891-7498-469E-9B36-FFA3A8A1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FF818-C8A2-422B-8342-B92A89A0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9825"/>
            <a:ext cx="2857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09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F2187-50D2-4F19-ACF0-39E705F8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90775"/>
            <a:ext cx="96012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Disconnect or ignore the mouse. Press Tab from the top of the page.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5FB1A-1D8C-4012-94F8-CDCC9BF0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0FD43-C249-4225-9871-9B383B8F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2857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09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3549D-0811-42A0-B23E-EB75AAFA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81325"/>
            <a:ext cx="96012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Confirm a visible focus indicator appears on every stop, with no silent jumps.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FDAE6-D7A9-49CF-A940-CA8F73A6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E4FCCD-82EF-4FA0-AAE1-5E1BE009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2857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09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DCB1F-0124-489C-95F4-4013ACA4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71875"/>
            <a:ext cx="96012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Confirm the order matches the visual reading order, left-to-right, top-to-bottom.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AF81D8-43EB-4498-A63C-6C48E71C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C4EE5-AD0D-450C-922D-888B1032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2857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09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7E3419-55A1-4FD5-929A-4FE008F4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62425"/>
            <a:ext cx="96012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Activate each control with Enter (links, buttons) or Space (buttons, checkboxes).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7C2D8-FD08-424B-A161-52A7EB2E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51FAC-F5D8-4DF6-9BD2-4CEB573E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2857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09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66DBB8-3C70-40B6-BD5A-30561099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52975"/>
            <a:ext cx="96012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Press Shift+Tab to confirm the same order reverses cleanly.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D9B232-237C-4BF6-B0F8-9312A10A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85464F-94C3-407A-BBF3-2FAE7B92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62575"/>
            <a:ext cx="2857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09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B96E31-3A8B-471D-BC98-E9FB8F48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43525"/>
            <a:ext cx="96012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Press Escape on any open menu, disclosure or dialog and confirm it closes.</a:t>
            </a:r>
          </a:p>
        </p:txBody>
      </p:sp>
    </p:spTree>
    <p:extLst>
      <p:ext uri="{BB962C8B-B14F-4D97-AF65-F5344CB8AC3E}">
        <p14:creationId xmlns:p14="http://schemas.microsoft.com/office/powerpoint/2010/main" val="7341314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ED8CB-2463-4815-BE82-0E83AA43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4BF03-CB5C-48BA-A5EF-2EB22FFA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A2DE6-6589-4766-B2FD-0F5388B8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6F02F-6B47-4B55-A9F3-81B548E6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Recording what you actually tested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0CA4B-35EA-4A15-A325-B53AE5A1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Evidence, not memory, is what Assignment 3's testing criterion looks for.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06F95-1E42-4DF3-A7FE-56E87011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E0119-D951-412F-9CAF-C98390E9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67f96cd494564"/>
          <a:srcRect xmlns:a="http://schemas.openxmlformats.org/drawingml/2006/main" l="0" t="15234" r="0" b="152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2343150"/>
            <a:ext cx="3657600" cy="3810000"/>
          </a:xfrm>
          <a:prstGeom xmlns:a="http://schemas.openxmlformats.org/drawingml/2006/main" prst="roundRect">
            <a:avLst>
              <a:gd name="adj" fmla="val 312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4C56F-90AA-4BCA-94F7-EAC2848C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66675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verbal claim (“I checked keyboard access”) is not evidence. A dated record of what you pressed, what you expected and what actually happened 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AF144-FE14-480D-85D5-69CDB54D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666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30260-95AD-40BF-80A9-5B0B6955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83C2B-B79E-4620-A8B5-7F95D5B1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6286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09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Keep for every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518D2-3E01-456F-A46D-5A6D7BD9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628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25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Its name as announced, its role, its position in tab order, and the result of pressing Enter/Space/Escape where relevant.</a:t>
            </a:r>
          </a:p>
        </p:txBody>
      </p:sp>
    </p:spTree>
    <p:extLst>
      <p:ext uri="{BB962C8B-B14F-4D97-AF65-F5344CB8AC3E}">
        <p14:creationId xmlns:p14="http://schemas.microsoft.com/office/powerpoint/2010/main" val="14450098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7774C0-A3F8-465C-AA4C-18E97844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1E2DF-1981-4476-B986-9B475237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72689-AE88-4670-B7F7-93479180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08B98-5D03-43CD-ABE2-0539F05E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interaction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2BDCD-2982-4DDC-8D60-C94EA939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One row per control — the artefact this week's testing protocol produces.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B1851-6C81-4AE3-8C18-31973A78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DE1F0-85A0-4097-B880-F179AE11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16F61-88E8-4D8D-9166-F0141826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847850" cy="25717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008AC-674C-45F8-96D7-2791DB5D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54305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DED35-C968-4F24-8C93-3F271396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1543050" cy="1714500"/>
          </a:xfrm>
          <a:prstGeom xmlns:a="http://schemas.openxmlformats.org/drawingml/2006/main" prst="roundRect">
            <a:avLst>
              <a:gd name="adj" fmla="val 740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Submit button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9B026-E8AC-4AF4-90C4-95D3BCF9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52700"/>
            <a:ext cx="1847850" cy="25717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1DFC0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F65A1-F707-4065-855F-899F5F47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43200"/>
            <a:ext cx="154305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Expected role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D2868-8A73-47EA-95C2-D267E146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19450"/>
            <a:ext cx="1543050" cy="1714500"/>
          </a:xfrm>
          <a:prstGeom xmlns:a="http://schemas.openxmlformats.org/drawingml/2006/main" prst="roundRect">
            <a:avLst>
              <a:gd name="adj" fmla="val 740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button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11D61-B176-4E96-B894-11FF941A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52700"/>
            <a:ext cx="1847850" cy="25717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9128B-0025-432C-8BE0-BAE226CA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43200"/>
            <a:ext cx="154305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Tab position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D26DA-2B84-47D8-88D3-3BECB80E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19450"/>
            <a:ext cx="1543050" cy="1714500"/>
          </a:xfrm>
          <a:prstGeom xmlns:a="http://schemas.openxmlformats.org/drawingml/2006/main" prst="roundRect">
            <a:avLst>
              <a:gd name="adj" fmla="val 740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7 of 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A5E131-58DC-4546-961A-80C5E8E6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52700"/>
            <a:ext cx="1847850" cy="25717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1DFC0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AF0D12-CE6D-4DFA-B129-4043166B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43200"/>
            <a:ext cx="154305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Key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C59D39-87C8-4DC6-B822-452B9486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19450"/>
            <a:ext cx="1543050" cy="1714500"/>
          </a:xfrm>
          <a:prstGeom xmlns:a="http://schemas.openxmlformats.org/drawingml/2006/main" prst="roundRect">
            <a:avLst>
              <a:gd name="adj" fmla="val 740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Space activates; focus ring visible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7C874-B545-4EE4-9E4B-AFDC0B1F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52700"/>
            <a:ext cx="1847850" cy="25717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0594C-7A5C-4F23-BFF6-92A1F4CB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43200"/>
            <a:ext cx="154305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97A6D6-5381-4776-B391-535CE360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19450"/>
            <a:ext cx="1543050" cy="1714500"/>
          </a:xfrm>
          <a:prstGeom xmlns:a="http://schemas.openxmlformats.org/drawingml/2006/main" prst="roundRect">
            <a:avLst>
              <a:gd name="adj" fmla="val 740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Pass — recorded 2027-04-…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6AA25-FA95-4C22-B323-2750AFE3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0012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Build this table for every interactive control in your studio task; it is the direct evidence Assignment 3's rubric asks for.</a:t>
            </a:r>
          </a:p>
        </p:txBody>
      </p:sp>
    </p:spTree>
    <p:extLst>
      <p:ext uri="{BB962C8B-B14F-4D97-AF65-F5344CB8AC3E}">
        <p14:creationId xmlns:p14="http://schemas.microsoft.com/office/powerpoint/2010/main" val="150485024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A7EBE-49DC-47BD-A571-E3F7F00E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BCF5E-B1B3-4718-8AE3-55BB26C0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1CCD8-78B3-4552-9FB8-2A70F1CF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CD339-C822-450A-B14F-CD667A64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Studio task — build the Assignment 3 bridge piece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64B8D-5C01-46D9-B4A3-3DC0DFC7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What you build and test in this session.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7FD3A-7068-45E2-A7D4-1A26596A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06B47-998B-4F48-BDCF-E91540A3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AB9D3-D659-4C54-8E88-3FB38C48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CE28D-72D5-44D3-A6CE-E25CC109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19350"/>
            <a:ext cx="81915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Build a short navigation (with a skip link) and one accessible form: at least one text input, one grouped radio or checkbox set, and a submit action with error handling.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B7C6D-39B4-437F-AA0C-7E762AC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Constraints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CEA37-7D6C-4681-A4CA-2AE3CC82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76600"/>
            <a:ext cx="8191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11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Native elements only unless you can justify a custom widget against the First Rule of ARIA on slide 4. Every control must be operable by keyboard alone.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610E8-7393-4FE5-AF08-E8685A61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000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Evidence to submit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126D2-D355-4102-9F77-C5C339E5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14800"/>
            <a:ext cx="81915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An interaction map (slide 28's template) covering every control, plus one paragraph on the keyboard test you ran and what you fixed as a result.</a:t>
            </a:r>
          </a:p>
        </p:txBody>
      </p:sp>
    </p:spTree>
    <p:extLst>
      <p:ext uri="{BB962C8B-B14F-4D97-AF65-F5344CB8AC3E}">
        <p14:creationId xmlns:p14="http://schemas.microsoft.com/office/powerpoint/2010/main" val="31422521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0DACDE-FAB9-4089-9B81-B023D5A2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562AE-DA5E-4B40-9F39-2ADC2E02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7BA4B-D5D1-40EC-8557-43AF9D8D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524B0-EB88-4B81-8332-60F60471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Review rubric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F484B-9D14-433E-9ED4-5B5DEDD6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How this week's interaction and form work is assessed against Assignment 3's criteria.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C8CB8-1CC8-44A2-AEC9-2C7A13A6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B65EA-4F32-4AA1-BED2-8D7B4CB7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BDF83-326A-41A0-9C62-E563ED3D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Task flow and interaction clarity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584C7-8F26-4D6E-A2C1-8A3249AD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72390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Navigation and form order are predictable and match visual layout.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9F63D-254C-462C-8FF3-8E981492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A1E99-8949-4091-83E2-3B295F75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Accessible forms and keyboard 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B32E8-140A-4C1F-AB18-6997E257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19450"/>
            <a:ext cx="72390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Every control has a name, a role, and works with keyboard alone.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AB782-C24F-4732-8544-E7A25BB3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A5B50-0280-4390-A4F0-84310888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Visual feedback and technical care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3515B-8D57-40B3-9533-C9166392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72390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Errors and state changes are visible, described in text, and announced to assistive technology.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25AD7-1282-413F-8C18-4BF8AA93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99135-94E2-4392-9799-316DCC15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Testing evidence and revision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8ECD6C-FF23-44E9-82B3-D0BCE134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05350"/>
            <a:ext cx="72390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An interaction map is present and shows at least one fix made after testing.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DB01C2-2CB6-479C-AEB7-4AB5DA9F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22402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1EF2F-14BF-4D39-86E3-5AAF2767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6EC7E-8A7B-400F-A53C-3D229E13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5D91B-1D6D-47BF-BE63-9709B49F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D662C-1028-4ECD-9D5D-E908CD9C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2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Source records and further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3A1D1-E6DB-44E2-86A9-B7DBAECD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5727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Every photograph in this deck, and where to read the underlying standards.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1AF1D-71D4-4FD7-BC48-6A67F40B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B3604-3E78-4654-B9A5-ACEBE282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 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5B136-021A-4A6A-B030-49C2CFF7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287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93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Image sources (Wikimedia Commons, all CC0/CC-BY/CC-BY-SA, accessed 13 Sep 2026)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BD098-76AE-4EB5-80F4-12AE93E1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2387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• Wikimedia Commons: File:Backlit keyboard.jpg — https://commons.wikimedia.org/wiki/File:Backlit_keyboard.jpg — CC BY-SA 4.0 — accessed 13 Sep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717A2-3561-4ED6-A6D5-DFFA29EE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43200"/>
            <a:ext cx="52387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• Wikimedia Commons: File:Keyboard with fingers.jpg — https://commons.wikimedia.org/wiki/File:Keyboard_with_fingers.jpg — CC BY-SA 4.0 — accessed 13 Sep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7342B-0C3E-45D2-B8C3-A77893A6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2387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• Wikimedia Commons: File:Single switch onscreen keyboard.jpg (photographer vtsaran) — https://commons.wikimedia.org/wiki/File:Single_switch_onscreen_keyboard.jpg — CC BY 2.0 — accessed 13 Sep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B28EB-1698-4D45-9E04-FAA0525D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71850"/>
            <a:ext cx="52387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• Wikimedia Commons: File:Hands are typing on a laptop keyboard while a clock rests next to the device.jpg — https://commons.wikimedia.org/wiki/File:Hands_are_typing_on_a_laptop_keyboard_while_a_clock_rests_next_to_the_device.jpg — CC BY 2.0 — accessed 13 Sep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B57AD-2735-476D-A7FD-20F41852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2387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• Wikimedia Commons: File:Artwork of typing using a computer keyboard.jpg — https://commons.wikimedia.org/wiki/File:Artwork_of_typing_using_a_computer_keyboard.jpg — CC BY-SA 4.0 — accessed 13 Sep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16684-663A-4F23-A2AF-10701C09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00500"/>
            <a:ext cx="52387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• Wikimedia Commons: File:Refreshable Braille display.jpg — https://commons.wikimedia.org/wiki/File:Refreshable_Braille_display.jpg — CC BY-SA 3.0 — accessed 13 Sep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F75F5-D6D2-47ED-87B2-40ED20E9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2387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• Wikimedia Commons: File:Sign language interpreter, 2012 (01).jpg — https://commons.wikimedia.org/wiki/File:Sign_language_interpreter,_2012_(01).jpg — CC BY-SA 2.0 — accessed 13 Sep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87F0B-5320-4F34-B3E0-2CCAD2B6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29150"/>
            <a:ext cx="52387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• Wikimedia Commons: File:WTBBL magnifier 01.jpg — https://commons.wikimedia.org/wiki/File:WTBBL_magnifier_01.jpg — CC BY-SA 3.0 — accessed 13 Sep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0EB86-2B02-46F5-A65C-6B4E7FBE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52387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• Wikimedia Commons: File:Code on computer monitor (Unsplash).jpg (photographer Markus Spiske) — https://commons.wikimedia.org/wiki/File:Code_on_computer_monitor_(Unsplash).jpg — CC0 — accessed 13 Sep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8EC5CE-B758-479E-93F4-00ED0338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57800"/>
            <a:ext cx="52387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• Wikimedia Commons: File:Hands are seen typing on a laptop keyboard.jpg — https://commons.wikimedia.org/wiki/File:Hands_are_seen_typing_on_a_laptop_keyboard.jpg — CC BY 2.0 — accessed 13 Sep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C6D32F-EB81-4381-AD79-D1135242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3810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Standards and further reading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F7A717-E2FA-4C88-BE85-51F13FAA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2870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8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W3C WAI-ARIA Authoring Practices Guide (w3.org/WAI/ARIA/apg) · WebAIM Forms tutorial (webaim.org/techniques/forms) · MDN Accessibility docs (developer.mozilla.org/en-US/docs/Web/Accessibility). Accessed 13 September 2026.</a:t>
            </a:r>
          </a:p>
        </p:txBody>
      </p:sp>
    </p:spTree>
    <p:extLst>
      <p:ext uri="{BB962C8B-B14F-4D97-AF65-F5344CB8AC3E}">
        <p14:creationId xmlns:p14="http://schemas.microsoft.com/office/powerpoint/2010/main" val="379703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2026-09-13T08:04:46.9510000Z</dcterms:created>
  <dcterms:modified xsi:type="dcterms:W3CDTF">2026-09-13T08:04:46.9510000Z</dcterms:modified>
</coreProperties>
</file>