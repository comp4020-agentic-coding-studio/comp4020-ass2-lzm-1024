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5becc1abe144a3" /><Relationship Type="http://schemas.openxmlformats.org/officeDocument/2006/relationships/extended-properties" Target="/docProps/app.xml" Id="R78f7353071a14884" /><Relationship Type="http://schemas.openxmlformats.org/officeDocument/2006/relationships/officeDocument" Target="/ppt/presentation.xml" Id="R354e432b48444f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b1b87bc4e947e2"/>
  </p:sldMasterIdLst>
  <p:notesMasterIdLst>
    <p:notesMasterId xmlns:r="http://schemas.openxmlformats.org/officeDocument/2006/relationships" r:id="R17ee365fa51846dc"/>
  </p:notesMasterIdLst>
  <p:sldIdLst>
    <p:sldId xmlns:r="http://schemas.openxmlformats.org/officeDocument/2006/relationships" id="256" r:id="Rdc4ba449aae543ad"/>
    <p:sldId xmlns:r="http://schemas.openxmlformats.org/officeDocument/2006/relationships" id="257" r:id="R64c982698054436f"/>
    <p:sldId xmlns:r="http://schemas.openxmlformats.org/officeDocument/2006/relationships" id="258" r:id="R10dc81af2283474a"/>
    <p:sldId xmlns:r="http://schemas.openxmlformats.org/officeDocument/2006/relationships" id="259" r:id="R7191faab65db4f76"/>
    <p:sldId xmlns:r="http://schemas.openxmlformats.org/officeDocument/2006/relationships" id="260" r:id="R43079b0435804565"/>
    <p:sldId xmlns:r="http://schemas.openxmlformats.org/officeDocument/2006/relationships" id="261" r:id="Rcafb2073d05d433b"/>
    <p:sldId xmlns:r="http://schemas.openxmlformats.org/officeDocument/2006/relationships" id="262" r:id="R20924fe372ed4e4f"/>
    <p:sldId xmlns:r="http://schemas.openxmlformats.org/officeDocument/2006/relationships" id="263" r:id="Rc1ec20c49e5b442f"/>
    <p:sldId xmlns:r="http://schemas.openxmlformats.org/officeDocument/2006/relationships" id="264" r:id="Rc892401e3e8d464d"/>
    <p:sldId xmlns:r="http://schemas.openxmlformats.org/officeDocument/2006/relationships" id="265" r:id="Rb685c28a6c0f4e5c"/>
    <p:sldId xmlns:r="http://schemas.openxmlformats.org/officeDocument/2006/relationships" id="266" r:id="R4d17dcbc1e614bfd"/>
    <p:sldId xmlns:r="http://schemas.openxmlformats.org/officeDocument/2006/relationships" id="267" r:id="Rc7389f816ace4218"/>
    <p:sldId xmlns:r="http://schemas.openxmlformats.org/officeDocument/2006/relationships" id="268" r:id="Re54401f3a61948e0"/>
    <p:sldId xmlns:r="http://schemas.openxmlformats.org/officeDocument/2006/relationships" id="269" r:id="R9257659d39ad4589"/>
    <p:sldId xmlns:r="http://schemas.openxmlformats.org/officeDocument/2006/relationships" id="270" r:id="Rae4a280dcf284b54"/>
    <p:sldId xmlns:r="http://schemas.openxmlformats.org/officeDocument/2006/relationships" id="271" r:id="R679ddfa2608e4619"/>
    <p:sldId xmlns:r="http://schemas.openxmlformats.org/officeDocument/2006/relationships" id="272" r:id="Ra7c3d6307f3c4829"/>
    <p:sldId xmlns:r="http://schemas.openxmlformats.org/officeDocument/2006/relationships" id="273" r:id="Re34d13eaf35747b8"/>
    <p:sldId xmlns:r="http://schemas.openxmlformats.org/officeDocument/2006/relationships" id="274" r:id="Rf2ca3e71c3424d53"/>
    <p:sldId xmlns:r="http://schemas.openxmlformats.org/officeDocument/2006/relationships" id="275" r:id="R046447d97a444331"/>
    <p:sldId xmlns:r="http://schemas.openxmlformats.org/officeDocument/2006/relationships" id="276" r:id="R63607ba6bcbc4aed"/>
    <p:sldId xmlns:r="http://schemas.openxmlformats.org/officeDocument/2006/relationships" id="277" r:id="R825840f8604049b9"/>
    <p:sldId xmlns:r="http://schemas.openxmlformats.org/officeDocument/2006/relationships" id="278" r:id="Rac6c96ab9dcc49e7"/>
    <p:sldId xmlns:r="http://schemas.openxmlformats.org/officeDocument/2006/relationships" id="279" r:id="Ra321e230c0674d87"/>
    <p:sldId xmlns:r="http://schemas.openxmlformats.org/officeDocument/2006/relationships" id="280" r:id="R9ff03c02b4c74098"/>
    <p:sldId xmlns:r="http://schemas.openxmlformats.org/officeDocument/2006/relationships" id="281" r:id="R7757bbf56bac4bfc"/>
    <p:sldId xmlns:r="http://schemas.openxmlformats.org/officeDocument/2006/relationships" id="282" r:id="R995657b6aa8545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2c22a461d04ccc" /><Relationship Type="http://schemas.openxmlformats.org/officeDocument/2006/relationships/slideMaster" Target="/ppt/slideMasters/slideMaster1.xml" Id="Rf1b1b87bc4e947e2" /><Relationship Type="http://schemas.openxmlformats.org/officeDocument/2006/relationships/notesMaster" Target="/ppt/notesMasters/notesMaster1.xml" Id="R17ee365fa51846dc" /><Relationship Type="http://schemas.openxmlformats.org/officeDocument/2006/relationships/presProps" Target="/ppt/presProps.xml" Id="Rda75112732c444a0" /><Relationship Type="http://schemas.openxmlformats.org/officeDocument/2006/relationships/tableStyles" Target="/ppt/tableStyles.xml" Id="R3fbd0cf7df704c40" /><Relationship Type="http://schemas.openxmlformats.org/officeDocument/2006/relationships/slide" Target="/ppt/slides/slide1.xml" Id="Rdc4ba449aae543ad" /><Relationship Type="http://schemas.openxmlformats.org/officeDocument/2006/relationships/slide" Target="/ppt/slides/slide2.xml" Id="R64c982698054436f" /><Relationship Type="http://schemas.openxmlformats.org/officeDocument/2006/relationships/slide" Target="/ppt/slides/slide3.xml" Id="R10dc81af2283474a" /><Relationship Type="http://schemas.openxmlformats.org/officeDocument/2006/relationships/slide" Target="/ppt/slides/slide4.xml" Id="R7191faab65db4f76" /><Relationship Type="http://schemas.openxmlformats.org/officeDocument/2006/relationships/slide" Target="/ppt/slides/slide5.xml" Id="R43079b0435804565" /><Relationship Type="http://schemas.openxmlformats.org/officeDocument/2006/relationships/slide" Target="/ppt/slides/slide6.xml" Id="Rcafb2073d05d433b" /><Relationship Type="http://schemas.openxmlformats.org/officeDocument/2006/relationships/slide" Target="/ppt/slides/slide7.xml" Id="R20924fe372ed4e4f" /><Relationship Type="http://schemas.openxmlformats.org/officeDocument/2006/relationships/slide" Target="/ppt/slides/slide8.xml" Id="Rc1ec20c49e5b442f" /><Relationship Type="http://schemas.openxmlformats.org/officeDocument/2006/relationships/slide" Target="/ppt/slides/slide9.xml" Id="Rc892401e3e8d464d" /><Relationship Type="http://schemas.openxmlformats.org/officeDocument/2006/relationships/slide" Target="/ppt/slides/slide10.xml" Id="Rb685c28a6c0f4e5c" /><Relationship Type="http://schemas.openxmlformats.org/officeDocument/2006/relationships/slide" Target="/ppt/slides/slide11.xml" Id="R4d17dcbc1e614bfd" /><Relationship Type="http://schemas.openxmlformats.org/officeDocument/2006/relationships/slide" Target="/ppt/slides/slide12.xml" Id="Rc7389f816ace4218" /><Relationship Type="http://schemas.openxmlformats.org/officeDocument/2006/relationships/slide" Target="/ppt/slides/slide13.xml" Id="Re54401f3a61948e0" /><Relationship Type="http://schemas.openxmlformats.org/officeDocument/2006/relationships/slide" Target="/ppt/slides/slide14.xml" Id="R9257659d39ad4589" /><Relationship Type="http://schemas.openxmlformats.org/officeDocument/2006/relationships/slide" Target="/ppt/slides/slide15.xml" Id="Rae4a280dcf284b54" /><Relationship Type="http://schemas.openxmlformats.org/officeDocument/2006/relationships/slide" Target="/ppt/slides/slide16.xml" Id="R679ddfa2608e4619" /><Relationship Type="http://schemas.openxmlformats.org/officeDocument/2006/relationships/slide" Target="/ppt/slides/slide17.xml" Id="Ra7c3d6307f3c4829" /><Relationship Type="http://schemas.openxmlformats.org/officeDocument/2006/relationships/slide" Target="/ppt/slides/slide18.xml" Id="Re34d13eaf35747b8" /><Relationship Type="http://schemas.openxmlformats.org/officeDocument/2006/relationships/slide" Target="/ppt/slides/slide19.xml" Id="Rf2ca3e71c3424d53" /><Relationship Type="http://schemas.openxmlformats.org/officeDocument/2006/relationships/slide" Target="/ppt/slides/slide20.xml" Id="R046447d97a444331" /><Relationship Type="http://schemas.openxmlformats.org/officeDocument/2006/relationships/slide" Target="/ppt/slides/slide21.xml" Id="R63607ba6bcbc4aed" /><Relationship Type="http://schemas.openxmlformats.org/officeDocument/2006/relationships/slide" Target="/ppt/slides/slide22.xml" Id="R825840f8604049b9" /><Relationship Type="http://schemas.openxmlformats.org/officeDocument/2006/relationships/slide" Target="/ppt/slides/slide23.xml" Id="Rac6c96ab9dcc49e7" /><Relationship Type="http://schemas.openxmlformats.org/officeDocument/2006/relationships/slide" Target="/ppt/slides/slide24.xml" Id="Ra321e230c0674d87" /><Relationship Type="http://schemas.openxmlformats.org/officeDocument/2006/relationships/slide" Target="/ppt/slides/slide25.xml" Id="R9ff03c02b4c74098" /><Relationship Type="http://schemas.openxmlformats.org/officeDocument/2006/relationships/slide" Target="/ppt/slides/slide26.xml" Id="R7757bbf56bac4bfc" /><Relationship Type="http://schemas.openxmlformats.org/officeDocument/2006/relationships/slide" Target="/ppt/slides/slide27.xml" Id="R995657b6aa8545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e90a54e94f44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0b237211d4c9f" /><Relationship Type="http://schemas.openxmlformats.org/officeDocument/2006/relationships/notesMaster" Target="/ppt/notesMasters/notesMaster1.xml" Id="Rd9cf14286c0847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f211a4eab4155" /><Relationship Type="http://schemas.openxmlformats.org/officeDocument/2006/relationships/notesMaster" Target="/ppt/notesMasters/notesMaster1.xml" Id="R0939bacd1e6347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a25dc935ee42d5" /><Relationship Type="http://schemas.openxmlformats.org/officeDocument/2006/relationships/notesMaster" Target="/ppt/notesMasters/notesMaster1.xml" Id="R569b7aea5c664a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ce2d2d3fbd4eed" /><Relationship Type="http://schemas.openxmlformats.org/officeDocument/2006/relationships/notesMaster" Target="/ppt/notesMasters/notesMaster1.xml" Id="R5e572d5978054f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956ff4d0d24bfa" /><Relationship Type="http://schemas.openxmlformats.org/officeDocument/2006/relationships/notesMaster" Target="/ppt/notesMasters/notesMaster1.xml" Id="Rb142073f2dd749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fd408e1ca84dce" /><Relationship Type="http://schemas.openxmlformats.org/officeDocument/2006/relationships/notesMaster" Target="/ppt/notesMasters/notesMaster1.xml" Id="Ra6debe1b487d49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9a4c18f8224d52" /><Relationship Type="http://schemas.openxmlformats.org/officeDocument/2006/relationships/notesMaster" Target="/ppt/notesMasters/notesMaster1.xml" Id="R7bc5dac773ad4d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4f713c8f4d4ca3" /><Relationship Type="http://schemas.openxmlformats.org/officeDocument/2006/relationships/notesMaster" Target="/ppt/notesMasters/notesMaster1.xml" Id="Rad8d25c75c8047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1b3ab379694570" /><Relationship Type="http://schemas.openxmlformats.org/officeDocument/2006/relationships/notesMaster" Target="/ppt/notesMasters/notesMaster1.xml" Id="R278fdb139b6f4e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2abc9c6e39401e" /><Relationship Type="http://schemas.openxmlformats.org/officeDocument/2006/relationships/notesMaster" Target="/ppt/notesMasters/notesMaster1.xml" Id="Rd2e5f7fbb1334d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5b72731ac5427a" /><Relationship Type="http://schemas.openxmlformats.org/officeDocument/2006/relationships/notesMaster" Target="/ppt/notesMasters/notesMaster1.xml" Id="Re7d4202b543f43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1a00bf1b894e72" /><Relationship Type="http://schemas.openxmlformats.org/officeDocument/2006/relationships/notesMaster" Target="/ppt/notesMasters/notesMaster1.xml" Id="Rce1702a9fba944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b63e00f10b4b7b" /><Relationship Type="http://schemas.openxmlformats.org/officeDocument/2006/relationships/notesMaster" Target="/ppt/notesMasters/notesMaster1.xml" Id="R604808d8fbab46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e873729b6248df" /><Relationship Type="http://schemas.openxmlformats.org/officeDocument/2006/relationships/notesMaster" Target="/ppt/notesMasters/notesMaster1.xml" Id="Racf4dfc4544f46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9f3e4894254bc9" /><Relationship Type="http://schemas.openxmlformats.org/officeDocument/2006/relationships/notesMaster" Target="/ppt/notesMasters/notesMaster1.xml" Id="R783f8e0da01941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b18069bc064e71" /><Relationship Type="http://schemas.openxmlformats.org/officeDocument/2006/relationships/notesMaster" Target="/ppt/notesMasters/notesMaster1.xml" Id="Re032f9d5a74e46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ed1bef88664004" /><Relationship Type="http://schemas.openxmlformats.org/officeDocument/2006/relationships/notesMaster" Target="/ppt/notesMasters/notesMaster1.xml" Id="R711642e628f248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70aa023fe14599" /><Relationship Type="http://schemas.openxmlformats.org/officeDocument/2006/relationships/notesMaster" Target="/ppt/notesMasters/notesMaster1.xml" Id="R7852fe3b0a0048a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27a88da6bd493f" /><Relationship Type="http://schemas.openxmlformats.org/officeDocument/2006/relationships/notesMaster" Target="/ppt/notesMasters/notesMaster1.xml" Id="R1380eb3497b943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75f94291924857" /><Relationship Type="http://schemas.openxmlformats.org/officeDocument/2006/relationships/notesMaster" Target="/ppt/notesMasters/notesMaster1.xml" Id="Rfac97e5b723b4f8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e5093bcf854d8a" /><Relationship Type="http://schemas.openxmlformats.org/officeDocument/2006/relationships/notesMaster" Target="/ppt/notesMasters/notesMaster1.xml" Id="R50c7f4f783ee49a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9be4c4c8db04077" /><Relationship Type="http://schemas.openxmlformats.org/officeDocument/2006/relationships/notesMaster" Target="/ppt/notesMasters/notesMaster1.xml" Id="R9adb04b0a4f44ee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dbbd676ce8448bd" /><Relationship Type="http://schemas.openxmlformats.org/officeDocument/2006/relationships/notesMaster" Target="/ppt/notesMasters/notesMaster1.xml" Id="Rcde3f3cf0c0e47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1f329a75cef4434" /><Relationship Type="http://schemas.openxmlformats.org/officeDocument/2006/relationships/notesMaster" Target="/ppt/notesMasters/notesMaster1.xml" Id="R0937dcb6b053425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fa1dd5771ac4a29" /><Relationship Type="http://schemas.openxmlformats.org/officeDocument/2006/relationships/notesMaster" Target="/ppt/notesMasters/notesMaster1.xml" Id="Rcba18ce366534e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21b7c175054426f" /><Relationship Type="http://schemas.openxmlformats.org/officeDocument/2006/relationships/notesMaster" Target="/ppt/notesMasters/notesMaster1.xml" Id="R03764e40427246e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2345a24a86e4565" /><Relationship Type="http://schemas.openxmlformats.org/officeDocument/2006/relationships/notesMaster" Target="/ppt/notesMasters/notesMaster1.xml" Id="R4f9cea35aea947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image: Wikimedia Commons, 'Petra, People in conversation, Jordan', CC BY 4.0. Full attribution list in images-slop1512-week10/ATTRIBUTION.json.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sourced from Wikimedia Commons under a CC/public-domain licence; see images-slop1512-week10/ATTRIBUTION.json for title, author and licence.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sourced from Wikimedia Commons under a CC/public-domain licence; see images-slop1512-week10/ATTRIBUTION.json for title, author and licence.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sourced from Wikimedia Commons under a CC/public-domain licence; see images-slop1512-week10/ATTRIBUTION.json for title, author and licence.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sourced from Wikimedia Commons under a CC/public-domain licence; see images-slop1512-week10/ATTRIBUTION.json for title, author and licence.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sourced from Wikimedia Commons under a CC/public-domain licence; see images-slop1512-week10/ATTRIBUTION.json for title, author and licence.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sourced from Wikimedia Commons under a CC/public-domain licence; see images-slop1512-week10/ATTRIBUTION.json for title, author and licence.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sourced from Wikimedia Commons under a CC/public-domain licence; see images-slop1512-week10/ATTRIBUTION.json for title, author and licence.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sourced from Wikimedia Commons under a CC/public-domain licence; see images-slop1512-week10/ATTRIBUTION.json for title, author and licence.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sourced from Wikimedia Commons under a CC/public-domain licence; see images-slop1512-week10/ATTRIBUTION.json for title, author and licence.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sourced from Wikimedia Commons under a CC/public-domain licence; see images-slop1512-week10/ATTRIBUTION.json for title, author and licence. 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10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00edfc37149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c8e52cb13440f1" /><Relationship Type="http://schemas.openxmlformats.org/officeDocument/2006/relationships/slideLayout" Target="/ppt/slideLayouts/slideLayout1.xml" Id="R0770e479fe4942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70e479fe4942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83860ffc54a41" /><Relationship Type="http://schemas.openxmlformats.org/officeDocument/2006/relationships/image" Target="/ppt/media/image.jpeg" Id="R50ce14114f95459b" /><Relationship Type="http://schemas.openxmlformats.org/officeDocument/2006/relationships/notesSlide" Target="/ppt/notesSlides/notesSlide1.xml" Id="R0284573110c147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4ff3ec85c42cb" /><Relationship Type="http://schemas.openxmlformats.org/officeDocument/2006/relationships/notesSlide" Target="/ppt/notesSlides/notesSlide2.xml" Id="Rde9364ab3fe04a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a628c7bc541c7" /><Relationship Type="http://schemas.openxmlformats.org/officeDocument/2006/relationships/notesSlide" Target="/ppt/notesSlides/notesSlide3.xml" Id="R0e4850590d4647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abc32dc524436" /><Relationship Type="http://schemas.openxmlformats.org/officeDocument/2006/relationships/notesSlide" Target="/ppt/notesSlides/notesSlide4.xml" Id="R1d9771353fd24f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7ad6881924f75" /><Relationship Type="http://schemas.openxmlformats.org/officeDocument/2006/relationships/image" Target="/ppt/media/image2.jpeg" Id="R0169892e33c7424f" /><Relationship Type="http://schemas.openxmlformats.org/officeDocument/2006/relationships/notesSlide" Target="/ppt/notesSlides/notesSlide5.xml" Id="R0f36e31ca4684b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f9f0a5db844b0" /><Relationship Type="http://schemas.openxmlformats.org/officeDocument/2006/relationships/notesSlide" Target="/ppt/notesSlides/notesSlide6.xml" Id="R91051bd08e744e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c2e28e0604806" /><Relationship Type="http://schemas.openxmlformats.org/officeDocument/2006/relationships/image" Target="/ppt/media/image3.jpeg" Id="R00d3e10b2fd94247" /><Relationship Type="http://schemas.openxmlformats.org/officeDocument/2006/relationships/notesSlide" Target="/ppt/notesSlides/notesSlide7.xml" Id="Rdbb9fd4585884f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ba565eb214b57" /><Relationship Type="http://schemas.openxmlformats.org/officeDocument/2006/relationships/notesSlide" Target="/ppt/notesSlides/notesSlide8.xml" Id="R2705133ce5aa4a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0b01e40314639" /><Relationship Type="http://schemas.openxmlformats.org/officeDocument/2006/relationships/notesSlide" Target="/ppt/notesSlides/notesSlide9.xml" Id="Rf87bdd52d2b747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e060a97fd4f18" /><Relationship Type="http://schemas.openxmlformats.org/officeDocument/2006/relationships/image" Target="/ppt/media/image4.jpeg" Id="R8a61c27026824c2b" /><Relationship Type="http://schemas.openxmlformats.org/officeDocument/2006/relationships/notesSlide" Target="/ppt/notesSlides/notesSlide10.xml" Id="Re7fc68b074dd47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3664a3af7441a" /><Relationship Type="http://schemas.openxmlformats.org/officeDocument/2006/relationships/notesSlide" Target="/ppt/notesSlides/notesSlide11.xml" Id="R7e263cdca88e47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eff95aa914678" /><Relationship Type="http://schemas.openxmlformats.org/officeDocument/2006/relationships/notesSlide" Target="/ppt/notesSlides/notesSlide12.xml" Id="R02e7216abf8d4b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d40f300504d3d" /><Relationship Type="http://schemas.openxmlformats.org/officeDocument/2006/relationships/image" Target="/ppt/media/image5.jpeg" Id="Rdb88e8244d884a29" /><Relationship Type="http://schemas.openxmlformats.org/officeDocument/2006/relationships/notesSlide" Target="/ppt/notesSlides/notesSlide13.xml" Id="Rbb8d3b57c87a49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194a2931b4f24" /><Relationship Type="http://schemas.openxmlformats.org/officeDocument/2006/relationships/notesSlide" Target="/ppt/notesSlides/notesSlide14.xml" Id="R7d87d387bb0446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9715cd4d742c4" /><Relationship Type="http://schemas.openxmlformats.org/officeDocument/2006/relationships/image" Target="/ppt/media/image6.jpeg" Id="R0c8ea0038ffb4bdc" /><Relationship Type="http://schemas.openxmlformats.org/officeDocument/2006/relationships/notesSlide" Target="/ppt/notesSlides/notesSlide15.xml" Id="Rd32e870d51cd4d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b5ff4f5b545b0" /><Relationship Type="http://schemas.openxmlformats.org/officeDocument/2006/relationships/notesSlide" Target="/ppt/notesSlides/notesSlide16.xml" Id="Rcb49927beb104d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fc28c6cf446aa" /><Relationship Type="http://schemas.openxmlformats.org/officeDocument/2006/relationships/image" Target="/ppt/media/image7.jpeg" Id="Rd363ab9c535c4b15" /><Relationship Type="http://schemas.openxmlformats.org/officeDocument/2006/relationships/notesSlide" Target="/ppt/notesSlides/notesSlide17.xml" Id="Re46268a1dcfc4a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834154281495a" /><Relationship Type="http://schemas.openxmlformats.org/officeDocument/2006/relationships/notesSlide" Target="/ppt/notesSlides/notesSlide18.xml" Id="R9c30bbc35c2c4b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1a1c3b6a44f9a" /><Relationship Type="http://schemas.openxmlformats.org/officeDocument/2006/relationships/notesSlide" Target="/ppt/notesSlides/notesSlide19.xml" Id="R16a442ed03534a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3eb8589d8493e" /><Relationship Type="http://schemas.openxmlformats.org/officeDocument/2006/relationships/image" Target="/ppt/media/image8.jpeg" Id="R9d1fc274922d4619" /><Relationship Type="http://schemas.openxmlformats.org/officeDocument/2006/relationships/notesSlide" Target="/ppt/notesSlides/notesSlide20.xml" Id="R95fdd1aee0c047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793e1fe9a430b" /><Relationship Type="http://schemas.openxmlformats.org/officeDocument/2006/relationships/image" Target="/ppt/media/image9.jpeg" Id="R3fd78e90ea9c41eb" /><Relationship Type="http://schemas.openxmlformats.org/officeDocument/2006/relationships/notesSlide" Target="/ppt/notesSlides/notesSlide21.xml" Id="R0b5e44e7e6964f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b6917e258479b" /><Relationship Type="http://schemas.openxmlformats.org/officeDocument/2006/relationships/notesSlide" Target="/ppt/notesSlides/notesSlide22.xml" Id="R9c72c195f0fe480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8d94c802549c9" /><Relationship Type="http://schemas.openxmlformats.org/officeDocument/2006/relationships/notesSlide" Target="/ppt/notesSlides/notesSlide23.xml" Id="Re020aae3962242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d0c40b4d44226" /><Relationship Type="http://schemas.openxmlformats.org/officeDocument/2006/relationships/image" Target="/ppt/media/image10.jpeg" Id="R12a0ba6cb8de4a88" /><Relationship Type="http://schemas.openxmlformats.org/officeDocument/2006/relationships/notesSlide" Target="/ppt/notesSlides/notesSlide24.xml" Id="R358ae546e5d94fa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62f1ec659494e" /><Relationship Type="http://schemas.openxmlformats.org/officeDocument/2006/relationships/notesSlide" Target="/ppt/notesSlides/notesSlide25.xml" Id="R073bc54cef6840c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d791585754fbc" /><Relationship Type="http://schemas.openxmlformats.org/officeDocument/2006/relationships/image" Target="/ppt/media/image11.jpeg" Id="Rb09b4bcbf81c4660" /><Relationship Type="http://schemas.openxmlformats.org/officeDocument/2006/relationships/notesSlide" Target="/ppt/notesSlides/notesSlide26.xml" Id="Rf21ddd3f070f402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ba49f19af4d80" /><Relationship Type="http://schemas.openxmlformats.org/officeDocument/2006/relationships/notesSlide" Target="/ppt/notesSlides/notesSlide27.xml" Id="R27da290264fb41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e14114f95459b"/>
          <a:srcRect xmlns:a="http://schemas.openxmlformats.org/drawingml/2006/main" l="21075" t="0" r="210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D27EA-19FE-4001-A01D-ADAF1410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E165F-B0F8-49FB-8D9C-F64538F2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685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E5D9D-4734-42A5-9EBF-5EAEC094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304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102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1DF56-8FE4-4C95-97A3-A4A6DD38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334000" cy="1190625"/>
          </a:xfrm>
          <a:prstGeom xmlns:a="http://schemas.openxmlformats.org/drawingml/2006/main" prst="roundRect">
            <a:avLst>
              <a:gd name="adj" fmla="val 96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073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Testing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Revision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5F59D-60DA-484F-B5F5-678A3BE0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51435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Watch someone else use it, then prove your fix worked</a:t>
            </a:r>
          </a:p>
        </p:txBody>
      </p:sp>
    </p:spTree>
    <p:extLst>
      <p:ext uri="{BB962C8B-B14F-4D97-AF65-F5344CB8AC3E}">
        <p14:creationId xmlns:p14="http://schemas.microsoft.com/office/powerpoint/2010/main" val="528614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79751-04AF-42D0-82AB-DCC042EC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B390A-BEFA-4531-87BF-89F330E9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C6C7E-2276-4872-95E6-D986A684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963E3-83BD-424E-A3D6-1DDF9EF6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7A601-B01F-4FA7-A1F3-1B4A4CF9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970D3-0E00-4845-9965-E9648134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Week 10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138E1-0421-447A-B846-994ABEAE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Your interaction worked in Week 7. Your accessibility audit passed in Week 8. So why does a real person still get stuck?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This week trades your own judgement for observed evidence: watch a real person try to use what you built, then justify a change with what you actually saw.</a:t>
            </a:r>
          </a:p>
        </p:txBody>
      </p:sp>
    </p:spTree>
    <p:extLst>
      <p:ext uri="{BB962C8B-B14F-4D97-AF65-F5344CB8AC3E}">
        <p14:creationId xmlns:p14="http://schemas.microsoft.com/office/powerpoint/2010/main" val="1304221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C6FE2-6193-4004-A0F2-6982C23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0F22A-7CF2-4D00-972E-AA1CB4B9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414E1-7257-47AB-A5D6-C65E0BF9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98F7B-0FB7-492E-8F98-793FDC9A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405AD-4F27-4ED4-AB17-BA944C71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803DA-268E-44C4-A98C-50F42AC0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From self-review to observed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E4D69-B361-44D8-BBAF-2ED24230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6028B-C2F8-4BB7-9C88-A311AC39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95498-1761-441C-B263-2D22384A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self-review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A10C9-69F1-4756-9CD5-C0E98C23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Weeks 1-9 built structure, hierarchy, layout, colour, response, interaction and access on your own judgement. That judgement cannot see this week's failures.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B26D6-1A4A-496E-A293-066244C3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6B8E2-E2AC-4BD5-A714-A774FA2C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31D92-D53C-496F-A3C0-295FFBEC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happens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D6B79-7A1C-4A98-AE0B-0B2898E4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You already know where every link goes and what every label means. That knowledge makes you the worst possible judge of whether a stranger can find them.</a:t>
            </a:r>
          </a:p>
        </p:txBody>
      </p:sp>
    </p:spTree>
    <p:extLst>
      <p:ext uri="{BB962C8B-B14F-4D97-AF65-F5344CB8AC3E}">
        <p14:creationId xmlns:p14="http://schemas.microsoft.com/office/powerpoint/2010/main" val="802075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AC9FB-1333-4E85-B4F6-0A4F2C9F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ED531-6CB9-4997-976D-2DD9D744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B35AB-1ED6-41C1-9000-444D1B7F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288A0-3DDB-46B9-A54F-E5D1B40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C0554-00EF-4880-8EFE-79BC8952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2805F-D313-429D-B1A1-EFBD77F5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Learning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9A9DA-E62C-4B40-A44B-1C9B2FB9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Run a lightweight usability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Record what actually blocks a participant, in their words and actions, not your interpretation of their competence.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Distinguish a blocker from a preference, and triage findings by severity.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Write a revision justified by a specific observed moment, then retest to confirm it worked.</a:t>
            </a:r>
          </a:p>
        </p:txBody>
      </p:sp>
    </p:spTree>
    <p:extLst>
      <p:ext uri="{BB962C8B-B14F-4D97-AF65-F5344CB8AC3E}">
        <p14:creationId xmlns:p14="http://schemas.microsoft.com/office/powerpoint/2010/main" val="1493297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47886-49AF-486E-BCFA-E1DCF24E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2D6BE-1831-4F96-86BF-1178D379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59AB0-F308-48B0-A918-C742B8D1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88FF7-9343-4865-8635-E219098E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FC32F-4B61-4872-898B-8F7B736A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9892e33c7424f"/>
          <a:srcRect xmlns:a="http://schemas.openxmlformats.org/drawingml/2006/main" l="3846" t="0" r="3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2C929-6F68-4C3C-A7F8-481B3685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five-second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48DF3-F40B-4E94-8B09-3E077829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Show the page for five seconds, then hide it and ask what the participant remembers and what they think the page is for.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Reveals whether the top of the page communicates its purpose at all, before a participant reads a single word of body 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B6915-1815-45B3-842E-0056A571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683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Sourced photograph (Wikimedia Commons, CC-licensed) — full attribution in ATTRIBUTION.json.</a:t>
            </a:r>
          </a:p>
        </p:txBody>
      </p:sp>
    </p:spTree>
    <p:extLst>
      <p:ext uri="{BB962C8B-B14F-4D97-AF65-F5344CB8AC3E}">
        <p14:creationId xmlns:p14="http://schemas.microsoft.com/office/powerpoint/2010/main" val="503321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C1276-9671-48E6-8375-0952EAE9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0504E-322D-43FE-8AC3-3C1D8148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8A47A-D3F3-4146-8282-4577549C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C756-AB90-4D89-AB69-80E25BCC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99FB8-0E67-4C27-A980-2D01AA2A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1A0CC-83C6-472C-BE0D-679153C9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first-click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FF99C-6530-492A-BACC-2E96D079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Give one task, watch only the first click. If the first click is wrong, everything after it is a recovery from a bad start, not a real reading of the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Best suited to navigation and information-architecture questions: does the label a participant expects actually exist, in the place they expect it?</a:t>
            </a:r>
          </a:p>
        </p:txBody>
      </p:sp>
    </p:spTree>
    <p:extLst>
      <p:ext uri="{BB962C8B-B14F-4D97-AF65-F5344CB8AC3E}">
        <p14:creationId xmlns:p14="http://schemas.microsoft.com/office/powerpoint/2010/main" val="2046426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F1B8F-C6F7-411C-AD2D-B6843596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2DD97-86A7-481E-BB80-ED732EFF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AEE28-5893-46C0-85E6-3C87CE60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0D46B-C3F3-4AED-82C2-127DAD54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C0905-3DA4-4FDB-8CC8-06F4D357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3e10b2fd94247"/>
          <a:srcRect xmlns:a="http://schemas.openxmlformats.org/drawingml/2006/main" l="3774" t="0" r="37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7023E-41B3-46B9-AE06-636C424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think-aloud protocol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26F79-7FA3-4002-9DAB-48590809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704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F5AB1-3CC8-4054-B62E-00790F1A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C64FB-6163-4E17-9E10-A7E35FF4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7056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Think-aloud protocol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30FB5-C066-427F-9CAE-1F804635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67056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Ask the participant to speak their thoughts continuously while attempting a task: what they see, what they expect, what confuses them, before they 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1E7C6-960F-44DD-8ADA-B050C590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704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BF706-BB9A-4CBE-8ED1-7B4BA13F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5F368-6565-4972-803C-8DE3C51B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67056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Choosing a method for what you have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5FA84-B12E-42AA-A0F0-5F65063E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67056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Five-second suits a landing page's clarity. First-click suits navigation. Think-aloud suits a full task flow with forms or multiple steps.</a:t>
            </a:r>
          </a:p>
        </p:txBody>
      </p:sp>
    </p:spTree>
    <p:extLst>
      <p:ext uri="{BB962C8B-B14F-4D97-AF65-F5344CB8AC3E}">
        <p14:creationId xmlns:p14="http://schemas.microsoft.com/office/powerpoint/2010/main" val="1088488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53905-F534-4D82-A227-345DE287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45F60-16A0-4DD9-8E85-7B96A1D6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E4419-D78C-47D7-AE16-7E813CCE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86939-DDA2-48FA-94E0-54ABBF23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331DF-926A-4014-A041-997E2409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19E2-F9E4-4E5D-9BD8-7A4834C5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Writing a task scenario: a bad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90F3D-793E-428D-B852-315C9627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7D895-A424-4CFD-9800-1D732845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&lt;p&gt;</a:t>
            </a:r>
          </a:p>
          <a:p xmlns:a="http://schemas.openxmlformats.org/drawingml/2006/main">
            <a:pPr>
              <a:defRPr sz="150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Click the "Subscribe" button in the</a:t>
            </a:r>
          </a:p>
          <a:p xmlns:a="http://schemas.openxmlformats.org/drawingml/2006/main">
            <a:pPr>
              <a:defRPr sz="150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top navigation bar to sign up for</a:t>
            </a:r>
          </a:p>
          <a:p xmlns:a="http://schemas.openxmlformats.org/drawingml/2006/main">
            <a:pPr>
              <a:defRPr sz="150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our newsletter.</a:t>
            </a:r>
          </a:p>
          <a:p xmlns:a="http://schemas.openxmlformats.org/drawingml/2006/main">
            <a:pPr>
              <a:defRPr sz="150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&lt;/p&gt;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BF646-5BDC-46BC-B815-4514FFD4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9525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this as a task scenario: does it state a goal, or does it name a click path?</a:t>
            </a:r>
          </a:p>
        </p:txBody>
      </p:sp>
    </p:spTree>
    <p:extLst>
      <p:ext uri="{BB962C8B-B14F-4D97-AF65-F5344CB8AC3E}">
        <p14:creationId xmlns:p14="http://schemas.microsoft.com/office/powerpoint/2010/main" val="17096094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8B9D2-5FA1-4315-A1BC-7B6C5EC0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DEBBD-A3C4-46DD-A33A-B894AC2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188FD-CD41-4AB9-AD54-DEE430C4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0BD3F-BB7C-48AD-AB88-DF306CC5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AAD59-4A93-44A2-8230-24D4F40D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2B006-9532-4379-AB90-05FB4A20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fails, and a better 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ED2AB-7C5E-4D96-A4D4-BC98FFFD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F9035-D89E-4F02-8F3A-50ABF3C9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05F2A-0542-467C-B7BC-490C156C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that scenario fails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35F91-5AB5-43D8-8F82-CAF2F27C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It names the exact button and its exact location. The participant is now testing whether they can follow directions, not whether they can find the feature on their 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B2F8B-8E25-479C-927D-BA9C5E7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57C99-CBA3-4EAF-BD74-596BD50A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96947-A4B6-47DB-BDC6-815C1317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better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92AFE-7C71-420D-847A-6DD1FCC1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“You want to be told by email whenever this site publishes something new. Show me how you would do that.” States a goal in the participant's own words and lets the interface prove or fail to prove itself.</a:t>
            </a:r>
          </a:p>
        </p:txBody>
      </p:sp>
    </p:spTree>
    <p:extLst>
      <p:ext uri="{BB962C8B-B14F-4D97-AF65-F5344CB8AC3E}">
        <p14:creationId xmlns:p14="http://schemas.microsoft.com/office/powerpoint/2010/main" val="763806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B544D-3940-4B52-B029-8E59B8FF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F0232-EE53-4DDB-A9E1-CB243493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47C6E-155E-4405-8179-F788AAC4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1D3B2-70D3-42FB-B1B8-2E66DD6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7833E-E331-4890-AF1D-3A2FBCC8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1c27026824c2b"/>
          <a:srcRect xmlns:a="http://schemas.openxmlformats.org/drawingml/2006/main" l="3810" t="0" r="38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49597-A0A1-4438-96D9-BA6842F3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the better scenario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2960E-7E9D-4718-97EF-A638D26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goal-based scenario lets any hesitation, wrong click, or giving up stand as real evidence, not a scripted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If the participant succeeds without help, the interface itself communicated the path. If they don't, that failure belongs to the design, not to unclear instructions.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BD1C0-318B-40E6-99EA-CB44750A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683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Sourced photograph (Wikimedia Commons, CC-licensed) — full attribution in ATTRIBUTION.json.</a:t>
            </a:r>
          </a:p>
        </p:txBody>
      </p:sp>
    </p:spTree>
    <p:extLst>
      <p:ext uri="{BB962C8B-B14F-4D97-AF65-F5344CB8AC3E}">
        <p14:creationId xmlns:p14="http://schemas.microsoft.com/office/powerpoint/2010/main" val="16294935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619CB-A794-4E65-9494-CC2D802D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82AAD-EB02-4AEE-BEDE-EC248F94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1AE18-347F-4978-9E28-E884F009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A7AF9-063F-45B4-AFA5-0B4F3A21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15EBD-4CB9-4D95-8F62-34379EB7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58EDE-3C39-466B-9063-9F528954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Recruiting a participant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E4DE-64E9-4F57-9FF0-5BEDE496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classmate who has not seen your site is enough for this course. Recruit someone unfamiliar with your specific design decisions, not someone who already knows your intentions.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Someone who has watched you build it, or discussed the brief with you, will fill gaps with knowledge a real visitor won't have.</a:t>
            </a:r>
          </a:p>
        </p:txBody>
      </p:sp>
    </p:spTree>
    <p:extLst>
      <p:ext uri="{BB962C8B-B14F-4D97-AF65-F5344CB8AC3E}">
        <p14:creationId xmlns:p14="http://schemas.microsoft.com/office/powerpoint/2010/main" val="3674415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4998B-1DA3-48A1-9326-5BEB6B7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EE76F-5383-447A-B7F1-96D02800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8E022-17DA-4D56-B0C3-7CE075D6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1A4B2-79EC-4D50-86E5-1D8D73A2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09C8B-FED4-4D23-A3A9-A8788051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5CBA2-7CE9-462C-967E-8D1C1FE0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moderator's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54902-9FE7-4172-B3BD-02B73383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874E5-F5CE-4453-995A-892504E9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EEF67-A653-4FD3-B920-0CB6EBFC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moderator's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9C2A3-11C9-4A50-80D2-1BBE6469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Stay quiet during the task. Do not explain, hint, or rescue. Note the moment you feel the urge to help; that urge marks exactly where the design failed.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86AB2-0DCF-411F-8F50-EE9E6AE8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2388F-B253-4D30-A3CF-FED57F82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E0B3C-3E47-4732-89D7-AFBDDA4B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Common moderator mistakes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E7D65-798B-4728-9161-B8ADC767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Leading questions (“you'd click here, right?”), explaining before the participant tries, and treating a hard task as a test of the participant instead of the design.</a:t>
            </a:r>
          </a:p>
        </p:txBody>
      </p:sp>
    </p:spTree>
    <p:extLst>
      <p:ext uri="{BB962C8B-B14F-4D97-AF65-F5344CB8AC3E}">
        <p14:creationId xmlns:p14="http://schemas.microsoft.com/office/powerpoint/2010/main" val="6561320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32D0C-73A0-4960-AA9D-29353164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7724E-CFE4-4313-B86E-9FB95EDD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02A4E-40BF-4C19-96FB-3C58E699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A696F-0E41-465E-B80A-CCA02305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2F764-2589-452A-9A3E-BB59913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8e8244d884a29"/>
          <a:srcRect xmlns:a="http://schemas.openxmlformats.org/drawingml/2006/main" l="3954" t="0" r="39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D95F2-2A2C-4610-B6B9-433E631D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An observation template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A679E-005D-49FD-B1B1-1DB6BD55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Columns: step, participant action, direct quote, elapsed time, blocker severity.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Fill it in live during the session, not from memory afterwards — memory smooths over exactly the hesitations and wrong turns that are the evidence you need.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75024-6227-4B07-9129-E68BF6A5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683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Sourced photograph (Wikimedia Commons, CC-licensed) — full attribution in ATTRIBUTION.json.</a:t>
            </a:r>
          </a:p>
        </p:txBody>
      </p:sp>
    </p:spTree>
    <p:extLst>
      <p:ext uri="{BB962C8B-B14F-4D97-AF65-F5344CB8AC3E}">
        <p14:creationId xmlns:p14="http://schemas.microsoft.com/office/powerpoint/2010/main" val="21035872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2261FC-32D6-47F2-AADC-CC9D83C0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18E10-656F-4B28-A10D-3846DE9C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90C7E-040A-4632-ACFE-1B7B990A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DCB95-AD95-451B-A1AF-360773C2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F2918-1858-490C-B27F-85442972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6E4FE-0B41-4A53-AD45-F26C472A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Worked observation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F9BB5-260F-4131-9F50-728C3D56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6F623-41A3-4AEB-B8B9-C089F43A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0A5ED-6E56-4CCA-87B5-39E3A7FB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Step +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BA578-D68A-477C-B575-F0EFA80D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the participant did, in their own path through the interface.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ED69B-112D-4DEA-B1FC-BD7B6937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9550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33067-4163-4475-8530-98F9C556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878E1-5AF1-4FDB-8ADA-BC9339C0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5745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Direct quote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B4B29-9086-4922-BF4E-CF015995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3845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Their exact words, not a paraphrase.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21F0A-4A6A-466F-B792-D70DD6E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44491-C1B7-49AC-9684-F8F357D5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6EA57-F86F-4F9D-BB03-4BBC4428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Elapsed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1BC89-53ED-460A-B9D9-01A1B370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How long the step took, from task start.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E25BC-34D6-43AF-A9DA-AF80601A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9575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4897C-9BED-43BA-A0D9-49EF7041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51E8C6-A51F-4DA2-A448-5982A4B9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57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Blocker severity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24420-F423-4FB1-8652-3F9E0428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3870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Blocker, friction, or polish — assigned live.</a:t>
            </a:r>
          </a:p>
        </p:txBody>
      </p:sp>
    </p:spTree>
    <p:extLst>
      <p:ext uri="{BB962C8B-B14F-4D97-AF65-F5344CB8AC3E}">
        <p14:creationId xmlns:p14="http://schemas.microsoft.com/office/powerpoint/2010/main" val="11796193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AD731-DB78-4141-95E7-F20FD39B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41710-870D-4E98-AE3F-919C5EF7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D95EF-E9C5-4287-AED5-16738638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8E336-2CE4-4194-BB71-DB985F88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896EA-4AE7-454C-A2D5-4FC28666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ea0038ffb4bdc"/>
          <a:srcRect xmlns:a="http://schemas.openxmlformats.org/drawingml/2006/main" l="3774" t="0" r="37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CF985-5A98-454B-A43B-6EDC8541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Blocker vs. preference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987E3-AB05-4A21-8988-BE28E51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blocker stops the task or forces the participant to give up and restart. A preference is a completed task with a complaint. Fix blockers first; preferences are a lower-priority backlog.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Reading hesitation as data: a long pause, re-reading a label twice, or scrolling back up are signs the interface failed to confirm the participant's guess quickly enough, even when the task eventually succeeds.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D9FD7-EB49-4FA9-A3B8-918A63FB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683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Sourced photograph (Wikimedia Commons, CC-licensed) — full attribution in ATTRIBUTION.json.</a:t>
            </a:r>
          </a:p>
        </p:txBody>
      </p:sp>
    </p:spTree>
    <p:extLst>
      <p:ext uri="{BB962C8B-B14F-4D97-AF65-F5344CB8AC3E}">
        <p14:creationId xmlns:p14="http://schemas.microsoft.com/office/powerpoint/2010/main" val="11457876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0181A-B536-4A73-B47F-EB74718C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4C555-C33E-4806-BE34-37AFE186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C4E2D-11A2-4751-8001-87A4B33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B5A91-A8AD-41AA-8FAF-17EE0CD9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57FBB-4BD3-4ECF-BF79-77C2CAC3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F42FF-59E5-4757-BF69-6738D61C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Severity triage: three levels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70AA3-2943-444A-8C7A-5D9117BB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67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C98F7-14A1-43D2-8034-1456DEE1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5C6B2-0DBA-43F4-8DF8-8B27FB07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3124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Blocker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447C6-AC15-45CC-AD6A-A24C751A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312420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Task fails, or the participant gives up and restarts.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16A5B-4570-4021-AF1C-8A48734B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467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32B09-99A8-41BA-BD8F-FE1FECC9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E0CEE-E5D5-458F-A44C-245A36DA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3124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Friction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29443-D812-445D-91CA-10D4C734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312420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Task succeeds with a visible struggle or wrong turn.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401E2-9560-4C75-8F2D-774C39C6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3467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6B2F7-8F9E-458E-B558-9D3D160E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0EFB5-3512-4EF7-8E42-2F7B8923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3124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Polish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E764F-1E59-4616-82A5-9B2E3FD3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312420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Task succeeds smoothly; only a stated preference remains.</a:t>
            </a:r>
          </a:p>
        </p:txBody>
      </p:sp>
    </p:spTree>
    <p:extLst>
      <p:ext uri="{BB962C8B-B14F-4D97-AF65-F5344CB8AC3E}">
        <p14:creationId xmlns:p14="http://schemas.microsoft.com/office/powerpoint/2010/main" val="1239917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E3022-FA76-41A6-84EC-1AAA8E49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CEF49-C8D8-47DA-85FA-6C9BDBFB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8CBC4-BFB7-484D-8725-DC81AFA4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34CD9-076D-4782-AED2-C2991C97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5073B-DEFC-42BB-BE95-463ADD5F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3ab9c535c4b15"/>
          <a:srcRect xmlns:a="http://schemas.openxmlformats.org/drawingml/2006/main" l="3846" t="0" r="3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A8A11-B087-46FC-94CE-38483959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Triage worked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B2EFA-C85B-4963-9F3D-79618E8C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confusing label that costs 5 extra seconds is friction, not a blocker.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submit button with no visible focus state that a keyboard user cannot find at all is a blocker, even if a mouse user never notices it — severity depends on whether the task fails, not on how many participants hit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279B0-5CF6-4F4D-957E-7FBA5EBC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683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Sourced photograph (Wikimedia Commons, CC-licensed) — full attribution in ATTRIBUTION.json.</a:t>
            </a:r>
          </a:p>
        </p:txBody>
      </p:sp>
    </p:spTree>
    <p:extLst>
      <p:ext uri="{BB962C8B-B14F-4D97-AF65-F5344CB8AC3E}">
        <p14:creationId xmlns:p14="http://schemas.microsoft.com/office/powerpoint/2010/main" val="19279730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FEADC-2D3A-482B-9953-E6705349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7EDFC-227C-4FC2-810B-9378C36B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637A7-FE70-4949-8D6E-EA3CDE9F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431EE-0A32-4D6D-B0EE-B9AAEC6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48115-E5C1-4779-8DEB-37B382A4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CA31D-526F-40B7-8DF8-EDA84DC0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From observation to root cause: five whys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957F9-FDEA-4783-A6A8-541A07CE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Problem: participant missed the contact link. Why? It was in the footer. Why is that a problem? They expected primary navigation to hold it. Why? The nav pattern on similar sites places contact there. Why does that matter? Convention sets expectation before your labelling does.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Stop once the answer names a design decision you can actually change.</a:t>
            </a:r>
          </a:p>
        </p:txBody>
      </p:sp>
    </p:spTree>
    <p:extLst>
      <p:ext uri="{BB962C8B-B14F-4D97-AF65-F5344CB8AC3E}">
        <p14:creationId xmlns:p14="http://schemas.microsoft.com/office/powerpoint/2010/main" val="3157735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00EF3-BD34-4175-9936-FE0D0005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E92C7-5A13-4579-9C50-7F8210D6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63A0-A45E-4FD4-BA41-46BAF7C2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0AD23-ED88-4A39-BACB-55B2ACF3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B9616-F01C-489C-93B7-A1981F9E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580D0-F08B-4E09-A0DA-D29221E1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Writing a revision justification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C0E18-8A3A-4E5E-8795-C770A46D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Cite the specific observed moment (quote, timestamp, task), name the exact change, and state the predicted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justification without an observed moment is a guess wearing a research citation — examiners and real teams both discount it the same way.</a:t>
            </a:r>
          </a:p>
        </p:txBody>
      </p:sp>
    </p:spTree>
    <p:extLst>
      <p:ext uri="{BB962C8B-B14F-4D97-AF65-F5344CB8AC3E}">
        <p14:creationId xmlns:p14="http://schemas.microsoft.com/office/powerpoint/2010/main" val="20849866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2004F-032A-4F68-B2CF-29B6BD58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11ADC-212F-4D6F-95D1-9395D2B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3FCAA-E003-4E00-B36B-A69CB92B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8AA3-9243-478B-89AE-DD5051CE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AF0CF-8F47-4005-99F9-B9F36FB6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fc274922d4619"/>
          <a:srcRect xmlns:a="http://schemas.openxmlformats.org/drawingml/2006/main" l="3846" t="0" r="3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4E30A-1D51-4399-9E87-3371D1AB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Two worked case studies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0D9C5-4DA8-408E-8C6E-4F8B2DAC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704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8B531-E5E2-4689-ACBE-4A9A0925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21D95-DEBD-46E2-AA14-0703DF2A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7056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Case study 1: navigation 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9611E-B075-4443-8311-26483659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67056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Observed: participant scanned top nav twice, said “I don't see contact anywhere,” then opened the hamburger menu after 40s. Revision: add a persistent Contact link to the top nav, not just the footer.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A8D13-6344-4EA9-AF1A-73922052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704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BADD1-A182-4BF1-8FBC-90D3B3B2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D57F0-9E0C-4DE7-9E14-D15019C0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67056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Case study 2: form error clarity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1D348-EC96-454F-A6E7-4508A596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67056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Observed: participant submitted an empty required field, said “did that work?”, clicked submit twice more. Revision: inline error text plus colour, with focus moved to the invalid field.</a:t>
            </a:r>
          </a:p>
        </p:txBody>
      </p:sp>
    </p:spTree>
    <p:extLst>
      <p:ext uri="{BB962C8B-B14F-4D97-AF65-F5344CB8AC3E}">
        <p14:creationId xmlns:p14="http://schemas.microsoft.com/office/powerpoint/2010/main" val="532423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4F550-FE61-48BD-A76C-1745BF01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3A158-5664-4ADE-9D94-788B44D4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906B3-DBA1-45E6-9CD3-E64FABD7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D46D5-9018-4EA5-BF35-A41D0BCF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88375-2883-446A-B863-F43924EE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78e90ea9c41eb"/>
          <a:srcRect xmlns:a="http://schemas.openxmlformats.org/drawingml/2006/main" l="0" t="1852" r="0" b="1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0AE2A-EC31-4355-8C26-4723F1E5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counts as evidence after one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81CFD-A74A-49ED-96DB-EF245867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704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030BA-1AF0-4390-BC3D-7AB97AB6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35080-EEEE-4BFC-AF72-ED33644F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7056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NOT to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4D43A-D4DB-4338-A822-E3290E03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67056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participant's dislike of a font size or a colour they find “boring” is a preference, not a pattern. A single opinion should not override a decision made with evidence in Weeks 3-6.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00BD5-E0C0-43FA-881E-6A0C2FF1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704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4CDC5-57C1-4C28-A629-522E4093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CC7BA-6240-4B28-8302-31AA0D5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67056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When n=1 is still trustworthy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9E092-2BC0-4A00-B0B1-E5F57B2D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67056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hard blocker — task fails, participant gives up, or a keyboard/screen-reader path is impossible — is trustworthy from a single test, because the interface objectively failed regardless of who tried it.</a:t>
            </a:r>
          </a:p>
        </p:txBody>
      </p:sp>
    </p:spTree>
    <p:extLst>
      <p:ext uri="{BB962C8B-B14F-4D97-AF65-F5344CB8AC3E}">
        <p14:creationId xmlns:p14="http://schemas.microsoft.com/office/powerpoint/2010/main" val="4679986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D531F-9688-4F32-93F6-78B3BB4E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90D21-4CD1-4E0F-B8B6-5417A36A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4A3B1-5915-4C94-8922-80464C45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A1743-E7AC-4B18-8987-9BADAFDA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7372E-19C1-45A2-9DEC-1643D329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F9E25-FA7D-46BB-81E2-4D817F2E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Retesting after a revision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53D49-B9F1-4F70-8342-CA2D5449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8DC51-1A5C-4B45-8591-087A9CDA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D407C-A0D3-4790-85B3-83C2FBD2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Retesting after a revision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E568D-0390-45EA-9152-7BB53235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Run the same task again, ideally with a different participant, after making the change. Confirm the specific blocker is gone, not just that something looks different.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E4DA7-237C-4F9F-9B19-94B811DF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A50D1-6B07-4E62-87B8-0FDA70F2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EB9BD-DF20-410E-B5AD-6CD07A12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When a revision fails on retest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490CA-F52B-4C6D-81C6-F9BFD902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If the retest participant still misses the fixed element, the diagnosis was wrong, not just the first attempt at a fix. Go back to the five-whys step rather than patching the same visual change again.</a:t>
            </a:r>
          </a:p>
        </p:txBody>
      </p:sp>
    </p:spTree>
    <p:extLst>
      <p:ext uri="{BB962C8B-B14F-4D97-AF65-F5344CB8AC3E}">
        <p14:creationId xmlns:p14="http://schemas.microsoft.com/office/powerpoint/2010/main" val="16883962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0D849-6DED-4CBE-BA10-9EFEABA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ABA7A-813C-4459-B6D4-111BC46E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8408B-87D8-4E1E-8E88-F431B808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2D7BE-F1F1-4CED-91FC-1E401DF0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97FEF-8B51-4FDA-99BA-5DC04EC8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EECD1-0BFD-4492-859F-E8A74367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Ethics and common pitfalls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D020F-FC25-47A4-8405-EFAFAB94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FD230-14EC-49E7-A035-5266023E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D5333-4CE1-4FE0-98F7-77C745EF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Documenting a session ethically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B385D-3144-490B-AC34-EF15F3D8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Ask consent before recording notes or screens. Record what the participant did and said, not judgements about their competence. “Did not find the link in 40 seconds” is data; “user was confused” is an opinion.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268BD-3B4B-45E5-8889-00393E9A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C617F-2A12-4C9F-A450-CCDBEAF7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91D11-CDB1-4956-A19E-D7D56331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Common pitfalls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5FA77-3FBF-44BB-ACE7-26946EC0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Testing your own site, testing too late to act on findings, and recruiting an overly helpful participant who explains your interface back to you instead of struggling with it honestly.</a:t>
            </a:r>
          </a:p>
        </p:txBody>
      </p:sp>
    </p:spTree>
    <p:extLst>
      <p:ext uri="{BB962C8B-B14F-4D97-AF65-F5344CB8AC3E}">
        <p14:creationId xmlns:p14="http://schemas.microsoft.com/office/powerpoint/2010/main" val="13121767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2D48C-58DF-4179-9CE8-69BE54EF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89063-454A-4AC8-A9A8-6DF107E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DEA6B-3F18-45B6-B17B-4B792CA0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26473-2BED-4784-97F6-65A07675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B6934-74E9-457B-B61D-3330B178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0ba6cb8de4a88"/>
          <a:srcRect xmlns:a="http://schemas.openxmlformats.org/drawingml/2006/main" l="2728" t="0" r="2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6E954-35E2-422A-85C6-64900FD9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Bridging to Assignment 3 and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9ED97-5097-462D-B3F2-2CCD614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704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614E2-8629-4389-ACAF-4EB8C3B4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AB9C9-BE37-43C1-ABF5-E704A917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7056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Bridging to Assignment 3 and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D07E9-169C-4E3F-9B0C-09846693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67056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Assignment 3 asks for a completed keyboard test and a 300-word account of two revisions. Assignment 4's process dossier needs testing evidence and a change log.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F7829-7295-4DEA-9BA4-35A0C673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704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DB897-6648-426F-8E9B-CE9A0C25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762AE-DB92-4A5B-9D4A-C0F313EE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67056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Writing the testing-evidence section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3586B-EFDE-45B6-96CD-EDE7E5D6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67056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State the method, the task scenario, one direct observed quote or moment, the specific revision, and the predicted or confirmed effect. Four short paragraphs beat a page of general impressions.</a:t>
            </a:r>
          </a:p>
        </p:txBody>
      </p:sp>
    </p:spTree>
    <p:extLst>
      <p:ext uri="{BB962C8B-B14F-4D97-AF65-F5344CB8AC3E}">
        <p14:creationId xmlns:p14="http://schemas.microsoft.com/office/powerpoint/2010/main" val="6396132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E6A47-8648-4974-B0F7-060A4B98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D3A67-B336-492A-A986-F9758521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C14E3-C7BC-4949-9D92-6058AAD2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385EB-E20F-45E5-AE9A-1F80868A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CB8A5-11BC-443E-AD34-2A5A1553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7916F-1600-4BF5-A2FF-86A02A2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22E89-8755-4AF3-A635-BE70D790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Run one 5-minute think-aloud test on a partner's site from an earlier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Fill in the observation template live.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Produce two justified revisions, citing the specific observed moment for each.</a:t>
            </a:r>
          </a:p>
        </p:txBody>
      </p:sp>
    </p:spTree>
    <p:extLst>
      <p:ext uri="{BB962C8B-B14F-4D97-AF65-F5344CB8AC3E}">
        <p14:creationId xmlns:p14="http://schemas.microsoft.com/office/powerpoint/2010/main" val="1060367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DA2A9-DAE4-4994-A5CB-F65F3CC9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5ADAB-5FAE-475C-BAF8-DC3A83B5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33A81-E8F6-4075-A51F-9447DD51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78A8E-9BB6-4DA8-BA47-5F7FB133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3E4FB-2477-4634-A548-0DA5655C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b4bcbf81c4660"/>
          <a:srcRect xmlns:a="http://schemas.openxmlformats.org/drawingml/2006/main" l="3774" t="0" r="37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6B05B-6DBB-41E4-B556-F3274C17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Testable review checklist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BC696-0057-4114-9CC9-4679CB0A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Task scenario states a goal, not a click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Observation template is filled in live with quotes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Each revision cites a specific 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retest confirms the fix, not just a visual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63C91-98A2-4E96-9C44-5FDDB29E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683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Sourced photograph (Wikimedia Commons, CC-licensed) — full attribution in ATTRIBUTION.json.</a:t>
            </a:r>
          </a:p>
        </p:txBody>
      </p:sp>
    </p:spTree>
    <p:extLst>
      <p:ext uri="{BB962C8B-B14F-4D97-AF65-F5344CB8AC3E}">
        <p14:creationId xmlns:p14="http://schemas.microsoft.com/office/powerpoint/2010/main" val="14666585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C3AAF-0B47-4F3F-A58E-3C6CADFC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30DC8-5F1E-4EF3-8B7D-C3E3F3A3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04A6E-5AFB-48F2-99BD-E7FD90F0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A461D-94D0-4499-B613-88F1869A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240A3-731D-4A1B-BED1-4264BE9A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AF81C-3589-481D-A656-E42A5CB0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Further practice and next week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4AAB4-82B6-43B1-91F7-5A654DEF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E17C9-68BD-4314-A5EE-EF4F1FC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8BBEB-0386-4FFB-91C2-7CCB9FB2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Further practice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D94D0-20CD-4A7D-BE15-2891420F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Steve Krug's “Rocket Surgery Made Easy” and the Nielsen Norman Group's articles on think-aloud protocols and severity ratings both extend this week's method for future projects.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66098-C9ED-4F62-AEF1-80AF7E43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190750"/>
            <a:ext cx="51911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89D7D-8C3B-474A-A8A0-E467A24F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62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F1393-F60C-48F0-A461-6953AC78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52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Next week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63657-442A-498E-AC22-57D2421C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33700"/>
            <a:ext cx="4848225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Publication and performance: checking assets, metadata, source attribution and loading decisions before the whole site goes live.</a:t>
            </a:r>
          </a:p>
        </p:txBody>
      </p:sp>
    </p:spTree>
    <p:extLst>
      <p:ext uri="{BB962C8B-B14F-4D97-AF65-F5344CB8AC3E}">
        <p14:creationId xmlns:p14="http://schemas.microsoft.com/office/powerpoint/2010/main" val="2128210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2026-09-13T07:43:51.6060000Z</dcterms:created>
  <dcterms:modified xsi:type="dcterms:W3CDTF">2026-09-13T07:43:51.6060000Z</dcterms:modified>
</coreProperties>
</file>