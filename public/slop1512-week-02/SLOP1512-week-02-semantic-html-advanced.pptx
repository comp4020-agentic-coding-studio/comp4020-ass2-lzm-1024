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a04d7b0f294b46" /><Relationship Type="http://schemas.openxmlformats.org/officeDocument/2006/relationships/extended-properties" Target="/docProps/app.xml" Id="Rd079c2f3999e4ec5" /><Relationship Type="http://schemas.openxmlformats.org/officeDocument/2006/relationships/officeDocument" Target="/ppt/presentation.xml" Id="R2e443b661a50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d06f79cc9f4b51"/>
  </p:sldMasterIdLst>
  <p:notesMasterIdLst>
    <p:notesMasterId xmlns:r="http://schemas.openxmlformats.org/officeDocument/2006/relationships" r:id="R03f9780c3f794ae6"/>
  </p:notesMasterIdLst>
  <p:sldIdLst>
    <p:sldId xmlns:r="http://schemas.openxmlformats.org/officeDocument/2006/relationships" id="256" r:id="Ra7b50efc8d9c466d"/>
    <p:sldId xmlns:r="http://schemas.openxmlformats.org/officeDocument/2006/relationships" id="257" r:id="R7317d1b69ea24fc7"/>
    <p:sldId xmlns:r="http://schemas.openxmlformats.org/officeDocument/2006/relationships" id="258" r:id="R97176162d9e443c3"/>
    <p:sldId xmlns:r="http://schemas.openxmlformats.org/officeDocument/2006/relationships" id="259" r:id="R5b50ad5300244c78"/>
    <p:sldId xmlns:r="http://schemas.openxmlformats.org/officeDocument/2006/relationships" id="260" r:id="Rd76035ef62134e2b"/>
    <p:sldId xmlns:r="http://schemas.openxmlformats.org/officeDocument/2006/relationships" id="261" r:id="Ra33d4cc201224504"/>
    <p:sldId xmlns:r="http://schemas.openxmlformats.org/officeDocument/2006/relationships" id="262" r:id="R19fe90f86fa346b8"/>
    <p:sldId xmlns:r="http://schemas.openxmlformats.org/officeDocument/2006/relationships" id="263" r:id="R4a812bd80dae4676"/>
    <p:sldId xmlns:r="http://schemas.openxmlformats.org/officeDocument/2006/relationships" id="264" r:id="R36623909a24b4e29"/>
    <p:sldId xmlns:r="http://schemas.openxmlformats.org/officeDocument/2006/relationships" id="265" r:id="R435642fd5c534924"/>
    <p:sldId xmlns:r="http://schemas.openxmlformats.org/officeDocument/2006/relationships" id="266" r:id="R71c920974da74969"/>
    <p:sldId xmlns:r="http://schemas.openxmlformats.org/officeDocument/2006/relationships" id="267" r:id="R4ae0e5e9bc524c2a"/>
    <p:sldId xmlns:r="http://schemas.openxmlformats.org/officeDocument/2006/relationships" id="268" r:id="Ra0dcfb8d3a094016"/>
    <p:sldId xmlns:r="http://schemas.openxmlformats.org/officeDocument/2006/relationships" id="269" r:id="R4c44cd23a9cf4fac"/>
    <p:sldId xmlns:r="http://schemas.openxmlformats.org/officeDocument/2006/relationships" id="270" r:id="Rd1af0d4527214665"/>
    <p:sldId xmlns:r="http://schemas.openxmlformats.org/officeDocument/2006/relationships" id="271" r:id="Rc05adc7bf9524145"/>
    <p:sldId xmlns:r="http://schemas.openxmlformats.org/officeDocument/2006/relationships" id="272" r:id="R2c9d00d3d26f4d24"/>
    <p:sldId xmlns:r="http://schemas.openxmlformats.org/officeDocument/2006/relationships" id="273" r:id="Rc0795a4014ed44b1"/>
    <p:sldId xmlns:r="http://schemas.openxmlformats.org/officeDocument/2006/relationships" id="274" r:id="R6db1ced1321d488b"/>
    <p:sldId xmlns:r="http://schemas.openxmlformats.org/officeDocument/2006/relationships" id="275" r:id="R98b28f4dc6554e31"/>
    <p:sldId xmlns:r="http://schemas.openxmlformats.org/officeDocument/2006/relationships" id="276" r:id="R60f4b66aa6ac498c"/>
    <p:sldId xmlns:r="http://schemas.openxmlformats.org/officeDocument/2006/relationships" id="277" r:id="R557f0e28caf947fc"/>
    <p:sldId xmlns:r="http://schemas.openxmlformats.org/officeDocument/2006/relationships" id="278" r:id="R273d2d84f3ff478f"/>
    <p:sldId xmlns:r="http://schemas.openxmlformats.org/officeDocument/2006/relationships" id="279" r:id="R960c955992a944f8"/>
    <p:sldId xmlns:r="http://schemas.openxmlformats.org/officeDocument/2006/relationships" id="280" r:id="Rf2f96610cf4e4947"/>
    <p:sldId xmlns:r="http://schemas.openxmlformats.org/officeDocument/2006/relationships" id="281" r:id="Rcc1a509a1483498c"/>
    <p:sldId xmlns:r="http://schemas.openxmlformats.org/officeDocument/2006/relationships" id="282" r:id="R460f45d4e9654af6"/>
    <p:sldId xmlns:r="http://schemas.openxmlformats.org/officeDocument/2006/relationships" id="283" r:id="Rdbdda029061b49d4"/>
    <p:sldId xmlns:r="http://schemas.openxmlformats.org/officeDocument/2006/relationships" id="284" r:id="R0468123d80284596"/>
    <p:sldId xmlns:r="http://schemas.openxmlformats.org/officeDocument/2006/relationships" id="285" r:id="R27ce6cb531bd48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762d87859047c4" /><Relationship Type="http://schemas.openxmlformats.org/officeDocument/2006/relationships/slideMaster" Target="/ppt/slideMasters/slideMaster1.xml" Id="R94d06f79cc9f4b51" /><Relationship Type="http://schemas.openxmlformats.org/officeDocument/2006/relationships/notesMaster" Target="/ppt/notesMasters/notesMaster1.xml" Id="R03f9780c3f794ae6" /><Relationship Type="http://schemas.openxmlformats.org/officeDocument/2006/relationships/presProps" Target="/ppt/presProps.xml" Id="Rf10ccc8a44684ab9" /><Relationship Type="http://schemas.openxmlformats.org/officeDocument/2006/relationships/tableStyles" Target="/ppt/tableStyles.xml" Id="R122ad962d68648bb" /><Relationship Type="http://schemas.openxmlformats.org/officeDocument/2006/relationships/slide" Target="/ppt/slides/slide1.xml" Id="Ra7b50efc8d9c466d" /><Relationship Type="http://schemas.openxmlformats.org/officeDocument/2006/relationships/slide" Target="/ppt/slides/slide2.xml" Id="R7317d1b69ea24fc7" /><Relationship Type="http://schemas.openxmlformats.org/officeDocument/2006/relationships/slide" Target="/ppt/slides/slide3.xml" Id="R97176162d9e443c3" /><Relationship Type="http://schemas.openxmlformats.org/officeDocument/2006/relationships/slide" Target="/ppt/slides/slide4.xml" Id="R5b50ad5300244c78" /><Relationship Type="http://schemas.openxmlformats.org/officeDocument/2006/relationships/slide" Target="/ppt/slides/slide5.xml" Id="Rd76035ef62134e2b" /><Relationship Type="http://schemas.openxmlformats.org/officeDocument/2006/relationships/slide" Target="/ppt/slides/slide6.xml" Id="Ra33d4cc201224504" /><Relationship Type="http://schemas.openxmlformats.org/officeDocument/2006/relationships/slide" Target="/ppt/slides/slide7.xml" Id="R19fe90f86fa346b8" /><Relationship Type="http://schemas.openxmlformats.org/officeDocument/2006/relationships/slide" Target="/ppt/slides/slide8.xml" Id="R4a812bd80dae4676" /><Relationship Type="http://schemas.openxmlformats.org/officeDocument/2006/relationships/slide" Target="/ppt/slides/slide9.xml" Id="R36623909a24b4e29" /><Relationship Type="http://schemas.openxmlformats.org/officeDocument/2006/relationships/slide" Target="/ppt/slides/slide10.xml" Id="R435642fd5c534924" /><Relationship Type="http://schemas.openxmlformats.org/officeDocument/2006/relationships/slide" Target="/ppt/slides/slide11.xml" Id="R71c920974da74969" /><Relationship Type="http://schemas.openxmlformats.org/officeDocument/2006/relationships/slide" Target="/ppt/slides/slide12.xml" Id="R4ae0e5e9bc524c2a" /><Relationship Type="http://schemas.openxmlformats.org/officeDocument/2006/relationships/slide" Target="/ppt/slides/slide13.xml" Id="Ra0dcfb8d3a094016" /><Relationship Type="http://schemas.openxmlformats.org/officeDocument/2006/relationships/slide" Target="/ppt/slides/slide14.xml" Id="R4c44cd23a9cf4fac" /><Relationship Type="http://schemas.openxmlformats.org/officeDocument/2006/relationships/slide" Target="/ppt/slides/slide15.xml" Id="Rd1af0d4527214665" /><Relationship Type="http://schemas.openxmlformats.org/officeDocument/2006/relationships/slide" Target="/ppt/slides/slide16.xml" Id="Rc05adc7bf9524145" /><Relationship Type="http://schemas.openxmlformats.org/officeDocument/2006/relationships/slide" Target="/ppt/slides/slide17.xml" Id="R2c9d00d3d26f4d24" /><Relationship Type="http://schemas.openxmlformats.org/officeDocument/2006/relationships/slide" Target="/ppt/slides/slide18.xml" Id="Rc0795a4014ed44b1" /><Relationship Type="http://schemas.openxmlformats.org/officeDocument/2006/relationships/slide" Target="/ppt/slides/slide19.xml" Id="R6db1ced1321d488b" /><Relationship Type="http://schemas.openxmlformats.org/officeDocument/2006/relationships/slide" Target="/ppt/slides/slide20.xml" Id="R98b28f4dc6554e31" /><Relationship Type="http://schemas.openxmlformats.org/officeDocument/2006/relationships/slide" Target="/ppt/slides/slide21.xml" Id="R60f4b66aa6ac498c" /><Relationship Type="http://schemas.openxmlformats.org/officeDocument/2006/relationships/slide" Target="/ppt/slides/slide22.xml" Id="R557f0e28caf947fc" /><Relationship Type="http://schemas.openxmlformats.org/officeDocument/2006/relationships/slide" Target="/ppt/slides/slide23.xml" Id="R273d2d84f3ff478f" /><Relationship Type="http://schemas.openxmlformats.org/officeDocument/2006/relationships/slide" Target="/ppt/slides/slide24.xml" Id="R960c955992a944f8" /><Relationship Type="http://schemas.openxmlformats.org/officeDocument/2006/relationships/slide" Target="/ppt/slides/slide25.xml" Id="Rf2f96610cf4e4947" /><Relationship Type="http://schemas.openxmlformats.org/officeDocument/2006/relationships/slide" Target="/ppt/slides/slide26.xml" Id="Rcc1a509a1483498c" /><Relationship Type="http://schemas.openxmlformats.org/officeDocument/2006/relationships/slide" Target="/ppt/slides/slide27.xml" Id="R460f45d4e9654af6" /><Relationship Type="http://schemas.openxmlformats.org/officeDocument/2006/relationships/slide" Target="/ppt/slides/slide28.xml" Id="Rdbdda029061b49d4" /><Relationship Type="http://schemas.openxmlformats.org/officeDocument/2006/relationships/slide" Target="/ppt/slides/slide29.xml" Id="R0468123d80284596" /><Relationship Type="http://schemas.openxmlformats.org/officeDocument/2006/relationships/slide" Target="/ppt/slides/slide30.xml" Id="R27ce6cb531bd48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35aacd6c1347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d8bcb1c7a74811" /><Relationship Type="http://schemas.openxmlformats.org/officeDocument/2006/relationships/notesMaster" Target="/ppt/notesMasters/notesMaster1.xml" Id="R63354b8b519c4e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d40c49d22f4a2f" /><Relationship Type="http://schemas.openxmlformats.org/officeDocument/2006/relationships/notesMaster" Target="/ppt/notesMasters/notesMaster1.xml" Id="Reb099979425841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5a7cb17be44e36" /><Relationship Type="http://schemas.openxmlformats.org/officeDocument/2006/relationships/notesMaster" Target="/ppt/notesMasters/notesMaster1.xml" Id="Rb78a42d6879b44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9062b9eb6c4844" /><Relationship Type="http://schemas.openxmlformats.org/officeDocument/2006/relationships/notesMaster" Target="/ppt/notesMasters/notesMaster1.xml" Id="Rbb38986fa1d546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7acf8462f3490e" /><Relationship Type="http://schemas.openxmlformats.org/officeDocument/2006/relationships/notesMaster" Target="/ppt/notesMasters/notesMaster1.xml" Id="R229c4182ffcf4e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8f90ddff9d4538" /><Relationship Type="http://schemas.openxmlformats.org/officeDocument/2006/relationships/notesMaster" Target="/ppt/notesMasters/notesMaster1.xml" Id="Rd3ecdfaef74240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02ecdbb8dc4e6a" /><Relationship Type="http://schemas.openxmlformats.org/officeDocument/2006/relationships/notesMaster" Target="/ppt/notesMasters/notesMaster1.xml" Id="R5a4d2f07335840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e76e85a66b46e2" /><Relationship Type="http://schemas.openxmlformats.org/officeDocument/2006/relationships/notesMaster" Target="/ppt/notesMasters/notesMaster1.xml" Id="Re9936ba53a7445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8eb398097042ed" /><Relationship Type="http://schemas.openxmlformats.org/officeDocument/2006/relationships/notesMaster" Target="/ppt/notesMasters/notesMaster1.xml" Id="R3fea3b46a88042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c82b627f1047c2" /><Relationship Type="http://schemas.openxmlformats.org/officeDocument/2006/relationships/notesMaster" Target="/ppt/notesMasters/notesMaster1.xml" Id="Rdd1c0e78cc5046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4758ff1ac34fb9" /><Relationship Type="http://schemas.openxmlformats.org/officeDocument/2006/relationships/notesMaster" Target="/ppt/notesMasters/notesMaster1.xml" Id="Rc6814f6944214c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80eebb388447fc" /><Relationship Type="http://schemas.openxmlformats.org/officeDocument/2006/relationships/notesMaster" Target="/ppt/notesMasters/notesMaster1.xml" Id="Rdf35ee1e35a44d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bb3e78f4894a2b" /><Relationship Type="http://schemas.openxmlformats.org/officeDocument/2006/relationships/notesMaster" Target="/ppt/notesMasters/notesMaster1.xml" Id="Re4422893d63845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15be91c3a644df" /><Relationship Type="http://schemas.openxmlformats.org/officeDocument/2006/relationships/notesMaster" Target="/ppt/notesMasters/notesMaster1.xml" Id="Rd7c3e37d4d0e46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a245750f714ec8" /><Relationship Type="http://schemas.openxmlformats.org/officeDocument/2006/relationships/notesMaster" Target="/ppt/notesMasters/notesMaster1.xml" Id="R9e286a62dcb54a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a5822188e8456d" /><Relationship Type="http://schemas.openxmlformats.org/officeDocument/2006/relationships/notesMaster" Target="/ppt/notesMasters/notesMaster1.xml" Id="R305e88af1f884f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91eaa02b0a42db" /><Relationship Type="http://schemas.openxmlformats.org/officeDocument/2006/relationships/notesMaster" Target="/ppt/notesMasters/notesMaster1.xml" Id="R8cd6f410d2fb41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8b6cf00cc2444f" /><Relationship Type="http://schemas.openxmlformats.org/officeDocument/2006/relationships/notesMaster" Target="/ppt/notesMasters/notesMaster1.xml" Id="R1195ed3e09d448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f56e10fcad470c" /><Relationship Type="http://schemas.openxmlformats.org/officeDocument/2006/relationships/notesMaster" Target="/ppt/notesMasters/notesMaster1.xml" Id="R9ae68d6a10dc47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2d022108f546f3" /><Relationship Type="http://schemas.openxmlformats.org/officeDocument/2006/relationships/notesMaster" Target="/ppt/notesMasters/notesMaster1.xml" Id="R65c2f9e2128047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eb398c2edb4727" /><Relationship Type="http://schemas.openxmlformats.org/officeDocument/2006/relationships/notesMaster" Target="/ppt/notesMasters/notesMaster1.xml" Id="R35f6f7c0190642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eee4a5846442c9" /><Relationship Type="http://schemas.openxmlformats.org/officeDocument/2006/relationships/notesMaster" Target="/ppt/notesMasters/notesMaster1.xml" Id="R67d7feb3734643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90d045d45c4f00" /><Relationship Type="http://schemas.openxmlformats.org/officeDocument/2006/relationships/notesMaster" Target="/ppt/notesMasters/notesMaster1.xml" Id="Rf23454d3abdc4e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45735d431cd4e1a" /><Relationship Type="http://schemas.openxmlformats.org/officeDocument/2006/relationships/notesMaster" Target="/ppt/notesMasters/notesMaster1.xml" Id="R6d35a09a11b244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2f2cf31c0941d6" /><Relationship Type="http://schemas.openxmlformats.org/officeDocument/2006/relationships/notesMaster" Target="/ppt/notesMasters/notesMaster1.xml" Id="Rcd6681c0c742457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b8c0514687e463c" /><Relationship Type="http://schemas.openxmlformats.org/officeDocument/2006/relationships/notesMaster" Target="/ppt/notesMasters/notesMaster1.xml" Id="R4d4f4e393bab456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eacbd8a26314caa" /><Relationship Type="http://schemas.openxmlformats.org/officeDocument/2006/relationships/notesMaster" Target="/ppt/notesMasters/notesMaster1.xml" Id="R344fd3645f4b426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5e282d041a4646" /><Relationship Type="http://schemas.openxmlformats.org/officeDocument/2006/relationships/notesMaster" Target="/ppt/notesMasters/notesMaster1.xml" Id="R4cff4a85e8b248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424060e3cb14f2d" /><Relationship Type="http://schemas.openxmlformats.org/officeDocument/2006/relationships/notesMaster" Target="/ppt/notesMasters/notesMaster1.xml" Id="R8e4b46c98eaa4be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29023a0c68f4401" /><Relationship Type="http://schemas.openxmlformats.org/officeDocument/2006/relationships/notesMaster" Target="/ppt/notesMasters/notesMaster1.xml" Id="R1f550e404dfd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Hands of a woman typing on the Macbook keyboard and write on note book.jpg — Shixart1985, CC BY 2.0, https://commons.wikimedia.org/wiki/File:Hands_of_a_woman_typing_on_the_Macbook_keyboard_and_write_on_note_book.jpg — accessed 13 Sep 2026.</a:t>
            </a:r>
          </a:p>
          <a:p xmlns:a="http://schemas.openxmlformats.org/drawingml/2006/main">
            <a:r>
              <a:t>Course teaching content is original, grounded in the SLOP1512 Week 2 module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learning outcomes, aligned to the module description in the course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framing device opening the lecture, directly answering the SLOP1512 Week 2 module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semantic HTML as a vocabulary of roles, expanding the existing Week 2 script's opening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Standard HTML document anatomy (WHATWG HTML Living Standard); teaching example is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WCAG 2.2 Success Criterion 3.1.1 Language of Page; MDN lang attribute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Card catalog at the Indiana State Library - interior view of catalog cards.jpg — TBurmeister (WMF), CC BY-SA 4.0, https://commons.wikimedia.org/wiki/File:Card_catalog_at_the_Indiana_State_Library_-_interior_view_of_catalog_cards.jpg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W3C WAI heading hierarchy guidance; original teaching synthesis for SLOP1512 Week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Directly implements the SLOP1512 Week 2 studio task of auditing a page's headings and landmarks.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Wayfinding Sign @ Hopewell Junction Trailhead.jpg — DanTD, CC BY-SA 4.0, https://commons.wikimedia.org/wiki/File:Wayfinding_Sign_@_Hopewell_Junction_Trailhead.jpg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WAI-ARIA Authoring Practices landmark roles; original teaching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MDN &lt;article&gt; vs &lt;section&gt; guidance; original comparison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teaching example built for SLOP1512 Week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MDN list elements documentation; original synthesis for Week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Refreshable Braille display.jpg — CC BY-SA 3.0, https://commons.wikimedia.org/wiki/File:Refreshable_Braille_display.jpg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WAI-ARIA link vs button role distinction; original comparison for Week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WHATWG HTML button/anchor keyboard-activation behaviour; original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Photographer with Camera and Tripod (51832409816).jpg — ShenandoahNPS, public domain, https://commons.wikimedia.org/wiki/File:Photographer_with_Camera_and_Tripod_(51832409816).jpg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 "An alt Decision Tree" guidance;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MDN &lt;figure&gt;/&lt;figcaption&gt; documentation; original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Libreoffice Calc 4 4 2.png — LUSportsFan, CC BY-SA 4.0, https://commons.wikimedia.org/wiki/File:Libreoffice_Calc_4_4_2.png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WAI-ARIA Authoring Practices data table guidance; original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Screenshot HTML accessiblity 2024-09-16 170731.png — Google Chrome screenshot, public domain, https://commons.wikimedia.org/wiki/File:Screenshot_HTML_accessiblity_2024-09-16_170731.png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WCAG 2.2 SC 1.3.1 Info and Relationships and SC 3.3.1 Error Identification; original example combining label and error association.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Keyboard close-up.jpg — Jiafei Slay Queen, CC0, https://commons.wikimedia.org/wiki/File:Keyboard_close-up.jpg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Safari's Web Inspector in macOS Sonoma.png — ChipsPacketLover, CC BY 4.0, https://commons.wikimedia.org/wiki/File:Safari%27s_Web_Inspector_in_macOS_Sonoma.png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Directly implements the SLOP1512 Week 2 studio audit task. Wikimedia Commons: 20140508-2-zurich-ect-whiteboard.jpg — AKlapper (WMF), CC BY-SA 3.0, https://commons.wikimedia.org/wiki/File:20140508-2-zurich-ect-whiteboard.jpg — accessed 13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Directly implements the SLOP1512 Week 2 studio build task, feeding Assignment 1's semantic-structure criterion.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review rubric, aligned to Assignment 1's semantic-structure and text-alternatives criteria (15% weight).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references: MDN HTML learning area (developer.mozilla.org); W3C WAI Web Accessibility Tutorials (w3.org/WAI/tutorials). Accessed 13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2a3a6bb7646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246d449d24aaa" /><Relationship Type="http://schemas.openxmlformats.org/officeDocument/2006/relationships/slideLayout" Target="/ppt/slideLayouts/slideLayout1.xml" Id="R30a983aab3b34a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983aab3b34a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2ec485dd14d43" /><Relationship Type="http://schemas.openxmlformats.org/officeDocument/2006/relationships/image" Target="/ppt/media/image.jpeg" Id="Rfaf686a58da4415f" /><Relationship Type="http://schemas.openxmlformats.org/officeDocument/2006/relationships/notesSlide" Target="/ppt/notesSlides/notesSlide1.xml" Id="R0a1a849a776d4b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35c9ec9ef4ce2" /><Relationship Type="http://schemas.openxmlformats.org/officeDocument/2006/relationships/notesSlide" Target="/ppt/notesSlides/notesSlide2.xml" Id="R93879ce35e4b44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760928015441a" /><Relationship Type="http://schemas.openxmlformats.org/officeDocument/2006/relationships/notesSlide" Target="/ppt/notesSlides/notesSlide3.xml" Id="Ra0c5d64ecec3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3ce8fa5c34406" /><Relationship Type="http://schemas.openxmlformats.org/officeDocument/2006/relationships/notesSlide" Target="/ppt/notesSlides/notesSlide4.xml" Id="Reb28246fec704d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86194ef36475f" /><Relationship Type="http://schemas.openxmlformats.org/officeDocument/2006/relationships/notesSlide" Target="/ppt/notesSlides/notesSlide5.xml" Id="Rf308c97da2e74d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541022033427e" /><Relationship Type="http://schemas.openxmlformats.org/officeDocument/2006/relationships/notesSlide" Target="/ppt/notesSlides/notesSlide6.xml" Id="Rae0a117cacfd49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c4ceefb524645" /><Relationship Type="http://schemas.openxmlformats.org/officeDocument/2006/relationships/image" Target="/ppt/media/image2.jpeg" Id="R61ff27f085fa4171" /><Relationship Type="http://schemas.openxmlformats.org/officeDocument/2006/relationships/notesSlide" Target="/ppt/notesSlides/notesSlide7.xml" Id="R18629b3f889945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2bec96a6040ea" /><Relationship Type="http://schemas.openxmlformats.org/officeDocument/2006/relationships/notesSlide" Target="/ppt/notesSlides/notesSlide8.xml" Id="Rd35df954f53e42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6a74be8514d96" /><Relationship Type="http://schemas.openxmlformats.org/officeDocument/2006/relationships/notesSlide" Target="/ppt/notesSlides/notesSlide9.xml" Id="R06482d190cab4d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feba7cb5244d1" /><Relationship Type="http://schemas.openxmlformats.org/officeDocument/2006/relationships/image" Target="/ppt/media/image3.jpeg" Id="R0114b0ac2da943b1" /><Relationship Type="http://schemas.openxmlformats.org/officeDocument/2006/relationships/notesSlide" Target="/ppt/notesSlides/notesSlide10.xml" Id="R8a518b3288e148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ba1e07c464cbd" /><Relationship Type="http://schemas.openxmlformats.org/officeDocument/2006/relationships/notesSlide" Target="/ppt/notesSlides/notesSlide11.xml" Id="Raa658ef1840340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30cff1e18483e" /><Relationship Type="http://schemas.openxmlformats.org/officeDocument/2006/relationships/notesSlide" Target="/ppt/notesSlides/notesSlide12.xml" Id="R06dd046c1be04c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28863ed13449d" /><Relationship Type="http://schemas.openxmlformats.org/officeDocument/2006/relationships/notesSlide" Target="/ppt/notesSlides/notesSlide13.xml" Id="Rdb3019d6f1bb41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c51755ce743e1" /><Relationship Type="http://schemas.openxmlformats.org/officeDocument/2006/relationships/notesSlide" Target="/ppt/notesSlides/notesSlide14.xml" Id="R11f0486a2f224f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8033582e4747" /><Relationship Type="http://schemas.openxmlformats.org/officeDocument/2006/relationships/image" Target="/ppt/media/image4.jpeg" Id="Rbde2c220b0df40f8" /><Relationship Type="http://schemas.openxmlformats.org/officeDocument/2006/relationships/notesSlide" Target="/ppt/notesSlides/notesSlide15.xml" Id="Ree07991e535a49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983a5a37d4223" /><Relationship Type="http://schemas.openxmlformats.org/officeDocument/2006/relationships/notesSlide" Target="/ppt/notesSlides/notesSlide16.xml" Id="R97e48cca702d4c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8d2c3c71443ae" /><Relationship Type="http://schemas.openxmlformats.org/officeDocument/2006/relationships/notesSlide" Target="/ppt/notesSlides/notesSlide17.xml" Id="R4e06c007f7494c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fcd867a1b485e" /><Relationship Type="http://schemas.openxmlformats.org/officeDocument/2006/relationships/image" Target="/ppt/media/image5.jpeg" Id="Rb2e60c60ab134a6e" /><Relationship Type="http://schemas.openxmlformats.org/officeDocument/2006/relationships/notesSlide" Target="/ppt/notesSlides/notesSlide18.xml" Id="Rbb8c1fdb961843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904585e9644af" /><Relationship Type="http://schemas.openxmlformats.org/officeDocument/2006/relationships/notesSlide" Target="/ppt/notesSlides/notesSlide19.xml" Id="R4d63a38210624c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37ebfb11c436e" /><Relationship Type="http://schemas.openxmlformats.org/officeDocument/2006/relationships/notesSlide" Target="/ppt/notesSlides/notesSlide20.xml" Id="R86c921ca109c4f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48d5edca04fcf" /><Relationship Type="http://schemas.openxmlformats.org/officeDocument/2006/relationships/image" Target="/ppt/media/image.png" Id="R9a2eb8c945354c4a" /><Relationship Type="http://schemas.openxmlformats.org/officeDocument/2006/relationships/notesSlide" Target="/ppt/notesSlides/notesSlide21.xml" Id="R0fdcb74b663c4f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787624cd44ac6" /><Relationship Type="http://schemas.openxmlformats.org/officeDocument/2006/relationships/notesSlide" Target="/ppt/notesSlides/notesSlide22.xml" Id="Rfbf03f8757bd496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7d20e7e0a4215" /><Relationship Type="http://schemas.openxmlformats.org/officeDocument/2006/relationships/image" Target="/ppt/media/image2.png" Id="Rcf5b49658b5e4d71" /><Relationship Type="http://schemas.openxmlformats.org/officeDocument/2006/relationships/notesSlide" Target="/ppt/notesSlides/notesSlide23.xml" Id="R3159bf295c9045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dec1f7d864494" /><Relationship Type="http://schemas.openxmlformats.org/officeDocument/2006/relationships/notesSlide" Target="/ppt/notesSlides/notesSlide24.xml" Id="R5ad2fb3397624c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2587758a14590" /><Relationship Type="http://schemas.openxmlformats.org/officeDocument/2006/relationships/image" Target="/ppt/media/image6.jpeg" Id="R340f9abcc7544c2a" /><Relationship Type="http://schemas.openxmlformats.org/officeDocument/2006/relationships/notesSlide" Target="/ppt/notesSlides/notesSlide25.xml" Id="Rf3dd06c5ebb947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c949be59a4893" /><Relationship Type="http://schemas.openxmlformats.org/officeDocument/2006/relationships/image" Target="/ppt/media/image3.png" Id="Ree6db92f15b34970" /><Relationship Type="http://schemas.openxmlformats.org/officeDocument/2006/relationships/notesSlide" Target="/ppt/notesSlides/notesSlide26.xml" Id="Rf5a27a53fce04e8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98ff0cd024bf0" /><Relationship Type="http://schemas.openxmlformats.org/officeDocument/2006/relationships/image" Target="/ppt/media/image7.jpeg" Id="R0273089752614049" /><Relationship Type="http://schemas.openxmlformats.org/officeDocument/2006/relationships/notesSlide" Target="/ppt/notesSlides/notesSlide27.xml" Id="R5edfe5f1ce274d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99249cd4b4377" /><Relationship Type="http://schemas.openxmlformats.org/officeDocument/2006/relationships/notesSlide" Target="/ppt/notesSlides/notesSlide28.xml" Id="Rafc3a4b47c25445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b79fcede64e9d" /><Relationship Type="http://schemas.openxmlformats.org/officeDocument/2006/relationships/notesSlide" Target="/ppt/notesSlides/notesSlide29.xml" Id="Rb792025d0a9940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2eed9286544c3" /><Relationship Type="http://schemas.openxmlformats.org/officeDocument/2006/relationships/notesSlide" Target="/ppt/notesSlides/notesSlide30.xml" Id="R05bc3786fdad4e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686a58da4415f"/>
          <a:srcRect xmlns:a="http://schemas.openxmlformats.org/drawingml/2006/main" l="22179" t="0" r="22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E461F-3305-4504-BDF8-8B411DC3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80783-05C6-4236-9985-85DF1049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04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10A74-27DD-468A-BCBB-4BA59448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2952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9285B-397C-41CB-89A8-4A26FA80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 /  WEEK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375AE-0290-496B-A72A-0A25C44D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715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HTML and Semantic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425D1-5AB7-4EBC-AB29-8BEEA00E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5524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Landmarks, heading hierarchy, lists, figures and meaningful link text: turning content into a document that a browser, a search tool and a screen reader can all understand.</a:t>
            </a:r>
          </a:p>
        </p:txBody>
      </p:sp>
    </p:spTree>
    <p:extLst>
      <p:ext uri="{BB962C8B-B14F-4D97-AF65-F5344CB8AC3E}">
        <p14:creationId xmlns:p14="http://schemas.microsoft.com/office/powerpoint/2010/main" val="1855007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818FA-F163-4AAA-BAEC-1B1AAE99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ADB9-8E9A-4862-9E7A-B2C5D059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90472-939C-4556-9D4F-693A46DA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C5678-5D62-4BE5-8678-57B8540B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D132A-98B0-46D8-AA73-D0CF3DC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By the end of this session you can build, read and audit a semantic document.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22DF7-584D-45E1-9B43-4B64A907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A1BB-121A-4F3A-BE97-C5979662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200E3-B9FE-465B-89E7-D200DBF3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A068E-48BE-4D6F-A4C7-1F4A39B4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F0245-D67B-425C-AA32-7379EFB3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F8C59-D2D5-4D2B-9501-3BBA0F8C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Write a page as one h1, nested h2/h3 sections and correct landmarks — before any CSS is applied.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04D3E-1BD5-401E-BF6D-6CF7BD1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D67C3-FC3E-4CC2-B329-ADFB141C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0DE50-AC59-4E93-BA40-EAD1AC77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D45F7-5C3D-4587-B978-C00A0819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3850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Pick the element a purpose actually needs: link vs button, list vs table, figure vs bare image.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2F78E-25D2-4332-9928-E0F9658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CFC2B-6E6A-480E-BBC7-34A5E2A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4B84F-A33B-4C9E-98E7-9B1DB359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80DE0-1F8C-45A1-97A6-3ECB02F8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a page's accessibility tree and heading outline in browser DevTools and judge whether it holds together.</a:t>
            </a:r>
          </a:p>
        </p:txBody>
      </p:sp>
    </p:spTree>
    <p:extLst>
      <p:ext uri="{BB962C8B-B14F-4D97-AF65-F5344CB8AC3E}">
        <p14:creationId xmlns:p14="http://schemas.microsoft.com/office/powerpoint/2010/main" val="500772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A5E0F-80AE-46A5-ACDE-06EAAEB8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86CEC-1D9A-477F-AF05-6F67D634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75AFE-4C50-42A7-A972-CFF84FBF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31D68-FF76-4D10-8ACE-4B693FAD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page appearance to page 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6321C-A2C5-4981-BC77-F4389D8F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visually polished page can still have a broken document outline.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6394C-23C3-4BA4-A005-F7834F3D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E4ABE-0C7D-4AC7-8A21-27E7D3E2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FFD4C-F519-4D98-A3D1-03113BF9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0382250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CSS can make almost any element look like a heading, a button or a list item. None of that visual styling changes what a browser, a search index or assistive technology believes the element actually 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2DF2B-9FD0-43B0-B706-B498AE29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29895-10A5-4369-9B21-6B6C4000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F3DEE-8AD6-45FA-97BE-59E0084B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CSS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F1C0B-78E5-473D-899F-ACB0C690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867275" cy="1123950"/>
          </a:xfrm>
          <a:prstGeom xmlns:a="http://schemas.openxmlformats.org/drawingml/2006/main" prst="roundRect">
            <a:avLst>
              <a:gd name="adj" fmla="val 101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Size, colour, spacing, position on screen — the presentation layer a sighted mouse user reads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53E7F-0A58-4960-A894-C526EF40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E9B97-7359-4BFD-8BF3-F2244E9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2EC6A-CC0A-4BF3-A74D-278F1CA9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862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HTML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6F5D5-F694-4DBC-8D80-02C191B4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67200"/>
            <a:ext cx="4867275" cy="1123950"/>
          </a:xfrm>
          <a:prstGeom xmlns:a="http://schemas.openxmlformats.org/drawingml/2006/main" prst="roundRect">
            <a:avLst>
              <a:gd name="adj" fmla="val 101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role each part plays: is this a heading, a link, a list, a data table, a form control?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EA01B-6298-4EB6-AD8C-C368E7B0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028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2's question: what is this content, and how does each part relate to the whole document?</a:t>
            </a:r>
          </a:p>
        </p:txBody>
      </p:sp>
    </p:spTree>
    <p:extLst>
      <p:ext uri="{BB962C8B-B14F-4D97-AF65-F5344CB8AC3E}">
        <p14:creationId xmlns:p14="http://schemas.microsoft.com/office/powerpoint/2010/main" val="1077547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882D9-26DB-4076-BB3F-C83D4645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98AC7-CF26-483E-9A58-87F15D9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2DCBC-BFB5-484E-8C86-D529D1F2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91D94-6F56-437A-A616-40B26BC8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HTML is a vocabulary, not a style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6B766-9980-488D-8AC8-1752EB98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Tags describe the role of content; they do not describe its appearance.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1DAAC-225A-42EB-AEA2-FE6EF673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E207E-6FC9-4797-9925-8C27317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98297-4E96-466B-B578-148056F8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0287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div and a button can be styled identically, but only one of them is a control that keyboard users, screen readers and browser autofill already know how to operate.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E8D98-85CE-4339-8F54-061FCA4E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A8A2A-0485-453F-ADC4-CBE443DF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94C12-43C5-491A-BEEA-8CF89CCA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div / span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00527-DA14-4355-841D-F8CCE4C7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Generic containers with no inherent role. Use them only when no more specific element fits.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2364F-5930-48E5-9B4B-C3D4A728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9090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2EABF-F084-4365-AA09-3447A8E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004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4EF41-0C88-4404-B71F-F5E855C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909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button, a, table, 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74427-ED3F-47AE-A287-2C84FB1A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7195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Elements with a built-in role, keyboard behaviour and accessibility-tree mapping already defined by the HTML spec.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A4739-A9CC-4705-AA14-E3CD2434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33337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7108D-682D-47F8-897C-516FF19E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004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15D03-470C-4493-A3D1-4908144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18AC3-19BA-4CDF-9C14-460E8863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2914650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Reach for the specific element first. Recreate its behaviour in a div only if nothing native fits the case.</a:t>
            </a:r>
          </a:p>
        </p:txBody>
      </p:sp>
    </p:spTree>
    <p:extLst>
      <p:ext uri="{BB962C8B-B14F-4D97-AF65-F5344CB8AC3E}">
        <p14:creationId xmlns:p14="http://schemas.microsoft.com/office/powerpoint/2010/main" val="1435186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C9C25-6302-4E98-B8B7-D2DA861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A9CE2-BD00-4A53-A4DF-C87E8A55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F6126-2A5F-42D9-8C69-5D0271AB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D8755-4752-4CB5-AE41-9E528FAD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minimum meaningful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59DD5-ACFF-478B-A516-C0EF73EC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Three pieces of metadata a browser needs before it can render or announce anything.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CFFBD-F3A8-4EC7-A503-3469F40B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997C2-5100-441A-AD53-442AEE26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CDF06-FF01-4518-A7BC-2ABBE718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43CC9-143E-4C3B-ABF8-479BB305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172700" cy="24384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&lt;!doctype html&gt;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&lt;html lang="en"&gt;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&lt;head&gt;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&lt;meta charset="utf-8"&gt;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&lt;title&gt;Garden guide&lt;/title&gt;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&lt;/head&gt;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&lt;body&gt;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&lt;main&gt;...&lt;/main&gt;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&lt;/body&gt;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&lt;/html&gt;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DDE90-8AB9-4FA1-901D-F17A5FB8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11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doctype fixes standards mode; lang sets a starting pronunciation and translation language; title names the page in tabs, bookmarks and search results.</a:t>
            </a:r>
          </a:p>
        </p:txBody>
      </p:sp>
    </p:spTree>
    <p:extLst>
      <p:ext uri="{BB962C8B-B14F-4D97-AF65-F5344CB8AC3E}">
        <p14:creationId xmlns:p14="http://schemas.microsoft.com/office/powerpoint/2010/main" val="1432881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7BEAA-CED7-4443-8369-2CF1D22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A1C39-FE6E-4EE1-BD60-686F5AAE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541FA-8E0F-41A4-A7F9-806F6E8B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A3312-0A3B-40EF-9A68-013F5FCF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Language metadata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D9FB6-9B25-48F2-8ED2-0800303C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lang attribute is invisible on screen and essential off screen.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4DEE3-9DF3-4760-BE74-B5C66A4C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AAF83-A757-4F19-BAAC-4ED81032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C1F4B-A050-466B-A072-9F34A19C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286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0FA1B-7AA8-4CEB-AC45-E4567232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CAB21-22FC-485D-9D4A-68DEE203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For assistive 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3CAE7-033A-448F-BBB3-DCF0C5B3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867275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screen reader uses lang to choose a pronunciation engine — without it, English text can be read with the wrong accent rules, or vice versa.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382EF-E88D-467A-B297-E7371270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76500"/>
            <a:ext cx="5286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44DA5-ED35-46AE-A8A0-6B1EC689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D4348-FAD7-4793-A97B-03FFC3EC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For everyone else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BCF7A-F78B-4BF7-967E-D2DD5871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57550"/>
            <a:ext cx="4867275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Browsers use lang to offer translation and to select hyphenation and quotation-mark rules for the correct language.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EC0EC-ED10-4C52-8A2E-5313131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1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Set lang on &lt;html&gt; for the whole page, and again on any element whose content changes language, e.g. lang="fr" on a quoted French phrase.</a:t>
            </a:r>
          </a:p>
        </p:txBody>
      </p:sp>
    </p:spTree>
    <p:extLst>
      <p:ext uri="{BB962C8B-B14F-4D97-AF65-F5344CB8AC3E}">
        <p14:creationId xmlns:p14="http://schemas.microsoft.com/office/powerpoint/2010/main" val="1591411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0CAF0-D87B-40B5-9B36-EA811F0E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357BE-76A1-4210-88D5-DAE9C958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B0EC0-33EA-4946-8AA7-C9372E96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9F6A3-5E56-4FD2-9CE2-92EDA1DA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page outline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D3C7E-3985-45F3-91F8-5DB08359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heading sequence is an argument about what matters most.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4C84C-6E72-481B-847D-A11DF139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58D84-8DAB-48E8-AD2B-5D2C6733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f27f085fa4171"/>
          <a:srcRect xmlns:a="http://schemas.openxmlformats.org/drawingml/2006/main" l="0" t="15868" r="0" b="158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35FDB-F34E-42B7-A4FF-D56310E9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Strip away every paragraph and read only the headings, top to bottom. If that sequence does not tell a coherent story on its own, the outline needs work before the prose does.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7970D-C1DC-4993-9DCD-85DE95B8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628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76351-82B8-4677-90A9-0D3C9B5E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59A84-3F9C-46AF-8B11-CB7D490F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58674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library catalog is the same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9EC59-EC76-4277-B23C-80B7086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8674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69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Cards are filed by heading and subject so a visitor can navigate the collection without reading every card — exactly what a screen reader's heading list does for a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91B8C-5592-4B00-804F-BCC0DD06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6286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Screen readers can list all headings on a page instantly, letting a visitor jump straight to a section by name.</a:t>
            </a:r>
          </a:p>
        </p:txBody>
      </p:sp>
    </p:spTree>
    <p:extLst>
      <p:ext uri="{BB962C8B-B14F-4D97-AF65-F5344CB8AC3E}">
        <p14:creationId xmlns:p14="http://schemas.microsoft.com/office/powerpoint/2010/main" val="505301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BA706-C972-4077-8CBF-9D9D1AB7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A7152-AA76-4A66-93F9-E7E52C79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DFADE-E4C2-4BCA-A853-C68B2D48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50B66-3F5D-4DD2-9289-5AA955D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h1, a disciplined h2/h3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7F665-B423-4970-8BAC-0EF68E94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Nesting rules that keep the outline navigable.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CC3CC-5D8A-4C07-9C73-57D908EA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D527D-689D-4297-A197-228B8B4A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A4360-5191-4499-BBB3-51771E29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028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B0935-31D1-4017-A316-88583FBA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67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7A43C-49C3-4002-B7C8-A4A253EA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05100"/>
            <a:ext cx="85725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41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per page — the page's central subject or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27064-58E6-4601-B98B-B11290E1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028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128E9-B8E2-4161-84C4-16F82EC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67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h2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D5A89-4724-4682-B4BD-912D4F6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81400"/>
            <a:ext cx="85725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41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each major section of that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6E28B-3FC3-4942-842D-AFA02351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028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5CB97-1720-43D4-93FC-DF2C24B8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67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h3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7F4E2-8066-4BE5-8CC9-0D805C39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41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only nested inside the h2 section it belongs 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B1383-98EB-40EF-8201-B1651DCF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02870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Never nest a heading level for size alone — skip a level and a screen-reader outline will read as a mistake, not a design choice.</a:t>
            </a:r>
          </a:p>
        </p:txBody>
      </p:sp>
    </p:spTree>
    <p:extLst>
      <p:ext uri="{BB962C8B-B14F-4D97-AF65-F5344CB8AC3E}">
        <p14:creationId xmlns:p14="http://schemas.microsoft.com/office/powerpoint/2010/main" val="283116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19837-A5DD-49A8-82A5-10F42A6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6A36C-4731-4D91-9E27-2F397037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8C6B7-53AF-4358-AB6C-ABF8DE46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E9871-A3DA-42F2-878B-DBBC40CB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Heading audit exercise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D9DCE-BC1A-4660-B836-3629236F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four-step method to check any page's outline before you trust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0553B-F1F5-4EA3-B4D4-04EBC6AB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16F76-61ED-428E-A18F-D9C78B4D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B357C-2762-4CA3-8A24-5D452638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A4091-0AFB-428A-A861-9CF66D97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199D4-05A3-45C5-AF0A-22B693F1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95631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Open the page and list every heading in document order, ignoring visual size.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1BC19-5376-43AA-8FD5-986D5157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95EA2-7655-4EC8-9A50-0633CD79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6F96D-A1D7-4E31-BAC9-24AE179E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05175"/>
            <a:ext cx="95631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there is exactly one h1 and it names the page's subject.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8605C-1B42-46F2-AA40-93113594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BD36E-3AF5-4A8B-845F-05878B1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13C16-F1F3-4D8B-8013-7A2B7049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95631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every h3 sits inside an h2 section, with no skipped levels.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13DD6-CDDD-4876-BF3A-A08AB91F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D8A06-E6E2-4D47-99D6-247A70B6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E781A-0296-440B-9D75-BEB40F2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91075"/>
            <a:ext cx="95631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 the list alone: does it summarise the page without the paragraphs?</a:t>
            </a:r>
          </a:p>
        </p:txBody>
      </p:sp>
    </p:spTree>
    <p:extLst>
      <p:ext uri="{BB962C8B-B14F-4D97-AF65-F5344CB8AC3E}">
        <p14:creationId xmlns:p14="http://schemas.microsoft.com/office/powerpoint/2010/main" val="1745149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25B4E-07E5-4B22-99B1-C7891539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E33A6-5EFF-4431-A197-16D6BE9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4D4D0-BD0F-4B7C-B823-8E55841E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E5F4A-07DB-4370-905E-20883404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Landmarks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CEAD0-5749-42AC-A1EC-FF4432C5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header, nav, main, aside and footer let readers move between meaningful regions.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09E8E-8A46-4B9E-BA74-58A084F2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D66A2-279A-4FFE-A3E8-78FDA421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4b0ac2da943b1"/>
          <a:srcRect xmlns:a="http://schemas.openxmlformats.org/drawingml/2006/main" l="8808" t="0" r="8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67D94-4868-41DF-8C4E-EB15DD9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80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header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490B4-7C54-4D08-B355-A2BE4E95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95550"/>
            <a:ext cx="4476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introductory content or site branding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6EA4C-CEBF-4500-9848-38F56156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180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nav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60EAA-5AFF-44E1-A12E-BFF7BD2E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4476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group of navigation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2BFFF-BCBF-4529-A17A-FD524B9E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180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E8D53-7B24-4452-BA60-B71DD4D6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4476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unique content of this 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96C12-6F5F-4863-9AF1-788C6473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80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aside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4F2EF-029D-42C7-BD07-9FD944F4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4476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related but tangential 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F927A-5D47-4B8A-BCA6-D7A24962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80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footer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B83DF-1BF6-42CD-B310-9EBFD9B0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4476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closing metadata for the page or section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285B4-1411-4D16-BA61-898F7E91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53150"/>
            <a:ext cx="40386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4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physical wayfinding sign names distinct destinations the same way landmarks name distinct regions of a page.</a:t>
            </a:r>
          </a:p>
        </p:txBody>
      </p:sp>
    </p:spTree>
    <p:extLst>
      <p:ext uri="{BB962C8B-B14F-4D97-AF65-F5344CB8AC3E}">
        <p14:creationId xmlns:p14="http://schemas.microsoft.com/office/powerpoint/2010/main" val="4131406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A36D4-0CF7-4FE9-8341-5953C508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CCC73-47A7-4857-8BE4-D0A42210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E69FF-A4FC-40FB-8C06-6FE2D58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20E45-0B2B-4322-B29B-17EB25CA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main and nav landmarks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F3F84-BACD-4528-BCDE-F023D982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two landmarks almost every page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A0C56-4786-47AE-9B13-BD888604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87E57-E5C3-47DF-9B6C-ADF70A37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DBC20-4A58-4983-A92F-EBE4F701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2863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B4FED-66DB-4C2D-9D86-8CFF2430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1342A-50EE-47FB-BEDD-46DA1782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main region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2E622-E1D7-492D-83B1-C043263E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867275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Wrap only the page's unique content in main. Repeated site chrome — the logo, primary nav, footer links — belongs outside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0EB81-8959-48F2-A61C-06310DDC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76500"/>
            <a:ext cx="52863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F6BFE-D590-4BEF-BB9C-AD3D7590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90BAC-56F0-47A7-BFE4-E1F5953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nav landmark per 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A27BA-A604-4015-BE37-FCD7A1E8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57550"/>
            <a:ext cx="4867275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Wrap a meaningful set of navigation links in nav. A page can have more than one — primary nav and a table-of-contents nav are both valid.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F643B-31F9-4415-9CFB-72F025C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screen-reader user can jump straight to main with a single keystroke, skipping repeated header and navigation content on every page.</a:t>
            </a:r>
          </a:p>
        </p:txBody>
      </p:sp>
    </p:spTree>
    <p:extLst>
      <p:ext uri="{BB962C8B-B14F-4D97-AF65-F5344CB8AC3E}">
        <p14:creationId xmlns:p14="http://schemas.microsoft.com/office/powerpoint/2010/main" val="17611164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3CC3D-B867-46E2-A7D6-1BE36DA2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4828C-663A-4EEB-80F0-E6B4089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0FE3D-5A3E-4D29-A7FB-4B352CB7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49CBA-F252-4649-B114-07B81FFE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Article and 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AF8AC-43C4-4751-843B-A94A266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Two containers for related content, with different rules for reuse.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74BD2-A055-41DD-A11B-6F488820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A045E-CCF3-4A20-BB75-0F92AAF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81AAB-A231-4AAC-8635-462881E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2863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41D3E-32DA-4DC3-AEBB-CE71ACB9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E4466-0CEF-40EB-9E79-F344E2E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article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6115D-ED74-478E-9242-97503E36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867275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self-contained item that would still make sense if syndicated elsewhere on its own: a blog post, a comment, a product card.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6FCFF-A3C0-4D61-8436-0A21EC84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76500"/>
            <a:ext cx="52863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34A8D-C9B1-4A55-A414-D8EBB95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C79DD-EF80-49E6-80AE-3D986898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4A53F-1D75-4DDA-ADF4-39794E46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57550"/>
            <a:ext cx="4867275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thematic grouping of content that belongs in this page, typically introduced by its own heading.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346CB-647E-4BD6-BF1A-79F2DB75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Test: could this block be pulled out and read alone, with its own heading, in a different context? If yes, it is an article.</a:t>
            </a:r>
          </a:p>
        </p:txBody>
      </p:sp>
    </p:spTree>
    <p:extLst>
      <p:ext uri="{BB962C8B-B14F-4D97-AF65-F5344CB8AC3E}">
        <p14:creationId xmlns:p14="http://schemas.microsoft.com/office/powerpoint/2010/main" val="4707693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0964B-FA96-413A-A394-CE7D0B10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63DA3-061E-47AA-BBD6-EFD2F350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D0C02-C988-4DF0-A5AE-98851B5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B29D5-34A0-4D35-944C-CF63AF33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semantic article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36F15-55F7-4C9E-BA94-032BB36D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article element in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36893-CB49-4E92-AC91-4C7E3ED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1127E-9F76-440F-B452-976F2FD3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9DAA8-3618-40D0-9B8E-E4F33C11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3D94C-0D8F-4C72-B744-2EF62D9D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172700" cy="24384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&lt;article&gt;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&lt;h1&gt;Weekend repair clinic&lt;/h1&gt;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&lt;p&gt;Bring a small household item and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 a ten-minute problem.&lt;/p&gt;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&lt;p&gt;Saturdays, 10am, community hall.&lt;/p&gt;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&lt;/article&gt;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A6114-59CE-4C95-9415-F4EEEFF5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This block keeps its own heading and could be lifted into a listing page or an RSS feed and still make sense on its own.</a:t>
            </a:r>
          </a:p>
        </p:txBody>
      </p:sp>
    </p:spTree>
    <p:extLst>
      <p:ext uri="{BB962C8B-B14F-4D97-AF65-F5344CB8AC3E}">
        <p14:creationId xmlns:p14="http://schemas.microsoft.com/office/powerpoint/2010/main" val="19542945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7A7FF-C62C-460F-8F58-94BDCFA6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1F2ED-3F55-499D-A796-0C06EABC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3F134-2F78-4649-B050-B33956DD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3D87C-2FC4-4650-815B-E9F94EC5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Lists carry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F0E52-79C5-4E70-846D-DBC2424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Choosing ul, ol or dl is a claim about the relationship between items.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839BA-90E4-4BCE-A13F-579F5F9F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6A1CF-879B-4855-98BF-66707C62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A370A-2DC3-4CD1-9745-C7F35F63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028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550F5-3B14-43AC-8C4B-E7C22E2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67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5FD22-66FA-4E4C-8AEE-4D23ACFF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05100"/>
            <a:ext cx="85725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41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an unordered group — order does not carry 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053C8-0C39-4DD7-B0F6-7B5E327C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028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83C7A-B6DF-495E-BE21-8C8AA167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67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1499A-48DE-4CE1-9C79-1D238B1E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81400"/>
            <a:ext cx="85725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41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sequence — order is the point, e.g. instructions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514CF-5AC3-451A-965F-5C51BC1B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028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E2D04-FFFD-4885-88AC-4743FDFF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67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dl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C0C45-55B1-4700-B5B2-521CDFB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41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term/definition pairs — a glossary or a key-value 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CBC76-BE2F-42C4-BBED-E6FB6ED5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0287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styled div stack of items announces nothing about count or order to anyone not reading it visually.</a:t>
            </a:r>
          </a:p>
        </p:txBody>
      </p:sp>
    </p:spTree>
    <p:extLst>
      <p:ext uri="{BB962C8B-B14F-4D97-AF65-F5344CB8AC3E}">
        <p14:creationId xmlns:p14="http://schemas.microsoft.com/office/powerpoint/2010/main" val="11337616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BA1CC-0633-4686-A2B0-AC5537B1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236BF-4384-4917-AFA3-AE84B169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3BF45-BFDE-49E8-BD18-746F96D1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45879-0E87-409D-A891-0A8A354E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a list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D5A2B-77F6-449A-8E06-408F03CF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screen reader announces list membership before a reader commits to exploring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B64CB-8BDD-4AD8-BF24-2684CDBC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BFEC8-D761-46E0-B124-F6FE87EF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2c220b0df40f8"/>
          <a:srcRect xmlns:a="http://schemas.openxmlformats.org/drawingml/2006/main" l="0" t="2830" r="0" b="2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476500"/>
            <a:ext cx="40386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044E7-CF8A-4D9A-A2CB-0F082AB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Before reading the first item, a screen reader can announce “list, 5 items” — letting a visitor decide whether to explore the whole list or skip past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E72C5-BB7F-4161-A780-91464901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628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96E16-3297-40DF-93F6-4764BA8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78751-5D0A-4703-B4AB-B58517C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58674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Without a real 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C41C8-E20F-49FA-8C8F-BD15B9C1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8674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visitor gets no count, no boundary and no way to skip past a long unordered block efficiently.</a:t>
            </a:r>
          </a:p>
        </p:txBody>
      </p:sp>
    </p:spTree>
    <p:extLst>
      <p:ext uri="{BB962C8B-B14F-4D97-AF65-F5344CB8AC3E}">
        <p14:creationId xmlns:p14="http://schemas.microsoft.com/office/powerpoint/2010/main" val="2335071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E6B7A-5687-41AB-A323-2E029E8F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C37F5-7356-4223-BBB2-6CBBBFA5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7B3CB-E15D-4F0B-9B1D-5A3BDBFA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88DCD-B325-4B1B-80F2-382D286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Links vs buttons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33ABA-02E3-4BA8-A91A-13B55481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Different elements make different promises to a visitor.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967DD-910E-4131-838A-25AD9C05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99457-5B63-41A4-82B0-7BBCE794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117B-4ACE-44A2-8BD6-B93C61C8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2863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DE201-52C9-443A-B340-5403DDFD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2DD02-203A-4018-8980-A85F358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— a 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93CE9-5E55-44D5-8C52-3F4EE651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867275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Navigates: changes the URL, moves to a new page or to an anchor within the current one. Always has an href.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49272-3BB8-4A67-AFAF-579C8328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76500"/>
            <a:ext cx="52863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5F6D2-327D-4D44-8D1E-BDCC4474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4F712-A8CB-43BC-9E80-1AA56858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button — a button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2563F-D577-4BBB-899E-3E8B06B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57550"/>
            <a:ext cx="4867275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Performs an action on the current page: opens a menu, submits a form, adds an item — without changing location.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2D959-F8E0-484F-9006-CA2469C8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Styling a link to look like a button does not give it keyboard-activation-with-Space or the button accessibility role.</a:t>
            </a:r>
          </a:p>
        </p:txBody>
      </p:sp>
    </p:spTree>
    <p:extLst>
      <p:ext uri="{BB962C8B-B14F-4D97-AF65-F5344CB8AC3E}">
        <p14:creationId xmlns:p14="http://schemas.microsoft.com/office/powerpoint/2010/main" val="6666523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B965E-1667-493D-985C-B5D27B35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F3FFA-4BD8-4E4B-A0C1-00BA8E1A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66CEE-96A8-4ECB-A7A6-009E0CC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8758C-C887-4534-849F-A462441D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link is not a button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62ED8-DE31-4612-A25E-028FB77C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same visual shape, two different underlying contracts.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A151B-C3DE-4155-B07F-7DFF7791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F2E61-B7EE-4239-A34B-DE3D02D2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7C107-E980-43B0-8F3D-63DC2511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DA3A9-30F1-4C7B-88E6-2ECE67FB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172700" cy="2057400"/>
          </a:xfrm>
          <a:prstGeom xmlns:a="http://schemas.openxmlformats.org/drawingml/2006/main" prst="roundRect">
            <a:avLst>
              <a:gd name="adj" fmla="val 55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&lt;a href="/events"&gt;Browse events&lt;/a&gt;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&lt;button type="button" onclick="openFilters()"&gt;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Open filters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&lt;/button&gt;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2D1DA-FE52-4182-B6FF-6169AA38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102870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Keyboard behaviour differs too: Enter activates both, but Space also activates a button — never a link.</a:t>
            </a:r>
          </a:p>
        </p:txBody>
      </p:sp>
    </p:spTree>
    <p:extLst>
      <p:ext uri="{BB962C8B-B14F-4D97-AF65-F5344CB8AC3E}">
        <p14:creationId xmlns:p14="http://schemas.microsoft.com/office/powerpoint/2010/main" val="20901961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9B22B-6988-41A8-BD3D-632F9FE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F0240-2E65-4081-9D56-AD608C10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D0920-94A9-4483-9E2A-6CA32623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BFD7B-9681-4465-B310-6D5906B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Images: four roles, one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5EC44-B23F-42F7-9A7D-37501992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Decide the role before writing alternative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E0C32-0CF6-4A2C-A627-44F19379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7C626-EC66-43C8-BB5A-0CBE8DF2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60c60ab134a6e"/>
          <a:srcRect xmlns:a="http://schemas.openxmlformats.org/drawingml/2006/main" l="13385" t="0" r="133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ED4D2-596D-4166-B779-F7937298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Decorative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E70B6-825B-4BAD-AD64-6B9BCFBB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286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alt="" — announced as nothing, skipped entirely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8EEB5-650A-4B1D-B33F-FFC2D12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Informative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C33A4-61A9-437C-A699-724CA318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6286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alt describes the information the image conveys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9D91C-30BE-46AC-B716-CA65301E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Functional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81D69-4765-4E7F-B3FA-DA1F6EF9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6286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alt describes the action the image performs, e.g. a link icon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9236C-7534-4746-90F8-D2AEC482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Complex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232E0-4E6D-4B87-952E-F417C5C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6286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4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alt is a short label; a full description sits nearby in text</a:t>
            </a:r>
          </a:p>
        </p:txBody>
      </p:sp>
    </p:spTree>
    <p:extLst>
      <p:ext uri="{BB962C8B-B14F-4D97-AF65-F5344CB8AC3E}">
        <p14:creationId xmlns:p14="http://schemas.microsoft.com/office/powerpoint/2010/main" val="12611236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428B5-2F2C-4DA1-A8BA-832A3E2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C39E9-705A-4BFE-B670-34850874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DF4B6-EA0A-45B9-88EB-CB18C44B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EF3B4-A4D7-469C-90CB-4BD4EA3F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Writing alternative 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87881-E0E6-4542-A579-1053F5EE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useful description depends on the surrounding purpose, not the pixels.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61896-797B-4AAD-A054-E523936B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2BAD4-1761-46D1-B3FA-63481CB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AE4BB-1A95-45DB-9A55-00535167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2863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4AF3E-C0E5-4258-A1CC-3D991A6E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B581C-C6D0-4E34-B1E1-EC48618B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1C01C-AF61-42D6-B498-54164A3B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867275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“Image of a person.” Describes nothing a reader could not already guess, and adds no information.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B98FD-DBF1-4CD6-A5FB-A3CFB1EE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76500"/>
            <a:ext cx="52863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D15DD-91A5-46F0-86E2-9B896DA5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86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F1141-DD85-4B36-BC57-61750C75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765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Useful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02766-7B2A-4989-B14D-D24AC166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57550"/>
            <a:ext cx="4867275" cy="1171575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“Student testing a website with keyboard navigation on a laptop.” Communicates what a sighted reader takes from the image in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9DE0F-5A67-4957-93A1-F49FBB9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If the surrounding caption already states the fact, the alt text can be short — it should never repeat the caption word for word.</a:t>
            </a:r>
          </a:p>
        </p:txBody>
      </p:sp>
    </p:spTree>
    <p:extLst>
      <p:ext uri="{BB962C8B-B14F-4D97-AF65-F5344CB8AC3E}">
        <p14:creationId xmlns:p14="http://schemas.microsoft.com/office/powerpoint/2010/main" val="16560646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B3990-0C31-4FEA-BCB3-1360240A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EC63E-B2EF-4F22-A619-613555D0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B540A-0409-48A8-9A4A-A01DEEC8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C791B-CAB4-404A-93DF-411A8AC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Figures and captions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9FA33-063B-444C-8CAA-3951F529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Pair an image or diagram with a visible, explicit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19614-06CE-4186-BC90-C81AC10D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55CD9-EA0E-4D54-B4C1-610CD901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6BF1E-0A90-472B-910E-503CF02C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7BEB2-D75B-4131-A71C-00F8F210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172700" cy="24384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&lt;figure&gt;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&lt;img src="repair-steps.png"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   alt="Four numbered repair steps"&gt;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&lt;figcaption&gt;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Figure 1. The bicycle-light repair sequence.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&lt;/figcaption&gt;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&lt;/figure&gt;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EF830-B8FC-45A6-8DCA-C0AFC68C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figcaption is announced as connected to its figure — unlike a nearby paragraph, which a screen reader cannot associate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9987077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A6B59-89CC-4B84-ABB1-993EB508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34EA9-D771-4C13-B887-AFFA24A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19B40-DCC4-43DA-AAFC-15C41B3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9675E-0015-4A3D-9926-D791999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Tables for data, never for 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6B60C-02EE-47F2-A26F-84E1BAC8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table claims a two-dimensional relationship between rows and columns.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D4328-0526-4CBF-9C9E-378C00BE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76BA1-B528-441A-AA8C-2CA1AB7E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eb8c945354c4a"/>
          <a:srcRect xmlns:a="http://schemas.openxmlformats.org/drawingml/2006/main" l="4135" t="0" r="41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2CB2C-BD5C-4781-9144-DC97CF58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286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Reach for table only when a reader genuinely needs to compare values across both a row and a column. Page layout belongs to CSS.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1EB5E-D8B5-449F-85D6-EFB3DC60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28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0AFCC-2AAF-4A7B-BA09-D6605E0B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36F42-3215-49E5-BFBC-32F334B6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8674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tell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3C27E-900B-4E28-A024-1A49860F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58674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69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If you would describe the content as “rows and columns of related values,” it is data. If you are just arranging boxes on screen, it is not.</a:t>
            </a:r>
          </a:p>
        </p:txBody>
      </p:sp>
    </p:spTree>
    <p:extLst>
      <p:ext uri="{BB962C8B-B14F-4D97-AF65-F5344CB8AC3E}">
        <p14:creationId xmlns:p14="http://schemas.microsoft.com/office/powerpoint/2010/main" val="2991189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E9773-EDB2-454F-9957-0AB0017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BB910-E6F6-4A08-A885-DC4DFA79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0BDB8-480B-42F7-AF79-33272FF7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88004-6ABC-46F8-A3AE-6216F888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Header cells connect data to 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9F5C2-8F6D-4AA6-88BF-4A653FF8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scope tells assistive technology which header applies to which cell.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5EB9E-466C-4E97-A3AD-1E04DAD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E2906-EB3F-4E3A-A2F0-D515DC75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72BAD-A3A9-413E-875C-5506CBC1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0F8AD-81E1-4DAB-A94C-633CC17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172700" cy="24384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&lt;table&gt;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&lt;thead&gt;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&lt;tr&gt;&lt;th scope="col"&gt;Week&lt;/th&gt;&lt;th scope="col"&gt;Topic&lt;/th&gt;&lt;/tr&gt;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&lt;/thead&gt;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&lt;tbody&gt;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&lt;tr&gt;&lt;td&gt;2&lt;/td&gt;&lt;td&gt;Semantic HTML&lt;/td&gt;&lt;/tr&gt;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&lt;/tbody&gt;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&lt;/table&gt;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33BBF-1F5F-4A4F-9288-8F1ED95A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2870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Without scope, a screen reader can only guess which header describes a given data cell in a large table.</a:t>
            </a:r>
          </a:p>
        </p:txBody>
      </p:sp>
    </p:spTree>
    <p:extLst>
      <p:ext uri="{BB962C8B-B14F-4D97-AF65-F5344CB8AC3E}">
        <p14:creationId xmlns:p14="http://schemas.microsoft.com/office/powerpoint/2010/main" val="926206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8E33E-8B25-48C6-B269-46345E32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B6393-99A4-4AA2-8C32-5588CB4D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79C5F-FCC0-4023-A8F4-8D02B274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A7D4A-74F2-48BB-A71F-C334CC85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Forms need visible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0CA8A-E132-48BA-B2D3-374B9A9F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Placeholder text disappears the moment a visitor starts typing.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4E84C-CC7B-4356-A6D5-D48DFB6A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89B90-3552-4E58-9BCE-C4DF970C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b49658b5e4d71"/>
          <a:srcRect xmlns:a="http://schemas.openxmlformats.org/drawingml/2006/main" l="0" t="14659" r="0" b="14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381250"/>
            <a:ext cx="2705100" cy="3676650"/>
          </a:xfrm>
          <a:prstGeom xmlns:a="http://schemas.openxmlformats.org/drawingml/2006/main" prst="roundRect">
            <a:avLst>
              <a:gd name="adj" fmla="val 422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48617-45C9-4C5E-9267-6222FF63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76200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label stays on screen, is clickable to focus its control, and is what a screen reader announces before reading the field's current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05879-CBB7-4602-BDD2-84598FD6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7620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5D4DB-34CC-4054-9FE4-E7E72169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A5617-25F2-47F3-BFB7-48B7F11F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72009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Placeholder is not a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0ABC3-FA9B-45DB-8816-941EC515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72009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Placeholder text vanishes on input, offers no persistent context, and often fails colour-contrast checks even while visible.</a:t>
            </a:r>
          </a:p>
        </p:txBody>
      </p:sp>
    </p:spTree>
    <p:extLst>
      <p:ext uri="{BB962C8B-B14F-4D97-AF65-F5344CB8AC3E}">
        <p14:creationId xmlns:p14="http://schemas.microsoft.com/office/powerpoint/2010/main" val="11132174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C36AD-60A2-4964-AC80-F247EDAA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04E04-1423-4E52-8310-1C965B93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690D7-28DD-4DF9-A2D1-2A901A98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E6F3C-ECE0-41F2-82BA-6C44BABD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Labels, connections and errors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A9792-2AD1-4F8B-9B12-B88901D9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for/id ties a label to its control; aria-describedby ties an error to it too.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6F782-1FA8-4427-9E70-61C995C0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BF250-873F-4A90-964E-8F9A0199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2B288-AAB5-4AA3-870C-81A9D4FF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04759-9061-4AE1-8066-69FECE19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172700" cy="1581150"/>
          </a:xfrm>
          <a:prstGeom xmlns:a="http://schemas.openxmlformats.org/drawingml/2006/main" prst="roundRect">
            <a:avLst>
              <a:gd name="adj" fmla="val 72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&lt;label for="email"&gt;Email address&lt;/label&gt;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&lt;input id="email" type="email"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       aria-describedby="email-err"&gt;</a:t>
            </a:r>
          </a:p>
          <a:p xmlns:a="http://schemas.openxmlformats.org/drawingml/2006/main">
            <a:pPr algn="l">
              <a:defRPr sz="1350" b="0">
                <a:solidFill>
                  <a:srgbClr val="E7EE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EF1"/>
                </a:solidFill>
                <a:latin typeface="Aptos"/>
                <a:ea typeface="Aptos"/>
                <a:cs typeface="Aptos"/>
              </a:rPr>
              <a:t>&lt;p id="email-err"&gt;Must include an @ symbol.&lt;/p&gt;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026B6-FE95-44D3-B3E4-91AD705A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5286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8CCB9-DC62-4C84-8AC4-06ED1365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FC336-5972-4D97-913D-5F834167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Weak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947ED-8BC5-4532-BF3F-0995100E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4867275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2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red border alone tells a screen-reader user nothing, and a colour-blind visitor little.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775A0-CD9E-43DF-B55D-9B91E81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572000"/>
            <a:ext cx="5286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B1116-26AF-4947-9D89-15373BF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815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DDF4A-1237-4CCD-9FD1-A10A34C9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7205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Connected message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5580D-618A-4548-B6D2-7FC7530D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353050"/>
            <a:ext cx="4867275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69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Text describing the problem, linked with aria-describedby, announced when focus lands on the field.</a:t>
            </a:r>
          </a:p>
        </p:txBody>
      </p:sp>
    </p:spTree>
    <p:extLst>
      <p:ext uri="{BB962C8B-B14F-4D97-AF65-F5344CB8AC3E}">
        <p14:creationId xmlns:p14="http://schemas.microsoft.com/office/powerpoint/2010/main" val="1862537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8BF56-61EA-4955-9135-1EC12F2C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163F4-E1B6-495B-B8E6-9D8F41E3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12DBF-E4B7-403F-B115-D596A77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3C7A-AE4B-4A5A-B78E-166FCBE6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Keyboard access and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0D39E-BF09-4BCB-81CD-5F847AC6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page should work completely without a pointer.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0AFA4-08EF-4CA2-8CB7-AE9A5E2E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04338-2358-4616-BD04-F006FBF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f9abcc7544c2a"/>
          <a:srcRect xmlns:a="http://schemas.openxmlformats.org/drawingml/2006/main" l="312" t="0" r="3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EC3BE-8622-4FC5-AF8D-A82A314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286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Press Tab through the whole page. Can you see where focus sits? Can you reach every link, button and form field, in a sensible order?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F9F47-7B6F-4755-9CE8-83F194F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628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63037-DF80-46DC-BA09-22E1F6B9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AC7A1-3065-44AC-A2AC-92F1B7A7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58674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Source order sets tab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FAB3E-E60B-479B-B3AC-CD21DF38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8674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69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CSS can rearrange the visual layout, but keyboard focus follows the HTML source order — keep that order logical.</a:t>
            </a:r>
          </a:p>
        </p:txBody>
      </p:sp>
    </p:spTree>
    <p:extLst>
      <p:ext uri="{BB962C8B-B14F-4D97-AF65-F5344CB8AC3E}">
        <p14:creationId xmlns:p14="http://schemas.microsoft.com/office/powerpoint/2010/main" val="4150724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6F2ED-BD00-4F65-8293-AE9B0E16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67B92-7B6F-4DD8-931C-4F1AB3BE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AF41-DBA7-42B7-AAA4-40C0EC94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D6779-E081-496B-AEFF-57F9C451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Browser inspection and the accessibility tree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3AE4A-F052-479E-806B-368D196F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DevTools shows the structure a screen reader actually receives.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5CB9D-F523-4D3F-8F64-4F01C8E7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7F51D-80ED-4428-B72F-B2623625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db92f15b34970"/>
          <a:srcRect xmlns:a="http://schemas.openxmlformats.org/drawingml/2006/main" l="56" t="0" r="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D9FB5-0690-4F3A-A9ED-D41FDDB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286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accessibility tree is a browser's parsed summary of every element's role, name and state — the same data a screen reader consumes.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85074-3356-44D2-BE06-DEE13007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28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44A86-4DB5-468A-9961-E28D0FB3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6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4F716-E16E-4F57-954C-C487C726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8674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to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1D5B5-BFDA-4941-B7C6-DAB2A3F8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58674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69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Inspect the elements panel for headings and landmarks, then the accessibility tab for each control's computed role and accessible name.</a:t>
            </a:r>
          </a:p>
        </p:txBody>
      </p:sp>
    </p:spTree>
    <p:extLst>
      <p:ext uri="{BB962C8B-B14F-4D97-AF65-F5344CB8AC3E}">
        <p14:creationId xmlns:p14="http://schemas.microsoft.com/office/powerpoint/2010/main" val="13057566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40A60-1FFB-4C63-9D0A-965E0704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CD73B-FDCA-41BF-AEE7-6002C406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A5E41-04D0-4996-AA6A-7805536D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B9DA6-BABF-445C-8F80-B8C705E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1153A-9B1A-4372-A2B1-2973A75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Apply today's method to a page your group has not built.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F4496-6FE3-4330-B814-572D22C4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30E5A-1E79-412D-8396-CFDA4429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3089752614049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381250"/>
            <a:ext cx="2705100" cy="3238500"/>
          </a:xfrm>
          <a:prstGeom xmlns:a="http://schemas.openxmlformats.org/drawingml/2006/main" prst="roundRect">
            <a:avLst>
              <a:gd name="adj" fmla="val 422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1D43B-D7ED-46C7-9143-3D3A0D8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44A2B-0DDB-43F4-864D-71CC2C0F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D65AC-1C03-4401-AEE6-A4A8FFCD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05075"/>
            <a:ext cx="699135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 a page. Map its headings and landmarks in document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F032A-24B1-4711-AFE4-E75CAB0A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EC96A-FD45-460C-9E0C-5F37760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4DB3B-9182-4228-83B8-26E5DEBB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48025"/>
            <a:ext cx="699135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Identify one element whose current HTML does not match its purpose.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D8A40-4C1D-4F8B-B10C-90BF6288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E195C-8FCA-499B-87AD-961AF9BA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1B42F-CD4C-4743-8AC2-D8B386C2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90975"/>
            <a:ext cx="699135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Propose the correct element and explain what changes for a screen-reader user.</a:t>
            </a:r>
          </a:p>
        </p:txBody>
      </p:sp>
    </p:spTree>
    <p:extLst>
      <p:ext uri="{BB962C8B-B14F-4D97-AF65-F5344CB8AC3E}">
        <p14:creationId xmlns:p14="http://schemas.microsoft.com/office/powerpoint/2010/main" val="3132683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FAC88-552E-41BF-AB0F-866EAAED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84C72-4E8A-4B62-84A8-7D7417F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CA20B-CB0B-4DC6-8614-B0423A0E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28BDA-7A2D-44D5-8A3C-7A9C5EAE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01A34-C3BA-471B-BCF2-882554D4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Produce a small, genuinely semantic document.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9E0C0-B33B-4D4E-BFDA-BD1F6598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AA25E-F04C-41C7-93D5-9A86037A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12459-3BDE-49EB-B238-2D27D875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D84F1-94A0-4378-A49A-86E011F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442BA-AFCF-488D-86EA-143F1CF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05075"/>
            <a:ext cx="95631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Write one h1 naming the guide's subject.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A56C6-BEE4-4736-A75D-D5B087CF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1B860-BEE0-4401-AA3E-0B248F5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A1B1C-9ED6-4D23-BDA8-F5751A3E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48025"/>
            <a:ext cx="95631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Add three h2 sections, each with a clear, distinct purpose.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48D3F-610B-4A1F-B9EF-305A1F9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8B8A0-A125-4D1A-9337-13400B7C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F525C-99C2-40C0-9775-2E27F46F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90975"/>
            <a:ext cx="95631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Include a nav list, one figure with a caption, and one small data table with header cells.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59EB1-7574-4597-83FB-3636255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submit: the HTML source, plus a one-line note on why each landmark and heading level was chosen.</a:t>
            </a:r>
          </a:p>
        </p:txBody>
      </p:sp>
    </p:spTree>
    <p:extLst>
      <p:ext uri="{BB962C8B-B14F-4D97-AF65-F5344CB8AC3E}">
        <p14:creationId xmlns:p14="http://schemas.microsoft.com/office/powerpoint/2010/main" val="16093713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E7C82-8A24-4125-827B-7EEAFE61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1B5BA-1C76-49E5-8395-E4C2AABB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A6891-9B61-4F23-B45C-13B9EEF9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03059-3322-4FDB-AAD3-D801FD21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B99F5-E702-4494-8A58-E57C2C5B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a reviewer checks before approving your 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4397E-043B-46C2-BFB8-BB5649DF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B5201-4D7E-47AF-9D94-B6D431BE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21148-9F22-4E3C-BBC8-960945C1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Heading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BC39E-05FA-47B8-9C0E-C4D28EE4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h1; h2/h3 nest without skipping a level.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E16D0-7580-4B2E-A74A-469E0F4A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CC1E5-F7C1-462B-B0F8-4578A06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Landmarks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A2456-3090-4B1E-AA0E-28C37715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040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main holds unique content; nav groups real navigation.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E19D1-101B-41E7-8CB2-A922685F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3A4E7-5F90-4B9A-BB75-21A8EDD4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Links and buttons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25C81-0194-48E3-9D56-9C9AFF20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Links navigate; buttons act; none fakes the other.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FBB2B-F570-45C4-B2F8-CBD4A4E5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C18F9-5035-4FC0-937D-C2AC656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Images and tables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BD9CE-B061-49E7-959C-85B5A7EB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image has a role; every table holds real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02D4A-8250-43AD-8449-74D1D067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0CEB6-E57C-46BC-A9AD-8DCB0494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Labels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A2DC9-F003-429C-870D-B8F751BB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29250"/>
            <a:ext cx="7429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form control has a visible, connected label.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1493C-B642-4D8A-AA96-49AAA1E6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19329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B617D-8121-49CE-93D6-95FF3D2D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4D214-94F0-414F-98C0-3D800891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99F35-A55D-4E20-A776-F3D2937D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2381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2  / 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8A617-24EF-4E2F-83E9-BA4EDDC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57275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Recommended practice and next week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FE60E-7F8A-4CE5-8DD4-F9F5988C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382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Continue the audit habit before Week 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FCCAA-C9AD-4EAD-A640-BFF5D334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EDEC9-C8A1-4B71-A524-58B83165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9AB3F-6495-4C90-942C-E5A56BFA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90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D94CE-9247-4E27-9A72-D0FFEE5F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MDN HTML learning area; W3C WAI tutorials on headings, landmarks and images; inspect three pages you use weekly.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03112-1F63-4900-A0A3-15595EEC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286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Bring to Week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683D4-2409-4E93-9C72-ED6F00ED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page you find visually appealing, plus a short note on whether its structure would still make sense with the CSS removed.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ABCC0-0E76-4E1D-90C7-FD10B2BC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90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07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199A5-7EC1-4838-B37F-A76E64ED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906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11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Typography and visual hierarchy: how CSS strengthens a document that already makes sense.</a:t>
            </a:r>
          </a:p>
        </p:txBody>
      </p:sp>
    </p:spTree>
    <p:extLst>
      <p:ext uri="{BB962C8B-B14F-4D97-AF65-F5344CB8AC3E}">
        <p14:creationId xmlns:p14="http://schemas.microsoft.com/office/powerpoint/2010/main" val="1496259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2026-09-13T07:38:11.3580000Z</dcterms:created>
  <dcterms:modified xsi:type="dcterms:W3CDTF">2026-09-13T07:38:11.3580000Z</dcterms:modified>
</coreProperties>
</file>